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ditya: introduction and Stage 1" id="{a006aa79-b06c-894f-e076-3125ab3e5882}">
          <p14:sldIdLst>
            <p14:sldId id="256"/>
            <p14:sldId id="257"/>
            <p14:sldId id="258"/>
            <p14:sldId id="259"/>
            <p14:sldId id="260"/>
          </p14:sldIdLst>
        </p14:section>
        <p14:section name="Saketh: text mining" id="{2c6b6956-a680-865f-cd9d-3142dccbde35}">
          <p14:sldIdLst>
            <p14:sldId id="261"/>
            <p14:sldId id="262"/>
            <p14:sldId id="263"/>
          </p14:sldIdLst>
        </p14:section>
        <p14:section name="Akshay: forecasting" id="{5a5bacf6-cc13-34c0-5369-e14f578ed9ec}">
          <p14:sldIdLst>
            <p14:sldId id="264"/>
            <p14:sldId id="265"/>
            <p14:sldId id="266"/>
          </p14:sldIdLst>
        </p14:section>
        <p14:section name="Harshini: forecast evaluation" id="{0ac7f2f6-66ea-1075-6789-4d44c2ed0300}">
          <p14:sldIdLst>
            <p14:sldId id="267"/>
            <p14:sldId id="268"/>
            <p14:sldId id="269"/>
          </p14:sldIdLst>
        </p14:section>
        <p14:section name="Kanishka: update impact and insights" id="{f3750ee9-13b0-0d52-a5e2-e3f43a19ff6a}">
          <p14:sldIdLst>
            <p14:sldId id="270"/>
            <p14:sldId id="271"/>
            <p14:sldId id="272"/>
            <p14:sldId id="273"/>
            <p14:sldId id="274"/>
          </p14:sldIdLst>
        </p14:section>
        <p14:section name="Aditya: tracking and close" id="{707a2d00-7ee6-ee43-2b52-d2d6e1bea4a3}">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C43"/>
                </a:solidFill>
                <a:latin typeface="+mn-lt"/>
              </a:defRPr>
            </a:pPr>
            <a:r>
              <a:rPr sz="1200" b="0" i="0" u="none" strike="noStrike">
                <a:solidFill>
                  <a:srgbClr val="132C43"/>
                </a:solidFill>
                <a:latin typeface="+mn-lt"/>
              </a:rPr>
              <a:t>Backtest error (MAE, 1–2★ reviews per day; lower is better)</a:t>
            </a:r>
          </a:p>
        </c:rich>
      </c:tx>
      <c:layout/>
      <c:overlay val="0"/>
    </c:title>
    <c:autoTitleDeleted val="0"/>
    <c:plotArea>
      <c:layout/>
      <c:barChart>
        <c:barDir val="bar"/>
        <c:grouping val="clustered"/>
        <c:varyColors val="0"/>
        <c:ser>
          <c:idx val="0"/>
          <c:order val="0"/>
          <c:tx>
            <c:strRef>
              <c:f>Sheet1!$B$1</c:f>
              <c:strCache>
                <c:ptCount val="1"/>
                <c:pt idx="0">
                  <c:v>Seasonal naive</c:v>
                </c:pt>
              </c:strCache>
            </c:strRef>
          </c:tx>
          <c:spPr>
            <a:solidFill>
              <a:srgbClr val="9AA5B1"/>
            </a:solidFill>
            <a:effectLst/>
          </c:spPr>
          <c:invertIfNegative val="0"/>
          <c:dLbls>
            <c:numFmt formatCode="0.0" sourceLinked="0"/>
            <c:txPr>
              <a:bodyPr/>
              <a:lstStyle/>
              <a:p>
                <a:pPr>
                  <a:defRPr b="0" i="0" strike="noStrike" sz="900" u="none">
                    <a:solidFill>
                      <a:srgbClr val="1F2D3D"/>
                    </a:solidFill>
                    <a:latin typeface="+mn-lt"/>
                  </a:defRPr>
                </a:pPr>
              </a:p>
            </c:txPr>
            <c:showLegendKey val="0"/>
            <c:showVal val="1"/>
            <c:showCatName val="0"/>
            <c:showSerName val="0"/>
            <c:showPercent val="0"/>
            <c:showBubbleSize val="0"/>
            <c:showLeaderLines val="0"/>
          </c:dLbls>
          <c:cat>
            <c:multiLvlStrRef>
              <c:f>Sheet1!$A$2:$A$12</c:f>
              <c:multiLvlStrCache>
                <c:ptCount val="11"/>
                <c:lvl>
                  <c:pt idx="0">
                    <c:v>Google Pay</c:v>
                  </c:pt>
                  <c:pt idx="1">
                    <c:v>PhonePe</c:v>
                  </c:pt>
                  <c:pt idx="2">
                    <c:v>Paytm</c:v>
                  </c:pt>
                  <c:pt idx="3">
                    <c:v>Meesho</c:v>
                  </c:pt>
                  <c:pt idx="4">
                    <c:v>Amazon</c:v>
                  </c:pt>
                  <c:pt idx="5">
                    <c:v>Flipkart</c:v>
                  </c:pt>
                  <c:pt idx="6">
                    <c:v>Myntra</c:v>
                  </c:pt>
                  <c:pt idx="7">
                    <c:v>Domino's</c:v>
                  </c:pt>
                  <c:pt idx="8">
                    <c:v>Blinkit</c:v>
                  </c:pt>
                  <c:pt idx="9">
                    <c:v>Zomato</c:v>
                  </c:pt>
                  <c:pt idx="10">
                    <c:v>Swiggy</c:v>
                  </c:pt>
                </c:lvl>
              </c:multiLvlStrCache>
            </c:multiLvlStrRef>
          </c:cat>
          <c:val>
            <c:numRef>
              <c:f>Sheet1!$B$2:$B$12</c:f>
              <c:numCache>
                <c:formatCode>General</c:formatCode>
                <c:ptCount val="11"/>
                <c:pt idx="0">
                  <c:v>6.19</c:v>
                </c:pt>
                <c:pt idx="1">
                  <c:v>10</c:v>
                </c:pt>
                <c:pt idx="2">
                  <c:v>8.79</c:v>
                </c:pt>
                <c:pt idx="3">
                  <c:v>19.3</c:v>
                </c:pt>
                <c:pt idx="4">
                  <c:v>16.94</c:v>
                </c:pt>
                <c:pt idx="5">
                  <c:v>56.01</c:v>
                </c:pt>
                <c:pt idx="6">
                  <c:v>13.91</c:v>
                </c:pt>
                <c:pt idx="7">
                  <c:v>18.34</c:v>
                </c:pt>
                <c:pt idx="8">
                  <c:v>33.82</c:v>
                </c:pt>
                <c:pt idx="9">
                  <c:v>23.9</c:v>
                </c:pt>
                <c:pt idx="10">
                  <c:v>34.63</c:v>
                </c:pt>
              </c:numCache>
            </c:numRef>
          </c:val>
        </c:ser>
        <c:ser>
          <c:idx val="1"/>
          <c:order val="1"/>
          <c:tx>
            <c:strRef>
              <c:f>Sheet1!$C$1</c:f>
              <c:strCache>
                <c:ptCount val="1"/>
                <c:pt idx="0">
                  <c:v>ARIMA</c:v>
                </c:pt>
              </c:strCache>
            </c:strRef>
          </c:tx>
          <c:spPr>
            <a:solidFill>
              <a:srgbClr val="2A78D6"/>
            </a:solidFill>
            <a:effectLst/>
          </c:spPr>
          <c:invertIfNegative val="0"/>
          <c:dLbls>
            <c:numFmt formatCode="0.0" sourceLinked="0"/>
            <c:txPr>
              <a:bodyPr/>
              <a:lstStyle/>
              <a:p>
                <a:pPr>
                  <a:defRPr b="0" i="0" strike="noStrike" sz="900" u="none">
                    <a:solidFill>
                      <a:srgbClr val="1F2D3D"/>
                    </a:solidFill>
                    <a:latin typeface="+mn-lt"/>
                  </a:defRPr>
                </a:pPr>
              </a:p>
            </c:txPr>
            <c:showLegendKey val="0"/>
            <c:showVal val="1"/>
            <c:showCatName val="0"/>
            <c:showSerName val="0"/>
            <c:showPercent val="0"/>
            <c:showBubbleSize val="0"/>
            <c:showLeaderLines val="0"/>
          </c:dLbls>
          <c:cat>
            <c:multiLvlStrRef>
              <c:f>Sheet1!$A$2:$A$12</c:f>
              <c:multiLvlStrCache>
                <c:ptCount val="11"/>
                <c:lvl>
                  <c:pt idx="0">
                    <c:v>Google Pay</c:v>
                  </c:pt>
                  <c:pt idx="1">
                    <c:v>PhonePe</c:v>
                  </c:pt>
                  <c:pt idx="2">
                    <c:v>Paytm</c:v>
                  </c:pt>
                  <c:pt idx="3">
                    <c:v>Meesho</c:v>
                  </c:pt>
                  <c:pt idx="4">
                    <c:v>Amazon</c:v>
                  </c:pt>
                  <c:pt idx="5">
                    <c:v>Flipkart</c:v>
                  </c:pt>
                  <c:pt idx="6">
                    <c:v>Myntra</c:v>
                  </c:pt>
                  <c:pt idx="7">
                    <c:v>Domino's</c:v>
                  </c:pt>
                  <c:pt idx="8">
                    <c:v>Blinkit</c:v>
                  </c:pt>
                  <c:pt idx="9">
                    <c:v>Zomato</c:v>
                  </c:pt>
                  <c:pt idx="10">
                    <c:v>Swiggy</c:v>
                  </c:pt>
                </c:lvl>
              </c:multiLvlStrCache>
            </c:multiLvlStrRef>
          </c:cat>
          <c:val>
            <c:numRef>
              <c:f>Sheet1!$C$2:$C$12</c:f>
              <c:numCache>
                <c:formatCode>General</c:formatCode>
                <c:ptCount val="11"/>
                <c:pt idx="0">
                  <c:v>10.92</c:v>
                </c:pt>
                <c:pt idx="1">
                  <c:v>7.88</c:v>
                </c:pt>
                <c:pt idx="2">
                  <c:v>8.56</c:v>
                </c:pt>
                <c:pt idx="3">
                  <c:v>13.63</c:v>
                </c:pt>
                <c:pt idx="4">
                  <c:v>12.87</c:v>
                </c:pt>
                <c:pt idx="5">
                  <c:v>38.13</c:v>
                </c:pt>
                <c:pt idx="6">
                  <c:v>10.47</c:v>
                </c:pt>
                <c:pt idx="7">
                  <c:v>15.78</c:v>
                </c:pt>
                <c:pt idx="8">
                  <c:v>28.82</c:v>
                </c:pt>
                <c:pt idx="9">
                  <c:v>22.78</c:v>
                </c:pt>
                <c:pt idx="10">
                  <c:v>27.6</c:v>
                </c:pt>
              </c:numCache>
            </c:numRef>
          </c:val>
        </c:ser>
        <c:dLbls>
          <c:numFmt formatCode="0.0" sourceLinked="0"/>
          <c:txPr>
            <a:bodyPr/>
            <a:lstStyle/>
            <a:p>
              <a:pPr>
                <a:defRPr b="0" i="0" strike="noStrike" sz="900" u="none">
                  <a:solidFill>
                    <a:srgbClr val="1F2D3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1F2D3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C43"/>
                </a:solidFill>
                <a:latin typeface="+mn-lt"/>
              </a:defRPr>
            </a:pPr>
            <a:r>
              <a:rPr sz="1200" b="0" i="0" u="none" strike="noStrike">
                <a:solidFill>
                  <a:srgbClr val="132C43"/>
                </a:solidFill>
                <a:latin typeface="+mn-lt"/>
              </a:rPr>
              <a:t>Share of backtest days inside the ARIMA interval (%); nominal 80 and 95</a:t>
            </a:r>
          </a:p>
        </c:rich>
      </c:tx>
      <c:layout/>
      <c:overlay val="0"/>
    </c:title>
    <c:autoTitleDeleted val="0"/>
    <c:plotArea>
      <c:layout/>
      <c:barChart>
        <c:barDir val="col"/>
        <c:grouping val="clustered"/>
        <c:varyColors val="0"/>
        <c:ser>
          <c:idx val="0"/>
          <c:order val="0"/>
          <c:tx>
            <c:strRef>
              <c:f>Sheet1!$B$1</c:f>
              <c:strCache>
                <c:ptCount val="1"/>
                <c:pt idx="0">
                  <c:v>80% interval</c:v>
                </c:pt>
              </c:strCache>
            </c:strRef>
          </c:tx>
          <c:spPr>
            <a:solidFill>
              <a:srgbClr val="9CC3E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Swiggy</c:v>
                  </c:pt>
                  <c:pt idx="1">
                    <c:v>Zomato</c:v>
                  </c:pt>
                  <c:pt idx="2">
                    <c:v>Blinkit</c:v>
                  </c:pt>
                  <c:pt idx="3">
                    <c:v>Domino's</c:v>
                  </c:pt>
                  <c:pt idx="4">
                    <c:v>Myntra</c:v>
                  </c:pt>
                  <c:pt idx="5">
                    <c:v>Flipkart</c:v>
                  </c:pt>
                  <c:pt idx="6">
                    <c:v>Amazon</c:v>
                  </c:pt>
                  <c:pt idx="7">
                    <c:v>Meesho</c:v>
                  </c:pt>
                  <c:pt idx="8">
                    <c:v>Paytm</c:v>
                  </c:pt>
                  <c:pt idx="9">
                    <c:v>PhonePe</c:v>
                  </c:pt>
                  <c:pt idx="10">
                    <c:v>Google Pay</c:v>
                  </c:pt>
                </c:lvl>
              </c:multiLvlStrCache>
            </c:multiLvlStrRef>
          </c:cat>
          <c:val>
            <c:numRef>
              <c:f>Sheet1!$B$2:$B$12</c:f>
              <c:numCache>
                <c:formatCode>General</c:formatCode>
                <c:ptCount val="11"/>
                <c:pt idx="0">
                  <c:v>82.9</c:v>
                </c:pt>
                <c:pt idx="1">
                  <c:v>98</c:v>
                </c:pt>
                <c:pt idx="2">
                  <c:v>92.9</c:v>
                </c:pt>
                <c:pt idx="3">
                  <c:v>80.6</c:v>
                </c:pt>
                <c:pt idx="4">
                  <c:v>71.4</c:v>
                </c:pt>
                <c:pt idx="5">
                  <c:v>67.9</c:v>
                </c:pt>
                <c:pt idx="6">
                  <c:v>63.9</c:v>
                </c:pt>
                <c:pt idx="7">
                  <c:v>66.7</c:v>
                </c:pt>
                <c:pt idx="8">
                  <c:v>89.3</c:v>
                </c:pt>
                <c:pt idx="9">
                  <c:v>82.1</c:v>
                </c:pt>
                <c:pt idx="10">
                  <c:v>100</c:v>
                </c:pt>
              </c:numCache>
            </c:numRef>
          </c:val>
        </c:ser>
        <c:ser>
          <c:idx val="1"/>
          <c:order val="1"/>
          <c:tx>
            <c:strRef>
              <c:f>Sheet1!$C$1</c:f>
              <c:strCache>
                <c:ptCount val="1"/>
                <c:pt idx="0">
                  <c:v>95% interval</c:v>
                </c:pt>
              </c:strCache>
            </c:strRef>
          </c:tx>
          <c:spPr>
            <a:solidFill>
              <a:srgbClr val="2A78D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Swiggy</c:v>
                  </c:pt>
                  <c:pt idx="1">
                    <c:v>Zomato</c:v>
                  </c:pt>
                  <c:pt idx="2">
                    <c:v>Blinkit</c:v>
                  </c:pt>
                  <c:pt idx="3">
                    <c:v>Domino's</c:v>
                  </c:pt>
                  <c:pt idx="4">
                    <c:v>Myntra</c:v>
                  </c:pt>
                  <c:pt idx="5">
                    <c:v>Flipkart</c:v>
                  </c:pt>
                  <c:pt idx="6">
                    <c:v>Amazon</c:v>
                  </c:pt>
                  <c:pt idx="7">
                    <c:v>Meesho</c:v>
                  </c:pt>
                  <c:pt idx="8">
                    <c:v>Paytm</c:v>
                  </c:pt>
                  <c:pt idx="9">
                    <c:v>PhonePe</c:v>
                  </c:pt>
                  <c:pt idx="10">
                    <c:v>Google Pay</c:v>
                  </c:pt>
                </c:lvl>
              </c:multiLvlStrCache>
            </c:multiLvlStrRef>
          </c:cat>
          <c:val>
            <c:numRef>
              <c:f>Sheet1!$C$2:$C$12</c:f>
              <c:numCache>
                <c:formatCode>General</c:formatCode>
                <c:ptCount val="11"/>
                <c:pt idx="0">
                  <c:v>90.1</c:v>
                </c:pt>
                <c:pt idx="1">
                  <c:v>99.2</c:v>
                </c:pt>
                <c:pt idx="2">
                  <c:v>97.2</c:v>
                </c:pt>
                <c:pt idx="3">
                  <c:v>95.2</c:v>
                </c:pt>
                <c:pt idx="4">
                  <c:v>87.3</c:v>
                </c:pt>
                <c:pt idx="5">
                  <c:v>84.9</c:v>
                </c:pt>
                <c:pt idx="6">
                  <c:v>85.7</c:v>
                </c:pt>
                <c:pt idx="7">
                  <c:v>88.5</c:v>
                </c:pt>
                <c:pt idx="8">
                  <c:v>94</c:v>
                </c:pt>
                <c:pt idx="9">
                  <c:v>98</c:v>
                </c:pt>
                <c:pt idx="10">
                  <c:v>100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1000" b="0" i="0" u="none" strike="noStrike">
                <a:solidFill>
                  <a:srgbClr val="1F2D3D"/>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9525" cap="flat">
              <a:solidFill>
                <a:srgbClr val="E3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8677E"/>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C43"/>
                </a:solidFill>
                <a:latin typeface="+mn-lt"/>
              </a:defRPr>
            </a:pPr>
            <a:r>
              <a:rPr sz="1200" b="0" i="0" u="none" strike="noStrike">
                <a:solidFill>
                  <a:srgbClr val="132C43"/>
                </a:solidFill>
                <a:latin typeface="+mn-lt"/>
              </a:rPr>
              <a:t>Unusual days per app (83 distinct app-days)</a:t>
            </a:r>
          </a:p>
        </c:rich>
      </c:tx>
      <c:layout/>
      <c:overlay val="0"/>
    </c:title>
    <c:autoTitleDeleted val="0"/>
    <c:plotArea>
      <c:layout/>
      <c:barChart>
        <c:barDir val="bar"/>
        <c:grouping val="stacked"/>
        <c:varyColors val="0"/>
        <c:ser>
          <c:idx val="0"/>
          <c:order val="0"/>
          <c:tx>
            <c:strRef>
              <c:f>Sheet1!$B$1</c:f>
              <c:strCache>
                <c:ptCount val="1"/>
                <c:pt idx="0">
                  <c:v>Above the 95% interval</c:v>
                </c:pt>
              </c:strCache>
            </c:strRef>
          </c:tx>
          <c:spPr>
            <a:solidFill>
              <a:srgbClr val="C93A39"/>
            </a:solidFill>
            <a:effectLst/>
          </c:spPr>
          <c:invertIfNegative val="0"/>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Zomato</c:v>
                  </c:pt>
                  <c:pt idx="1">
                    <c:v>PhonePe</c:v>
                  </c:pt>
                  <c:pt idx="2">
                    <c:v>Blinkit</c:v>
                  </c:pt>
                  <c:pt idx="3">
                    <c:v>Swiggy</c:v>
                  </c:pt>
                  <c:pt idx="4">
                    <c:v>Domino's</c:v>
                  </c:pt>
                  <c:pt idx="5">
                    <c:v>Myntra</c:v>
                  </c:pt>
                  <c:pt idx="6">
                    <c:v>Amazon</c:v>
                  </c:pt>
                  <c:pt idx="7">
                    <c:v>Meesho</c:v>
                  </c:pt>
                  <c:pt idx="8">
                    <c:v>Paytm</c:v>
                  </c:pt>
                  <c:pt idx="9">
                    <c:v>Flipkart</c:v>
                  </c:pt>
                </c:lvl>
              </c:multiLvlStrCache>
            </c:multiLvlStrRef>
          </c:cat>
          <c:val>
            <c:numRef>
              <c:f>Sheet1!$B$2:$B$11</c:f>
              <c:numCache>
                <c:formatCode>General</c:formatCode>
                <c:ptCount val="10"/>
                <c:pt idx="0">
                  <c:v>0</c:v>
                </c:pt>
                <c:pt idx="1">
                  <c:v>1</c:v>
                </c:pt>
                <c:pt idx="2">
                  <c:v>3</c:v>
                </c:pt>
                <c:pt idx="3">
                  <c:v>4</c:v>
                </c:pt>
                <c:pt idx="4">
                  <c:v>4</c:v>
                </c:pt>
                <c:pt idx="5">
                  <c:v>9</c:v>
                </c:pt>
                <c:pt idx="6">
                  <c:v>9</c:v>
                </c:pt>
                <c:pt idx="7">
                  <c:v>9</c:v>
                </c:pt>
                <c:pt idx="8">
                  <c:v>10</c:v>
                </c:pt>
                <c:pt idx="9">
                  <c:v>18</c:v>
                </c:pt>
              </c:numCache>
            </c:numRef>
          </c:val>
        </c:ser>
        <c:ser>
          <c:idx val="1"/>
          <c:order val="1"/>
          <c:tx>
            <c:strRef>
              <c:f>Sheet1!$C$1</c:f>
              <c:strCache>
                <c:ptCount val="1"/>
                <c:pt idx="0">
                  <c:v>Below</c:v>
                </c:pt>
              </c:strCache>
            </c:strRef>
          </c:tx>
          <c:spPr>
            <a:solidFill>
              <a:srgbClr val="9CC3EE"/>
            </a:solidFill>
            <a:effectLst/>
          </c:spPr>
          <c:invertIfNegative val="0"/>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Zomato</c:v>
                  </c:pt>
                  <c:pt idx="1">
                    <c:v>PhonePe</c:v>
                  </c:pt>
                  <c:pt idx="2">
                    <c:v>Blinkit</c:v>
                  </c:pt>
                  <c:pt idx="3">
                    <c:v>Swiggy</c:v>
                  </c:pt>
                  <c:pt idx="4">
                    <c:v>Domino's</c:v>
                  </c:pt>
                  <c:pt idx="5">
                    <c:v>Myntra</c:v>
                  </c:pt>
                  <c:pt idx="6">
                    <c:v>Amazon</c:v>
                  </c:pt>
                  <c:pt idx="7">
                    <c:v>Meesho</c:v>
                  </c:pt>
                  <c:pt idx="8">
                    <c:v>Paytm</c:v>
                  </c:pt>
                  <c:pt idx="9">
                    <c:v>Flipkart</c:v>
                  </c:pt>
                </c:lvl>
              </c:multiLvlStrCache>
            </c:multiLvlStrRef>
          </c:cat>
          <c:val>
            <c:numRef>
              <c:f>Sheet1!$C$2:$C$11</c:f>
              <c:numCache>
                <c:formatCode>General</c:formatCode>
                <c:ptCount val="10"/>
                <c:pt idx="0">
                  <c:v>1</c:v>
                </c:pt>
                <c:pt idx="1">
                  <c:v>1</c:v>
                </c:pt>
                <c:pt idx="2">
                  <c:v>0</c:v>
                </c:pt>
                <c:pt idx="3">
                  <c:v>6</c:v>
                </c:pt>
                <c:pt idx="4">
                  <c:v>0</c:v>
                </c:pt>
                <c:pt idx="5">
                  <c:v>4</c:v>
                </c:pt>
                <c:pt idx="6">
                  <c:v>2</c:v>
                </c:pt>
                <c:pt idx="7">
                  <c:v>2</c:v>
                </c:pt>
                <c:pt idx="8">
                  <c:v>0</c:v>
                </c:pt>
                <c:pt idx="9">
                  <c:v>0</c:v>
                </c:pt>
              </c:numCache>
            </c:numRef>
          </c:val>
        </c:ser>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F2D3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40 s] Good morning. We are Team 10. Our project is Mobile App Update Impact and Failure Detection. In Review 1 we collected 1.14 million Play Store reviews of 11 Indian apps ourselves and built a classifier that flags problem reviews. In Review 2 we used two Unit 3 methods on the same data: text mining, to find what users actually complain about, and time-series analysis, to forecast complaints and test whether new app versions made things worse. Everything ends in combined recommendations and a live dashboard. Each of us will present the stage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40 s] Review 2 answers three business questions. First, what are users complaining about, in their own words? That is Method 1, text mining. Second, how many complaints are coming in the next weeks, which days are unusual, and did a new app version make things worse? That is Method 2, time series. Third, which app needs attention first? We combine every stage into one priority table and show it in a dashboard. We worked as a relay: Stage 1 prepared the data, then text mining, forecasting, forecast evaluation, and finally update impact and the combined insights.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35 s] For text mining I prepared two corpora. Complaints are the 1–2 star reviews with at least three content words after cleaning: 167,357 reviews. Praise, the 4–5 star reviews, is the contrast. The cleaning keeps negations, because "not delivered" must not become "delivered"; it maps Hinglish "nahi" to "not"; removes app names so the topics describe problems, not brands; and lemmatises words. The output is one document-term matrix per domain, with words and two-word phrases. These matrices are the input for Saketh's topic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35 s] For time series I built the daily number of 1–2 star reviews for each app, 173 days. We model counts, not percentages, because the late-April feed gap removed mostly positive reviews. The gap becomes an input to the model, and Zomato's one missing day is filled. I also listed 224 real release events from the app versions in the reviews. The pattern checks set up the ARIMA models: food apps get many more complaints on Sundays, the ADF test says only Zomato and Blinkit need differencing, and no app needs seasonal differencing.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30 s] The dashboard is one Streamlit app with six pages, deployed publicly on Streamlit Community Cloud. In Stage 1 I built the skeleton: shared data loading, the sidebar filters that every page uses, and the overview page. Each later stage added its own page: Akshay the text-mining page, Harshini check-a-review, and Kanishka forecasting, update impact and recommendations. It redeploys automatically whenever a pull request is merged. Now Saketh will present the text-mining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[Saketh, about 40 s] I fitted the topic models on Aditya's matrices. The counts are turned into TF-IDF weights and split with NMF, non-negative matrix factorisation. We chose NMF over LDA because the reviews are very short, and LDA mixes themes on short text; NMF is also deterministic and fast. There is one model per domain, with six, six and five topics. Every review gets its main topic and its VADER sentiment. The table shows the 17 topics: in Food &amp; Grocery, order cancellation and refund is a third of all complaints; in Payments, failed transfers are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[Saketh, about 45 s] To choose the number of topics we computed NPMI coherence for 3 to 10 topics. Food &amp; Grocery has a clear peak at six. For Shopping and Payments the curve is almost flat, so we chose the number where every topic is distinct and has a clear name. We then checked the topics against the nine keyword tags from Review 1. They agree where they should: the support topics carry the Customer Support tag in 71 to 76 percent of reviews. And they add something: 43 percent of complaints match no keyword at all, often Hinglish or informal wording, and the topic models give every one of them a theme.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[Saketh, about 35 s] Sentiment by topic shows which complaints hurt most. The angriest reviews are about loss and broken trust: scam allegations and poor product quality in shopping, with about 80 percent strongly negative. Stale food angers users more than late food. Technical faults such as payment app crashes are described calmly, so a mild score does not mean a mild problem. Log-odds of words show each app's own issue: Swiggy's cancellation fee, Blinkit's damaged items, Paytm's "device environment not correct" error. Praise is about fast delivery, quality and easy UPI. Next, Akshay will present forecasting.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[Akshay, about 40 s] The main model is ARIMA. For the four food apps it has weekly seasonal terms, which makes it SARIMA, and five apps also take the feed-gap flag as an input. To have something to beat, we also fit a seasonal-naive baseline, same day last week, and Holt-Winters. The orders come from the ADF test and the ACF and PACF plots, and AICc picks the best of 378 fits. The backtest is rolling: train on the first 84 days, forecast 28, move a week, refit. Nine origins give 252 forecasts per app and model, and the orders never see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[Akshay, about 45 s] Over the 252 backtest forecasts, ARIMA has a lower average error than the seasonal-naive baseline for 10 of the 11 apps. The biggest gains are for apps with a trend, like Flipkart, where the error falls by 32 percent. Google Pay is the exception: its level is low and noisy and it shifted, so "same day last week" adapts faster. Holt-Winters is close to ARIMA for the food apps, but ARIMA stays the main model because it gives prediction intervals and takes the feed gap as an input. The table is the forecast for the first week after our data. Paytm's forecast is unreliable because of a jump in September, which Kanishka will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[Akshay, about 30 s] I also built the text-mining page of the dashboard. A manager picks a domain and a topic and sees its share of complaints, its top terms, its sentiment and real example reviews, three per topic and app, so the topic name can be checked against what users actually wrote. A heatmap compares topics across apps, a chart shows each topic over time, and the last section shows the words that set each app apart. Now Harshini will present the forecast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[Harshini, about 40 s] I evaluated the forecasts on the rolling backtest. Averaged over the 11 apps, ARIMA has the lowest MAE, RMSE and MASE of the three models; its MASE of 0.88 means it is more accurate than a naive weekly forecast. For the intervals: 81 percent of days fell inside the 80 percent interval and 93 percent inside the 95 percent interval, close to what they promise, with the 95 percent interval slightly narrow. The chart shows that this differs by app. Finally, the Ljung–Box test finds no autocorrelation left in the residuals of any app at lag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[Harshini, about 40 s] A day is flagged as unusual when its count falls outside the 95 percent interval. Because the backtest windows overlap, the 201 flagged forecasts are 83 distinct days, most of them above the forecast. The largest was Swiggy on 24 July: 469 complaints against 157 expected. Flipkart has the most alerts. An alert means an unexpected count, not a proven cause. Food apps with a steady weekly rhythm, like Zomato and Blinkit, are the most predictable. Shopping apps with level shifts are the hardest, and Google Pay and Paytm should be used with care. Next is the check-a-review page I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[Harshini, about 35 s] On the check-a-review page a support agent pastes any review. The page gives four answers: the probability that it is a problem review from our Review 1 classifiers, the complaint topic from the saved topic model, the VADER sentiment, and the keyword issue tags. In this example the review is clearly a complaint and both models flag it, but its VADER score is zero. Sentiment alone would miss it, which is why the page combines all four. Now Kanishka will present update impact and the combined insights.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45 s] Update impact asks whether a new app version made things worse. For each of the 224 releases we compare two things over seven days. First, the whole app before and after the release. Second, and this is the main test, users on the new version against users still on older versions over the same days, so sales or outages affect both groups equally. Users on the newest version of Amazon and Flipkart are always about six points more negative, so each release is compared with its app's usual gap, and we correct for testing 205 releases. Result: 96 percent of releases changed nothing measurable, five got better, and four got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40 s] These are the four releases that made things worse. Paytm 10.84.5, released on 3 September, is the clearest: users on it were 10 points more negative than users on older versions, and the whole app's 1–2 star reviews nearly doubled, from 34 to 66 a day. Harshini's forecast independently raised six alerts that week, and it explains Paytm's unreliable forecast. Two Swiggy versions and Flipkart 9.3 were also worse, mostly in customer support, but their windows overlap the late-April feed gap, so we treat them with care. No release made things worse for the other eight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35 s] To combine every stage, each app gets one point for each of six warning signs: many complaints per day, a high complaint share, a rising trend, a forecast above the recent level, repeated days above the forecast interval, and a release that made things worse. Three or more points is high priority. The rule is deliberately simple so a manager can check every point by hand. Swiggy has four signs; Flipkart, Amazon and Paytm have three. PhonePe raises no warning sign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40 s] The recommendations come straight from the priority table, and each rests on a number. Per domain: food apps should fix the refund and cancellation flow, which is a third of their complaints; shopping apps should fix return rejections; payment apps should resolve money debited but not received, and fix support, because unanswered support drives more anger than the failure itself. Per app: Swiggy should fix refunds and review version 4.107.1; Flipkart needs a daily alert; Amazon has the highest complaint share; and Paytm should investigate release 10.84.5 first. In total there are 65 recommendations, all on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35 s] I also added the last three dashboard pages. The forecasting page shows each app's ARIMA forecast with its intervals, the unusual days, and release markers, with releases that made things worse in red. The update-impact page shows the verdict for every release and lets you open any release to see the before-and-after detail and its issue mix. The recommendations page shows the priority table and all 65 recommendations, filtered by domain and app. I also assembled the final Review 2 notebook. Aditya will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20 s] We tracked the work on our GitHub Projects board with the five required stages. This is the board for Review 2: 14 tasks, each assigned to one member with a due date of 11 October, each linked to its merged pull request, and all 14 are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25 s] This table shows what each member owned and where the evidence is. The stages were merged one after another between 8 and 11 October, and every member wrote code and a dashboard part. After Stage 5 I built this deck, the final report and the contribution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40 s] To conclude: users complain about service more than about the apps themselves, and the topic models cover the 43 percent of complaints that keyword rules missed. ARIMA forecasts complaints better than the baseline for 10 of 11 apps, most releases change nothing, and Paytm 10.84.5 clearly made things worse. The apps to fix first are Swiggy, Flipkart, Amazon and Paytm. The main limits are the short six-month window and that a low rating is a user's judgement, not a confirmed defect. All our links are on this slide.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640080" y="6446520"/>
            <a:ext cx="7315200" cy="256032"/>
          </a:xfrm>
          <a:prstGeom prst="rect">
            <a:avLst/>
          </a:prstGeom>
          <a:noFill/>
          <a:ln/>
        </p:spPr>
        <p:txBody>
          <a:bodyPr wrap="square" lIns="0" tIns="0" rIns="0" bIns="0" rtlCol="0" anchor="ctr"/>
          <a:lstStyle/>
          <a:p>
            <a:pPr indent="0" marL="0">
              <a:buNone/>
            </a:pPr>
            <a:r>
              <a:rPr lang="en-US" sz="1000" dirty="0">
                <a:solidFill>
                  <a:schemeClr val="accent6"/>
                </a:solidFill>
              </a:rPr>
              <a:t>Team 10  |  23CSE452 Business Analytics  |  Review 2</a:t>
            </a:r>
            <a:endParaRPr lang="en-US" sz="1000" dirty="0"/>
          </a:p>
        </p:txBody>
      </p:sp>
      <p:sp>
        <p:nvSpPr>
          <p:cNvPr id="3" name="Text 1"/>
          <p:cNvSpPr/>
          <p:nvPr>
            <p:ph idx="101" type="body" hasCustomPrompt="1"/>
          </p:nvPr>
        </p:nvSpPr>
        <p:spPr>
          <a:xfrm>
            <a:off x="640080" y="292608"/>
            <a:ext cx="10911535" cy="274320"/>
          </a:xfrm>
          <a:prstGeom prst="rect">
            <a:avLst/>
          </a:prstGeom>
          <a:noFill/>
          <a:ln/>
        </p:spPr>
        <p:txBody>
          <a:bodyPr wrap="square" rtlCol="0"/>
          <a:lstStyle>
            <a:lvl1pPr algn="l" indent="0" marL="0">
              <a:buNone/>
              <a:defRPr lang="en-US" sz="1100" b="1" spc="200" kern="0" dirty="0">
                <a:solidFill>
                  <a:schemeClr val="accent6"/>
                </a:solidFill>
              </a:defRPr>
            </a:lvl1pPr>
          </a:lstStyle>
          <a:p>
            <a:pPr algn="l" indent="0" marL="0">
              <a:buNone/>
            </a:pPr>
            <a:endParaRPr lang="en-US" sz="1100" dirty="0"/>
          </a:p>
        </p:txBody>
      </p:sp>
      <p:sp>
        <p:nvSpPr>
          <p:cNvPr id="4" name="Text 1"/>
          <p:cNvSpPr/>
          <p:nvPr>
            <p:ph idx="102" type="title" hasCustomPrompt="1"/>
          </p:nvPr>
        </p:nvSpPr>
        <p:spPr>
          <a:xfrm>
            <a:off x="640080" y="566928"/>
            <a:ext cx="10911535" cy="68580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team10-app-reviews.streamlit.app/" TargetMode="External"/><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team10-app-reviews.streamlit.app/" TargetMode="External"/><Relationship Id="rId1" Type="http://schemas.openxmlformats.org/officeDocument/2006/relationships/image" Target="../media/image-5-1.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users/Adithya-Monish-Kumar-K/projects/4" TargetMode="External"/><Relationship Id="rId2" Type="http://schemas.openxmlformats.org/officeDocument/2006/relationships/hyperlink" Target="https://github.com/Adithya-Monish-Kumar-K/ba-capstone-app-reviews" TargetMode="External"/><Relationship Id="rId3" Type="http://schemas.openxmlformats.org/officeDocument/2006/relationships/image" Target="../media/image-20-1.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team10-app-reviews.streamlit.app/" TargetMode="External"/><Relationship Id="rId2" Type="http://schemas.openxmlformats.org/officeDocument/2006/relationships/hyperlink" Target="https://github.com/Adithya-Monish-Kumar-K/ba-capstone-app-reviews/blob/master/notebooks/Review_2.ipynb" TargetMode="External"/><Relationship Id="rId3" Type="http://schemas.openxmlformats.org/officeDocument/2006/relationships/hyperlink" Target="https://github.com/Adithya-Monish-Kumar-K/ba-capstone-app-reviews/blob/master/FINAL_REPORT.md" TargetMode="External"/><Relationship Id="rId4" Type="http://schemas.openxmlformats.org/officeDocument/2006/relationships/hyperlink" Target="https://github.com/Adithya-Monish-Kumar-K/ba-capstone-app-reviews/blob/master/docs/Review_2_Contribution_Summary.md" TargetMode="External"/><Relationship Id="rId5" Type="http://schemas.openxmlformats.org/officeDocument/2006/relationships/hyperlink" Target="https://github.com/users/Adithya-Monish-Kumar-K/projects/4" TargetMode="External"/><Relationship Id="rId6" Type="http://schemas.openxmlformats.org/officeDocument/2006/relationships/hyperlink" Target="https://github.com/Adithya-Monish-Kumar-K/ba-capstone-app-reviews" TargetMode="External"/><Relationship Id="rId7" Type="http://schemas.openxmlformats.org/officeDocument/2006/relationships/slideLayout" Target="../slideLayouts/slideLayout2.xml"/><Relationship Id="rId8"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02920"/>
            <a:ext cx="10911535" cy="274320"/>
          </a:xfrm>
          <a:prstGeom prst="rect">
            <a:avLst/>
          </a:prstGeom>
          <a:noFill/>
          <a:ln/>
        </p:spPr>
        <p:txBody>
          <a:bodyPr wrap="square" lIns="0" tIns="0" rIns="0" bIns="0" rtlCol="0" anchor="ctr"/>
          <a:lstStyle/>
          <a:p>
            <a:pPr indent="0" marL="0">
              <a:buNone/>
            </a:pPr>
            <a:r>
              <a:rPr lang="en-US" sz="1200" b="1" spc="300" kern="0" dirty="0">
                <a:solidFill>
                  <a:schemeClr val="bg1"/>
                </a:solidFill>
              </a:rPr>
              <a:t>REVIEW 2  |  23CSE452 BUSINESS ANALYTICS  |  ADVANCED ANALYTICS: TEXT MINING AND TIME SERIES</a:t>
            </a:r>
            <a:endParaRPr lang="en-US" sz="1200" dirty="0"/>
          </a:p>
        </p:txBody>
      </p:sp>
      <p:sp>
        <p:nvSpPr>
          <p:cNvPr id="3" name="Text 1"/>
          <p:cNvSpPr txBox="1"/>
          <p:nvPr/>
        </p:nvSpPr>
        <p:spPr>
          <a:xfrm>
            <a:off x="640080" y="868680"/>
            <a:ext cx="10911535" cy="132588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Mobile App Update Impact and Failure Detection</a:t>
            </a:r>
            <a:endParaRPr lang="en-US" sz="4000" dirty="0"/>
          </a:p>
        </p:txBody>
      </p:sp>
      <p:sp>
        <p:nvSpPr>
          <p:cNvPr id="4" name="Text 2"/>
          <p:cNvSpPr txBox="1"/>
          <p:nvPr/>
        </p:nvSpPr>
        <p:spPr>
          <a:xfrm>
            <a:off x="640080" y="2286000"/>
            <a:ext cx="10911535" cy="411480"/>
          </a:xfrm>
          <a:prstGeom prst="rect">
            <a:avLst/>
          </a:prstGeom>
          <a:noFill/>
          <a:ln/>
        </p:spPr>
        <p:txBody>
          <a:bodyPr wrap="square" lIns="0" tIns="0" rIns="0" bIns="0" rtlCol="0" anchor="ctr"/>
          <a:lstStyle/>
          <a:p>
            <a:pPr indent="0" marL="0">
              <a:buNone/>
            </a:pPr>
            <a:r>
              <a:rPr lang="en-US" sz="2000" dirty="0">
                <a:solidFill>
                  <a:schemeClr val="bg1"/>
                </a:solidFill>
              </a:rPr>
              <a:t>What users complain about, what is coming next, and which app to fix first</a:t>
            </a:r>
            <a:endParaRPr lang="en-US" sz="2000" dirty="0"/>
          </a:p>
        </p:txBody>
      </p:sp>
      <p:sp>
        <p:nvSpPr>
          <p:cNvPr id="5" name="Text 3"/>
          <p:cNvSpPr txBox="1"/>
          <p:nvPr/>
        </p:nvSpPr>
        <p:spPr>
          <a:xfrm>
            <a:off x="640080" y="2724912"/>
            <a:ext cx="10911535" cy="365760"/>
          </a:xfrm>
          <a:prstGeom prst="rect">
            <a:avLst/>
          </a:prstGeom>
          <a:noFill/>
          <a:ln/>
        </p:spPr>
        <p:txBody>
          <a:bodyPr wrap="square" lIns="0" tIns="0" rIns="0" bIns="0" rtlCol="0" anchor="ctr"/>
          <a:lstStyle/>
          <a:p>
            <a:pPr indent="0" marL="0">
              <a:buNone/>
            </a:pPr>
            <a:r>
              <a:rPr lang="en-US" sz="1600" dirty="0">
                <a:solidFill>
                  <a:srgbClr val="C9D6E3"/>
                </a:solidFill>
              </a:rPr>
              <a:t>1,137,987 Play Store reviews  |  11 apps  |  3 domains  |  1 April to 20 September 2026</a:t>
            </a:r>
            <a:endParaRPr lang="en-US" sz="1600" dirty="0"/>
          </a:p>
        </p:txBody>
      </p:sp>
      <p:sp>
        <p:nvSpPr>
          <p:cNvPr id="6" name="Text 4"/>
          <p:cNvSpPr txBox="1"/>
          <p:nvPr/>
        </p:nvSpPr>
        <p:spPr>
          <a:xfrm>
            <a:off x="640080" y="3429000"/>
            <a:ext cx="5486400" cy="365760"/>
          </a:xfrm>
          <a:prstGeom prst="rect">
            <a:avLst/>
          </a:prstGeom>
          <a:noFill/>
          <a:ln/>
        </p:spPr>
        <p:txBody>
          <a:bodyPr wrap="square" lIns="0" tIns="0" rIns="0" bIns="0" rtlCol="0" anchor="ctr"/>
          <a:lstStyle/>
          <a:p>
            <a:pPr indent="0" marL="0">
              <a:buNone/>
            </a:pPr>
            <a:r>
              <a:rPr lang="en-US" sz="1600" b="1" dirty="0">
                <a:solidFill>
                  <a:schemeClr val="bg1"/>
                </a:solidFill>
              </a:rPr>
              <a:t>Team number: 10</a:t>
            </a:r>
            <a:endParaRPr lang="en-US" sz="1600" dirty="0"/>
          </a:p>
        </p:txBody>
      </p:sp>
      <p:sp>
        <p:nvSpPr>
          <p:cNvPr id="7" name="Text 5"/>
          <p:cNvSpPr txBox="1"/>
          <p:nvPr/>
        </p:nvSpPr>
        <p:spPr>
          <a:xfrm>
            <a:off x="640080" y="3886200"/>
            <a:ext cx="6400800" cy="384048"/>
          </a:xfrm>
          <a:prstGeom prst="rect">
            <a:avLst/>
          </a:prstGeom>
          <a:noFill/>
          <a:ln/>
        </p:spPr>
        <p:txBody>
          <a:bodyPr wrap="square" lIns="0" tIns="0" rIns="0" bIns="0" rtlCol="0" anchor="ctr"/>
          <a:lstStyle/>
          <a:p>
            <a:pPr indent="0" marL="0">
              <a:buNone/>
            </a:pPr>
            <a:r>
              <a:rPr lang="en-US" sz="1600" dirty="0">
                <a:solidFill>
                  <a:schemeClr val="bg1"/>
                </a:solidFill>
              </a:rPr>
              <a:t>Aditya Monish Kumar K - CB.SC.U4CSE23103</a:t>
            </a:r>
            <a:endParaRPr lang="en-US" sz="1600" dirty="0"/>
          </a:p>
        </p:txBody>
      </p:sp>
      <p:sp>
        <p:nvSpPr>
          <p:cNvPr id="8" name="Text 6"/>
          <p:cNvSpPr txBox="1"/>
          <p:nvPr/>
        </p:nvSpPr>
        <p:spPr>
          <a:xfrm>
            <a:off x="640080" y="4297680"/>
            <a:ext cx="6400800" cy="384048"/>
          </a:xfrm>
          <a:prstGeom prst="rect">
            <a:avLst/>
          </a:prstGeom>
          <a:noFill/>
          <a:ln/>
        </p:spPr>
        <p:txBody>
          <a:bodyPr wrap="square" lIns="0" tIns="0" rIns="0" bIns="0" rtlCol="0" anchor="ctr"/>
          <a:lstStyle/>
          <a:p>
            <a:pPr indent="0" marL="0">
              <a:buNone/>
            </a:pPr>
            <a:r>
              <a:rPr lang="en-US" sz="1600" dirty="0">
                <a:solidFill>
                  <a:schemeClr val="bg1"/>
                </a:solidFill>
              </a:rPr>
              <a:t>Regella Krishna Saketh - CB.SC.U4CSE23649</a:t>
            </a:r>
            <a:endParaRPr lang="en-US" sz="1600" dirty="0"/>
          </a:p>
        </p:txBody>
      </p:sp>
      <p:sp>
        <p:nvSpPr>
          <p:cNvPr id="9" name="Text 7"/>
          <p:cNvSpPr txBox="1"/>
          <p:nvPr/>
        </p:nvSpPr>
        <p:spPr>
          <a:xfrm>
            <a:off x="640080" y="4709160"/>
            <a:ext cx="6400800" cy="384048"/>
          </a:xfrm>
          <a:prstGeom prst="rect">
            <a:avLst/>
          </a:prstGeom>
          <a:noFill/>
          <a:ln/>
        </p:spPr>
        <p:txBody>
          <a:bodyPr wrap="square" lIns="0" tIns="0" rIns="0" bIns="0" rtlCol="0" anchor="ctr"/>
          <a:lstStyle/>
          <a:p>
            <a:pPr indent="0" marL="0">
              <a:buNone/>
            </a:pPr>
            <a:r>
              <a:rPr lang="en-US" sz="1600" dirty="0">
                <a:solidFill>
                  <a:schemeClr val="bg1"/>
                </a:solidFill>
              </a:rPr>
              <a:t>Akshay KS - CB.SC.U4CSE23104</a:t>
            </a:r>
            <a:endParaRPr lang="en-US" sz="1600" dirty="0"/>
          </a:p>
        </p:txBody>
      </p:sp>
      <p:sp>
        <p:nvSpPr>
          <p:cNvPr id="10" name="Text 8"/>
          <p:cNvSpPr txBox="1"/>
          <p:nvPr/>
        </p:nvSpPr>
        <p:spPr>
          <a:xfrm>
            <a:off x="640080" y="5120640"/>
            <a:ext cx="6400800" cy="384048"/>
          </a:xfrm>
          <a:prstGeom prst="rect">
            <a:avLst/>
          </a:prstGeom>
          <a:noFill/>
          <a:ln/>
        </p:spPr>
        <p:txBody>
          <a:bodyPr wrap="square" lIns="0" tIns="0" rIns="0" bIns="0" rtlCol="0" anchor="ctr"/>
          <a:lstStyle/>
          <a:p>
            <a:pPr indent="0" marL="0">
              <a:buNone/>
            </a:pPr>
            <a:r>
              <a:rPr lang="en-US" sz="1600" dirty="0">
                <a:solidFill>
                  <a:schemeClr val="bg1"/>
                </a:solidFill>
              </a:rPr>
              <a:t>Harshini Vennela - CB.SC.U4CSE23455</a:t>
            </a:r>
            <a:endParaRPr lang="en-US" sz="1600" dirty="0"/>
          </a:p>
        </p:txBody>
      </p:sp>
      <p:sp>
        <p:nvSpPr>
          <p:cNvPr id="11" name="Text 9"/>
          <p:cNvSpPr txBox="1"/>
          <p:nvPr/>
        </p:nvSpPr>
        <p:spPr>
          <a:xfrm>
            <a:off x="640080" y="5532120"/>
            <a:ext cx="6400800" cy="384048"/>
          </a:xfrm>
          <a:prstGeom prst="rect">
            <a:avLst/>
          </a:prstGeom>
          <a:noFill/>
          <a:ln/>
        </p:spPr>
        <p:txBody>
          <a:bodyPr wrap="square" lIns="0" tIns="0" rIns="0" bIns="0" rtlCol="0" anchor="ctr"/>
          <a:lstStyle/>
          <a:p>
            <a:pPr indent="0" marL="0">
              <a:buNone/>
            </a:pPr>
            <a:r>
              <a:rPr lang="en-US" sz="1600" dirty="0">
                <a:solidFill>
                  <a:schemeClr val="bg1"/>
                </a:solidFill>
              </a:rPr>
              <a:t>Kanishka D - CB.SC.U4CSE23155</a:t>
            </a:r>
            <a:endParaRPr lang="en-US" sz="1600" dirty="0"/>
          </a:p>
        </p:txBody>
      </p:sp>
      <p:sp>
        <p:nvSpPr>
          <p:cNvPr id="12" name="Text 10"/>
          <p:cNvSpPr txBox="1"/>
          <p:nvPr/>
        </p:nvSpPr>
        <p:spPr>
          <a:xfrm>
            <a:off x="7680960" y="5074920"/>
            <a:ext cx="3867912" cy="640080"/>
          </a:xfrm>
          <a:prstGeom prst="rect">
            <a:avLst/>
          </a:prstGeom>
          <a:noFill/>
          <a:ln/>
        </p:spPr>
        <p:txBody>
          <a:bodyPr wrap="square" lIns="0" tIns="0" rIns="0" bIns="0" rtlCol="0" anchor="ctr"/>
          <a:lstStyle/>
          <a:p>
            <a:pPr algn="r" indent="0" marL="0">
              <a:buNone/>
            </a:pPr>
            <a:r>
              <a:rPr lang="en-US" sz="1400" b="1" dirty="0">
                <a:solidFill>
                  <a:schemeClr val="bg1"/>
                </a:solidFill>
              </a:rPr>
              <a:t>Live dashboard</a:t>
            </a:r>
            <a:endParaRPr lang="en-US" sz="1400" dirty="0"/>
          </a:p>
          <a:p>
            <a:pPr algn="r" indent="0" marL="0">
              <a:buNone/>
            </a:pPr>
            <a:r>
              <a:rPr lang="en-US" sz="1400" u="sng" dirty="0">
                <a:solidFill>
                  <a:srgbClr val="9CC8FF"/>
                </a:solidFill>
                <a:hlinkClick r:id="rId1" invalidUrl="" action="" tgtFrame="" tooltip="" history="1" highlightClick="0" endSnd="0">
                  <a:extLst>
                    <a:ext uri="{A12FA001-AC4F-418D-AE19-62706E023703}">
                      <ahyp:hlinkClr xmlns:ahyp="http://schemas.microsoft.com/office/drawing/2018/hyperlinkcolor" val="tx"/>
                    </a:ext>
                  </a:extLst>
                </a:hlinkClick>
              </a:rPr>
              <a:t>team10-app-reviews.streamlit.app</a:t>
            </a:r>
            <a:endParaRPr lang="en-US" sz="1400" dirty="0"/>
          </a:p>
        </p:txBody>
      </p:sp>
      <p:sp>
        <p:nvSpPr>
          <p:cNvPr id="13" name="Text 11"/>
          <p:cNvSpPr txBox="1"/>
          <p:nvPr/>
        </p:nvSpPr>
        <p:spPr>
          <a:xfrm>
            <a:off x="7680960" y="5943600"/>
            <a:ext cx="3867912" cy="320040"/>
          </a:xfrm>
          <a:prstGeom prst="rect">
            <a:avLst/>
          </a:prstGeom>
          <a:noFill/>
          <a:ln/>
        </p:spPr>
        <p:txBody>
          <a:bodyPr wrap="square" lIns="0" tIns="0" rIns="0" bIns="0" rtlCol="0" anchor="ctr"/>
          <a:lstStyle/>
          <a:p>
            <a:pPr algn="r" indent="0" marL="0">
              <a:buNone/>
            </a:pPr>
            <a:r>
              <a:rPr lang="en-US" sz="1200" dirty="0">
                <a:solidFill>
                  <a:srgbClr val="C9D6E3"/>
                </a:solidFill>
              </a:rPr>
              <a:t>Review 2 presentation: 20 marks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  |  REVIEW 2 OVERVIEW</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Three Business Questions, Two Unit 3 Methods</a:t>
            </a:r>
            <a:endParaRPr lang="en-US" sz="2800" dirty="0"/>
          </a:p>
        </p:txBody>
      </p:sp>
      <p:sp>
        <p:nvSpPr>
          <p:cNvPr id="4" name="question 1"/>
          <p:cNvSpPr/>
          <p:nvPr/>
        </p:nvSpPr>
        <p:spPr>
          <a:xfrm>
            <a:off x="640080" y="1417320"/>
            <a:ext cx="3515258" cy="1920240"/>
          </a:xfrm>
          <a:prstGeom prst="roundRect">
            <a:avLst>
              <a:gd name="adj" fmla="val 285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Shape 3"/>
          <p:cNvSpPr/>
          <p:nvPr/>
        </p:nvSpPr>
        <p:spPr>
          <a:xfrm>
            <a:off x="822960" y="1600200"/>
            <a:ext cx="384048" cy="384048"/>
          </a:xfrm>
          <a:prstGeom prst="ellipse">
            <a:avLst/>
          </a:prstGeom>
          <a:solidFill>
            <a:schemeClr val="accent1"/>
          </a:solidFill>
          <a:ln w="12700">
            <a:solidFill>
              <a:schemeClr val="accent1"/>
            </a:solidFill>
            <a:prstDash val="solid"/>
          </a:ln>
        </p:spPr>
      </p:sp>
      <p:sp>
        <p:nvSpPr>
          <p:cNvPr id="6" name="Text 4"/>
          <p:cNvSpPr txBox="1"/>
          <p:nvPr/>
        </p:nvSpPr>
        <p:spPr>
          <a:xfrm>
            <a:off x="822960" y="16002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5"/>
          <p:cNvSpPr txBox="1"/>
          <p:nvPr/>
        </p:nvSpPr>
        <p:spPr>
          <a:xfrm>
            <a:off x="1325880" y="1536192"/>
            <a:ext cx="2646578" cy="548640"/>
          </a:xfrm>
          <a:prstGeom prst="rect">
            <a:avLst/>
          </a:prstGeom>
          <a:noFill/>
          <a:ln/>
        </p:spPr>
        <p:txBody>
          <a:bodyPr wrap="square" lIns="0" tIns="0" rIns="0" bIns="0" rtlCol="0" anchor="ctr">
            <a:normAutofit/>
          </a:bodyPr>
          <a:lstStyle/>
          <a:p>
            <a:pPr indent="0" marL="0">
              <a:buNone/>
            </a:pPr>
            <a:r>
              <a:rPr lang="en-US" sz="1500" b="1" dirty="0">
                <a:solidFill>
                  <a:schemeClr val="tx2"/>
                </a:solidFill>
              </a:rPr>
              <a:t>What are users complaining about?</a:t>
            </a:r>
            <a:endParaRPr lang="en-US" sz="1500" dirty="0"/>
          </a:p>
        </p:txBody>
      </p:sp>
      <p:sp>
        <p:nvSpPr>
          <p:cNvPr id="8" name="Text 6"/>
          <p:cNvSpPr txBox="1"/>
          <p:nvPr/>
        </p:nvSpPr>
        <p:spPr>
          <a:xfrm>
            <a:off x="868680" y="2176272"/>
            <a:ext cx="3103778" cy="1097280"/>
          </a:xfrm>
          <a:prstGeom prst="rect">
            <a:avLst/>
          </a:prstGeom>
          <a:noFill/>
          <a:ln/>
        </p:spPr>
        <p:txBody>
          <a:bodyPr wrap="square" lIns="0" tIns="0" rIns="0" bIns="0" rtlCol="0" anchor="t">
            <a:normAutofit/>
          </a:bodyPr>
          <a:lstStyle/>
          <a:p>
            <a:pPr indent="0" marL="0">
              <a:lnSpc>
                <a:spcPct val="100000"/>
              </a:lnSpc>
              <a:spcAft>
                <a:spcPts val="600"/>
              </a:spcAft>
              <a:buNone/>
            </a:pPr>
            <a:r>
              <a:rPr lang="en-US" sz="1350" dirty="0">
                <a:solidFill>
                  <a:schemeClr val="tx1"/>
                </a:solidFill>
              </a:rPr>
              <a:t>Method 1, text mining: NMF topic models on 167,357 complaint reviews, VADER sentiment per topic, words that set each app apart.</a:t>
            </a:r>
            <a:endParaRPr lang="en-US" sz="1350" dirty="0"/>
          </a:p>
        </p:txBody>
      </p:sp>
      <p:sp>
        <p:nvSpPr>
          <p:cNvPr id="9" name="question 2"/>
          <p:cNvSpPr/>
          <p:nvPr/>
        </p:nvSpPr>
        <p:spPr>
          <a:xfrm>
            <a:off x="4338218" y="1417320"/>
            <a:ext cx="3515258" cy="1920240"/>
          </a:xfrm>
          <a:prstGeom prst="roundRect">
            <a:avLst>
              <a:gd name="adj" fmla="val 285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Shape 8"/>
          <p:cNvSpPr/>
          <p:nvPr/>
        </p:nvSpPr>
        <p:spPr>
          <a:xfrm>
            <a:off x="4521098" y="1600200"/>
            <a:ext cx="384048" cy="384048"/>
          </a:xfrm>
          <a:prstGeom prst="ellipse">
            <a:avLst/>
          </a:prstGeom>
          <a:solidFill>
            <a:schemeClr val="accent2"/>
          </a:solidFill>
          <a:ln w="12700">
            <a:solidFill>
              <a:schemeClr val="accent2"/>
            </a:solidFill>
            <a:prstDash val="solid"/>
          </a:ln>
        </p:spPr>
      </p:sp>
      <p:sp>
        <p:nvSpPr>
          <p:cNvPr id="11" name="Text 9"/>
          <p:cNvSpPr txBox="1"/>
          <p:nvPr/>
        </p:nvSpPr>
        <p:spPr>
          <a:xfrm>
            <a:off x="4521098" y="16002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5024018" y="1536192"/>
            <a:ext cx="2646578" cy="548640"/>
          </a:xfrm>
          <a:prstGeom prst="rect">
            <a:avLst/>
          </a:prstGeom>
          <a:noFill/>
          <a:ln/>
        </p:spPr>
        <p:txBody>
          <a:bodyPr wrap="square" lIns="0" tIns="0" rIns="0" bIns="0" rtlCol="0" anchor="ctr">
            <a:normAutofit/>
          </a:bodyPr>
          <a:lstStyle/>
          <a:p>
            <a:pPr indent="0" marL="0">
              <a:buNone/>
            </a:pPr>
            <a:r>
              <a:rPr lang="en-US" sz="1500" b="1" dirty="0">
                <a:solidFill>
                  <a:schemeClr val="tx2"/>
                </a:solidFill>
              </a:rPr>
              <a:t>How many complaints are coming, and was a release to blame?</a:t>
            </a:r>
            <a:endParaRPr lang="en-US" sz="1500" dirty="0"/>
          </a:p>
        </p:txBody>
      </p:sp>
      <p:sp>
        <p:nvSpPr>
          <p:cNvPr id="13" name="Text 11"/>
          <p:cNvSpPr txBox="1"/>
          <p:nvPr/>
        </p:nvSpPr>
        <p:spPr>
          <a:xfrm>
            <a:off x="4566818" y="2176272"/>
            <a:ext cx="3103778" cy="1097280"/>
          </a:xfrm>
          <a:prstGeom prst="rect">
            <a:avLst/>
          </a:prstGeom>
          <a:noFill/>
          <a:ln/>
        </p:spPr>
        <p:txBody>
          <a:bodyPr wrap="square" lIns="0" tIns="0" rIns="0" bIns="0" rtlCol="0" anchor="t">
            <a:normAutofit/>
          </a:bodyPr>
          <a:lstStyle/>
          <a:p>
            <a:pPr indent="0" marL="0">
              <a:lnSpc>
                <a:spcPct val="100000"/>
              </a:lnSpc>
              <a:spcAft>
                <a:spcPts val="600"/>
              </a:spcAft>
              <a:buNone/>
            </a:pPr>
            <a:r>
              <a:rPr lang="en-US" sz="1350" dirty="0">
                <a:solidFill>
                  <a:schemeClr val="tx1"/>
                </a:solidFill>
              </a:rPr>
              <a:t>Method 2, time series: ARIMA/SARIMA forecasts tested on a rolling backtest, unusual-day alerts, and before/after tests for 224 app versions.</a:t>
            </a:r>
            <a:endParaRPr lang="en-US" sz="1350" dirty="0"/>
          </a:p>
        </p:txBody>
      </p:sp>
      <p:sp>
        <p:nvSpPr>
          <p:cNvPr id="14" name="question 3"/>
          <p:cNvSpPr/>
          <p:nvPr/>
        </p:nvSpPr>
        <p:spPr>
          <a:xfrm>
            <a:off x="8036357" y="1417320"/>
            <a:ext cx="3515258" cy="1920240"/>
          </a:xfrm>
          <a:prstGeom prst="roundRect">
            <a:avLst>
              <a:gd name="adj" fmla="val 285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3"/>
          <p:cNvSpPr/>
          <p:nvPr/>
        </p:nvSpPr>
        <p:spPr>
          <a:xfrm>
            <a:off x="8219237" y="1600200"/>
            <a:ext cx="384048" cy="384048"/>
          </a:xfrm>
          <a:prstGeom prst="ellipse">
            <a:avLst/>
          </a:prstGeom>
          <a:solidFill>
            <a:schemeClr val="accent3"/>
          </a:solidFill>
          <a:ln w="12700">
            <a:solidFill>
              <a:schemeClr val="accent3"/>
            </a:solidFill>
            <a:prstDash val="solid"/>
          </a:ln>
        </p:spPr>
      </p:sp>
      <p:sp>
        <p:nvSpPr>
          <p:cNvPr id="16" name="Text 14"/>
          <p:cNvSpPr txBox="1"/>
          <p:nvPr/>
        </p:nvSpPr>
        <p:spPr>
          <a:xfrm>
            <a:off x="8219237" y="16002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5"/>
          <p:cNvSpPr txBox="1"/>
          <p:nvPr/>
        </p:nvSpPr>
        <p:spPr>
          <a:xfrm>
            <a:off x="8722157" y="1536192"/>
            <a:ext cx="2646578" cy="548640"/>
          </a:xfrm>
          <a:prstGeom prst="rect">
            <a:avLst/>
          </a:prstGeom>
          <a:noFill/>
          <a:ln/>
        </p:spPr>
        <p:txBody>
          <a:bodyPr wrap="square" lIns="0" tIns="0" rIns="0" bIns="0" rtlCol="0" anchor="ctr">
            <a:normAutofit/>
          </a:bodyPr>
          <a:lstStyle/>
          <a:p>
            <a:pPr indent="0" marL="0">
              <a:buNone/>
            </a:pPr>
            <a:r>
              <a:rPr lang="en-US" sz="1500" b="1" dirty="0">
                <a:solidFill>
                  <a:schemeClr val="tx2"/>
                </a:solidFill>
              </a:rPr>
              <a:t>Which app needs attention first, and what should it do?</a:t>
            </a:r>
            <a:endParaRPr lang="en-US" sz="1500" dirty="0"/>
          </a:p>
        </p:txBody>
      </p:sp>
      <p:sp>
        <p:nvSpPr>
          <p:cNvPr id="18" name="Text 16"/>
          <p:cNvSpPr txBox="1"/>
          <p:nvPr/>
        </p:nvSpPr>
        <p:spPr>
          <a:xfrm>
            <a:off x="8264957" y="2176272"/>
            <a:ext cx="3103778" cy="1097280"/>
          </a:xfrm>
          <a:prstGeom prst="rect">
            <a:avLst/>
          </a:prstGeom>
          <a:noFill/>
          <a:ln/>
        </p:spPr>
        <p:txBody>
          <a:bodyPr wrap="square" lIns="0" tIns="0" rIns="0" bIns="0" rtlCol="0" anchor="t">
            <a:normAutofit/>
          </a:bodyPr>
          <a:lstStyle/>
          <a:p>
            <a:pPr indent="0" marL="0">
              <a:lnSpc>
                <a:spcPct val="100000"/>
              </a:lnSpc>
              <a:spcAft>
                <a:spcPts val="600"/>
              </a:spcAft>
              <a:buNone/>
            </a:pPr>
            <a:r>
              <a:rPr lang="en-US" sz="1350" dirty="0">
                <a:solidFill>
                  <a:schemeClr val="tx1"/>
                </a:solidFill>
              </a:rPr>
              <a:t>Combined insights: six warning signs from every stage give each app a priority and 65 recommendations, all in a live dashboard.</a:t>
            </a:r>
            <a:endParaRPr lang="en-US" sz="1350" dirty="0"/>
          </a:p>
        </p:txBody>
      </p:sp>
      <p:sp>
        <p:nvSpPr>
          <p:cNvPr id="19" name="Text 17"/>
          <p:cNvSpPr txBox="1"/>
          <p:nvPr/>
        </p:nvSpPr>
        <p:spPr>
          <a:xfrm>
            <a:off x="640080" y="3566160"/>
            <a:ext cx="10911535" cy="320040"/>
          </a:xfrm>
          <a:prstGeom prst="rect">
            <a:avLst/>
          </a:prstGeom>
          <a:noFill/>
          <a:ln/>
        </p:spPr>
        <p:txBody>
          <a:bodyPr wrap="square" lIns="0" tIns="0" rIns="0" bIns="0" rtlCol="0" anchor="ctr"/>
          <a:lstStyle/>
          <a:p>
            <a:pPr indent="0" marL="0">
              <a:buNone/>
            </a:pPr>
            <a:r>
              <a:rPr lang="en-US" sz="1400" b="1" dirty="0">
                <a:solidFill>
                  <a:schemeClr val="tx2"/>
                </a:solidFill>
              </a:rPr>
              <a:t>How the work flowed: one stage after another, each merged through a pull request</a:t>
            </a:r>
            <a:endParaRPr lang="en-US" sz="1400" dirty="0"/>
          </a:p>
        </p:txBody>
      </p:sp>
      <p:sp>
        <p:nvSpPr>
          <p:cNvPr id="20" name="step 1"/>
          <p:cNvSpPr/>
          <p:nvPr/>
        </p:nvSpPr>
        <p:spPr>
          <a:xfrm>
            <a:off x="640080"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1" name="Shape 19"/>
          <p:cNvSpPr/>
          <p:nvPr/>
        </p:nvSpPr>
        <p:spPr>
          <a:xfrm>
            <a:off x="777240" y="4160520"/>
            <a:ext cx="365760" cy="365760"/>
          </a:xfrm>
          <a:prstGeom prst="ellipse">
            <a:avLst/>
          </a:prstGeom>
          <a:solidFill>
            <a:schemeClr val="accent6"/>
          </a:solidFill>
          <a:ln w="12700">
            <a:solidFill>
              <a:schemeClr val="accent6"/>
            </a:solidFill>
            <a:prstDash val="solid"/>
          </a:ln>
        </p:spPr>
      </p:sp>
      <p:sp>
        <p:nvSpPr>
          <p:cNvPr id="22" name="Text 20"/>
          <p:cNvSpPr txBox="1"/>
          <p:nvPr/>
        </p:nvSpPr>
        <p:spPr>
          <a:xfrm>
            <a:off x="777240"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R1</a:t>
            </a:r>
            <a:endParaRPr lang="en-US" sz="1300" dirty="0"/>
          </a:p>
        </p:txBody>
      </p:sp>
      <p:sp>
        <p:nvSpPr>
          <p:cNvPr id="23" name="Text 21"/>
          <p:cNvSpPr txBox="1"/>
          <p:nvPr/>
        </p:nvSpPr>
        <p:spPr>
          <a:xfrm>
            <a:off x="777240"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Review 1 data</a:t>
            </a:r>
            <a:endParaRPr lang="en-US" sz="1400" dirty="0"/>
          </a:p>
        </p:txBody>
      </p:sp>
      <p:sp>
        <p:nvSpPr>
          <p:cNvPr id="24" name="Text 22"/>
          <p:cNvSpPr txBox="1"/>
          <p:nvPr/>
        </p:nvSpPr>
        <p:spPr>
          <a:xfrm>
            <a:off x="777240"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1.14M reviews, 9 issue tags, VADER, classifier</a:t>
            </a:r>
            <a:endParaRPr lang="en-US" sz="1250" dirty="0"/>
          </a:p>
        </p:txBody>
      </p:sp>
      <p:sp>
        <p:nvSpPr>
          <p:cNvPr id="25" name="step 2"/>
          <p:cNvSpPr/>
          <p:nvPr/>
        </p:nvSpPr>
        <p:spPr>
          <a:xfrm>
            <a:off x="2476957"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6" name="Shape 24"/>
          <p:cNvSpPr/>
          <p:nvPr/>
        </p:nvSpPr>
        <p:spPr>
          <a:xfrm>
            <a:off x="2614117" y="4160520"/>
            <a:ext cx="365760" cy="365760"/>
          </a:xfrm>
          <a:prstGeom prst="ellipse">
            <a:avLst/>
          </a:prstGeom>
          <a:solidFill>
            <a:schemeClr val="accent1"/>
          </a:solidFill>
          <a:ln w="12700">
            <a:solidFill>
              <a:schemeClr val="accent1"/>
            </a:solidFill>
            <a:prstDash val="solid"/>
          </a:ln>
        </p:spPr>
      </p:sp>
      <p:sp>
        <p:nvSpPr>
          <p:cNvPr id="27" name="Text 25"/>
          <p:cNvSpPr txBox="1"/>
          <p:nvPr/>
        </p:nvSpPr>
        <p:spPr>
          <a:xfrm>
            <a:off x="2614117"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8" name="Text 26"/>
          <p:cNvSpPr txBox="1"/>
          <p:nvPr/>
        </p:nvSpPr>
        <p:spPr>
          <a:xfrm>
            <a:off x="2614117"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1: preparation</a:t>
            </a:r>
            <a:endParaRPr lang="en-US" sz="1400" dirty="0"/>
          </a:p>
        </p:txBody>
      </p:sp>
      <p:sp>
        <p:nvSpPr>
          <p:cNvPr id="29" name="Text 27"/>
          <p:cNvSpPr txBox="1"/>
          <p:nvPr/>
        </p:nvSpPr>
        <p:spPr>
          <a:xfrm>
            <a:off x="2614117"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text corpora, daily series, dashboard base</a:t>
            </a:r>
            <a:endParaRPr lang="en-US" sz="1250" dirty="0"/>
          </a:p>
        </p:txBody>
      </p:sp>
      <p:sp>
        <p:nvSpPr>
          <p:cNvPr id="30" name="step 3"/>
          <p:cNvSpPr/>
          <p:nvPr/>
        </p:nvSpPr>
        <p:spPr>
          <a:xfrm>
            <a:off x="4313834"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1" name="Shape 29"/>
          <p:cNvSpPr/>
          <p:nvPr/>
        </p:nvSpPr>
        <p:spPr>
          <a:xfrm>
            <a:off x="4450994" y="4160520"/>
            <a:ext cx="365760" cy="365760"/>
          </a:xfrm>
          <a:prstGeom prst="ellipse">
            <a:avLst/>
          </a:prstGeom>
          <a:solidFill>
            <a:schemeClr val="accent1"/>
          </a:solidFill>
          <a:ln w="12700">
            <a:solidFill>
              <a:schemeClr val="accent1"/>
            </a:solidFill>
            <a:prstDash val="solid"/>
          </a:ln>
        </p:spPr>
      </p:sp>
      <p:sp>
        <p:nvSpPr>
          <p:cNvPr id="32" name="Text 30"/>
          <p:cNvSpPr txBox="1"/>
          <p:nvPr/>
        </p:nvSpPr>
        <p:spPr>
          <a:xfrm>
            <a:off x="4450994"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31"/>
          <p:cNvSpPr txBox="1"/>
          <p:nvPr/>
        </p:nvSpPr>
        <p:spPr>
          <a:xfrm>
            <a:off x="4450994"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2: text mining</a:t>
            </a:r>
            <a:endParaRPr lang="en-US" sz="1400" dirty="0"/>
          </a:p>
        </p:txBody>
      </p:sp>
      <p:sp>
        <p:nvSpPr>
          <p:cNvPr id="34" name="Text 32"/>
          <p:cNvSpPr txBox="1"/>
          <p:nvPr/>
        </p:nvSpPr>
        <p:spPr>
          <a:xfrm>
            <a:off x="4450994"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17 topics, sentiment, evaluation</a:t>
            </a:r>
            <a:endParaRPr lang="en-US" sz="1250" dirty="0"/>
          </a:p>
        </p:txBody>
      </p:sp>
      <p:sp>
        <p:nvSpPr>
          <p:cNvPr id="35" name="step 4"/>
          <p:cNvSpPr/>
          <p:nvPr/>
        </p:nvSpPr>
        <p:spPr>
          <a:xfrm>
            <a:off x="6150712"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6" name="Shape 34"/>
          <p:cNvSpPr/>
          <p:nvPr/>
        </p:nvSpPr>
        <p:spPr>
          <a:xfrm>
            <a:off x="6287872" y="4160520"/>
            <a:ext cx="365760" cy="365760"/>
          </a:xfrm>
          <a:prstGeom prst="ellipse">
            <a:avLst/>
          </a:prstGeom>
          <a:solidFill>
            <a:schemeClr val="accent1"/>
          </a:solidFill>
          <a:ln w="12700">
            <a:solidFill>
              <a:schemeClr val="accent1"/>
            </a:solidFill>
            <a:prstDash val="solid"/>
          </a:ln>
        </p:spPr>
      </p:sp>
      <p:sp>
        <p:nvSpPr>
          <p:cNvPr id="37" name="Text 35"/>
          <p:cNvSpPr txBox="1"/>
          <p:nvPr/>
        </p:nvSpPr>
        <p:spPr>
          <a:xfrm>
            <a:off x="6287872"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8" name="Text 36"/>
          <p:cNvSpPr txBox="1"/>
          <p:nvPr/>
        </p:nvSpPr>
        <p:spPr>
          <a:xfrm>
            <a:off x="6287872"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3: forecasting</a:t>
            </a:r>
            <a:endParaRPr lang="en-US" sz="1400" dirty="0"/>
          </a:p>
        </p:txBody>
      </p:sp>
      <p:sp>
        <p:nvSpPr>
          <p:cNvPr id="39" name="Text 37"/>
          <p:cNvSpPr txBox="1"/>
          <p:nvPr/>
        </p:nvSpPr>
        <p:spPr>
          <a:xfrm>
            <a:off x="6287872"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11 ARIMA models, backtest</a:t>
            </a:r>
            <a:endParaRPr lang="en-US" sz="1250" dirty="0"/>
          </a:p>
        </p:txBody>
      </p:sp>
      <p:sp>
        <p:nvSpPr>
          <p:cNvPr id="40" name="step 5"/>
          <p:cNvSpPr/>
          <p:nvPr/>
        </p:nvSpPr>
        <p:spPr>
          <a:xfrm>
            <a:off x="7987589"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41" name="Shape 39"/>
          <p:cNvSpPr/>
          <p:nvPr/>
        </p:nvSpPr>
        <p:spPr>
          <a:xfrm>
            <a:off x="8124749" y="4160520"/>
            <a:ext cx="365760" cy="365760"/>
          </a:xfrm>
          <a:prstGeom prst="ellipse">
            <a:avLst/>
          </a:prstGeom>
          <a:solidFill>
            <a:schemeClr val="accent1"/>
          </a:solidFill>
          <a:ln w="12700">
            <a:solidFill>
              <a:schemeClr val="accent1"/>
            </a:solidFill>
            <a:prstDash val="solid"/>
          </a:ln>
        </p:spPr>
      </p:sp>
      <p:sp>
        <p:nvSpPr>
          <p:cNvPr id="42" name="Text 40"/>
          <p:cNvSpPr txBox="1"/>
          <p:nvPr/>
        </p:nvSpPr>
        <p:spPr>
          <a:xfrm>
            <a:off x="8124749"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3" name="Text 41"/>
          <p:cNvSpPr txBox="1"/>
          <p:nvPr/>
        </p:nvSpPr>
        <p:spPr>
          <a:xfrm>
            <a:off x="8124749"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4: evaluation</a:t>
            </a:r>
            <a:endParaRPr lang="en-US" sz="1400" dirty="0"/>
          </a:p>
        </p:txBody>
      </p:sp>
      <p:sp>
        <p:nvSpPr>
          <p:cNvPr id="44" name="Text 42"/>
          <p:cNvSpPr txBox="1"/>
          <p:nvPr/>
        </p:nvSpPr>
        <p:spPr>
          <a:xfrm>
            <a:off x="8124749"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accuracy, intervals, alerts</a:t>
            </a:r>
            <a:endParaRPr lang="en-US" sz="1250" dirty="0"/>
          </a:p>
        </p:txBody>
      </p:sp>
      <p:sp>
        <p:nvSpPr>
          <p:cNvPr id="45" name="step 6"/>
          <p:cNvSpPr/>
          <p:nvPr/>
        </p:nvSpPr>
        <p:spPr>
          <a:xfrm>
            <a:off x="9824466"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46" name="Shape 44"/>
          <p:cNvSpPr/>
          <p:nvPr/>
        </p:nvSpPr>
        <p:spPr>
          <a:xfrm>
            <a:off x="9961626" y="4160520"/>
            <a:ext cx="365760" cy="365760"/>
          </a:xfrm>
          <a:prstGeom prst="ellipse">
            <a:avLst/>
          </a:prstGeom>
          <a:solidFill>
            <a:schemeClr val="accent1"/>
          </a:solidFill>
          <a:ln w="12700">
            <a:solidFill>
              <a:schemeClr val="accent1"/>
            </a:solidFill>
            <a:prstDash val="solid"/>
          </a:ln>
        </p:spPr>
      </p:sp>
      <p:sp>
        <p:nvSpPr>
          <p:cNvPr id="47" name="Text 45"/>
          <p:cNvSpPr txBox="1"/>
          <p:nvPr/>
        </p:nvSpPr>
        <p:spPr>
          <a:xfrm>
            <a:off x="9961626"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8" name="Text 46"/>
          <p:cNvSpPr txBox="1"/>
          <p:nvPr/>
        </p:nvSpPr>
        <p:spPr>
          <a:xfrm>
            <a:off x="9961626"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5: impact + insights</a:t>
            </a:r>
            <a:endParaRPr lang="en-US" sz="1400" dirty="0"/>
          </a:p>
        </p:txBody>
      </p:sp>
      <p:sp>
        <p:nvSpPr>
          <p:cNvPr id="49" name="Text 47"/>
          <p:cNvSpPr txBox="1"/>
          <p:nvPr/>
        </p:nvSpPr>
        <p:spPr>
          <a:xfrm>
            <a:off x="9961626"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205 releases tested, priorities</a:t>
            </a:r>
            <a:endParaRPr lang="en-US" sz="12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2  |  METHOD 1, TEXT MINING: DATA PREPARATION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Text Mining: Preparing the Review Text for Topic Models</a:t>
            </a:r>
            <a:endParaRPr lang="en-US" sz="2800" dirty="0"/>
          </a:p>
        </p:txBody>
      </p:sp>
      <p:sp>
        <p:nvSpPr>
          <p:cNvPr id="4" name="corpora"/>
          <p:cNvSpPr/>
          <p:nvPr/>
        </p:nvSpPr>
        <p:spPr>
          <a:xfrm>
            <a:off x="640080" y="1417320"/>
            <a:ext cx="3246120" cy="4709160"/>
          </a:xfrm>
          <a:prstGeom prst="roundRect">
            <a:avLst>
              <a:gd name="adj" fmla="val 169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54480"/>
            <a:ext cx="2834640" cy="365760"/>
          </a:xfrm>
          <a:prstGeom prst="rect">
            <a:avLst/>
          </a:prstGeom>
          <a:noFill/>
          <a:ln/>
        </p:spPr>
        <p:txBody>
          <a:bodyPr wrap="square" lIns="0" tIns="0" rIns="0" bIns="0" rtlCol="0" anchor="ctr">
            <a:normAutofit/>
          </a:bodyPr>
          <a:lstStyle/>
          <a:p>
            <a:pPr indent="0" marL="0">
              <a:buNone/>
            </a:pPr>
            <a:r>
              <a:rPr lang="en-US" sz="1600" b="1" dirty="0">
                <a:solidFill>
                  <a:schemeClr val="tx2"/>
                </a:solidFill>
              </a:rPr>
              <a:t>Two corpora</a:t>
            </a:r>
            <a:endParaRPr lang="en-US" sz="1600" dirty="0"/>
          </a:p>
        </p:txBody>
      </p:sp>
      <p:sp>
        <p:nvSpPr>
          <p:cNvPr id="6" name="Text 4"/>
          <p:cNvSpPr txBox="1"/>
          <p:nvPr/>
        </p:nvSpPr>
        <p:spPr>
          <a:xfrm>
            <a:off x="868680" y="1920240"/>
            <a:ext cx="2834640" cy="566928"/>
          </a:xfrm>
          <a:prstGeom prst="rect">
            <a:avLst/>
          </a:prstGeom>
          <a:noFill/>
          <a:ln/>
        </p:spPr>
        <p:txBody>
          <a:bodyPr wrap="square" lIns="0" tIns="0" rIns="0" bIns="0" rtlCol="0" anchor="b"/>
          <a:lstStyle/>
          <a:p>
            <a:pPr indent="0" marL="0">
              <a:buNone/>
            </a:pPr>
            <a:r>
              <a:rPr lang="en-US" sz="3000" b="1" dirty="0">
                <a:solidFill>
                  <a:schemeClr val="accent2"/>
                </a:solidFill>
                <a:latin typeface="Calibri" pitchFamily="34" charset="0"/>
                <a:ea typeface="Calibri" pitchFamily="34" charset="-122"/>
                <a:cs typeface="Calibri" pitchFamily="34" charset="-120"/>
              </a:rPr>
              <a:t>167,357</a:t>
            </a:r>
            <a:endParaRPr lang="en-US" sz="3000" dirty="0"/>
          </a:p>
        </p:txBody>
      </p:sp>
      <p:sp>
        <p:nvSpPr>
          <p:cNvPr id="7" name="Text 5"/>
          <p:cNvSpPr txBox="1"/>
          <p:nvPr/>
        </p:nvSpPr>
        <p:spPr>
          <a:xfrm>
            <a:off x="868680" y="2514600"/>
            <a:ext cx="2834640" cy="457200"/>
          </a:xfrm>
          <a:prstGeom prst="rect">
            <a:avLst/>
          </a:prstGeom>
          <a:noFill/>
          <a:ln/>
        </p:spPr>
        <p:txBody>
          <a:bodyPr wrap="square" lIns="0" tIns="0" rIns="0" bIns="0" rtlCol="0" anchor="t"/>
          <a:lstStyle/>
          <a:p>
            <a:pPr indent="0" marL="0">
              <a:buNone/>
            </a:pPr>
            <a:r>
              <a:rPr lang="en-US" sz="1150" dirty="0">
                <a:solidFill>
                  <a:schemeClr val="tx1"/>
                </a:solidFill>
              </a:rPr>
              <a:t>complaint reviews (1–2★) kept, 75.5% of 221,581</a:t>
            </a:r>
            <a:endParaRPr lang="en-US" sz="1150" dirty="0"/>
          </a:p>
        </p:txBody>
      </p:sp>
      <p:sp>
        <p:nvSpPr>
          <p:cNvPr id="8" name="Text 6"/>
          <p:cNvSpPr txBox="1"/>
          <p:nvPr/>
        </p:nvSpPr>
        <p:spPr>
          <a:xfrm>
            <a:off x="868680" y="2971800"/>
            <a:ext cx="2834640" cy="566928"/>
          </a:xfrm>
          <a:prstGeom prst="rect">
            <a:avLst/>
          </a:prstGeom>
          <a:noFill/>
          <a:ln/>
        </p:spPr>
        <p:txBody>
          <a:bodyPr wrap="square" lIns="0" tIns="0" rIns="0" bIns="0" rtlCol="0" anchor="b"/>
          <a:lstStyle/>
          <a:p>
            <a:pPr indent="0" marL="0">
              <a:buNone/>
            </a:pPr>
            <a:r>
              <a:rPr lang="en-US" sz="3000" b="1" dirty="0">
                <a:solidFill>
                  <a:schemeClr val="accent3"/>
                </a:solidFill>
                <a:latin typeface="Calibri" pitchFamily="34" charset="0"/>
                <a:ea typeface="Calibri" pitchFamily="34" charset="-122"/>
                <a:cs typeface="Calibri" pitchFamily="34" charset="-120"/>
              </a:rPr>
              <a:t>166,929</a:t>
            </a:r>
            <a:endParaRPr lang="en-US" sz="3000" dirty="0"/>
          </a:p>
        </p:txBody>
      </p:sp>
      <p:sp>
        <p:nvSpPr>
          <p:cNvPr id="9" name="Text 7"/>
          <p:cNvSpPr txBox="1"/>
          <p:nvPr/>
        </p:nvSpPr>
        <p:spPr>
          <a:xfrm>
            <a:off x="868680" y="3566160"/>
            <a:ext cx="2834640" cy="457200"/>
          </a:xfrm>
          <a:prstGeom prst="rect">
            <a:avLst/>
          </a:prstGeom>
          <a:noFill/>
          <a:ln/>
        </p:spPr>
        <p:txBody>
          <a:bodyPr wrap="square" lIns="0" tIns="0" rIns="0" bIns="0" rtlCol="0" anchor="t"/>
          <a:lstStyle/>
          <a:p>
            <a:pPr indent="0" marL="0">
              <a:buNone/>
            </a:pPr>
            <a:r>
              <a:rPr lang="en-US" sz="1150" dirty="0">
                <a:solidFill>
                  <a:schemeClr val="tx1"/>
                </a:solidFill>
              </a:rPr>
              <a:t>praise reviews (4–5★) kept as a contrast, 19.2% of 871,380</a:t>
            </a:r>
            <a:endParaRPr lang="en-US" sz="1150" dirty="0"/>
          </a:p>
        </p:txBody>
      </p:sp>
      <p:sp>
        <p:nvSpPr>
          <p:cNvPr id="10" name="Text 8"/>
          <p:cNvSpPr txBox="1"/>
          <p:nvPr/>
        </p:nvSpPr>
        <p:spPr>
          <a:xfrm>
            <a:off x="868680" y="4069080"/>
            <a:ext cx="2834640" cy="1920240"/>
          </a:xfrm>
          <a:prstGeom prst="rect">
            <a:avLst/>
          </a:prstGeom>
          <a:noFill/>
          <a:ln/>
        </p:spPr>
        <p:txBody>
          <a:bodyPr wrap="square" lIns="0" tIns="0" rIns="0" bIns="0" rtlCol="0" anchor="t">
            <a:normAutofit/>
          </a:bodyPr>
          <a:lstStyle/>
          <a:p>
            <a:pPr indent="0" marL="0">
              <a:lnSpc>
                <a:spcPct val="100000"/>
              </a:lnSpc>
              <a:spcAft>
                <a:spcPts val="800"/>
              </a:spcAft>
              <a:buNone/>
            </a:pPr>
            <a:r>
              <a:rPr lang="en-US" sz="1250" b="1" dirty="0">
                <a:solidFill>
                  <a:schemeClr val="tx1"/>
                </a:solidFill>
              </a:rPr>
              <a:t>Kept: </a:t>
            </a:r>
            <a:pPr indent="0" marL="0">
              <a:lnSpc>
                <a:spcPct val="100000"/>
              </a:lnSpc>
              <a:spcAft>
                <a:spcPts val="800"/>
              </a:spcAft>
              <a:buNone/>
            </a:pPr>
            <a:r>
              <a:rPr lang="en-US" sz="1250" dirty="0">
                <a:solidFill>
                  <a:schemeClr val="tx1"/>
                </a:solidFill>
              </a:rPr>
              <a:t>at least 3 content words after cleaning. "worst" or "good" alone cannot carry a topic.</a:t>
            </a:r>
            <a:endParaRPr lang="en-US" sz="1250" dirty="0"/>
          </a:p>
          <a:p>
            <a:pPr indent="0" marL="0">
              <a:lnSpc>
                <a:spcPct val="100000"/>
              </a:lnSpc>
              <a:spcAft>
                <a:spcPts val="800"/>
              </a:spcAft>
              <a:buNone/>
            </a:pPr>
            <a:r>
              <a:rPr lang="en-US" sz="1250" b="1" dirty="0">
                <a:solidFill>
                  <a:schemeClr val="tx1"/>
                </a:solidFill>
              </a:rPr>
              <a:t>Median length: </a:t>
            </a:r>
            <a:pPr indent="0" marL="0">
              <a:lnSpc>
                <a:spcPct val="100000"/>
              </a:lnSpc>
              <a:spcAft>
                <a:spcPts val="800"/>
              </a:spcAft>
              <a:buNone/>
            </a:pPr>
            <a:r>
              <a:rPr lang="en-US" sz="1250" dirty="0">
                <a:solidFill>
                  <a:schemeClr val="tx1"/>
                </a:solidFill>
              </a:rPr>
              <a:t>11 words for complaints, 4 for praise. 3★ reviews are left out.</a:t>
            </a:r>
            <a:endParaRPr lang="en-US" sz="1250" dirty="0"/>
          </a:p>
        </p:txBody>
      </p:sp>
      <p:sp>
        <p:nvSpPr>
          <p:cNvPr id="11" name="cleaning"/>
          <p:cNvSpPr/>
          <p:nvPr/>
        </p:nvSpPr>
        <p:spPr>
          <a:xfrm>
            <a:off x="4069080" y="1417320"/>
            <a:ext cx="3931920" cy="4709160"/>
          </a:xfrm>
          <a:prstGeom prst="roundRect">
            <a:avLst>
              <a:gd name="adj" fmla="val 139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2" name="Text 10"/>
          <p:cNvSpPr txBox="1"/>
          <p:nvPr/>
        </p:nvSpPr>
        <p:spPr>
          <a:xfrm>
            <a:off x="4297680" y="1554480"/>
            <a:ext cx="3474720" cy="365760"/>
          </a:xfrm>
          <a:prstGeom prst="rect">
            <a:avLst/>
          </a:prstGeom>
          <a:noFill/>
          <a:ln/>
        </p:spPr>
        <p:txBody>
          <a:bodyPr wrap="square" lIns="0" tIns="0" rIns="0" bIns="0" rtlCol="0" anchor="ctr">
            <a:normAutofit/>
          </a:bodyPr>
          <a:lstStyle/>
          <a:p>
            <a:pPr indent="0" marL="0">
              <a:buNone/>
            </a:pPr>
            <a:r>
              <a:rPr lang="en-US" sz="1600" b="1" dirty="0">
                <a:solidFill>
                  <a:schemeClr val="tx2"/>
                </a:solidFill>
              </a:rPr>
              <a:t>Cleaning steps</a:t>
            </a:r>
            <a:endParaRPr lang="en-US" sz="1600" dirty="0"/>
          </a:p>
        </p:txBody>
      </p:sp>
      <p:sp>
        <p:nvSpPr>
          <p:cNvPr id="13" name="Shape 11"/>
          <p:cNvSpPr/>
          <p:nvPr/>
        </p:nvSpPr>
        <p:spPr>
          <a:xfrm>
            <a:off x="4297680" y="2039112"/>
            <a:ext cx="292608" cy="292608"/>
          </a:xfrm>
          <a:prstGeom prst="ellipse">
            <a:avLst/>
          </a:prstGeom>
          <a:solidFill>
            <a:schemeClr val="accent1"/>
          </a:solidFill>
          <a:ln w="12700">
            <a:solidFill>
              <a:schemeClr val="accent1"/>
            </a:solidFill>
            <a:prstDash val="solid"/>
          </a:ln>
        </p:spPr>
      </p:sp>
      <p:sp>
        <p:nvSpPr>
          <p:cNvPr id="14" name="Text 12"/>
          <p:cNvSpPr txBox="1"/>
          <p:nvPr/>
        </p:nvSpPr>
        <p:spPr>
          <a:xfrm>
            <a:off x="4297680" y="203911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Text 13"/>
          <p:cNvSpPr txBox="1"/>
          <p:nvPr/>
        </p:nvSpPr>
        <p:spPr>
          <a:xfrm>
            <a:off x="4709160" y="199339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Lowercase; remove links, e-mails, emojis, digits</a:t>
            </a:r>
            <a:endParaRPr lang="en-US" sz="1200" dirty="0"/>
          </a:p>
        </p:txBody>
      </p:sp>
      <p:sp>
        <p:nvSpPr>
          <p:cNvPr id="16" name="Shape 14"/>
          <p:cNvSpPr/>
          <p:nvPr/>
        </p:nvSpPr>
        <p:spPr>
          <a:xfrm>
            <a:off x="4297680" y="2587752"/>
            <a:ext cx="292608" cy="292608"/>
          </a:xfrm>
          <a:prstGeom prst="ellipse">
            <a:avLst/>
          </a:prstGeom>
          <a:solidFill>
            <a:schemeClr val="accent1"/>
          </a:solidFill>
          <a:ln w="12700">
            <a:solidFill>
              <a:schemeClr val="accent1"/>
            </a:solidFill>
            <a:prstDash val="solid"/>
          </a:ln>
        </p:spPr>
      </p:sp>
      <p:sp>
        <p:nvSpPr>
          <p:cNvPr id="17" name="Text 15"/>
          <p:cNvSpPr txBox="1"/>
          <p:nvPr/>
        </p:nvSpPr>
        <p:spPr>
          <a:xfrm>
            <a:off x="4297680" y="258775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Text 16"/>
          <p:cNvSpPr txBox="1"/>
          <p:nvPr/>
        </p:nvSpPr>
        <p:spPr>
          <a:xfrm>
            <a:off x="4709160" y="254203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Remove brand phrases ("google pay", "phone pe") so "pay" stays usable</a:t>
            </a:r>
            <a:endParaRPr lang="en-US" sz="1200" dirty="0"/>
          </a:p>
        </p:txBody>
      </p:sp>
      <p:sp>
        <p:nvSpPr>
          <p:cNvPr id="19" name="Shape 17"/>
          <p:cNvSpPr/>
          <p:nvPr/>
        </p:nvSpPr>
        <p:spPr>
          <a:xfrm>
            <a:off x="4297680" y="3136392"/>
            <a:ext cx="292608" cy="292608"/>
          </a:xfrm>
          <a:prstGeom prst="ellipse">
            <a:avLst/>
          </a:prstGeom>
          <a:solidFill>
            <a:schemeClr val="accent1"/>
          </a:solidFill>
          <a:ln w="12700">
            <a:solidFill>
              <a:schemeClr val="accent1"/>
            </a:solidFill>
            <a:prstDash val="solid"/>
          </a:ln>
        </p:spPr>
      </p:sp>
      <p:sp>
        <p:nvSpPr>
          <p:cNvPr id="20" name="Text 18"/>
          <p:cNvSpPr txBox="1"/>
          <p:nvPr/>
        </p:nvSpPr>
        <p:spPr>
          <a:xfrm>
            <a:off x="4297680" y="313639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1" name="Text 19"/>
          <p:cNvSpPr txBox="1"/>
          <p:nvPr/>
        </p:nvSpPr>
        <p:spPr>
          <a:xfrm>
            <a:off x="4709160" y="309067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Expand contractions: "didnt" → "did not"</a:t>
            </a:r>
            <a:endParaRPr lang="en-US" sz="1200" dirty="0"/>
          </a:p>
        </p:txBody>
      </p:sp>
      <p:sp>
        <p:nvSpPr>
          <p:cNvPr id="22" name="Shape 20"/>
          <p:cNvSpPr/>
          <p:nvPr/>
        </p:nvSpPr>
        <p:spPr>
          <a:xfrm>
            <a:off x="4297680" y="3685032"/>
            <a:ext cx="292608" cy="292608"/>
          </a:xfrm>
          <a:prstGeom prst="ellipse">
            <a:avLst/>
          </a:prstGeom>
          <a:solidFill>
            <a:schemeClr val="accent1"/>
          </a:solidFill>
          <a:ln w="12700">
            <a:solidFill>
              <a:schemeClr val="accent1"/>
            </a:solidFill>
            <a:prstDash val="solid"/>
          </a:ln>
        </p:spPr>
      </p:sp>
      <p:sp>
        <p:nvSpPr>
          <p:cNvPr id="23" name="Text 21"/>
          <p:cNvSpPr txBox="1"/>
          <p:nvPr/>
        </p:nvSpPr>
        <p:spPr>
          <a:xfrm>
            <a:off x="4297680" y="368503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4709160" y="363931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Drop stop words but keep negations: "not delivered" keeps its meaning</a:t>
            </a:r>
            <a:endParaRPr lang="en-US" sz="1200" dirty="0"/>
          </a:p>
        </p:txBody>
      </p:sp>
      <p:sp>
        <p:nvSpPr>
          <p:cNvPr id="25" name="Shape 23"/>
          <p:cNvSpPr/>
          <p:nvPr/>
        </p:nvSpPr>
        <p:spPr>
          <a:xfrm>
            <a:off x="4297680" y="4233672"/>
            <a:ext cx="292608" cy="292608"/>
          </a:xfrm>
          <a:prstGeom prst="ellipse">
            <a:avLst/>
          </a:prstGeom>
          <a:solidFill>
            <a:schemeClr val="accent1"/>
          </a:solidFill>
          <a:ln w="12700">
            <a:solidFill>
              <a:schemeClr val="accent1"/>
            </a:solidFill>
            <a:prstDash val="solid"/>
          </a:ln>
        </p:spPr>
      </p:sp>
      <p:sp>
        <p:nvSpPr>
          <p:cNvPr id="26" name="Text 24"/>
          <p:cNvSpPr txBox="1"/>
          <p:nvPr/>
        </p:nvSpPr>
        <p:spPr>
          <a:xfrm>
            <a:off x="4297680" y="423367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7" name="Text 25"/>
          <p:cNvSpPr txBox="1"/>
          <p:nvPr/>
        </p:nvSpPr>
        <p:spPr>
          <a:xfrm>
            <a:off x="4709160" y="418795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Hinglish: "nahi", "nhi" → "not"; drop filler words ("hai", "mera")</a:t>
            </a:r>
            <a:endParaRPr lang="en-US" sz="1200" dirty="0"/>
          </a:p>
        </p:txBody>
      </p:sp>
      <p:sp>
        <p:nvSpPr>
          <p:cNvPr id="28" name="Shape 26"/>
          <p:cNvSpPr/>
          <p:nvPr/>
        </p:nvSpPr>
        <p:spPr>
          <a:xfrm>
            <a:off x="4297680" y="4782312"/>
            <a:ext cx="292608" cy="292608"/>
          </a:xfrm>
          <a:prstGeom prst="ellipse">
            <a:avLst/>
          </a:prstGeom>
          <a:solidFill>
            <a:schemeClr val="accent1"/>
          </a:solidFill>
          <a:ln w="12700">
            <a:solidFill>
              <a:schemeClr val="accent1"/>
            </a:solidFill>
            <a:prstDash val="solid"/>
          </a:ln>
        </p:spPr>
      </p:sp>
      <p:sp>
        <p:nvSpPr>
          <p:cNvPr id="29" name="Text 27"/>
          <p:cNvSpPr txBox="1"/>
          <p:nvPr/>
        </p:nvSpPr>
        <p:spPr>
          <a:xfrm>
            <a:off x="4297680" y="478231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0" name="Text 28"/>
          <p:cNvSpPr txBox="1"/>
          <p:nvPr/>
        </p:nvSpPr>
        <p:spPr>
          <a:xfrm>
            <a:off x="4709160" y="473659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Drop app names, so topics describe problems, not apps</a:t>
            </a:r>
            <a:endParaRPr lang="en-US" sz="1200" dirty="0"/>
          </a:p>
        </p:txBody>
      </p:sp>
      <p:sp>
        <p:nvSpPr>
          <p:cNvPr id="31" name="Shape 29"/>
          <p:cNvSpPr/>
          <p:nvPr/>
        </p:nvSpPr>
        <p:spPr>
          <a:xfrm>
            <a:off x="4297680" y="5330952"/>
            <a:ext cx="292608" cy="292608"/>
          </a:xfrm>
          <a:prstGeom prst="ellipse">
            <a:avLst/>
          </a:prstGeom>
          <a:solidFill>
            <a:schemeClr val="accent1"/>
          </a:solidFill>
          <a:ln w="12700">
            <a:solidFill>
              <a:schemeClr val="accent1"/>
            </a:solidFill>
            <a:prstDash val="solid"/>
          </a:ln>
        </p:spPr>
      </p:sp>
      <p:sp>
        <p:nvSpPr>
          <p:cNvPr id="32" name="Text 30"/>
          <p:cNvSpPr txBox="1"/>
          <p:nvPr/>
        </p:nvSpPr>
        <p:spPr>
          <a:xfrm>
            <a:off x="4297680" y="533095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3" name="Text 31"/>
          <p:cNvSpPr txBox="1"/>
          <p:nvPr/>
        </p:nvSpPr>
        <p:spPr>
          <a:xfrm>
            <a:off x="4709160" y="528523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Lemmatise (WordNet): "refunded" → "refund", "orders" → "order"</a:t>
            </a:r>
            <a:endParaRPr lang="en-US" sz="1200" dirty="0"/>
          </a:p>
        </p:txBody>
      </p:sp>
      <p:sp>
        <p:nvSpPr>
          <p:cNvPr id="34" name="example"/>
          <p:cNvSpPr/>
          <p:nvPr/>
        </p:nvSpPr>
        <p:spPr>
          <a:xfrm>
            <a:off x="8183880" y="1417320"/>
            <a:ext cx="3367735" cy="1600200"/>
          </a:xfrm>
          <a:prstGeom prst="roundRect">
            <a:avLst>
              <a:gd name="adj" fmla="val 3429"/>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5" name="Text 33"/>
          <p:cNvSpPr txBox="1"/>
          <p:nvPr/>
        </p:nvSpPr>
        <p:spPr>
          <a:xfrm>
            <a:off x="8366760" y="1508760"/>
            <a:ext cx="3001975" cy="292608"/>
          </a:xfrm>
          <a:prstGeom prst="rect">
            <a:avLst/>
          </a:prstGeom>
          <a:noFill/>
          <a:ln/>
        </p:spPr>
        <p:txBody>
          <a:bodyPr wrap="square" lIns="0" tIns="0" rIns="0" bIns="0" rtlCol="0" anchor="ctr">
            <a:normAutofit/>
          </a:bodyPr>
          <a:lstStyle/>
          <a:p>
            <a:pPr indent="0" marL="0">
              <a:buNone/>
            </a:pPr>
            <a:r>
              <a:rPr lang="en-US" sz="1400" b="1" dirty="0">
                <a:solidFill>
                  <a:schemeClr val="tx2"/>
                </a:solidFill>
              </a:rPr>
              <a:t>Example</a:t>
            </a:r>
            <a:endParaRPr lang="en-US" sz="1400" dirty="0"/>
          </a:p>
        </p:txBody>
      </p:sp>
      <p:sp>
        <p:nvSpPr>
          <p:cNvPr id="36" name="Text 34"/>
          <p:cNvSpPr txBox="1"/>
          <p:nvPr/>
        </p:nvSpPr>
        <p:spPr>
          <a:xfrm>
            <a:off x="8366760" y="1828800"/>
            <a:ext cx="3001975" cy="1143000"/>
          </a:xfrm>
          <a:prstGeom prst="rect">
            <a:avLst/>
          </a:prstGeom>
          <a:noFill/>
          <a:ln/>
        </p:spPr>
        <p:txBody>
          <a:bodyPr wrap="square" lIns="0" tIns="0" rIns="0" bIns="0" rtlCol="0" anchor="t">
            <a:normAutofit/>
          </a:bodyPr>
          <a:lstStyle/>
          <a:p>
            <a:pPr indent="0" marL="0">
              <a:lnSpc>
                <a:spcPct val="100000"/>
              </a:lnSpc>
              <a:spcAft>
                <a:spcPts val="400"/>
              </a:spcAft>
              <a:buNone/>
            </a:pPr>
            <a:r>
              <a:rPr lang="en-US" sz="1100" b="1" dirty="0">
                <a:solidFill>
                  <a:schemeClr val="tx1"/>
                </a:solidFill>
              </a:rPr>
              <a:t>Raw: </a:t>
            </a:r>
            <a:pPr indent="0" marL="0">
              <a:lnSpc>
                <a:spcPct val="100000"/>
              </a:lnSpc>
              <a:spcAft>
                <a:spcPts val="400"/>
              </a:spcAft>
              <a:buNone/>
            </a:pPr>
            <a:r>
              <a:rPr lang="en-US" sz="1100" dirty="0">
                <a:solidFill>
                  <a:schemeClr val="tx1"/>
                </a:solidFill>
              </a:rPr>
              <a:t>"PLEASE STOP CHEATING US BY CHARGING DELIVERY CHARGES FOR ORDERS ABOVE 100…"</a:t>
            </a:r>
            <a:endParaRPr lang="en-US" sz="1100" dirty="0"/>
          </a:p>
          <a:p>
            <a:pPr indent="0" marL="0">
              <a:lnSpc>
                <a:spcPct val="100000"/>
              </a:lnSpc>
              <a:spcAft>
                <a:spcPts val="400"/>
              </a:spcAft>
              <a:buNone/>
            </a:pPr>
            <a:r>
              <a:rPr lang="en-US" sz="1100" b="1" dirty="0">
                <a:solidFill>
                  <a:schemeClr val="tx1"/>
                </a:solidFill>
              </a:rPr>
              <a:t>Clean: </a:t>
            </a:r>
            <a:pPr indent="0" marL="0">
              <a:lnSpc>
                <a:spcPct val="100000"/>
              </a:lnSpc>
              <a:spcAft>
                <a:spcPts val="400"/>
              </a:spcAft>
              <a:buNone/>
            </a:pPr>
            <a:r>
              <a:rPr lang="en-US" sz="1100" dirty="0">
                <a:solidFill>
                  <a:schemeClr val="accent1"/>
                </a:solidFill>
              </a:rPr>
              <a:t>stop cheat charge delivery charge order people number fraud</a:t>
            </a:r>
            <a:endParaRPr lang="en-US" sz="1100" dirty="0"/>
          </a:p>
        </p:txBody>
      </p:sp>
      <p:sp>
        <p:nvSpPr>
          <p:cNvPr id="37" name="matrices"/>
          <p:cNvSpPr/>
          <p:nvPr/>
        </p:nvSpPr>
        <p:spPr>
          <a:xfrm>
            <a:off x="8183880" y="3154680"/>
            <a:ext cx="3367735" cy="2971800"/>
          </a:xfrm>
          <a:prstGeom prst="roundRect">
            <a:avLst>
              <a:gd name="adj" fmla="val 184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8" name="Text 36"/>
          <p:cNvSpPr txBox="1"/>
          <p:nvPr/>
        </p:nvSpPr>
        <p:spPr>
          <a:xfrm>
            <a:off x="8366760" y="3246120"/>
            <a:ext cx="3001975" cy="292608"/>
          </a:xfrm>
          <a:prstGeom prst="rect">
            <a:avLst/>
          </a:prstGeom>
          <a:noFill/>
          <a:ln/>
        </p:spPr>
        <p:txBody>
          <a:bodyPr wrap="square" lIns="0" tIns="0" rIns="0" bIns="0" rtlCol="0" anchor="ctr">
            <a:normAutofit/>
          </a:bodyPr>
          <a:lstStyle/>
          <a:p>
            <a:pPr indent="0" marL="0">
              <a:buNone/>
            </a:pPr>
            <a:r>
              <a:rPr lang="en-US" sz="1400" b="1" dirty="0">
                <a:solidFill>
                  <a:schemeClr val="tx2"/>
                </a:solidFill>
              </a:rPr>
              <a:t>Document-term matrices</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366760" y="3611880"/>
          <a:ext cx="3001975" cy="914400"/>
        </p:xfrm>
        <a:graphic>
          <a:graphicData uri="http://schemas.openxmlformats.org/drawingml/2006/table">
            <a:tbl>
              <a:tblPr/>
              <a:tblGrid>
                <a:gridCol w="1554480"/>
                <a:gridCol w="731520"/>
                <a:gridCol w="715975"/>
              </a:tblGrid>
              <a:tr h="24688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Matrix</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Reviews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Terms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Complaints · Food</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82,603</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17,448</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Complaints · Shopping</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71,413</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18,665</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Complaints · Payments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13,341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2,982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Praise · Food</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74,647</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6,875</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Praise · Shopping</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75,672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7,097</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Praise · Payments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16,610</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1,763</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bl>
          </a:graphicData>
        </a:graphic>
      </p:graphicFrame>
      <p:sp>
        <p:nvSpPr>
          <p:cNvPr id="40" name="Text 37"/>
          <p:cNvSpPr txBox="1"/>
          <p:nvPr/>
        </p:nvSpPr>
        <p:spPr>
          <a:xfrm>
            <a:off x="8366760" y="5440680"/>
            <a:ext cx="3001975" cy="594360"/>
          </a:xfrm>
          <a:prstGeom prst="rect">
            <a:avLst/>
          </a:prstGeom>
          <a:noFill/>
          <a:ln/>
        </p:spPr>
        <p:txBody>
          <a:bodyPr wrap="square" lIns="0" tIns="0" rIns="0" bIns="0" rtlCol="0" anchor="t"/>
          <a:lstStyle/>
          <a:p>
            <a:pPr indent="0" marL="0">
              <a:buNone/>
            </a:pPr>
            <a:r>
              <a:rPr lang="en-US" sz="1050" i="1" dirty="0">
                <a:solidFill>
                  <a:schemeClr val="accent6"/>
                </a:solidFill>
              </a:rPr>
              <a:t>Words and two-word phrases ("not deliver", "customer care") in at least 10 reviews and at most half of them.</a:t>
            </a:r>
            <a:endParaRPr lang="en-US" sz="10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3  |  METHOD 2, TIME SERIES: DATA PREPARATION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Time Series: Daily Complaint Counts, Data Gaps and Releases</a:t>
            </a:r>
            <a:endParaRPr lang="en-US" sz="2800" dirty="0"/>
          </a:p>
        </p:txBody>
      </p:sp>
      <p:sp>
        <p:nvSpPr>
          <p:cNvPr id="4" name="The series"/>
          <p:cNvSpPr/>
          <p:nvPr/>
        </p:nvSpPr>
        <p:spPr>
          <a:xfrm>
            <a:off x="640080" y="1417320"/>
            <a:ext cx="5486400" cy="1078992"/>
          </a:xfrm>
          <a:prstGeom prst="roundRect">
            <a:avLst>
              <a:gd name="adj" fmla="val 508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Shape 3"/>
          <p:cNvSpPr/>
          <p:nvPr/>
        </p:nvSpPr>
        <p:spPr>
          <a:xfrm>
            <a:off x="822960" y="1581912"/>
            <a:ext cx="384048" cy="384048"/>
          </a:xfrm>
          <a:prstGeom prst="ellipse">
            <a:avLst/>
          </a:prstGeom>
          <a:solidFill>
            <a:schemeClr val="accent1"/>
          </a:solidFill>
          <a:ln w="12700">
            <a:solidFill>
              <a:schemeClr val="accent1"/>
            </a:solidFill>
            <a:prstDash val="solid"/>
          </a:ln>
        </p:spPr>
      </p:sp>
      <p:sp>
        <p:nvSpPr>
          <p:cNvPr id="6" name="Text 4"/>
          <p:cNvSpPr txBox="1"/>
          <p:nvPr/>
        </p:nvSpPr>
        <p:spPr>
          <a:xfrm>
            <a:off x="822960" y="158191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5"/>
          <p:cNvSpPr txBox="1"/>
          <p:nvPr/>
        </p:nvSpPr>
        <p:spPr>
          <a:xfrm>
            <a:off x="1325880" y="1508760"/>
            <a:ext cx="4572000"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The series</a:t>
            </a:r>
            <a:endParaRPr lang="en-US" sz="1500" dirty="0"/>
          </a:p>
        </p:txBody>
      </p:sp>
      <p:sp>
        <p:nvSpPr>
          <p:cNvPr id="8" name="Text 6"/>
          <p:cNvSpPr txBox="1"/>
          <p:nvPr/>
        </p:nvSpPr>
        <p:spPr>
          <a:xfrm>
            <a:off x="1325880" y="1847088"/>
            <a:ext cx="4617720" cy="62179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dirty="0">
                <a:solidFill>
                  <a:schemeClr val="tx1"/>
                </a:solidFill>
              </a:rPr>
              <a:t>Daily count of 1–2★ reviews per app: 11 series of 173 days. Counts, not shares: the late-April feed gap removed mostly positive reviews, which distorts shares far more than counts.</a:t>
            </a:r>
            <a:endParaRPr lang="en-US" sz="1200" dirty="0"/>
          </a:p>
        </p:txBody>
      </p:sp>
      <p:sp>
        <p:nvSpPr>
          <p:cNvPr id="9" name="Data-quality flags"/>
          <p:cNvSpPr/>
          <p:nvPr/>
        </p:nvSpPr>
        <p:spPr>
          <a:xfrm>
            <a:off x="640080" y="2606040"/>
            <a:ext cx="5486400" cy="1078992"/>
          </a:xfrm>
          <a:prstGeom prst="roundRect">
            <a:avLst>
              <a:gd name="adj" fmla="val 508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Shape 8"/>
          <p:cNvSpPr/>
          <p:nvPr/>
        </p:nvSpPr>
        <p:spPr>
          <a:xfrm>
            <a:off x="822960" y="2770632"/>
            <a:ext cx="384048" cy="384048"/>
          </a:xfrm>
          <a:prstGeom prst="ellipse">
            <a:avLst/>
          </a:prstGeom>
          <a:solidFill>
            <a:schemeClr val="accent2"/>
          </a:solidFill>
          <a:ln w="12700">
            <a:solidFill>
              <a:schemeClr val="accent2"/>
            </a:solidFill>
            <a:prstDash val="solid"/>
          </a:ln>
        </p:spPr>
      </p:sp>
      <p:sp>
        <p:nvSpPr>
          <p:cNvPr id="11" name="Text 9"/>
          <p:cNvSpPr txBox="1"/>
          <p:nvPr/>
        </p:nvSpPr>
        <p:spPr>
          <a:xfrm>
            <a:off x="822960" y="277063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325880" y="2697480"/>
            <a:ext cx="4572000"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Data-quality flags</a:t>
            </a:r>
            <a:endParaRPr lang="en-US" sz="1500" dirty="0"/>
          </a:p>
        </p:txBody>
      </p:sp>
      <p:sp>
        <p:nvSpPr>
          <p:cNvPr id="13" name="Text 11"/>
          <p:cNvSpPr txBox="1"/>
          <p:nvPr/>
        </p:nvSpPr>
        <p:spPr>
          <a:xfrm>
            <a:off x="1325880" y="3035808"/>
            <a:ext cx="4617720" cy="62179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dirty="0">
                <a:solidFill>
                  <a:schemeClr val="tx1"/>
                </a:solidFill>
              </a:rPr>
              <a:t>Feed gap 21 Apr – 5 May for five apps becomes a 0/1 input to ARIMA. Zomato's missing day (24 Jul) is filled with the same weekday one and two weeks either side.</a:t>
            </a:r>
            <a:endParaRPr lang="en-US" sz="1200" dirty="0"/>
          </a:p>
        </p:txBody>
      </p:sp>
      <p:sp>
        <p:nvSpPr>
          <p:cNvPr id="14" name="224 release events"/>
          <p:cNvSpPr/>
          <p:nvPr/>
        </p:nvSpPr>
        <p:spPr>
          <a:xfrm>
            <a:off x="640080" y="3794760"/>
            <a:ext cx="5486400" cy="1078992"/>
          </a:xfrm>
          <a:prstGeom prst="roundRect">
            <a:avLst>
              <a:gd name="adj" fmla="val 508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3"/>
          <p:cNvSpPr/>
          <p:nvPr/>
        </p:nvSpPr>
        <p:spPr>
          <a:xfrm>
            <a:off x="822960" y="3959352"/>
            <a:ext cx="384048" cy="384048"/>
          </a:xfrm>
          <a:prstGeom prst="ellipse">
            <a:avLst/>
          </a:prstGeom>
          <a:solidFill>
            <a:schemeClr val="accent3"/>
          </a:solidFill>
          <a:ln w="12700">
            <a:solidFill>
              <a:schemeClr val="accent3"/>
            </a:solidFill>
            <a:prstDash val="solid"/>
          </a:ln>
        </p:spPr>
      </p:sp>
      <p:sp>
        <p:nvSpPr>
          <p:cNvPr id="16" name="Text 14"/>
          <p:cNvSpPr txBox="1"/>
          <p:nvPr/>
        </p:nvSpPr>
        <p:spPr>
          <a:xfrm>
            <a:off x="822960" y="39593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5"/>
          <p:cNvSpPr txBox="1"/>
          <p:nvPr/>
        </p:nvSpPr>
        <p:spPr>
          <a:xfrm>
            <a:off x="1325880" y="3886200"/>
            <a:ext cx="4572000"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224 release events</a:t>
            </a:r>
            <a:endParaRPr lang="en-US" sz="1500" dirty="0"/>
          </a:p>
        </p:txBody>
      </p:sp>
      <p:sp>
        <p:nvSpPr>
          <p:cNvPr id="18" name="Text 16"/>
          <p:cNvSpPr txBox="1"/>
          <p:nvPr/>
        </p:nvSpPr>
        <p:spPr>
          <a:xfrm>
            <a:off x="1325880" y="4224528"/>
            <a:ext cx="4617720" cy="62179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dirty="0">
                <a:solidFill>
                  <a:schemeClr val="tx1"/>
                </a:solidFill>
              </a:rPr>
              <a:t>From 2,507 app versions: at least 30 reviews, first seen after 1 April, and numbered higher than every earlier version (old builds removed).</a:t>
            </a:r>
            <a:endParaRPr lang="en-US" sz="1200" dirty="0"/>
          </a:p>
        </p:txBody>
      </p:sp>
      <p:sp>
        <p:nvSpPr>
          <p:cNvPr id="19" name="Checks for ARIMA"/>
          <p:cNvSpPr/>
          <p:nvPr/>
        </p:nvSpPr>
        <p:spPr>
          <a:xfrm>
            <a:off x="640080" y="4983480"/>
            <a:ext cx="5486400" cy="1078992"/>
          </a:xfrm>
          <a:prstGeom prst="roundRect">
            <a:avLst>
              <a:gd name="adj" fmla="val 508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0" name="Shape 18"/>
          <p:cNvSpPr/>
          <p:nvPr/>
        </p:nvSpPr>
        <p:spPr>
          <a:xfrm>
            <a:off x="822960" y="5148072"/>
            <a:ext cx="384048" cy="384048"/>
          </a:xfrm>
          <a:prstGeom prst="ellipse">
            <a:avLst/>
          </a:prstGeom>
          <a:solidFill>
            <a:schemeClr val="accent4"/>
          </a:solidFill>
          <a:ln w="12700">
            <a:solidFill>
              <a:schemeClr val="accent4"/>
            </a:solidFill>
            <a:prstDash val="solid"/>
          </a:ln>
        </p:spPr>
      </p:sp>
      <p:sp>
        <p:nvSpPr>
          <p:cNvPr id="21" name="Text 19"/>
          <p:cNvSpPr txBox="1"/>
          <p:nvPr/>
        </p:nvSpPr>
        <p:spPr>
          <a:xfrm>
            <a:off x="822960" y="51480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2" name="Text 20"/>
          <p:cNvSpPr txBox="1"/>
          <p:nvPr/>
        </p:nvSpPr>
        <p:spPr>
          <a:xfrm>
            <a:off x="1325880" y="5074920"/>
            <a:ext cx="4572000"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Checks for ARIMA</a:t>
            </a:r>
            <a:endParaRPr lang="en-US" sz="1500" dirty="0"/>
          </a:p>
        </p:txBody>
      </p:sp>
      <p:sp>
        <p:nvSpPr>
          <p:cNvPr id="23" name="Text 21"/>
          <p:cNvSpPr txBox="1"/>
          <p:nvPr/>
        </p:nvSpPr>
        <p:spPr>
          <a:xfrm>
            <a:off x="1325880" y="5413248"/>
            <a:ext cx="4617720" cy="62179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dirty="0">
                <a:solidFill>
                  <a:schemeClr val="tx1"/>
                </a:solidFill>
              </a:rPr>
              <a:t>ADF test: 9 of 11 apps stationary in level, so d = 1 only for Zomato and Blinkit. STL seasonal strength below 0.64 everywhere, so D = 0.</a:t>
            </a:r>
            <a:endParaRPr lang="en-US" sz="1200" dirty="0"/>
          </a:p>
        </p:txBody>
      </p:sp>
      <p:sp>
        <p:nvSpPr>
          <p:cNvPr id="24" name="weekday chart"/>
          <p:cNvSpPr/>
          <p:nvPr/>
        </p:nvSpPr>
        <p:spPr>
          <a:xfrm>
            <a:off x="6309360" y="1417320"/>
            <a:ext cx="5242255" cy="4663440"/>
          </a:xfrm>
          <a:prstGeom prst="roundRect">
            <a:avLst>
              <a:gd name="adj" fmla="val 117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25" name="Image 0" descr="ts_03_weekday_effect.png">    </p:cNvPr>
          <p:cNvPicPr>
            <a:picLocks noChangeAspect="1"/>
          </p:cNvPicPr>
          <p:nvPr/>
        </p:nvPicPr>
        <p:blipFill>
          <a:blip r:embed="rId1"/>
          <a:stretch>
            <a:fillRect/>
          </a:stretch>
        </p:blipFill>
        <p:spPr>
          <a:xfrm>
            <a:off x="6446520" y="1732730"/>
            <a:ext cx="4967935" cy="3346820"/>
          </a:xfrm>
          <a:prstGeom prst="rect">
            <a:avLst/>
          </a:prstGeom>
        </p:spPr>
      </p:pic>
      <p:sp>
        <p:nvSpPr>
          <p:cNvPr id="26" name="Text 23"/>
          <p:cNvSpPr txBox="1"/>
          <p:nvPr/>
        </p:nvSpPr>
        <p:spPr>
          <a:xfrm>
            <a:off x="6537960" y="5376672"/>
            <a:ext cx="4785055" cy="64008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Weekly pattern: </a:t>
            </a:r>
            <a:pPr indent="0" marL="0">
              <a:lnSpc>
                <a:spcPct val="100000"/>
              </a:lnSpc>
              <a:spcAft>
                <a:spcPts val="600"/>
              </a:spcAft>
              <a:buNone/>
            </a:pPr>
            <a:r>
              <a:rPr lang="en-US" sz="1200" dirty="0">
                <a:solidFill>
                  <a:schemeClr val="tx1"/>
                </a:solidFill>
              </a:rPr>
              <a:t>food apps get 22–38% more complaints on Sundays; shopping apps have no weekday pattern. This is why only food apps get seasonal ARIMA terms.</a:t>
            </a:r>
            <a:endParaRPr lang="en-US" sz="12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4  |  INTERACTIVE DASHBOARD (1 OF 4)</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Dashboard: One App, Six Pages, Live on Streamlit Cloud</a:t>
            </a:r>
            <a:endParaRPr lang="en-US" sz="2800" dirty="0"/>
          </a:p>
        </p:txBody>
      </p:sp>
      <p:sp>
        <p:nvSpPr>
          <p:cNvPr id="4" name="Shape 2"/>
          <p:cNvSpPr/>
          <p:nvPr/>
        </p:nvSpPr>
        <p:spPr>
          <a:xfrm>
            <a:off x="621792" y="1399032"/>
            <a:ext cx="6940296" cy="4351401"/>
          </a:xfrm>
          <a:prstGeom prst="rect">
            <a:avLst/>
          </a:prstGeom>
          <a:solidFill>
            <a:schemeClr val="bg1"/>
          </a:solidFill>
          <a:ln w="12700">
            <a:solidFill>
              <a:srgbClr val="E3E8EF"/>
            </a:solidFill>
            <a:prstDash val="solid"/>
          </a:ln>
        </p:spPr>
      </p:sp>
      <p:pic>
        <p:nvPicPr>
          <p:cNvPr id="5" name="Image 0" descr="dash_overview_full.png">    </p:cNvPr>
          <p:cNvPicPr>
            <a:picLocks noChangeAspect="1"/>
          </p:cNvPicPr>
          <p:nvPr/>
        </p:nvPicPr>
        <p:blipFill>
          <a:blip r:embed="rId1"/>
          <a:stretch>
            <a:fillRect/>
          </a:stretch>
        </p:blipFill>
        <p:spPr>
          <a:xfrm>
            <a:off x="640080" y="1417320"/>
            <a:ext cx="6903720" cy="4314825"/>
          </a:xfrm>
          <a:prstGeom prst="rect">
            <a:avLst/>
          </a:prstGeom>
        </p:spPr>
      </p:pic>
      <p:sp>
        <p:nvSpPr>
          <p:cNvPr id="6" name="dashboard facts"/>
          <p:cNvSpPr/>
          <p:nvPr/>
        </p:nvSpPr>
        <p:spPr>
          <a:xfrm>
            <a:off x="7818120" y="1417320"/>
            <a:ext cx="3733495" cy="4709160"/>
          </a:xfrm>
          <a:prstGeom prst="roundRect">
            <a:avLst>
              <a:gd name="adj" fmla="val 147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8046720" y="1536192"/>
            <a:ext cx="3276295"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Built in Stage 1</a:t>
            </a:r>
            <a:endParaRPr lang="en-US" sz="1500" dirty="0"/>
          </a:p>
        </p:txBody>
      </p:sp>
      <p:sp>
        <p:nvSpPr>
          <p:cNvPr id="8" name="Text 5"/>
          <p:cNvSpPr txBox="1"/>
          <p:nvPr/>
        </p:nvSpPr>
        <p:spPr>
          <a:xfrm>
            <a:off x="8046720" y="1920240"/>
            <a:ext cx="3276295" cy="1554480"/>
          </a:xfrm>
          <a:prstGeom prst="rect">
            <a:avLst/>
          </a:prstGeom>
          <a:noFill/>
          <a:ln/>
        </p:spPr>
        <p:txBody>
          <a:bodyPr wrap="square" lIns="0" tIns="0" rIns="0" bIns="0" rtlCol="0" anchor="t">
            <a:normAutofit/>
          </a:bodyPr>
          <a:lstStyle/>
          <a:p>
            <a:pPr marL="177800" indent="-177800">
              <a:lnSpc>
                <a:spcPct val="100000"/>
              </a:lnSpc>
              <a:spcAft>
                <a:spcPts val="500"/>
              </a:spcAft>
              <a:buSzPct val="100000"/>
              <a:buChar char="•"/>
            </a:pPr>
            <a:r>
              <a:rPr lang="en-US" sz="1200" dirty="0">
                <a:solidFill>
                  <a:schemeClr val="tx1"/>
                </a:solidFill>
              </a:rPr>
              <a:t>Shared filters on every page: domain, app, date range, exclude the feed gap</a:t>
            </a:r>
            <a:endParaRPr lang="en-US" sz="1200" dirty="0"/>
          </a:p>
          <a:p>
            <a:pPr marL="177800" indent="-177800">
              <a:lnSpc>
                <a:spcPct val="100000"/>
              </a:lnSpc>
              <a:spcAft>
                <a:spcPts val="500"/>
              </a:spcAft>
              <a:buSzPct val="100000"/>
              <a:buChar char="•"/>
            </a:pPr>
            <a:r>
              <a:rPr lang="en-US" sz="1200" dirty="0">
                <a:solidFill>
                  <a:schemeClr val="tx1"/>
                </a:solidFill>
              </a:rPr>
              <a:t>Reads small precomputed tables, so it opens in seconds</a:t>
            </a:r>
            <a:endParaRPr lang="en-US" sz="1200" dirty="0"/>
          </a:p>
          <a:p>
            <a:pPr marL="177800" indent="-177800">
              <a:lnSpc>
                <a:spcPct val="100000"/>
              </a:lnSpc>
              <a:spcAft>
                <a:spcPts val="500"/>
              </a:spcAft>
              <a:buSzPct val="100000"/>
              <a:buChar char="•"/>
            </a:pPr>
            <a:r>
              <a:rPr lang="en-US" sz="1200" dirty="0">
                <a:solidFill>
                  <a:schemeClr val="tx1"/>
                </a:solidFill>
              </a:rPr>
              <a:t>Overview: volume, 1–2★ share, trends per domain, top issues</a:t>
            </a:r>
            <a:endParaRPr lang="en-US" sz="1200" dirty="0"/>
          </a:p>
        </p:txBody>
      </p:sp>
      <p:sp>
        <p:nvSpPr>
          <p:cNvPr id="9" name="Text 6"/>
          <p:cNvSpPr txBox="1"/>
          <p:nvPr/>
        </p:nvSpPr>
        <p:spPr>
          <a:xfrm>
            <a:off x="8046720" y="3429000"/>
            <a:ext cx="3276295"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Six pages</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046720" y="3794760"/>
          <a:ext cx="3276295" cy="914400"/>
        </p:xfrm>
        <a:graphic>
          <a:graphicData uri="http://schemas.openxmlformats.org/drawingml/2006/table">
            <a:tbl>
              <a:tblPr/>
              <a:tblGrid>
                <a:gridCol w="1900251"/>
                <a:gridCol w="1376044"/>
              </a:tblGrid>
              <a:tr h="228600">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Page</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Built by</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Overview</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Aditya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Text mining</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Akshay</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Check a review</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Harshini</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Forecasting</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Kanishka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Update impact</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Kanishka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Recommendations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Kanishka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bl>
          </a:graphicData>
        </a:graphic>
      </p:graphicFrame>
      <p:sp>
        <p:nvSpPr>
          <p:cNvPr id="11" name="Text 7"/>
          <p:cNvSpPr txBox="1"/>
          <p:nvPr/>
        </p:nvSpPr>
        <p:spPr>
          <a:xfrm>
            <a:off x="8046720" y="5532120"/>
            <a:ext cx="3276295" cy="274320"/>
          </a:xfrm>
          <a:prstGeom prst="rect">
            <a:avLst/>
          </a:prstGeom>
          <a:noFill/>
          <a:ln/>
        </p:spPr>
        <p:txBody>
          <a:bodyPr wrap="square" lIns="0" tIns="0" rIns="0" bIns="0" rtlCol="0" anchor="ctr"/>
          <a:lstStyle/>
          <a:p>
            <a:pPr indent="0" marL="0">
              <a:buNone/>
            </a:pPr>
            <a:r>
              <a:rPr lang="en-US" sz="12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team10-app-reviews.streamlit.app</a:t>
            </a:r>
            <a:endParaRPr lang="en-US" sz="1200" dirty="0"/>
          </a:p>
        </p:txBody>
      </p:sp>
      <p:sp>
        <p:nvSpPr>
          <p:cNvPr id="12" name="Text 8"/>
          <p:cNvSpPr txBox="1"/>
          <p:nvPr/>
        </p:nvSpPr>
        <p:spPr>
          <a:xfrm>
            <a:off x="8046720" y="5806440"/>
            <a:ext cx="3276295" cy="256032"/>
          </a:xfrm>
          <a:prstGeom prst="rect">
            <a:avLst/>
          </a:prstGeom>
          <a:noFill/>
          <a:ln/>
        </p:spPr>
        <p:txBody>
          <a:bodyPr wrap="square" lIns="0" tIns="0" rIns="0" bIns="0" rtlCol="0" anchor="t"/>
          <a:lstStyle/>
          <a:p>
            <a:pPr indent="0" marL="0">
              <a:buNone/>
            </a:pPr>
            <a:r>
              <a:rPr lang="en-US" sz="1050" i="1" dirty="0">
                <a:solidFill>
                  <a:schemeClr val="accent6"/>
                </a:solidFill>
              </a:rPr>
              <a:t>Redeploys from GitHub after every merge.</a:t>
            </a:r>
            <a:endParaRPr lang="en-US" sz="10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5  |  METHOD 1, TEXT MINING: IMPLEMENTATION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Topic Modelling: 17 Complaint Topics with NMF</a:t>
            </a:r>
            <a:endParaRPr lang="en-US" sz="2800" dirty="0"/>
          </a:p>
        </p:txBody>
      </p:sp>
      <p:sp>
        <p:nvSpPr>
          <p:cNvPr id="4" name="method"/>
          <p:cNvSpPr/>
          <p:nvPr/>
        </p:nvSpPr>
        <p:spPr>
          <a:xfrm>
            <a:off x="640080" y="1417320"/>
            <a:ext cx="3886200" cy="4709160"/>
          </a:xfrm>
          <a:prstGeom prst="roundRect">
            <a:avLst>
              <a:gd name="adj" fmla="val 1412"/>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347472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How the topics were found</a:t>
            </a:r>
            <a:endParaRPr lang="en-US" sz="1500" dirty="0"/>
          </a:p>
        </p:txBody>
      </p:sp>
      <p:sp>
        <p:nvSpPr>
          <p:cNvPr id="6" name="Text 4"/>
          <p:cNvSpPr txBox="1"/>
          <p:nvPr/>
        </p:nvSpPr>
        <p:spPr>
          <a:xfrm>
            <a:off x="868680" y="1938528"/>
            <a:ext cx="3474720" cy="4114800"/>
          </a:xfrm>
          <a:prstGeom prst="rect">
            <a:avLst/>
          </a:prstGeom>
          <a:noFill/>
          <a:ln/>
        </p:spPr>
        <p:txBody>
          <a:bodyPr wrap="square" lIns="0" tIns="0" rIns="0" bIns="0" rtlCol="0" anchor="t">
            <a:normAutofit/>
          </a:bodyPr>
          <a:lstStyle/>
          <a:p>
            <a:pPr indent="0" marL="0">
              <a:lnSpc>
                <a:spcPct val="100000"/>
              </a:lnSpc>
              <a:spcAft>
                <a:spcPts val="700"/>
              </a:spcAft>
              <a:buNone/>
            </a:pPr>
            <a:r>
              <a:rPr lang="en-US" sz="1200" b="1" dirty="0">
                <a:solidFill>
                  <a:schemeClr val="tx1"/>
                </a:solidFill>
              </a:rPr>
              <a:t>TF-IDF + NMF: </a:t>
            </a:r>
            <a:pPr indent="0" marL="0">
              <a:lnSpc>
                <a:spcPct val="100000"/>
              </a:lnSpc>
              <a:spcAft>
                <a:spcPts val="700"/>
              </a:spcAft>
              <a:buNone/>
            </a:pPr>
            <a:r>
              <a:rPr lang="en-US" sz="1200" dirty="0">
                <a:solidFill>
                  <a:schemeClr val="tx1"/>
                </a:solidFill>
              </a:rPr>
              <a:t>the counts become TF-IDF weights; NMF splits them into topics (V ≈ W × H), each a weighted list of terms.</a:t>
            </a:r>
            <a:endParaRPr lang="en-US" sz="1200" dirty="0"/>
          </a:p>
          <a:p>
            <a:pPr indent="0" marL="0">
              <a:lnSpc>
                <a:spcPct val="100000"/>
              </a:lnSpc>
              <a:spcAft>
                <a:spcPts val="700"/>
              </a:spcAft>
              <a:buNone/>
            </a:pPr>
            <a:r>
              <a:rPr lang="en-US" sz="1200" b="1" dirty="0">
                <a:solidFill>
                  <a:schemeClr val="tx1"/>
                </a:solidFill>
              </a:rPr>
              <a:t>Why NMF: </a:t>
            </a:r>
            <a:pPr indent="0" marL="0">
              <a:lnSpc>
                <a:spcPct val="100000"/>
              </a:lnSpc>
              <a:spcAft>
                <a:spcPts val="700"/>
              </a:spcAft>
              <a:buNone/>
            </a:pPr>
            <a:r>
              <a:rPr lang="en-US" sz="1200" dirty="0">
                <a:solidFill>
                  <a:schemeClr val="tx1"/>
                </a:solidFill>
              </a:rPr>
              <a:t>on very short reviews LDA mixes themes; NMF with nndsvda start is deterministic and runs in seconds on 167,357 reviews.</a:t>
            </a:r>
            <a:endParaRPr lang="en-US" sz="1200" dirty="0"/>
          </a:p>
          <a:p>
            <a:pPr indent="0" marL="0">
              <a:lnSpc>
                <a:spcPct val="100000"/>
              </a:lnSpc>
              <a:spcAft>
                <a:spcPts val="700"/>
              </a:spcAft>
              <a:buNone/>
            </a:pPr>
            <a:r>
              <a:rPr lang="en-US" sz="1200" b="1" dirty="0">
                <a:solidFill>
                  <a:schemeClr val="tx1"/>
                </a:solidFill>
              </a:rPr>
              <a:t>One model per domain: </a:t>
            </a:r>
            <a:pPr indent="0" marL="0">
              <a:lnSpc>
                <a:spcPct val="100000"/>
              </a:lnSpc>
              <a:spcAft>
                <a:spcPts val="700"/>
              </a:spcAft>
              <a:buNone/>
            </a:pPr>
            <a:r>
              <a:rPr lang="en-US" sz="1200" dirty="0">
                <a:solidFill>
                  <a:schemeClr val="tx1"/>
                </a:solidFill>
              </a:rPr>
              <a:t>K = 6 Food &amp; Grocery, 6 Shopping, 5 Payments (chosen by coherence, next slide).</a:t>
            </a:r>
            <a:endParaRPr lang="en-US" sz="1200" dirty="0"/>
          </a:p>
          <a:p>
            <a:pPr indent="0" marL="0">
              <a:lnSpc>
                <a:spcPct val="100000"/>
              </a:lnSpc>
              <a:spcAft>
                <a:spcPts val="700"/>
              </a:spcAft>
              <a:buNone/>
            </a:pPr>
            <a:r>
              <a:rPr lang="en-US" sz="1200" b="1" dirty="0">
                <a:solidFill>
                  <a:schemeClr val="tx1"/>
                </a:solidFill>
              </a:rPr>
              <a:t>Per review: </a:t>
            </a:r>
            <a:pPr indent="0" marL="0">
              <a:lnSpc>
                <a:spcPct val="100000"/>
              </a:lnSpc>
              <a:spcAft>
                <a:spcPts val="700"/>
              </a:spcAft>
              <a:buNone/>
            </a:pPr>
            <a:r>
              <a:rPr lang="en-US" sz="1200" dirty="0">
                <a:solidFill>
                  <a:schemeClr val="tx1"/>
                </a:solidFill>
              </a:rPr>
              <a:t>its dominant topic plus VADER sentiment, so every topic has a mean score and a share of strongly negative reviews (≤ −0.5).</a:t>
            </a:r>
            <a:endParaRPr lang="en-US" sz="1200" dirty="0"/>
          </a:p>
          <a:p>
            <a:pPr indent="0" marL="0">
              <a:lnSpc>
                <a:spcPct val="100000"/>
              </a:lnSpc>
              <a:spcAft>
                <a:spcPts val="700"/>
              </a:spcAft>
              <a:buNone/>
            </a:pPr>
            <a:r>
              <a:rPr lang="en-US" sz="1200" b="1" dirty="0">
                <a:solidFill>
                  <a:schemeClr val="tx1"/>
                </a:solidFill>
              </a:rPr>
              <a:t>Contrast: </a:t>
            </a:r>
            <a:pPr indent="0" marL="0">
              <a:lnSpc>
                <a:spcPct val="100000"/>
              </a:lnSpc>
              <a:spcAft>
                <a:spcPts val="700"/>
              </a:spcAft>
              <a:buNone/>
            </a:pPr>
            <a:r>
              <a:rPr lang="en-US" sz="1200" dirty="0">
                <a:solidFill>
                  <a:schemeClr val="tx1"/>
                </a:solidFill>
              </a:rPr>
              <a:t>a second NMF (K = 4 per domain) on 4–5★ reviews shows what satisfied users praise.</a:t>
            </a:r>
            <a:endParaRPr lang="en-US" sz="1200" dirty="0"/>
          </a:p>
          <a:p>
            <a:pPr indent="0" marL="0">
              <a:lnSpc>
                <a:spcPct val="100000"/>
              </a:lnSpc>
              <a:spcAft>
                <a:spcPts val="700"/>
              </a:spcAft>
              <a:buNone/>
            </a:pPr>
            <a:r>
              <a:rPr lang="en-US" sz="1200" b="1" dirty="0">
                <a:solidFill>
                  <a:schemeClr val="tx1"/>
                </a:solidFill>
              </a:rPr>
              <a:t>Reused: </a:t>
            </a:r>
            <a:pPr indent="0" marL="0">
              <a:lnSpc>
                <a:spcPct val="100000"/>
              </a:lnSpc>
              <a:spcAft>
                <a:spcPts val="700"/>
              </a:spcAft>
              <a:buNone/>
            </a:pPr>
            <a:r>
              <a:rPr lang="en-US" sz="1200" dirty="0">
                <a:solidFill>
                  <a:schemeClr val="tx1"/>
                </a:solidFill>
              </a:rPr>
              <a:t>each pipeline is saved, so the dashboard can give a new review its topic.</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709160" y="1417320"/>
          <a:ext cx="6842455" cy="914400"/>
        </p:xfrm>
        <a:graphic>
          <a:graphicData uri="http://schemas.openxmlformats.org/drawingml/2006/table">
            <a:tbl>
              <a:tblPr/>
              <a:tblGrid>
                <a:gridCol w="1143000"/>
                <a:gridCol w="3349447"/>
                <a:gridCol w="566928"/>
                <a:gridCol w="868680"/>
                <a:gridCol w="914400"/>
              </a:tblGrid>
              <a:tr h="26060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Domain</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Complaint topic</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Share</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Mean VADER</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Strongly neg.</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60604">
                <a:tc>
                  <a:txBody>
                    <a:bodyPr/>
                    <a:lstStyle/>
                    <a:p>
                      <a:pPr algn="l" indent="0" marL="0">
                        <a:buNone/>
                      </a:pPr>
                      <a:r>
                        <a:rPr lang="en-US" sz="1000" b="1" dirty="0">
                          <a:solidFill>
                            <a:srgbClr val="132C43"/>
                          </a:solidFill>
                          <a:latin typeface="Calibri" pitchFamily="34" charset="0"/>
                          <a:ea typeface="Calibri" pitchFamily="34" charset="-122"/>
                          <a:cs typeface="Calibri" pitchFamily="34" charset="-120"/>
                        </a:rPr>
                        <a:t>Food &amp; Grocery</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Order Cancellation &amp; Refund</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-0.27</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Customer Support &amp; Bot Loop</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b="1" dirty="0">
                          <a:solidFill>
                            <a:srgbClr val="C93A39"/>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Excessive Delivery &amp; Handling Charges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Poor Food Quality &amp; Stale Items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b="1" dirty="0">
                          <a:solidFill>
                            <a:srgbClr val="C93A39"/>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Delivery Delays &amp; Rider Tracking</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COD &amp; Payment Option Failures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-0.12</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r>
                        <a:rPr lang="en-US" sz="1000" b="1" dirty="0">
                          <a:solidFill>
                            <a:srgbClr val="132C43"/>
                          </a:solidFill>
                          <a:latin typeface="Calibri" pitchFamily="34" charset="0"/>
                          <a:ea typeface="Calibri" pitchFamily="34" charset="-122"/>
                          <a:cs typeface="Calibri" pitchFamily="34" charset="-120"/>
                        </a:rPr>
                        <a:t>Shopping</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Return Rejection &amp; Defective Products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Customer Service &amp; Escalation Failure</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-0.24</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Courier Delays &amp; Delivery Agent Issues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Poor Shopping Experience &amp; Fabric Quality</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b="1" dirty="0">
                          <a:solidFill>
                            <a:srgbClr val="C93A39"/>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Extreme Dissatisfaction &amp; Scam Allegations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C93A39"/>
                          </a:solidFill>
                          <a:latin typeface="Calibri" pitchFamily="34" charset="0"/>
                          <a:ea typeface="Calibri" pitchFamily="34" charset="-122"/>
                          <a:cs typeface="Calibri" pitchFamily="34" charset="-120"/>
                        </a:rPr>
                        <a:t>-0.61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Order Cancellation &amp; Rescheduling</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-0.31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r>
                        <a:rPr lang="en-US" sz="1000" b="1" dirty="0">
                          <a:solidFill>
                            <a:srgbClr val="132C43"/>
                          </a:solidFill>
                          <a:latin typeface="Calibri" pitchFamily="34" charset="0"/>
                          <a:ea typeface="Calibri" pitchFamily="34" charset="-122"/>
                          <a:cs typeface="Calibri" pitchFamily="34" charset="-120"/>
                        </a:rPr>
                        <a:t>Payments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Failed Transfers &amp; Debited Amounts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-0.15</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App Crashes &amp; Update Regressions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Device Environment &amp; Security Scan Errors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Account Blocking &amp; AutoPay Issues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Customer Support Unresponsiveness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4709160" y="6172200"/>
            <a:ext cx="6842455" cy="228600"/>
          </a:xfrm>
          <a:prstGeom prst="rect">
            <a:avLst/>
          </a:prstGeom>
          <a:noFill/>
          <a:ln/>
        </p:spPr>
        <p:txBody>
          <a:bodyPr wrap="square" lIns="0" tIns="0" rIns="0" bIns="0" rtlCol="0" anchor="t"/>
          <a:lstStyle/>
          <a:p>
            <a:pPr indent="0" marL="0">
              <a:buNone/>
            </a:pPr>
            <a:r>
              <a:rPr lang="en-US" sz="1050" i="1" dirty="0">
                <a:solidFill>
                  <a:schemeClr val="accent6"/>
                </a:solidFill>
              </a:rPr>
              <a:t>Share = share of the domain's topic-assigned complaints. Red = mean sentiment of −0.4 or lower.</a:t>
            </a:r>
            <a:endParaRPr lang="en-US" sz="10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5  |  METHOD 1, TEXT MINING: EVALUATION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Coherence, Keyword Tags and the Untagged 43%</a:t>
            </a:r>
            <a:endParaRPr lang="en-US" sz="2800" dirty="0"/>
          </a:p>
        </p:txBody>
      </p:sp>
      <p:sp>
        <p:nvSpPr>
          <p:cNvPr id="4" name="coherence"/>
          <p:cNvSpPr/>
          <p:nvPr/>
        </p:nvSpPr>
        <p:spPr>
          <a:xfrm>
            <a:off x="640080" y="1417320"/>
            <a:ext cx="7315200" cy="2514600"/>
          </a:xfrm>
          <a:prstGeom prst="roundRect">
            <a:avLst>
              <a:gd name="adj" fmla="val 2182"/>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5" name="Image 0" descr="tm_06_coherence_evaluation.png">    </p:cNvPr>
          <p:cNvPicPr>
            <a:picLocks noChangeAspect="1"/>
          </p:cNvPicPr>
          <p:nvPr/>
        </p:nvPicPr>
        <p:blipFill>
          <a:blip r:embed="rId1"/>
          <a:stretch>
            <a:fillRect/>
          </a:stretch>
        </p:blipFill>
        <p:spPr>
          <a:xfrm>
            <a:off x="731520" y="1580388"/>
            <a:ext cx="7132320" cy="2179320"/>
          </a:xfrm>
          <a:prstGeom prst="rect">
            <a:avLst/>
          </a:prstGeom>
        </p:spPr>
      </p:pic>
      <p:sp>
        <p:nvSpPr>
          <p:cNvPr id="6" name="choosing K"/>
          <p:cNvSpPr/>
          <p:nvPr/>
        </p:nvSpPr>
        <p:spPr>
          <a:xfrm>
            <a:off x="8138160" y="1417320"/>
            <a:ext cx="3413455" cy="2514600"/>
          </a:xfrm>
          <a:prstGeom prst="roundRect">
            <a:avLst>
              <a:gd name="adj" fmla="val 2182"/>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8321040" y="1508760"/>
            <a:ext cx="3047695" cy="365760"/>
          </a:xfrm>
          <a:prstGeom prst="rect">
            <a:avLst/>
          </a:prstGeom>
          <a:noFill/>
          <a:ln/>
        </p:spPr>
        <p:txBody>
          <a:bodyPr wrap="square" lIns="0" tIns="0" rIns="0" bIns="0" rtlCol="0" anchor="ctr">
            <a:normAutofit/>
          </a:bodyPr>
          <a:lstStyle/>
          <a:p>
            <a:pPr indent="0" marL="0">
              <a:buNone/>
            </a:pPr>
            <a:r>
              <a:rPr lang="en-US" sz="1400" b="1" dirty="0">
                <a:solidFill>
                  <a:schemeClr val="tx2"/>
                </a:solidFill>
              </a:rPr>
              <a:t>Choosing K (NPMI coherence)</a:t>
            </a:r>
            <a:endParaRPr lang="en-US" sz="1400" dirty="0"/>
          </a:p>
        </p:txBody>
      </p:sp>
      <p:sp>
        <p:nvSpPr>
          <p:cNvPr id="8" name="Text 5"/>
          <p:cNvSpPr txBox="1"/>
          <p:nvPr/>
        </p:nvSpPr>
        <p:spPr>
          <a:xfrm>
            <a:off x="8321040" y="1874520"/>
            <a:ext cx="3047695" cy="2011680"/>
          </a:xfrm>
          <a:prstGeom prst="rect">
            <a:avLst/>
          </a:prstGeom>
          <a:noFill/>
          <a:ln/>
        </p:spPr>
        <p:txBody>
          <a:bodyPr wrap="square" lIns="0" tIns="0" rIns="0" bIns="0" rtlCol="0" anchor="t">
            <a:normAutofit/>
          </a:bodyPr>
          <a:lstStyle/>
          <a:p>
            <a:pPr indent="0" marL="0">
              <a:lnSpc>
                <a:spcPct val="100000"/>
              </a:lnSpc>
              <a:spcAft>
                <a:spcPts val="400"/>
              </a:spcAft>
              <a:buNone/>
            </a:pPr>
            <a:r>
              <a:rPr lang="en-US" sz="1150" dirty="0">
                <a:solidFill>
                  <a:schemeClr val="tx1"/>
                </a:solidFill>
              </a:rPr>
              <a:t>K = 3 to 10 tried for each domain.</a:t>
            </a:r>
            <a:endParaRPr lang="en-US" sz="1150" dirty="0"/>
          </a:p>
          <a:p>
            <a:pPr indent="0" marL="0">
              <a:lnSpc>
                <a:spcPct val="100000"/>
              </a:lnSpc>
              <a:spcAft>
                <a:spcPts val="400"/>
              </a:spcAft>
              <a:buNone/>
            </a:pPr>
            <a:r>
              <a:rPr lang="en-US" sz="1150" dirty="0">
                <a:solidFill>
                  <a:schemeClr val="tx1"/>
                </a:solidFill>
              </a:rPr>
              <a:t>Food &amp; Grocery peaks at K = 6 (0.195).</a:t>
            </a:r>
            <a:endParaRPr lang="en-US" sz="1150" dirty="0"/>
          </a:p>
          <a:p>
            <a:pPr indent="0" marL="0">
              <a:lnSpc>
                <a:spcPct val="100000"/>
              </a:lnSpc>
              <a:spcAft>
                <a:spcPts val="400"/>
              </a:spcAft>
              <a:buNone/>
            </a:pPr>
            <a:r>
              <a:rPr lang="en-US" sz="1150" dirty="0">
                <a:solidFill>
                  <a:schemeClr val="tx1"/>
                </a:solidFill>
              </a:rPr>
              <a:t>Shopping and Payments are almost flat, so we took the K where every topic is distinct and can be named; larger K split delivery and support into near-duplicates.</a:t>
            </a:r>
            <a:endParaRPr lang="en-US" sz="1150" dirty="0"/>
          </a:p>
        </p:txBody>
      </p:sp>
      <p:sp>
        <p:nvSpPr>
          <p:cNvPr id="9" name="tags"/>
          <p:cNvSpPr/>
          <p:nvPr/>
        </p:nvSpPr>
        <p:spPr>
          <a:xfrm>
            <a:off x="640080" y="4114800"/>
            <a:ext cx="5364328" cy="2011680"/>
          </a:xfrm>
          <a:prstGeom prst="roundRect">
            <a:avLst>
              <a:gd name="adj" fmla="val 272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Shape 7"/>
          <p:cNvSpPr/>
          <p:nvPr/>
        </p:nvSpPr>
        <p:spPr>
          <a:xfrm>
            <a:off x="822960" y="4279392"/>
            <a:ext cx="384048" cy="384048"/>
          </a:xfrm>
          <a:prstGeom prst="ellipse">
            <a:avLst/>
          </a:prstGeom>
          <a:solidFill>
            <a:schemeClr val="accent1"/>
          </a:solidFill>
          <a:ln w="12700">
            <a:solidFill>
              <a:schemeClr val="accent1"/>
            </a:solidFill>
            <a:prstDash val="solid"/>
          </a:ln>
        </p:spPr>
      </p:sp>
      <p:sp>
        <p:nvSpPr>
          <p:cNvPr id="11" name="Text 8"/>
          <p:cNvSpPr txBox="1"/>
          <p:nvPr/>
        </p:nvSpPr>
        <p:spPr>
          <a:xfrm>
            <a:off x="822960" y="427939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9"/>
          <p:cNvSpPr txBox="1"/>
          <p:nvPr/>
        </p:nvSpPr>
        <p:spPr>
          <a:xfrm>
            <a:off x="1325880" y="4206240"/>
            <a:ext cx="444992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Topics agree with the keyword tags</a:t>
            </a:r>
            <a:endParaRPr lang="en-US" sz="1500" dirty="0"/>
          </a:p>
        </p:txBody>
      </p:sp>
      <p:sp>
        <p:nvSpPr>
          <p:cNvPr id="13" name="Text 10"/>
          <p:cNvSpPr txBox="1"/>
          <p:nvPr/>
        </p:nvSpPr>
        <p:spPr>
          <a:xfrm>
            <a:off x="1325880" y="4645152"/>
            <a:ext cx="4495648" cy="1417320"/>
          </a:xfrm>
          <a:prstGeom prst="rect">
            <a:avLst/>
          </a:prstGeom>
          <a:noFill/>
          <a:ln/>
        </p:spPr>
        <p:txBody>
          <a:bodyPr wrap="square" lIns="0" tIns="0" rIns="0" bIns="0" rtlCol="0" anchor="t">
            <a:normAutofit/>
          </a:bodyPr>
          <a:lstStyle/>
          <a:p>
            <a:pPr indent="0" marL="0">
              <a:lnSpc>
                <a:spcPct val="100000"/>
              </a:lnSpc>
              <a:spcAft>
                <a:spcPts val="600"/>
              </a:spcAft>
              <a:buNone/>
            </a:pPr>
            <a:r>
              <a:rPr lang="en-US" sz="1300" dirty="0">
                <a:solidFill>
                  <a:schemeClr val="tx1"/>
                </a:solidFill>
              </a:rPr>
              <a:t>The customer-support topics carry the Customer Support tag in 71% (food) and 76% (shopping) of their reviews.</a:t>
            </a:r>
            <a:endParaRPr lang="en-US" sz="1300" dirty="0"/>
          </a:p>
          <a:p>
            <a:pPr indent="0" marL="0">
              <a:lnSpc>
                <a:spcPct val="100000"/>
              </a:lnSpc>
              <a:spcAft>
                <a:spcPts val="600"/>
              </a:spcAft>
              <a:buNone/>
            </a:pPr>
            <a:r>
              <a:rPr lang="en-US" sz="1300" dirty="0">
                <a:solidFill>
                  <a:schemeClr val="tx1"/>
                </a:solidFill>
              </a:rPr>
              <a:t>Delivery-delay topic: 51% Delivery Delay tag. Device-environment errors: 46% Crash &amp; Stability.</a:t>
            </a:r>
            <a:endParaRPr lang="en-US" sz="1300" dirty="0"/>
          </a:p>
        </p:txBody>
      </p:sp>
      <p:sp>
        <p:nvSpPr>
          <p:cNvPr id="14" name="untagged"/>
          <p:cNvSpPr/>
          <p:nvPr/>
        </p:nvSpPr>
        <p:spPr>
          <a:xfrm>
            <a:off x="6187288" y="4114800"/>
            <a:ext cx="5364328" cy="2011680"/>
          </a:xfrm>
          <a:prstGeom prst="roundRect">
            <a:avLst>
              <a:gd name="adj" fmla="val 272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2"/>
          <p:cNvSpPr/>
          <p:nvPr/>
        </p:nvSpPr>
        <p:spPr>
          <a:xfrm>
            <a:off x="6370168" y="4279392"/>
            <a:ext cx="384048" cy="384048"/>
          </a:xfrm>
          <a:prstGeom prst="ellipse">
            <a:avLst/>
          </a:prstGeom>
          <a:solidFill>
            <a:schemeClr val="accent2"/>
          </a:solidFill>
          <a:ln w="12700">
            <a:solidFill>
              <a:schemeClr val="accent2"/>
            </a:solidFill>
            <a:prstDash val="solid"/>
          </a:ln>
        </p:spPr>
      </p:sp>
      <p:sp>
        <p:nvSpPr>
          <p:cNvPr id="16" name="Text 13"/>
          <p:cNvSpPr txBox="1"/>
          <p:nvPr/>
        </p:nvSpPr>
        <p:spPr>
          <a:xfrm>
            <a:off x="6370168" y="427939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Text 14"/>
          <p:cNvSpPr txBox="1"/>
          <p:nvPr/>
        </p:nvSpPr>
        <p:spPr>
          <a:xfrm>
            <a:off x="6873088" y="4206240"/>
            <a:ext cx="444992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They also find what keyword rules miss</a:t>
            </a:r>
            <a:endParaRPr lang="en-US" sz="1500" dirty="0"/>
          </a:p>
        </p:txBody>
      </p:sp>
      <p:sp>
        <p:nvSpPr>
          <p:cNvPr id="18" name="Text 15"/>
          <p:cNvSpPr txBox="1"/>
          <p:nvPr/>
        </p:nvSpPr>
        <p:spPr>
          <a:xfrm>
            <a:off x="6873088" y="4645152"/>
            <a:ext cx="4495648" cy="1417320"/>
          </a:xfrm>
          <a:prstGeom prst="rect">
            <a:avLst/>
          </a:prstGeom>
          <a:noFill/>
          <a:ln/>
        </p:spPr>
        <p:txBody>
          <a:bodyPr wrap="square" lIns="0" tIns="0" rIns="0" bIns="0" rtlCol="0" anchor="t">
            <a:normAutofit/>
          </a:bodyPr>
          <a:lstStyle/>
          <a:p>
            <a:pPr indent="0" marL="0">
              <a:lnSpc>
                <a:spcPct val="100000"/>
              </a:lnSpc>
              <a:spcAft>
                <a:spcPts val="600"/>
              </a:spcAft>
              <a:buNone/>
            </a:pPr>
            <a:r>
              <a:rPr lang="en-US" sz="1300" b="1" dirty="0">
                <a:solidFill>
                  <a:schemeClr val="tx1"/>
                </a:solidFill>
              </a:rPr>
              <a:t>71,929 of 167,357 </a:t>
            </a:r>
            <a:pPr indent="0" marL="0">
              <a:lnSpc>
                <a:spcPct val="100000"/>
              </a:lnSpc>
              <a:spcAft>
                <a:spcPts val="600"/>
              </a:spcAft>
              <a:buNone/>
            </a:pPr>
            <a:r>
              <a:rPr lang="en-US" sz="1300" dirty="0">
                <a:solidFill>
                  <a:schemeClr val="tx1"/>
                </a:solidFill>
              </a:rPr>
              <a:t>complaints (43%) match none of the 9 keyword tags. The topics place each one: order cancellation and refund 13,073, returns 8,275, food quality 6,089.</a:t>
            </a:r>
            <a:endParaRPr lang="en-US" sz="1300" dirty="0"/>
          </a:p>
          <a:p>
            <a:pPr indent="0" marL="0">
              <a:lnSpc>
                <a:spcPct val="100000"/>
              </a:lnSpc>
              <a:spcAft>
                <a:spcPts val="600"/>
              </a:spcAft>
              <a:buNone/>
            </a:pPr>
            <a:r>
              <a:rPr lang="en-US" sz="1300" dirty="0">
                <a:solidFill>
                  <a:schemeClr val="tx1"/>
                </a:solidFill>
              </a:rPr>
              <a:t>Untagged share is highest for COD failures (80%) and failed transfers (72%): Hinglish and informal wording.</a:t>
            </a:r>
            <a:endParaRPr lang="en-US" sz="13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5  |  METHOD 1, TEXT MINING: INTERPRETATION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Interpretation: The Angriest Complaints and How Apps Differ</a:t>
            </a:r>
            <a:endParaRPr lang="en-US" sz="2800" dirty="0"/>
          </a:p>
        </p:txBody>
      </p:sp>
      <p:sp>
        <p:nvSpPr>
          <p:cNvPr id="4" name="sentiment chart"/>
          <p:cNvSpPr/>
          <p:nvPr/>
        </p:nvSpPr>
        <p:spPr>
          <a:xfrm>
            <a:off x="640080" y="1417320"/>
            <a:ext cx="5486400"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22960" y="1481328"/>
            <a:ext cx="5120640" cy="292608"/>
          </a:xfrm>
          <a:prstGeom prst="rect">
            <a:avLst/>
          </a:prstGeom>
          <a:noFill/>
          <a:ln/>
        </p:spPr>
        <p:txBody>
          <a:bodyPr wrap="square" lIns="0" tIns="0" rIns="0" bIns="0" rtlCol="0" anchor="ctr">
            <a:normAutofit/>
          </a:bodyPr>
          <a:lstStyle/>
          <a:p>
            <a:pPr indent="0" marL="0">
              <a:buNone/>
            </a:pPr>
            <a:r>
              <a:rPr lang="en-US" sz="1300" b="1" dirty="0">
                <a:solidFill>
                  <a:schemeClr val="tx2"/>
                </a:solidFill>
              </a:rPr>
              <a:t>Mean VADER sentiment of each complaint topic</a:t>
            </a:r>
            <a:endParaRPr lang="en-US" sz="1300" dirty="0"/>
          </a:p>
        </p:txBody>
      </p:sp>
      <p:pic>
        <p:nvPicPr>
          <p:cNvPr id="6" name="Image 0" descr="tm_05_left.png">    </p:cNvPr>
          <p:cNvPicPr>
            <a:picLocks noChangeAspect="1"/>
          </p:cNvPicPr>
          <p:nvPr/>
        </p:nvPicPr>
        <p:blipFill>
          <a:blip r:embed="rId1"/>
          <a:stretch>
            <a:fillRect/>
          </a:stretch>
        </p:blipFill>
        <p:spPr>
          <a:xfrm>
            <a:off x="777240" y="1963465"/>
            <a:ext cx="5212080" cy="3946054"/>
          </a:xfrm>
          <a:prstGeom prst="rect">
            <a:avLst/>
          </a:prstGeom>
        </p:spPr>
      </p:pic>
      <p:sp>
        <p:nvSpPr>
          <p:cNvPr id="7" name="Loss and broken trust are angriest"/>
          <p:cNvSpPr/>
          <p:nvPr/>
        </p:nvSpPr>
        <p:spPr>
          <a:xfrm>
            <a:off x="6309360" y="1417320"/>
            <a:ext cx="5242255" cy="100584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Shape 5"/>
          <p:cNvSpPr/>
          <p:nvPr/>
        </p:nvSpPr>
        <p:spPr>
          <a:xfrm>
            <a:off x="6309360" y="1527048"/>
            <a:ext cx="64008" cy="786384"/>
          </a:xfrm>
          <a:prstGeom prst="rect">
            <a:avLst/>
          </a:prstGeom>
          <a:solidFill>
            <a:schemeClr val="accent5"/>
          </a:solidFill>
          <a:ln w="12700">
            <a:solidFill>
              <a:schemeClr val="accent5"/>
            </a:solidFill>
            <a:prstDash val="solid"/>
          </a:ln>
        </p:spPr>
      </p:sp>
      <p:sp>
        <p:nvSpPr>
          <p:cNvPr id="9" name="Text 6"/>
          <p:cNvSpPr txBox="1"/>
          <p:nvPr/>
        </p:nvSpPr>
        <p:spPr>
          <a:xfrm>
            <a:off x="6537960" y="1472184"/>
            <a:ext cx="487649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Loss and broken trust are angriest</a:t>
            </a:r>
            <a:endParaRPr lang="en-US" sz="1350" dirty="0"/>
          </a:p>
        </p:txBody>
      </p:sp>
      <p:sp>
        <p:nvSpPr>
          <p:cNvPr id="10" name="Text 7"/>
          <p:cNvSpPr txBox="1"/>
          <p:nvPr/>
        </p:nvSpPr>
        <p:spPr>
          <a:xfrm>
            <a:off x="6537960" y="1783080"/>
            <a:ext cx="4876495" cy="59436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Shopping scam allegations −0.61 and poor quality −0.60 (about 80% strongly negative). Stale food (−0.44) angers more than late food (−0.29).</a:t>
            </a:r>
            <a:endParaRPr lang="en-US" sz="1150" dirty="0"/>
          </a:p>
        </p:txBody>
      </p:sp>
      <p:sp>
        <p:nvSpPr>
          <p:cNvPr id="11" name="Technical faults are reported calmly"/>
          <p:cNvSpPr/>
          <p:nvPr/>
        </p:nvSpPr>
        <p:spPr>
          <a:xfrm>
            <a:off x="6309360" y="2578608"/>
            <a:ext cx="5242255" cy="100584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2" name="Shape 9"/>
          <p:cNvSpPr/>
          <p:nvPr/>
        </p:nvSpPr>
        <p:spPr>
          <a:xfrm>
            <a:off x="6309360" y="2688336"/>
            <a:ext cx="64008" cy="786384"/>
          </a:xfrm>
          <a:prstGeom prst="rect">
            <a:avLst/>
          </a:prstGeom>
          <a:solidFill>
            <a:schemeClr val="accent1"/>
          </a:solidFill>
          <a:ln w="12700">
            <a:solidFill>
              <a:schemeClr val="accent1"/>
            </a:solidFill>
            <a:prstDash val="solid"/>
          </a:ln>
        </p:spPr>
      </p:sp>
      <p:sp>
        <p:nvSpPr>
          <p:cNvPr id="13" name="Text 10"/>
          <p:cNvSpPr txBox="1"/>
          <p:nvPr/>
        </p:nvSpPr>
        <p:spPr>
          <a:xfrm>
            <a:off x="6537960" y="2633472"/>
            <a:ext cx="487649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Technical faults are reported calmly</a:t>
            </a:r>
            <a:endParaRPr lang="en-US" sz="1350" dirty="0"/>
          </a:p>
        </p:txBody>
      </p:sp>
      <p:sp>
        <p:nvSpPr>
          <p:cNvPr id="14" name="Text 11"/>
          <p:cNvSpPr txBox="1"/>
          <p:nvPr/>
        </p:nvSpPr>
        <p:spPr>
          <a:xfrm>
            <a:off x="6537960" y="2944368"/>
            <a:ext cx="4876495" cy="59436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Payment app crashes −0.09, device-environment errors −0.11: users describe them factually, so tone is not a measure of severity.</a:t>
            </a:r>
            <a:endParaRPr lang="en-US" sz="1150" dirty="0"/>
          </a:p>
        </p:txBody>
      </p:sp>
      <p:sp>
        <p:nvSpPr>
          <p:cNvPr id="15" name="Each app has its own complaint words"/>
          <p:cNvSpPr/>
          <p:nvPr/>
        </p:nvSpPr>
        <p:spPr>
          <a:xfrm>
            <a:off x="6309360" y="3739896"/>
            <a:ext cx="5242255" cy="1508760"/>
          </a:xfrm>
          <a:prstGeom prst="roundRect">
            <a:avLst>
              <a:gd name="adj" fmla="val 363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6" name="Shape 13"/>
          <p:cNvSpPr/>
          <p:nvPr/>
        </p:nvSpPr>
        <p:spPr>
          <a:xfrm>
            <a:off x="6309360" y="3849624"/>
            <a:ext cx="64008" cy="1289304"/>
          </a:xfrm>
          <a:prstGeom prst="rect">
            <a:avLst/>
          </a:prstGeom>
          <a:solidFill>
            <a:schemeClr val="accent2"/>
          </a:solidFill>
          <a:ln w="12700">
            <a:solidFill>
              <a:schemeClr val="accent2"/>
            </a:solidFill>
            <a:prstDash val="solid"/>
          </a:ln>
        </p:spPr>
      </p:sp>
      <p:sp>
        <p:nvSpPr>
          <p:cNvPr id="17" name="Text 14"/>
          <p:cNvSpPr txBox="1"/>
          <p:nvPr/>
        </p:nvSpPr>
        <p:spPr>
          <a:xfrm>
            <a:off x="6537960" y="3794760"/>
            <a:ext cx="487649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Each app has its own complaint words</a:t>
            </a:r>
            <a:endParaRPr lang="en-US" sz="1350" dirty="0"/>
          </a:p>
        </p:txBody>
      </p:sp>
      <p:sp>
        <p:nvSpPr>
          <p:cNvPr id="18" name="Text 15"/>
          <p:cNvSpPr txBox="1"/>
          <p:nvPr/>
        </p:nvSpPr>
        <p:spPr>
          <a:xfrm>
            <a:off x="6537960" y="4105656"/>
            <a:ext cx="4876495" cy="109728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Swiggy: cancellation fee. Zomato: Gold, platform fee. Blinkit: damaged items. Myntra: exchange, size. Flipkart: Minutes, reschedule. Amazon: Prime membership. Meesho: account verification. Paytm: "device environment". PhonePe: charges. Google Pay: rewards.</a:t>
            </a:r>
            <a:endParaRPr lang="en-US" sz="1150" dirty="0"/>
          </a:p>
        </p:txBody>
      </p:sp>
      <p:sp>
        <p:nvSpPr>
          <p:cNvPr id="19" name="What satisfied users praise"/>
          <p:cNvSpPr/>
          <p:nvPr/>
        </p:nvSpPr>
        <p:spPr>
          <a:xfrm>
            <a:off x="6309360" y="5404104"/>
            <a:ext cx="5242255" cy="777240"/>
          </a:xfrm>
          <a:prstGeom prst="roundRect">
            <a:avLst>
              <a:gd name="adj" fmla="val 7059"/>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0" name="Shape 17"/>
          <p:cNvSpPr/>
          <p:nvPr/>
        </p:nvSpPr>
        <p:spPr>
          <a:xfrm>
            <a:off x="6309360" y="5513832"/>
            <a:ext cx="64008" cy="557784"/>
          </a:xfrm>
          <a:prstGeom prst="rect">
            <a:avLst/>
          </a:prstGeom>
          <a:solidFill>
            <a:schemeClr val="accent3"/>
          </a:solidFill>
          <a:ln w="12700">
            <a:solidFill>
              <a:schemeClr val="accent3"/>
            </a:solidFill>
            <a:prstDash val="solid"/>
          </a:ln>
        </p:spPr>
      </p:sp>
      <p:sp>
        <p:nvSpPr>
          <p:cNvPr id="21" name="Text 18"/>
          <p:cNvSpPr txBox="1"/>
          <p:nvPr/>
        </p:nvSpPr>
        <p:spPr>
          <a:xfrm>
            <a:off x="6537960" y="5458968"/>
            <a:ext cx="487649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What satisfied users praise</a:t>
            </a:r>
            <a:endParaRPr lang="en-US" sz="1350" dirty="0"/>
          </a:p>
        </p:txBody>
      </p:sp>
      <p:sp>
        <p:nvSpPr>
          <p:cNvPr id="22" name="Text 19"/>
          <p:cNvSpPr txBox="1"/>
          <p:nvPr/>
        </p:nvSpPr>
        <p:spPr>
          <a:xfrm>
            <a:off x="6537960" y="5769864"/>
            <a:ext cx="4876495" cy="36576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Fast delivery (food), product quality and price (shopping), easy UPI payments.</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6  |  METHOD 2, TIME SERIES: IMPLEMENTATION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ARIMA Forecasting with a Rolling-Origin Backtest</a:t>
            </a:r>
            <a:endParaRPr lang="en-US" sz="2800" dirty="0"/>
          </a:p>
        </p:txBody>
      </p:sp>
      <p:sp>
        <p:nvSpPr>
          <p:cNvPr id="4" name="models"/>
          <p:cNvSpPr/>
          <p:nvPr/>
        </p:nvSpPr>
        <p:spPr>
          <a:xfrm>
            <a:off x="640080" y="1417320"/>
            <a:ext cx="4023360" cy="4709160"/>
          </a:xfrm>
          <a:prstGeom prst="roundRect">
            <a:avLst>
              <a:gd name="adj" fmla="val 13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356616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Three models, refitted at every step</a:t>
            </a:r>
            <a:endParaRPr lang="en-US" sz="1500" dirty="0"/>
          </a:p>
        </p:txBody>
      </p:sp>
      <p:sp>
        <p:nvSpPr>
          <p:cNvPr id="6" name="Text 4"/>
          <p:cNvSpPr txBox="1"/>
          <p:nvPr/>
        </p:nvSpPr>
        <p:spPr>
          <a:xfrm>
            <a:off x="868680" y="1920240"/>
            <a:ext cx="3566160" cy="1463040"/>
          </a:xfrm>
          <a:prstGeom prst="rect">
            <a:avLst/>
          </a:prstGeom>
          <a:noFill/>
          <a:ln/>
        </p:spPr>
        <p:txBody>
          <a:bodyPr wrap="square" lIns="0" tIns="0" rIns="0" bIns="0" rtlCol="0" anchor="t">
            <a:normAutofit/>
          </a:bodyPr>
          <a:lstStyle/>
          <a:p>
            <a:pPr indent="0" marL="0">
              <a:lnSpc>
                <a:spcPct val="100000"/>
              </a:lnSpc>
              <a:spcAft>
                <a:spcPts val="500"/>
              </a:spcAft>
              <a:buNone/>
            </a:pPr>
            <a:r>
              <a:rPr lang="en-US" sz="1200" b="1" dirty="0">
                <a:solidFill>
                  <a:schemeClr val="tx1"/>
                </a:solidFill>
              </a:rPr>
              <a:t>ARIMA / SARIMA (main): </a:t>
            </a:r>
            <a:pPr indent="0" marL="0">
              <a:lnSpc>
                <a:spcPct val="100000"/>
              </a:lnSpc>
              <a:spcAft>
                <a:spcPts val="500"/>
              </a:spcAft>
              <a:buNone/>
            </a:pPr>
            <a:r>
              <a:rPr lang="en-US" sz="1200" dirty="0">
                <a:solidFill>
                  <a:schemeClr val="tx1"/>
                </a:solidFill>
              </a:rPr>
              <a:t>weekly seasonal terms for the four food apps; the feed-gap flag as an extra input for five apps (SARIMAX); 80% and 95% intervals.</a:t>
            </a:r>
            <a:endParaRPr lang="en-US" sz="1200" dirty="0"/>
          </a:p>
          <a:p>
            <a:pPr indent="0" marL="0">
              <a:lnSpc>
                <a:spcPct val="100000"/>
              </a:lnSpc>
              <a:spcAft>
                <a:spcPts val="500"/>
              </a:spcAft>
              <a:buNone/>
            </a:pPr>
            <a:r>
              <a:rPr lang="en-US" sz="1200" b="1" dirty="0">
                <a:solidFill>
                  <a:schemeClr val="tx1"/>
                </a:solidFill>
              </a:rPr>
              <a:t>Seasonal naive (baseline): </a:t>
            </a:r>
            <a:pPr indent="0" marL="0">
              <a:lnSpc>
                <a:spcPct val="100000"/>
              </a:lnSpc>
              <a:spcAft>
                <a:spcPts val="500"/>
              </a:spcAft>
              <a:buNone/>
            </a:pPr>
            <a:r>
              <a:rPr lang="en-US" sz="1200" dirty="0">
                <a:solidFill>
                  <a:schemeClr val="tx1"/>
                </a:solidFill>
              </a:rPr>
              <a:t>same weekday last week.</a:t>
            </a:r>
            <a:endParaRPr lang="en-US" sz="1200" dirty="0"/>
          </a:p>
          <a:p>
            <a:pPr indent="0" marL="0">
              <a:lnSpc>
                <a:spcPct val="100000"/>
              </a:lnSpc>
              <a:spcAft>
                <a:spcPts val="500"/>
              </a:spcAft>
              <a:buNone/>
            </a:pPr>
            <a:r>
              <a:rPr lang="en-US" sz="1200" b="1" dirty="0">
                <a:solidFill>
                  <a:schemeClr val="tx1"/>
                </a:solidFill>
              </a:rPr>
              <a:t>Holt-Winters: </a:t>
            </a:r>
            <a:pPr indent="0" marL="0">
              <a:lnSpc>
                <a:spcPct val="100000"/>
              </a:lnSpc>
              <a:spcAft>
                <a:spcPts val="500"/>
              </a:spcAft>
              <a:buNone/>
            </a:pPr>
            <a:r>
              <a:rPr lang="en-US" sz="1200" dirty="0">
                <a:solidFill>
                  <a:schemeClr val="tx1"/>
                </a:solidFill>
              </a:rPr>
              <a:t>damped trend + weekly season.</a:t>
            </a:r>
            <a:endParaRPr lang="en-US" sz="1200" dirty="0"/>
          </a:p>
        </p:txBody>
      </p:sp>
      <p:sp>
        <p:nvSpPr>
          <p:cNvPr id="7" name="Text 5"/>
          <p:cNvSpPr txBox="1"/>
          <p:nvPr/>
        </p:nvSpPr>
        <p:spPr>
          <a:xfrm>
            <a:off x="868680" y="3246120"/>
            <a:ext cx="356616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Choosing the orders</a:t>
            </a:r>
            <a:endParaRPr lang="en-US" sz="1500" dirty="0"/>
          </a:p>
        </p:txBody>
      </p:sp>
      <p:sp>
        <p:nvSpPr>
          <p:cNvPr id="8" name="Text 6"/>
          <p:cNvSpPr txBox="1"/>
          <p:nvPr/>
        </p:nvSpPr>
        <p:spPr>
          <a:xfrm>
            <a:off x="868680" y="3630168"/>
            <a:ext cx="3566160" cy="2377440"/>
          </a:xfrm>
          <a:prstGeom prst="rect">
            <a:avLst/>
          </a:prstGeom>
          <a:noFill/>
          <a:ln/>
        </p:spPr>
        <p:txBody>
          <a:bodyPr wrap="square" lIns="0" tIns="0" rIns="0" bIns="0" rtlCol="0" anchor="t">
            <a:normAutofit/>
          </a:bodyPr>
          <a:lstStyle/>
          <a:p>
            <a:pPr marL="177800" indent="-177800">
              <a:lnSpc>
                <a:spcPct val="100000"/>
              </a:lnSpc>
              <a:spcAft>
                <a:spcPts val="600"/>
              </a:spcAft>
              <a:buSzPct val="100000"/>
              <a:buChar char="•"/>
            </a:pPr>
            <a:r>
              <a:rPr lang="en-US" sz="1200" dirty="0">
                <a:solidFill>
                  <a:schemeClr val="tx1"/>
                </a:solidFill>
              </a:rPr>
              <a:t>d from the ADF test; D = 0</a:t>
            </a:r>
            <a:endParaRPr lang="en-US" sz="1200" dirty="0"/>
          </a:p>
          <a:p>
            <a:pPr marL="177800" indent="-177800">
              <a:lnSpc>
                <a:spcPct val="100000"/>
              </a:lnSpc>
              <a:spcAft>
                <a:spcPts val="600"/>
              </a:spcAft>
              <a:buSzPct val="100000"/>
              <a:buChar char="•"/>
            </a:pPr>
            <a:r>
              <a:rPr lang="en-US" sz="1200" dirty="0">
                <a:solidFill>
                  <a:schemeClr val="tx1"/>
                </a:solidFill>
              </a:rPr>
              <a:t>ACF/PACF propose p, q ≤ 3 and lag-7 seasonal terms</a:t>
            </a:r>
            <a:endParaRPr lang="en-US" sz="1200" dirty="0"/>
          </a:p>
          <a:p>
            <a:pPr marL="177800" indent="-177800">
              <a:lnSpc>
                <a:spcPct val="100000"/>
              </a:lnSpc>
              <a:spcAft>
                <a:spcPts val="600"/>
              </a:spcAft>
              <a:buSzPct val="100000"/>
              <a:buChar char="•"/>
            </a:pPr>
            <a:r>
              <a:rPr lang="en-US" sz="1200" dirty="0">
                <a:solidFill>
                  <a:schemeClr val="tx1"/>
                </a:solidFill>
              </a:rPr>
              <a:t>Lowest AICc wins (378 fits); within 2 points, the simpler model</a:t>
            </a:r>
            <a:endParaRPr lang="en-US" sz="1200" dirty="0"/>
          </a:p>
          <a:p>
            <a:pPr marL="177800" indent="-177800">
              <a:lnSpc>
                <a:spcPct val="100000"/>
              </a:lnSpc>
              <a:spcAft>
                <a:spcPts val="600"/>
              </a:spcAft>
              <a:buSzPct val="100000"/>
              <a:buChar char="•"/>
            </a:pPr>
            <a:r>
              <a:rPr lang="en-US" sz="1200" dirty="0">
                <a:solidFill>
                  <a:schemeClr val="tx1"/>
                </a:solidFill>
              </a:rPr>
              <a:t>No look-ahead: backtest orders use the first 84 days only</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846320" y="1417320"/>
          <a:ext cx="3246120" cy="914400"/>
        </p:xfrm>
        <a:graphic>
          <a:graphicData uri="http://schemas.openxmlformats.org/drawingml/2006/table">
            <a:tbl>
              <a:tblPr/>
              <a:tblGrid>
                <a:gridCol w="1051560"/>
                <a:gridCol w="1463040"/>
                <a:gridCol w="731520"/>
              </a:tblGrid>
              <a:tr h="30175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App</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Final order</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Gap input</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Swiggy</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(0,0,1)(1,0,1)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Zomato</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(2,1,1)(1,0,1)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Blinkit</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(1,1,1)(1,0,1)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Domino's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(0,0,1)(1,0,1)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Myntra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(3,0,2)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Flipkart</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Amazon</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Meesho</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Paytm</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(2,0,2)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PhonePe</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Google Pay</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846320" y="5120640"/>
            <a:ext cx="3246120" cy="731520"/>
          </a:xfrm>
          <a:prstGeom prst="rect">
            <a:avLst/>
          </a:prstGeom>
          <a:noFill/>
          <a:ln/>
        </p:spPr>
        <p:txBody>
          <a:bodyPr wrap="square" lIns="0" tIns="0" rIns="0" bIns="0" rtlCol="0" anchor="t"/>
          <a:lstStyle/>
          <a:p>
            <a:pPr indent="0" marL="0">
              <a:buNone/>
            </a:pPr>
            <a:r>
              <a:rPr lang="en-US" sz="1050" i="1" dirty="0">
                <a:solidFill>
                  <a:schemeClr val="accent6"/>
                </a:solidFill>
              </a:rPr>
              <a:t>(p,d,q)(P,D,Q) with a 7-day season. Only the food apps need seasonal terms, matching their Sunday peak.</a:t>
            </a:r>
            <a:endParaRPr lang="en-US" sz="1050" dirty="0"/>
          </a:p>
        </p:txBody>
      </p:sp>
      <p:sp>
        <p:nvSpPr>
          <p:cNvPr id="11" name="backtest"/>
          <p:cNvSpPr/>
          <p:nvPr/>
        </p:nvSpPr>
        <p:spPr>
          <a:xfrm>
            <a:off x="8275320" y="1417320"/>
            <a:ext cx="3276295" cy="4709160"/>
          </a:xfrm>
          <a:prstGeom prst="roundRect">
            <a:avLst>
              <a:gd name="adj" fmla="val 167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2" name="Text 9"/>
          <p:cNvSpPr txBox="1"/>
          <p:nvPr/>
        </p:nvSpPr>
        <p:spPr>
          <a:xfrm>
            <a:off x="8458200" y="1536192"/>
            <a:ext cx="2910535"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Rolling-origin backtest</a:t>
            </a:r>
            <a:endParaRPr lang="en-US" sz="1500" dirty="0"/>
          </a:p>
        </p:txBody>
      </p:sp>
      <p:sp>
        <p:nvSpPr>
          <p:cNvPr id="13" name="Shape 10"/>
          <p:cNvSpPr/>
          <p:nvPr/>
        </p:nvSpPr>
        <p:spPr>
          <a:xfrm>
            <a:off x="8503920" y="2011680"/>
            <a:ext cx="1368809" cy="182880"/>
          </a:xfrm>
          <a:prstGeom prst="rect">
            <a:avLst/>
          </a:prstGeom>
          <a:solidFill>
            <a:srgbClr val="C9D6E3"/>
          </a:solidFill>
          <a:ln w="12700">
            <a:solidFill>
              <a:srgbClr val="C9D6E3"/>
            </a:solidFill>
            <a:prstDash val="solid"/>
          </a:ln>
        </p:spPr>
      </p:sp>
      <p:sp>
        <p:nvSpPr>
          <p:cNvPr id="14" name="Shape 11"/>
          <p:cNvSpPr/>
          <p:nvPr/>
        </p:nvSpPr>
        <p:spPr>
          <a:xfrm>
            <a:off x="9872729" y="2011680"/>
            <a:ext cx="456270" cy="182880"/>
          </a:xfrm>
          <a:prstGeom prst="rect">
            <a:avLst/>
          </a:prstGeom>
          <a:solidFill>
            <a:srgbClr val="2A78D6"/>
          </a:solidFill>
          <a:ln w="12700">
            <a:solidFill>
              <a:srgbClr val="2A78D6"/>
            </a:solidFill>
            <a:prstDash val="solid"/>
          </a:ln>
        </p:spPr>
      </p:sp>
      <p:sp>
        <p:nvSpPr>
          <p:cNvPr id="15" name="Shape 12"/>
          <p:cNvSpPr/>
          <p:nvPr/>
        </p:nvSpPr>
        <p:spPr>
          <a:xfrm>
            <a:off x="8503920" y="2286000"/>
            <a:ext cx="1482877" cy="182880"/>
          </a:xfrm>
          <a:prstGeom prst="rect">
            <a:avLst/>
          </a:prstGeom>
          <a:solidFill>
            <a:srgbClr val="C9D6E3"/>
          </a:solidFill>
          <a:ln w="12700">
            <a:solidFill>
              <a:srgbClr val="C9D6E3"/>
            </a:solidFill>
            <a:prstDash val="solid"/>
          </a:ln>
        </p:spPr>
      </p:sp>
      <p:sp>
        <p:nvSpPr>
          <p:cNvPr id="16" name="Shape 13"/>
          <p:cNvSpPr/>
          <p:nvPr/>
        </p:nvSpPr>
        <p:spPr>
          <a:xfrm>
            <a:off x="9986797" y="2286000"/>
            <a:ext cx="456270" cy="182880"/>
          </a:xfrm>
          <a:prstGeom prst="rect">
            <a:avLst/>
          </a:prstGeom>
          <a:solidFill>
            <a:srgbClr val="2A78D6"/>
          </a:solidFill>
          <a:ln w="12700">
            <a:solidFill>
              <a:srgbClr val="2A78D6"/>
            </a:solidFill>
            <a:prstDash val="solid"/>
          </a:ln>
        </p:spPr>
      </p:sp>
      <p:sp>
        <p:nvSpPr>
          <p:cNvPr id="17" name="Shape 14"/>
          <p:cNvSpPr/>
          <p:nvPr/>
        </p:nvSpPr>
        <p:spPr>
          <a:xfrm>
            <a:off x="8503920" y="2560320"/>
            <a:ext cx="1596944" cy="182880"/>
          </a:xfrm>
          <a:prstGeom prst="rect">
            <a:avLst/>
          </a:prstGeom>
          <a:solidFill>
            <a:srgbClr val="C9D6E3"/>
          </a:solidFill>
          <a:ln w="12700">
            <a:solidFill>
              <a:srgbClr val="C9D6E3"/>
            </a:solidFill>
            <a:prstDash val="solid"/>
          </a:ln>
        </p:spPr>
      </p:sp>
      <p:sp>
        <p:nvSpPr>
          <p:cNvPr id="18" name="Shape 15"/>
          <p:cNvSpPr/>
          <p:nvPr/>
        </p:nvSpPr>
        <p:spPr>
          <a:xfrm>
            <a:off x="10100864" y="2560320"/>
            <a:ext cx="456270" cy="182880"/>
          </a:xfrm>
          <a:prstGeom prst="rect">
            <a:avLst/>
          </a:prstGeom>
          <a:solidFill>
            <a:srgbClr val="2A78D6"/>
          </a:solidFill>
          <a:ln w="12700">
            <a:solidFill>
              <a:srgbClr val="2A78D6"/>
            </a:solidFill>
            <a:prstDash val="solid"/>
          </a:ln>
        </p:spPr>
      </p:sp>
      <p:sp>
        <p:nvSpPr>
          <p:cNvPr id="19" name="Shape 16"/>
          <p:cNvSpPr/>
          <p:nvPr/>
        </p:nvSpPr>
        <p:spPr>
          <a:xfrm>
            <a:off x="8503920" y="2834640"/>
            <a:ext cx="1711012" cy="182880"/>
          </a:xfrm>
          <a:prstGeom prst="rect">
            <a:avLst/>
          </a:prstGeom>
          <a:solidFill>
            <a:srgbClr val="C9D6E3"/>
          </a:solidFill>
          <a:ln w="12700">
            <a:solidFill>
              <a:srgbClr val="C9D6E3"/>
            </a:solidFill>
            <a:prstDash val="solid"/>
          </a:ln>
        </p:spPr>
      </p:sp>
      <p:sp>
        <p:nvSpPr>
          <p:cNvPr id="20" name="Shape 17"/>
          <p:cNvSpPr/>
          <p:nvPr/>
        </p:nvSpPr>
        <p:spPr>
          <a:xfrm>
            <a:off x="10214932" y="2834640"/>
            <a:ext cx="456270" cy="182880"/>
          </a:xfrm>
          <a:prstGeom prst="rect">
            <a:avLst/>
          </a:prstGeom>
          <a:solidFill>
            <a:srgbClr val="2A78D6"/>
          </a:solidFill>
          <a:ln w="12700">
            <a:solidFill>
              <a:srgbClr val="2A78D6"/>
            </a:solidFill>
            <a:prstDash val="solid"/>
          </a:ln>
        </p:spPr>
      </p:sp>
      <p:sp>
        <p:nvSpPr>
          <p:cNvPr id="21" name="Shape 18"/>
          <p:cNvSpPr/>
          <p:nvPr/>
        </p:nvSpPr>
        <p:spPr>
          <a:xfrm>
            <a:off x="8503920" y="3108960"/>
            <a:ext cx="1825079" cy="182880"/>
          </a:xfrm>
          <a:prstGeom prst="rect">
            <a:avLst/>
          </a:prstGeom>
          <a:solidFill>
            <a:srgbClr val="C9D6E3"/>
          </a:solidFill>
          <a:ln w="12700">
            <a:solidFill>
              <a:srgbClr val="C9D6E3"/>
            </a:solidFill>
            <a:prstDash val="solid"/>
          </a:ln>
        </p:spPr>
      </p:sp>
      <p:sp>
        <p:nvSpPr>
          <p:cNvPr id="22" name="Shape 19"/>
          <p:cNvSpPr/>
          <p:nvPr/>
        </p:nvSpPr>
        <p:spPr>
          <a:xfrm>
            <a:off x="10328999" y="3108960"/>
            <a:ext cx="456270" cy="182880"/>
          </a:xfrm>
          <a:prstGeom prst="rect">
            <a:avLst/>
          </a:prstGeom>
          <a:solidFill>
            <a:srgbClr val="2A78D6"/>
          </a:solidFill>
          <a:ln w="12700">
            <a:solidFill>
              <a:srgbClr val="2A78D6"/>
            </a:solidFill>
            <a:prstDash val="solid"/>
          </a:ln>
        </p:spPr>
      </p:sp>
      <p:sp>
        <p:nvSpPr>
          <p:cNvPr id="23" name="Shape 20"/>
          <p:cNvSpPr/>
          <p:nvPr/>
        </p:nvSpPr>
        <p:spPr>
          <a:xfrm>
            <a:off x="8503920" y="3383280"/>
            <a:ext cx="1939146" cy="182880"/>
          </a:xfrm>
          <a:prstGeom prst="rect">
            <a:avLst/>
          </a:prstGeom>
          <a:solidFill>
            <a:srgbClr val="C9D6E3"/>
          </a:solidFill>
          <a:ln w="12700">
            <a:solidFill>
              <a:srgbClr val="C9D6E3"/>
            </a:solidFill>
            <a:prstDash val="solid"/>
          </a:ln>
        </p:spPr>
      </p:sp>
      <p:sp>
        <p:nvSpPr>
          <p:cNvPr id="24" name="Shape 21"/>
          <p:cNvSpPr/>
          <p:nvPr/>
        </p:nvSpPr>
        <p:spPr>
          <a:xfrm>
            <a:off x="10443066" y="3383280"/>
            <a:ext cx="456270" cy="182880"/>
          </a:xfrm>
          <a:prstGeom prst="rect">
            <a:avLst/>
          </a:prstGeom>
          <a:solidFill>
            <a:srgbClr val="2A78D6"/>
          </a:solidFill>
          <a:ln w="12700">
            <a:solidFill>
              <a:srgbClr val="2A78D6"/>
            </a:solidFill>
            <a:prstDash val="solid"/>
          </a:ln>
        </p:spPr>
      </p:sp>
      <p:sp>
        <p:nvSpPr>
          <p:cNvPr id="25" name="Shape 22"/>
          <p:cNvSpPr/>
          <p:nvPr/>
        </p:nvSpPr>
        <p:spPr>
          <a:xfrm>
            <a:off x="8503920" y="3657600"/>
            <a:ext cx="2053214" cy="182880"/>
          </a:xfrm>
          <a:prstGeom prst="rect">
            <a:avLst/>
          </a:prstGeom>
          <a:solidFill>
            <a:srgbClr val="C9D6E3"/>
          </a:solidFill>
          <a:ln w="12700">
            <a:solidFill>
              <a:srgbClr val="C9D6E3"/>
            </a:solidFill>
            <a:prstDash val="solid"/>
          </a:ln>
        </p:spPr>
      </p:sp>
      <p:sp>
        <p:nvSpPr>
          <p:cNvPr id="26" name="Shape 23"/>
          <p:cNvSpPr/>
          <p:nvPr/>
        </p:nvSpPr>
        <p:spPr>
          <a:xfrm>
            <a:off x="10557134" y="3657600"/>
            <a:ext cx="456270" cy="182880"/>
          </a:xfrm>
          <a:prstGeom prst="rect">
            <a:avLst/>
          </a:prstGeom>
          <a:solidFill>
            <a:srgbClr val="2A78D6"/>
          </a:solidFill>
          <a:ln w="12700">
            <a:solidFill>
              <a:srgbClr val="2A78D6"/>
            </a:solidFill>
            <a:prstDash val="solid"/>
          </a:ln>
        </p:spPr>
      </p:sp>
      <p:sp>
        <p:nvSpPr>
          <p:cNvPr id="27" name="Shape 24"/>
          <p:cNvSpPr/>
          <p:nvPr/>
        </p:nvSpPr>
        <p:spPr>
          <a:xfrm>
            <a:off x="8503920" y="3931920"/>
            <a:ext cx="2167281" cy="182880"/>
          </a:xfrm>
          <a:prstGeom prst="rect">
            <a:avLst/>
          </a:prstGeom>
          <a:solidFill>
            <a:srgbClr val="C9D6E3"/>
          </a:solidFill>
          <a:ln w="12700">
            <a:solidFill>
              <a:srgbClr val="C9D6E3"/>
            </a:solidFill>
            <a:prstDash val="solid"/>
          </a:ln>
        </p:spPr>
      </p:sp>
      <p:sp>
        <p:nvSpPr>
          <p:cNvPr id="28" name="Shape 25"/>
          <p:cNvSpPr/>
          <p:nvPr/>
        </p:nvSpPr>
        <p:spPr>
          <a:xfrm>
            <a:off x="10671201" y="3931920"/>
            <a:ext cx="456270" cy="182880"/>
          </a:xfrm>
          <a:prstGeom prst="rect">
            <a:avLst/>
          </a:prstGeom>
          <a:solidFill>
            <a:srgbClr val="2A78D6"/>
          </a:solidFill>
          <a:ln w="12700">
            <a:solidFill>
              <a:srgbClr val="2A78D6"/>
            </a:solidFill>
            <a:prstDash val="solid"/>
          </a:ln>
        </p:spPr>
      </p:sp>
      <p:sp>
        <p:nvSpPr>
          <p:cNvPr id="29" name="Shape 26"/>
          <p:cNvSpPr/>
          <p:nvPr/>
        </p:nvSpPr>
        <p:spPr>
          <a:xfrm>
            <a:off x="8503920" y="4206240"/>
            <a:ext cx="2281349" cy="182880"/>
          </a:xfrm>
          <a:prstGeom prst="rect">
            <a:avLst/>
          </a:prstGeom>
          <a:solidFill>
            <a:srgbClr val="C9D6E3"/>
          </a:solidFill>
          <a:ln w="12700">
            <a:solidFill>
              <a:srgbClr val="C9D6E3"/>
            </a:solidFill>
            <a:prstDash val="solid"/>
          </a:ln>
        </p:spPr>
      </p:sp>
      <p:sp>
        <p:nvSpPr>
          <p:cNvPr id="30" name="Shape 27"/>
          <p:cNvSpPr/>
          <p:nvPr/>
        </p:nvSpPr>
        <p:spPr>
          <a:xfrm>
            <a:off x="10785269" y="4206240"/>
            <a:ext cx="456270" cy="182880"/>
          </a:xfrm>
          <a:prstGeom prst="rect">
            <a:avLst/>
          </a:prstGeom>
          <a:solidFill>
            <a:srgbClr val="2A78D6"/>
          </a:solidFill>
          <a:ln w="12700">
            <a:solidFill>
              <a:srgbClr val="2A78D6"/>
            </a:solidFill>
            <a:prstDash val="solid"/>
          </a:ln>
        </p:spPr>
      </p:sp>
      <p:sp>
        <p:nvSpPr>
          <p:cNvPr id="31" name="Text 28"/>
          <p:cNvSpPr txBox="1"/>
          <p:nvPr/>
        </p:nvSpPr>
        <p:spPr>
          <a:xfrm>
            <a:off x="8503920" y="4526280"/>
            <a:ext cx="2819095" cy="228600"/>
          </a:xfrm>
          <a:prstGeom prst="rect">
            <a:avLst/>
          </a:prstGeom>
          <a:noFill/>
          <a:ln/>
        </p:spPr>
        <p:txBody>
          <a:bodyPr wrap="square" lIns="0" tIns="0" rIns="0" bIns="0" rtlCol="0" anchor="ctr"/>
          <a:lstStyle/>
          <a:p>
            <a:pPr indent="0" marL="0">
              <a:buNone/>
            </a:pPr>
            <a:r>
              <a:rPr lang="en-US" sz="1050" dirty="0">
                <a:solidFill>
                  <a:srgbClr val="C9D6E3"/>
                </a:solidFill>
              </a:rPr>
              <a:t>■ </a:t>
            </a:r>
            <a:pPr indent="0" marL="0">
              <a:buNone/>
            </a:pPr>
            <a:r>
              <a:rPr lang="en-US" sz="1050" dirty="0">
                <a:solidFill>
                  <a:schemeClr val="tx1"/>
                </a:solidFill>
              </a:rPr>
              <a:t>training   </a:t>
            </a:r>
            <a:pPr indent="0" marL="0">
              <a:buNone/>
            </a:pPr>
            <a:r>
              <a:rPr lang="en-US" sz="1050" dirty="0">
                <a:solidFill>
                  <a:srgbClr val="2A78D6"/>
                </a:solidFill>
              </a:rPr>
              <a:t>■ </a:t>
            </a:r>
            <a:pPr indent="0" marL="0">
              <a:buNone/>
            </a:pPr>
            <a:r>
              <a:rPr lang="en-US" sz="1050" dirty="0">
                <a:solidFill>
                  <a:schemeClr val="tx1"/>
                </a:solidFill>
              </a:rPr>
              <a:t>28-day forecast</a:t>
            </a:r>
            <a:endParaRPr lang="en-US" sz="1050" dirty="0"/>
          </a:p>
        </p:txBody>
      </p:sp>
      <p:sp>
        <p:nvSpPr>
          <p:cNvPr id="32" name="Text 29"/>
          <p:cNvSpPr txBox="1"/>
          <p:nvPr/>
        </p:nvSpPr>
        <p:spPr>
          <a:xfrm>
            <a:off x="8503920" y="4846320"/>
            <a:ext cx="2819095" cy="1234440"/>
          </a:xfrm>
          <a:prstGeom prst="rect">
            <a:avLst/>
          </a:prstGeom>
          <a:noFill/>
          <a:ln/>
        </p:spPr>
        <p:txBody>
          <a:bodyPr wrap="square" lIns="0" tIns="0" rIns="0" bIns="0" rtlCol="0" anchor="t">
            <a:normAutofit/>
          </a:bodyPr>
          <a:lstStyle/>
          <a:p>
            <a:pPr indent="0" marL="0">
              <a:lnSpc>
                <a:spcPct val="100000"/>
              </a:lnSpc>
              <a:spcAft>
                <a:spcPts val="400"/>
              </a:spcAft>
              <a:buNone/>
            </a:pPr>
            <a:r>
              <a:rPr lang="en-US" sz="1150" dirty="0">
                <a:solidFill>
                  <a:schemeClr val="tx1"/>
                </a:solidFill>
              </a:rPr>
              <a:t>First 84 days to train, then forecast 28 days; move one week and refit.</a:t>
            </a:r>
            <a:endParaRPr lang="en-US" sz="1150" dirty="0"/>
          </a:p>
          <a:p>
            <a:pPr indent="0" marL="0">
              <a:lnSpc>
                <a:spcPct val="100000"/>
              </a:lnSpc>
              <a:spcAft>
                <a:spcPts val="400"/>
              </a:spcAft>
              <a:buNone/>
            </a:pPr>
            <a:r>
              <a:rPr lang="en-US" sz="1150" b="1" dirty="0">
                <a:solidFill>
                  <a:schemeClr val="tx1"/>
                </a:solidFill>
              </a:rPr>
              <a:t>9 origins (23 Jun – 18 Aug) = 252 forecasts </a:t>
            </a:r>
            <a:pPr indent="0" marL="0">
              <a:lnSpc>
                <a:spcPct val="100000"/>
              </a:lnSpc>
              <a:spcAft>
                <a:spcPts val="400"/>
              </a:spcAft>
              <a:buNone/>
            </a:pPr>
            <a:r>
              <a:rPr lang="en-US" sz="1150" dirty="0">
                <a:solidFill>
                  <a:schemeClr val="tx1"/>
                </a:solidFill>
              </a:rPr>
              <a:t>per app and model.</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6  |  METHOD 2, TIME SERIES: FORECAST RESULTS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ARIMA Beats the Baseline for 10 of 11 Apps</a:t>
            </a:r>
            <a:endParaRPr lang="en-US" sz="2800" dirty="0"/>
          </a:p>
        </p:txBody>
      </p:sp>
      <p:sp>
        <p:nvSpPr>
          <p:cNvPr id="4" name="mae chart"/>
          <p:cNvSpPr/>
          <p:nvPr/>
        </p:nvSpPr>
        <p:spPr>
          <a:xfrm>
            <a:off x="640080" y="1417320"/>
            <a:ext cx="5760720"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graphicFrame>
        <p:nvGraphicFramePr>
          <p:cNvPr id="5" name="Chart 0" descr=""/>
          <p:cNvGraphicFramePr/>
          <p:nvPr/>
        </p:nvGraphicFramePr>
        <p:xfrm>
          <a:off x="731520" y="1463040"/>
          <a:ext cx="5577840" cy="4617720"/>
        </p:xfrm>
        <a:graphic xmlns:a="http://schemas.openxmlformats.org/drawingml/2006/main">
          <a:graphicData uri="http://schemas.openxmlformats.org/drawingml/2006/chart">
            <c:chart xmlns:c="http://schemas.openxmlformats.org/drawingml/2006/chart" r:id="rId1"/>
          </a:graphicData>
        </a:graphic>
      </p:graphicFrame>
      <p:sp>
        <p:nvSpPr>
          <p:cNvPr id="6" name="stat"/>
          <p:cNvSpPr/>
          <p:nvPr/>
        </p:nvSpPr>
        <p:spPr>
          <a:xfrm>
            <a:off x="6583680" y="1417320"/>
            <a:ext cx="1564538" cy="128016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6720840" y="1463040"/>
            <a:ext cx="1290218" cy="502920"/>
          </a:xfrm>
          <a:prstGeom prst="rect">
            <a:avLst/>
          </a:prstGeom>
          <a:noFill/>
          <a:ln/>
        </p:spPr>
        <p:txBody>
          <a:bodyPr wrap="square" lIns="0" tIns="0" rIns="0" bIns="0" rtlCol="0" anchor="b"/>
          <a:lstStyle/>
          <a:p>
            <a:pPr indent="0" marL="0">
              <a:buNone/>
            </a:pPr>
            <a:r>
              <a:rPr lang="en-US" sz="2400" b="1" dirty="0">
                <a:solidFill>
                  <a:schemeClr val="accent1"/>
                </a:solidFill>
                <a:latin typeface="Calibri" pitchFamily="34" charset="0"/>
                <a:ea typeface="Calibri" pitchFamily="34" charset="-122"/>
                <a:cs typeface="Calibri" pitchFamily="34" charset="-120"/>
              </a:rPr>
              <a:t>10 / 11</a:t>
            </a:r>
            <a:endParaRPr lang="en-US" sz="2400" dirty="0"/>
          </a:p>
        </p:txBody>
      </p:sp>
      <p:sp>
        <p:nvSpPr>
          <p:cNvPr id="8" name="Text 5"/>
          <p:cNvSpPr txBox="1"/>
          <p:nvPr/>
        </p:nvSpPr>
        <p:spPr>
          <a:xfrm>
            <a:off x="6720840" y="1993392"/>
            <a:ext cx="1290218" cy="640080"/>
          </a:xfrm>
          <a:prstGeom prst="rect">
            <a:avLst/>
          </a:prstGeom>
          <a:noFill/>
          <a:ln/>
        </p:spPr>
        <p:txBody>
          <a:bodyPr wrap="square" lIns="0" tIns="0" rIns="0" bIns="0" rtlCol="0" anchor="t"/>
          <a:lstStyle/>
          <a:p>
            <a:pPr indent="0" marL="0">
              <a:buNone/>
            </a:pPr>
            <a:r>
              <a:rPr lang="en-US" sz="1050" dirty="0">
                <a:solidFill>
                  <a:schemeClr val="tx1"/>
                </a:solidFill>
              </a:rPr>
              <a:t>apps where ARIMA has a lower error than the baseline</a:t>
            </a:r>
            <a:endParaRPr lang="en-US" sz="1050" dirty="0"/>
          </a:p>
        </p:txBody>
      </p:sp>
      <p:sp>
        <p:nvSpPr>
          <p:cNvPr id="9" name="stat"/>
          <p:cNvSpPr/>
          <p:nvPr/>
        </p:nvSpPr>
        <p:spPr>
          <a:xfrm>
            <a:off x="8285378" y="1417320"/>
            <a:ext cx="1564538" cy="128016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Text 7"/>
          <p:cNvSpPr txBox="1"/>
          <p:nvPr/>
        </p:nvSpPr>
        <p:spPr>
          <a:xfrm>
            <a:off x="8422538" y="1463040"/>
            <a:ext cx="1290218" cy="502920"/>
          </a:xfrm>
          <a:prstGeom prst="rect">
            <a:avLst/>
          </a:prstGeom>
          <a:noFill/>
          <a:ln/>
        </p:spPr>
        <p:txBody>
          <a:bodyPr wrap="square" lIns="0" tIns="0" rIns="0" bIns="0" rtlCol="0" anchor="b"/>
          <a:lstStyle/>
          <a:p>
            <a:pPr indent="0" marL="0">
              <a:buNone/>
            </a:pPr>
            <a:r>
              <a:rPr lang="en-US" sz="2400" b="1" dirty="0">
                <a:solidFill>
                  <a:schemeClr val="accent3"/>
                </a:solidFill>
                <a:latin typeface="Calibri" pitchFamily="34" charset="0"/>
                <a:ea typeface="Calibri" pitchFamily="34" charset="-122"/>
                <a:cs typeface="Calibri" pitchFamily="34" charset="-120"/>
              </a:rPr>
              <a:t>−32%</a:t>
            </a:r>
            <a:endParaRPr lang="en-US" sz="2400" dirty="0"/>
          </a:p>
        </p:txBody>
      </p:sp>
      <p:sp>
        <p:nvSpPr>
          <p:cNvPr id="11" name="Text 8"/>
          <p:cNvSpPr txBox="1"/>
          <p:nvPr/>
        </p:nvSpPr>
        <p:spPr>
          <a:xfrm>
            <a:off x="8422538" y="1993392"/>
            <a:ext cx="1290218" cy="640080"/>
          </a:xfrm>
          <a:prstGeom prst="rect">
            <a:avLst/>
          </a:prstGeom>
          <a:noFill/>
          <a:ln/>
        </p:spPr>
        <p:txBody>
          <a:bodyPr wrap="square" lIns="0" tIns="0" rIns="0" bIns="0" rtlCol="0" anchor="t"/>
          <a:lstStyle/>
          <a:p>
            <a:pPr indent="0" marL="0">
              <a:buNone/>
            </a:pPr>
            <a:r>
              <a:rPr lang="en-US" sz="1050" dirty="0">
                <a:solidFill>
                  <a:schemeClr val="tx1"/>
                </a:solidFill>
              </a:rPr>
              <a:t>Flipkart error vs the baseline, the largest gain</a:t>
            </a:r>
            <a:endParaRPr lang="en-US" sz="1050" dirty="0"/>
          </a:p>
        </p:txBody>
      </p:sp>
      <p:sp>
        <p:nvSpPr>
          <p:cNvPr id="12" name="stat"/>
          <p:cNvSpPr/>
          <p:nvPr/>
        </p:nvSpPr>
        <p:spPr>
          <a:xfrm>
            <a:off x="9987077" y="1417320"/>
            <a:ext cx="1564538" cy="128016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Text 10"/>
          <p:cNvSpPr txBox="1"/>
          <p:nvPr/>
        </p:nvSpPr>
        <p:spPr>
          <a:xfrm>
            <a:off x="10124237" y="1463040"/>
            <a:ext cx="1290218" cy="502920"/>
          </a:xfrm>
          <a:prstGeom prst="rect">
            <a:avLst/>
          </a:prstGeom>
          <a:noFill/>
          <a:ln/>
        </p:spPr>
        <p:txBody>
          <a:bodyPr wrap="square" lIns="0" tIns="0" rIns="0" bIns="0" rtlCol="0" anchor="b"/>
          <a:lstStyle/>
          <a:p>
            <a:pPr indent="0" marL="0">
              <a:buNone/>
            </a:pPr>
            <a:r>
              <a:rPr lang="en-US" sz="2400" b="1" dirty="0">
                <a:solidFill>
                  <a:schemeClr val="accent2"/>
                </a:solidFill>
                <a:latin typeface="Calibri" pitchFamily="34" charset="0"/>
                <a:ea typeface="Calibri" pitchFamily="34" charset="-122"/>
                <a:cs typeface="Calibri" pitchFamily="34" charset="-120"/>
              </a:rPr>
              <a:t>1 / 11</a:t>
            </a:r>
            <a:endParaRPr lang="en-US" sz="2400" dirty="0"/>
          </a:p>
        </p:txBody>
      </p:sp>
      <p:sp>
        <p:nvSpPr>
          <p:cNvPr id="14" name="Text 11"/>
          <p:cNvSpPr txBox="1"/>
          <p:nvPr/>
        </p:nvSpPr>
        <p:spPr>
          <a:xfrm>
            <a:off x="10124237" y="1993392"/>
            <a:ext cx="1290218" cy="640080"/>
          </a:xfrm>
          <a:prstGeom prst="rect">
            <a:avLst/>
          </a:prstGeom>
          <a:noFill/>
          <a:ln/>
        </p:spPr>
        <p:txBody>
          <a:bodyPr wrap="square" lIns="0" tIns="0" rIns="0" bIns="0" rtlCol="0" anchor="t"/>
          <a:lstStyle/>
          <a:p>
            <a:pPr indent="0" marL="0">
              <a:buNone/>
            </a:pPr>
            <a:r>
              <a:rPr lang="en-US" sz="1050" dirty="0">
                <a:solidFill>
                  <a:schemeClr val="tx1"/>
                </a:solidFill>
              </a:rPr>
              <a:t>Google Pay: the baseline wins (6.2 vs 10.9)</a:t>
            </a:r>
            <a:endParaRPr lang="en-US" sz="1050" dirty="0"/>
          </a:p>
        </p:txBody>
      </p:sp>
      <p:sp>
        <p:nvSpPr>
          <p:cNvPr id="15" name="week 1"/>
          <p:cNvSpPr/>
          <p:nvPr/>
        </p:nvSpPr>
        <p:spPr>
          <a:xfrm>
            <a:off x="6583680" y="2834640"/>
            <a:ext cx="4967935" cy="3291840"/>
          </a:xfrm>
          <a:prstGeom prst="roundRect">
            <a:avLst>
              <a:gd name="adj" fmla="val 166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6" name="Text 13"/>
          <p:cNvSpPr txBox="1"/>
          <p:nvPr/>
        </p:nvSpPr>
        <p:spPr>
          <a:xfrm>
            <a:off x="6766560" y="2898648"/>
            <a:ext cx="4602175" cy="292608"/>
          </a:xfrm>
          <a:prstGeom prst="rect">
            <a:avLst/>
          </a:prstGeom>
          <a:noFill/>
          <a:ln/>
        </p:spPr>
        <p:txBody>
          <a:bodyPr wrap="square" lIns="0" tIns="0" rIns="0" bIns="0" rtlCol="0" anchor="ctr">
            <a:normAutofit/>
          </a:bodyPr>
          <a:lstStyle/>
          <a:p>
            <a:pPr indent="0" marL="0">
              <a:buNone/>
            </a:pPr>
            <a:r>
              <a:rPr lang="en-US" sz="1300" b="1" dirty="0">
                <a:solidFill>
                  <a:schemeClr val="tx2"/>
                </a:solidFill>
              </a:rPr>
              <a:t>Forecast for 21–27 Sep (1–2★ reviews, week 1)</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766560" y="3218688"/>
          <a:ext cx="4602175" cy="914400"/>
        </p:xfrm>
        <a:graphic>
          <a:graphicData uri="http://schemas.openxmlformats.org/drawingml/2006/table">
            <a:tbl>
              <a:tblPr/>
              <a:tblGrid>
                <a:gridCol w="1051560"/>
                <a:gridCol w="822960"/>
                <a:gridCol w="1188720"/>
                <a:gridCol w="1538935"/>
              </a:tblGrid>
              <a:tr h="23317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App</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Forecast</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80% interval</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last 4 wks</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Flipkart</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1,830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1,596 – 2,056</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Blinkit</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1,711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1,488 – 1,929</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Swiggy</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1,037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889 – 1,180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Zomato</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977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811 – 1,151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Meesho</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737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676 – 801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Amazon</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714</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642 – 786</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Domino's</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413</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327 – 495</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Myntra</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371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318 – 424</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PhonePe</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348</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270 – 431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Google Pay</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192</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105 – 310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Paytm</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136</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75 – 205</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93A39"/>
                          </a:solidFill>
                          <a:latin typeface="Calibri" pitchFamily="34" charset="0"/>
                          <a:ea typeface="Calibri" pitchFamily="34" charset="-122"/>
                          <a:cs typeface="Calibri" pitchFamily="34" charset="-120"/>
                        </a:rPr>
                        <a:t>−61% (unreliable)</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7  |  INTERACTIVE DASHBOARD (2 OF 4)</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Dashboard: Text-Mining Page</a:t>
            </a:r>
            <a:endParaRPr lang="en-US" sz="2800" dirty="0"/>
          </a:p>
        </p:txBody>
      </p:sp>
      <p:sp>
        <p:nvSpPr>
          <p:cNvPr id="4" name="Shape 2"/>
          <p:cNvSpPr/>
          <p:nvPr/>
        </p:nvSpPr>
        <p:spPr>
          <a:xfrm>
            <a:off x="621792" y="1399032"/>
            <a:ext cx="5966629" cy="4745736"/>
          </a:xfrm>
          <a:prstGeom prst="rect">
            <a:avLst/>
          </a:prstGeom>
          <a:solidFill>
            <a:schemeClr val="bg1"/>
          </a:solidFill>
          <a:ln w="12700">
            <a:solidFill>
              <a:srgbClr val="E3E8EF"/>
            </a:solidFill>
            <a:prstDash val="solid"/>
          </a:ln>
        </p:spPr>
      </p:sp>
      <p:pic>
        <p:nvPicPr>
          <p:cNvPr id="5" name="Image 0" descr="dash_text_mining.png">    </p:cNvPr>
          <p:cNvPicPr>
            <a:picLocks noChangeAspect="1"/>
          </p:cNvPicPr>
          <p:nvPr/>
        </p:nvPicPr>
        <p:blipFill>
          <a:blip r:embed="rId1"/>
          <a:stretch>
            <a:fillRect/>
          </a:stretch>
        </p:blipFill>
        <p:spPr>
          <a:xfrm>
            <a:off x="640080" y="1417320"/>
            <a:ext cx="5930053" cy="4709160"/>
          </a:xfrm>
          <a:prstGeom prst="rect">
            <a:avLst/>
          </a:prstGeom>
        </p:spPr>
      </p:pic>
      <p:sp>
        <p:nvSpPr>
          <p:cNvPr id="6" name="page"/>
          <p:cNvSpPr/>
          <p:nvPr/>
        </p:nvSpPr>
        <p:spPr>
          <a:xfrm>
            <a:off x="6844453" y="1417320"/>
            <a:ext cx="4707162" cy="4709160"/>
          </a:xfrm>
          <a:prstGeom prst="roundRect">
            <a:avLst>
              <a:gd name="adj" fmla="val 116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7073053" y="1536192"/>
            <a:ext cx="4249962"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What a manager can do here</a:t>
            </a:r>
            <a:endParaRPr lang="en-US" sz="1500" dirty="0"/>
          </a:p>
        </p:txBody>
      </p:sp>
      <p:sp>
        <p:nvSpPr>
          <p:cNvPr id="8" name="Shape 5"/>
          <p:cNvSpPr/>
          <p:nvPr/>
        </p:nvSpPr>
        <p:spPr>
          <a:xfrm>
            <a:off x="7073053" y="1993392"/>
            <a:ext cx="310896" cy="310896"/>
          </a:xfrm>
          <a:prstGeom prst="ellipse">
            <a:avLst/>
          </a:prstGeom>
          <a:solidFill>
            <a:schemeClr val="accent1"/>
          </a:solidFill>
          <a:ln w="12700">
            <a:solidFill>
              <a:schemeClr val="accent1"/>
            </a:solidFill>
            <a:prstDash val="solid"/>
          </a:ln>
        </p:spPr>
      </p:sp>
      <p:sp>
        <p:nvSpPr>
          <p:cNvPr id="9" name="Text 6"/>
          <p:cNvSpPr txBox="1"/>
          <p:nvPr/>
        </p:nvSpPr>
        <p:spPr>
          <a:xfrm>
            <a:off x="7073053" y="1993392"/>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7502821" y="1965960"/>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Topic explorer: </a:t>
            </a:r>
            <a:pPr indent="0" marL="0">
              <a:lnSpc>
                <a:spcPct val="100000"/>
              </a:lnSpc>
              <a:spcAft>
                <a:spcPts val="600"/>
              </a:spcAft>
              <a:buNone/>
            </a:pPr>
            <a:r>
              <a:rPr lang="en-US" sz="1200" dirty="0">
                <a:solidFill>
                  <a:schemeClr val="tx1"/>
                </a:solidFill>
              </a:rPr>
              <a:t>pick a domain and a topic: its share, top terms, sentiment and real example reviews (189 readable examples, 3 per topic and app)</a:t>
            </a:r>
            <a:endParaRPr lang="en-US" sz="1200" dirty="0"/>
          </a:p>
        </p:txBody>
      </p:sp>
      <p:sp>
        <p:nvSpPr>
          <p:cNvPr id="11" name="Shape 8"/>
          <p:cNvSpPr/>
          <p:nvPr/>
        </p:nvSpPr>
        <p:spPr>
          <a:xfrm>
            <a:off x="7073053" y="2798064"/>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7073053" y="2798064"/>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0"/>
          <p:cNvSpPr txBox="1"/>
          <p:nvPr/>
        </p:nvSpPr>
        <p:spPr>
          <a:xfrm>
            <a:off x="7502821" y="2770632"/>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Keyword-tag overlap: </a:t>
            </a:r>
            <a:pPr indent="0" marL="0">
              <a:lnSpc>
                <a:spcPct val="100000"/>
              </a:lnSpc>
              <a:spcAft>
                <a:spcPts val="600"/>
              </a:spcAft>
              <a:buNone/>
            </a:pPr>
            <a:r>
              <a:rPr lang="en-US" sz="1200" dirty="0">
                <a:solidFill>
                  <a:schemeClr val="tx1"/>
                </a:solidFill>
              </a:rPr>
              <a:t>which keyword tags the topic's reviews carry, and how many carry none</a:t>
            </a:r>
            <a:endParaRPr lang="en-US" sz="1200" dirty="0"/>
          </a:p>
        </p:txBody>
      </p:sp>
      <p:sp>
        <p:nvSpPr>
          <p:cNvPr id="14" name="Shape 11"/>
          <p:cNvSpPr/>
          <p:nvPr/>
        </p:nvSpPr>
        <p:spPr>
          <a:xfrm>
            <a:off x="7073053" y="3602736"/>
            <a:ext cx="310896" cy="310896"/>
          </a:xfrm>
          <a:prstGeom prst="ellipse">
            <a:avLst/>
          </a:prstGeom>
          <a:solidFill>
            <a:schemeClr val="accent1"/>
          </a:solidFill>
          <a:ln w="12700">
            <a:solidFill>
              <a:schemeClr val="accent1"/>
            </a:solidFill>
            <a:prstDash val="solid"/>
          </a:ln>
        </p:spPr>
      </p:sp>
      <p:sp>
        <p:nvSpPr>
          <p:cNvPr id="15" name="Text 12"/>
          <p:cNvSpPr txBox="1"/>
          <p:nvPr/>
        </p:nvSpPr>
        <p:spPr>
          <a:xfrm>
            <a:off x="7073053" y="3602736"/>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3"/>
          <p:cNvSpPr txBox="1"/>
          <p:nvPr/>
        </p:nvSpPr>
        <p:spPr>
          <a:xfrm>
            <a:off x="7502821" y="3575304"/>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Topics by app: </a:t>
            </a:r>
            <a:pPr indent="0" marL="0">
              <a:lnSpc>
                <a:spcPct val="100000"/>
              </a:lnSpc>
              <a:spcAft>
                <a:spcPts val="600"/>
              </a:spcAft>
              <a:buNone/>
            </a:pPr>
            <a:r>
              <a:rPr lang="en-US" sz="1200" dirty="0">
                <a:solidFill>
                  <a:schemeClr val="tx1"/>
                </a:solidFill>
              </a:rPr>
              <a:t>heatmap of each topic's share, or its share of strongly negative reviews</a:t>
            </a:r>
            <a:endParaRPr lang="en-US" sz="1200" dirty="0"/>
          </a:p>
        </p:txBody>
      </p:sp>
      <p:sp>
        <p:nvSpPr>
          <p:cNvPr id="17" name="Shape 14"/>
          <p:cNvSpPr/>
          <p:nvPr/>
        </p:nvSpPr>
        <p:spPr>
          <a:xfrm>
            <a:off x="7073053" y="4407408"/>
            <a:ext cx="310896" cy="310896"/>
          </a:xfrm>
          <a:prstGeom prst="ellipse">
            <a:avLst/>
          </a:prstGeom>
          <a:solidFill>
            <a:schemeClr val="accent1"/>
          </a:solidFill>
          <a:ln w="12700">
            <a:solidFill>
              <a:schemeClr val="accent1"/>
            </a:solidFill>
            <a:prstDash val="solid"/>
          </a:ln>
        </p:spPr>
      </p:sp>
      <p:sp>
        <p:nvSpPr>
          <p:cNvPr id="18" name="Text 15"/>
          <p:cNvSpPr txBox="1"/>
          <p:nvPr/>
        </p:nvSpPr>
        <p:spPr>
          <a:xfrm>
            <a:off x="7073053" y="440740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9" name="Text 16"/>
          <p:cNvSpPr txBox="1"/>
          <p:nvPr/>
        </p:nvSpPr>
        <p:spPr>
          <a:xfrm>
            <a:off x="7502821" y="4379976"/>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Topic share over time: </a:t>
            </a:r>
            <a:pPr indent="0" marL="0">
              <a:lnSpc>
                <a:spcPct val="100000"/>
              </a:lnSpc>
              <a:spcAft>
                <a:spcPts val="600"/>
              </a:spcAft>
              <a:buNone/>
            </a:pPr>
            <a:r>
              <a:rPr lang="en-US" sz="1200" dirty="0">
                <a:solidFill>
                  <a:schemeClr val="tx1"/>
                </a:solidFill>
              </a:rPr>
              <a:t>monthly trend, following the date filter</a:t>
            </a:r>
            <a:endParaRPr lang="en-US" sz="1200" dirty="0"/>
          </a:p>
        </p:txBody>
      </p:sp>
      <p:sp>
        <p:nvSpPr>
          <p:cNvPr id="20" name="Shape 17"/>
          <p:cNvSpPr/>
          <p:nvPr/>
        </p:nvSpPr>
        <p:spPr>
          <a:xfrm>
            <a:off x="7073053" y="5212080"/>
            <a:ext cx="310896" cy="310896"/>
          </a:xfrm>
          <a:prstGeom prst="ellipse">
            <a:avLst/>
          </a:prstGeom>
          <a:solidFill>
            <a:schemeClr val="accent1"/>
          </a:solidFill>
          <a:ln w="12700">
            <a:solidFill>
              <a:schemeClr val="accent1"/>
            </a:solidFill>
            <a:prstDash val="solid"/>
          </a:ln>
        </p:spPr>
      </p:sp>
      <p:sp>
        <p:nvSpPr>
          <p:cNvPr id="21" name="Text 18"/>
          <p:cNvSpPr txBox="1"/>
          <p:nvPr/>
        </p:nvSpPr>
        <p:spPr>
          <a:xfrm>
            <a:off x="7073053" y="5212080"/>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2" name="Text 19"/>
          <p:cNvSpPr txBox="1"/>
          <p:nvPr/>
        </p:nvSpPr>
        <p:spPr>
          <a:xfrm>
            <a:off x="7502821" y="5184648"/>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Distinctive terms: </a:t>
            </a:r>
            <a:pPr indent="0" marL="0">
              <a:lnSpc>
                <a:spcPct val="100000"/>
              </a:lnSpc>
              <a:spcAft>
                <a:spcPts val="600"/>
              </a:spcAft>
              <a:buNone/>
            </a:pPr>
            <a:r>
              <a:rPr lang="en-US" sz="1200" dirty="0">
                <a:solidFill>
                  <a:schemeClr val="tx1"/>
                </a:solidFill>
              </a:rPr>
              <a:t>the words that set one app apart from its domain</a:t>
            </a:r>
            <a:endParaRPr lang="en-US" sz="12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8  |  METHOD 2, TIME SERIES: EVALUATION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Forecast Evaluation: Accuracy, Intervals and Residuals</a:t>
            </a:r>
            <a:endParaRPr lang="en-US" sz="2800" dirty="0"/>
          </a:p>
        </p:txBody>
      </p:sp>
      <p:sp>
        <p:nvSpPr>
          <p:cNvPr id="4" name="accuracy"/>
          <p:cNvSpPr/>
          <p:nvPr/>
        </p:nvSpPr>
        <p:spPr>
          <a:xfrm>
            <a:off x="640080" y="1417320"/>
            <a:ext cx="5394960" cy="2148840"/>
          </a:xfrm>
          <a:prstGeom prst="roundRect">
            <a:avLst>
              <a:gd name="adj" fmla="val 255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22960" y="1481328"/>
            <a:ext cx="5029200" cy="310896"/>
          </a:xfrm>
          <a:prstGeom prst="rect">
            <a:avLst/>
          </a:prstGeom>
          <a:noFill/>
          <a:ln/>
        </p:spPr>
        <p:txBody>
          <a:bodyPr wrap="square" lIns="0" tIns="0" rIns="0" bIns="0" rtlCol="0" anchor="ctr">
            <a:normAutofit/>
          </a:bodyPr>
          <a:lstStyle/>
          <a:p>
            <a:pPr indent="0" marL="0">
              <a:buNone/>
            </a:pPr>
            <a:r>
              <a:rPr lang="en-US" sz="1400" b="1" dirty="0">
                <a:solidFill>
                  <a:schemeClr val="tx2"/>
                </a:solidFill>
              </a:rPr>
              <a:t>Accuracy over the backtest (mean of 11 apps)</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2960" y="1847088"/>
          <a:ext cx="5029200" cy="914400"/>
        </p:xfrm>
        <a:graphic>
          <a:graphicData uri="http://schemas.openxmlformats.org/drawingml/2006/table">
            <a:tbl>
              <a:tblPr/>
              <a:tblGrid>
                <a:gridCol w="1325880"/>
                <a:gridCol w="731520"/>
                <a:gridCol w="731520"/>
                <a:gridCol w="731520"/>
                <a:gridCol w="1508760"/>
              </a:tblGrid>
              <a:tr h="29260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MAE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RMSE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MASE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Beats naive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92608">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ARIMA</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D3D"/>
                          </a:solidFill>
                          <a:latin typeface="Calibri" pitchFamily="34" charset="0"/>
                          <a:ea typeface="Calibri" pitchFamily="34" charset="-122"/>
                          <a:cs typeface="Calibri" pitchFamily="34" charset="-120"/>
                        </a:rPr>
                        <a:t>17.95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D3D"/>
                          </a:solidFill>
                          <a:latin typeface="Calibri" pitchFamily="34" charset="0"/>
                          <a:ea typeface="Calibri" pitchFamily="34" charset="-122"/>
                          <a:cs typeface="Calibri" pitchFamily="34" charset="-120"/>
                        </a:rPr>
                        <a:t>24.95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BAF7A"/>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10 of 11 apps</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Holt-Winters</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19.14</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26.66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0.93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92608">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Seasonal naive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21.98</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31.07</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822960" y="3090672"/>
            <a:ext cx="5029200" cy="365760"/>
          </a:xfrm>
          <a:prstGeom prst="rect">
            <a:avLst/>
          </a:prstGeom>
          <a:noFill/>
          <a:ln/>
        </p:spPr>
        <p:txBody>
          <a:bodyPr wrap="square" lIns="0" tIns="0" rIns="0" bIns="0" rtlCol="0" anchor="t"/>
          <a:lstStyle/>
          <a:p>
            <a:pPr indent="0" marL="0">
              <a:buNone/>
            </a:pPr>
            <a:r>
              <a:rPr lang="en-US" sz="1050" i="1" dirty="0">
                <a:solidFill>
                  <a:schemeClr val="accent6"/>
                </a:solidFill>
              </a:rPr>
              <a:t>MASE below 1 = more accurate than a seasonal-naive forecast on the training data.</a:t>
            </a:r>
            <a:endParaRPr lang="en-US" sz="1050" dirty="0"/>
          </a:p>
        </p:txBody>
      </p:sp>
      <p:sp>
        <p:nvSpPr>
          <p:cNvPr id="8" name="coverage stat"/>
          <p:cNvSpPr/>
          <p:nvPr/>
        </p:nvSpPr>
        <p:spPr>
          <a:xfrm>
            <a:off x="640080" y="3703320"/>
            <a:ext cx="2606040"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9" name="Text 6"/>
          <p:cNvSpPr txBox="1"/>
          <p:nvPr/>
        </p:nvSpPr>
        <p:spPr>
          <a:xfrm>
            <a:off x="822960" y="3749040"/>
            <a:ext cx="2240280" cy="566928"/>
          </a:xfrm>
          <a:prstGeom prst="rect">
            <a:avLst/>
          </a:prstGeom>
          <a:noFill/>
          <a:ln/>
        </p:spPr>
        <p:txBody>
          <a:bodyPr wrap="square" lIns="0" tIns="0" rIns="0" bIns="0" rtlCol="0" anchor="b"/>
          <a:lstStyle/>
          <a:p>
            <a:pPr indent="0" marL="0">
              <a:buNone/>
            </a:pPr>
            <a:r>
              <a:rPr lang="en-US" sz="2600" b="1" dirty="0">
                <a:solidFill>
                  <a:schemeClr val="accent1"/>
                </a:solidFill>
                <a:latin typeface="Calibri" pitchFamily="34" charset="0"/>
                <a:ea typeface="Calibri" pitchFamily="34" charset="-122"/>
                <a:cs typeface="Calibri" pitchFamily="34" charset="-120"/>
              </a:rPr>
              <a:t>81% / 93%</a:t>
            </a:r>
            <a:endParaRPr lang="en-US" sz="2600" dirty="0"/>
          </a:p>
        </p:txBody>
      </p:sp>
      <p:sp>
        <p:nvSpPr>
          <p:cNvPr id="10" name="Text 7"/>
          <p:cNvSpPr txBox="1"/>
          <p:nvPr/>
        </p:nvSpPr>
        <p:spPr>
          <a:xfrm>
            <a:off x="822960" y="4343400"/>
            <a:ext cx="2240280" cy="1005840"/>
          </a:xfrm>
          <a:prstGeom prst="rect">
            <a:avLst/>
          </a:prstGeom>
          <a:noFill/>
          <a:ln/>
        </p:spPr>
        <p:txBody>
          <a:bodyPr wrap="square" lIns="0" tIns="0" rIns="0" bIns="0" rtlCol="0" anchor="t"/>
          <a:lstStyle/>
          <a:p>
            <a:pPr indent="0" marL="0">
              <a:buNone/>
            </a:pPr>
            <a:r>
              <a:rPr lang="en-US" sz="1150" dirty="0">
                <a:solidFill>
                  <a:schemeClr val="tx1"/>
                </a:solidFill>
              </a:rPr>
              <a:t>of 2,772 forecasts fell inside the 80% / 95% intervals: close to nominal, 95% slightly narrow</a:t>
            </a:r>
            <a:endParaRPr lang="en-US" sz="1150" dirty="0"/>
          </a:p>
        </p:txBody>
      </p:sp>
      <p:sp>
        <p:nvSpPr>
          <p:cNvPr id="11" name="Text 8"/>
          <p:cNvSpPr txBox="1"/>
          <p:nvPr/>
        </p:nvSpPr>
        <p:spPr>
          <a:xfrm>
            <a:off x="822960" y="5166360"/>
            <a:ext cx="2240280" cy="914400"/>
          </a:xfrm>
          <a:prstGeom prst="rect">
            <a:avLst/>
          </a:prstGeom>
          <a:noFill/>
          <a:ln/>
        </p:spPr>
        <p:txBody>
          <a:bodyPr wrap="square" lIns="0" tIns="0" rIns="0" bIns="0" rtlCol="0" anchor="t">
            <a:normAutofit/>
          </a:bodyPr>
          <a:lstStyle/>
          <a:p>
            <a:pPr indent="0" marL="0">
              <a:lnSpc>
                <a:spcPct val="100000"/>
              </a:lnSpc>
              <a:spcAft>
                <a:spcPts val="600"/>
              </a:spcAft>
              <a:buNone/>
            </a:pPr>
            <a:r>
              <a:rPr lang="en-US" sz="1050" dirty="0">
                <a:solidFill>
                  <a:schemeClr val="accent6"/>
                </a:solidFill>
              </a:rPr>
              <a:t>Rolling windows overlap, so this is a descriptive check, not an independent test.</a:t>
            </a:r>
            <a:endParaRPr lang="en-US" sz="1050" dirty="0"/>
          </a:p>
        </p:txBody>
      </p:sp>
      <p:sp>
        <p:nvSpPr>
          <p:cNvPr id="12" name="residual stat"/>
          <p:cNvSpPr/>
          <p:nvPr/>
        </p:nvSpPr>
        <p:spPr>
          <a:xfrm>
            <a:off x="3429000" y="3703320"/>
            <a:ext cx="2606040"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Text 10"/>
          <p:cNvSpPr txBox="1"/>
          <p:nvPr/>
        </p:nvSpPr>
        <p:spPr>
          <a:xfrm>
            <a:off x="3611880" y="3749040"/>
            <a:ext cx="2240280" cy="566928"/>
          </a:xfrm>
          <a:prstGeom prst="rect">
            <a:avLst/>
          </a:prstGeom>
          <a:noFill/>
          <a:ln/>
        </p:spPr>
        <p:txBody>
          <a:bodyPr wrap="square" lIns="0" tIns="0" rIns="0" bIns="0" rtlCol="0" anchor="b"/>
          <a:lstStyle/>
          <a:p>
            <a:pPr indent="0" marL="0">
              <a:buNone/>
            </a:pPr>
            <a:r>
              <a:rPr lang="en-US" sz="2600" b="1" dirty="0">
                <a:solidFill>
                  <a:schemeClr val="accent3"/>
                </a:solidFill>
                <a:latin typeface="Calibri" pitchFamily="34" charset="0"/>
                <a:ea typeface="Calibri" pitchFamily="34" charset="-122"/>
                <a:cs typeface="Calibri" pitchFamily="34" charset="-120"/>
              </a:rPr>
              <a:t>11 / 11</a:t>
            </a:r>
            <a:endParaRPr lang="en-US" sz="2600" dirty="0"/>
          </a:p>
        </p:txBody>
      </p:sp>
      <p:sp>
        <p:nvSpPr>
          <p:cNvPr id="14" name="Text 11"/>
          <p:cNvSpPr txBox="1"/>
          <p:nvPr/>
        </p:nvSpPr>
        <p:spPr>
          <a:xfrm>
            <a:off x="3611880" y="4343400"/>
            <a:ext cx="2240280" cy="1005840"/>
          </a:xfrm>
          <a:prstGeom prst="rect">
            <a:avLst/>
          </a:prstGeom>
          <a:noFill/>
          <a:ln/>
        </p:spPr>
        <p:txBody>
          <a:bodyPr wrap="square" lIns="0" tIns="0" rIns="0" bIns="0" rtlCol="0" anchor="t"/>
          <a:lstStyle/>
          <a:p>
            <a:pPr indent="0" marL="0">
              <a:buNone/>
            </a:pPr>
            <a:r>
              <a:rPr lang="en-US" sz="1150" dirty="0">
                <a:solidFill>
                  <a:schemeClr val="tx1"/>
                </a:solidFill>
              </a:rPr>
              <a:t>apps pass the Ljung–Box test at lag 14 (p &gt; 0.05): no autocorrelation left in the residuals</a:t>
            </a:r>
            <a:endParaRPr lang="en-US" sz="1150" dirty="0"/>
          </a:p>
        </p:txBody>
      </p:sp>
      <p:sp>
        <p:nvSpPr>
          <p:cNvPr id="15" name="Text 12"/>
          <p:cNvSpPr txBox="1"/>
          <p:nvPr/>
        </p:nvSpPr>
        <p:spPr>
          <a:xfrm>
            <a:off x="3611880" y="5166360"/>
            <a:ext cx="2240280" cy="914400"/>
          </a:xfrm>
          <a:prstGeom prst="rect">
            <a:avLst/>
          </a:prstGeom>
          <a:noFill/>
          <a:ln/>
        </p:spPr>
        <p:txBody>
          <a:bodyPr wrap="square" lIns="0" tIns="0" rIns="0" bIns="0" rtlCol="0" anchor="t">
            <a:normAutofit/>
          </a:bodyPr>
          <a:lstStyle/>
          <a:p>
            <a:pPr indent="0" marL="0">
              <a:lnSpc>
                <a:spcPct val="100000"/>
              </a:lnSpc>
              <a:spcAft>
                <a:spcPts val="600"/>
              </a:spcAft>
              <a:buNone/>
            </a:pPr>
            <a:r>
              <a:rPr lang="en-US" sz="1050" dirty="0">
                <a:solidFill>
                  <a:schemeClr val="accent6"/>
                </a:solidFill>
              </a:rPr>
              <a:t>Passing does not prove the residuals are random; it finds no pattern at that lag.</a:t>
            </a:r>
            <a:endParaRPr lang="en-US" sz="1050" dirty="0"/>
          </a:p>
        </p:txBody>
      </p:sp>
      <p:sp>
        <p:nvSpPr>
          <p:cNvPr id="16" name="coverage chart"/>
          <p:cNvSpPr/>
          <p:nvPr/>
        </p:nvSpPr>
        <p:spPr>
          <a:xfrm>
            <a:off x="6217920" y="1417320"/>
            <a:ext cx="5333695"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graphicFrame>
        <p:nvGraphicFramePr>
          <p:cNvPr id="17" name="Chart 0" descr=""/>
          <p:cNvGraphicFramePr/>
          <p:nvPr/>
        </p:nvGraphicFramePr>
        <p:xfrm>
          <a:off x="6309360" y="1463040"/>
          <a:ext cx="5150815" cy="4617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8  |  METHOD 2, TIME SERIES: INTERPRETATION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Unusual Days, and Which Apps Can Be Predicted</a:t>
            </a:r>
            <a:endParaRPr lang="en-US" sz="2800" dirty="0"/>
          </a:p>
        </p:txBody>
      </p:sp>
      <p:sp>
        <p:nvSpPr>
          <p:cNvPr id="4" name="unusual chart"/>
          <p:cNvSpPr/>
          <p:nvPr/>
        </p:nvSpPr>
        <p:spPr>
          <a:xfrm>
            <a:off x="640080" y="1417320"/>
            <a:ext cx="5120640"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graphicFrame>
        <p:nvGraphicFramePr>
          <p:cNvPr id="5" name="Chart 0" descr=""/>
          <p:cNvGraphicFramePr/>
          <p:nvPr/>
        </p:nvGraphicFramePr>
        <p:xfrm>
          <a:off x="731520" y="1463040"/>
          <a:ext cx="4937760" cy="4617720"/>
        </p:xfrm>
        <a:graphic xmlns:a="http://schemas.openxmlformats.org/drawingml/2006/main">
          <a:graphicData uri="http://schemas.openxmlformats.org/drawingml/2006/chart">
            <c:chart xmlns:c="http://schemas.openxmlformats.org/drawingml/2006/chart" r:id="rId1"/>
          </a:graphicData>
        </a:graphic>
      </p:graphicFrame>
      <p:sp>
        <p:nvSpPr>
          <p:cNvPr id="6" name="Alerts"/>
          <p:cNvSpPr/>
          <p:nvPr/>
        </p:nvSpPr>
        <p:spPr>
          <a:xfrm>
            <a:off x="5943600" y="1417320"/>
            <a:ext cx="5608015" cy="1298448"/>
          </a:xfrm>
          <a:prstGeom prst="roundRect">
            <a:avLst>
              <a:gd name="adj" fmla="val 422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Shape 4"/>
          <p:cNvSpPr/>
          <p:nvPr/>
        </p:nvSpPr>
        <p:spPr>
          <a:xfrm>
            <a:off x="5943600" y="1527048"/>
            <a:ext cx="64008" cy="1078992"/>
          </a:xfrm>
          <a:prstGeom prst="rect">
            <a:avLst/>
          </a:prstGeom>
          <a:solidFill>
            <a:schemeClr val="accent5"/>
          </a:solidFill>
          <a:ln w="12700">
            <a:solidFill>
              <a:schemeClr val="accent5"/>
            </a:solidFill>
            <a:prstDash val="solid"/>
          </a:ln>
        </p:spPr>
      </p:sp>
      <p:sp>
        <p:nvSpPr>
          <p:cNvPr id="8" name="Text 5"/>
          <p:cNvSpPr txBox="1"/>
          <p:nvPr/>
        </p:nvSpPr>
        <p:spPr>
          <a:xfrm>
            <a:off x="6172200" y="1463040"/>
            <a:ext cx="524225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Alerts</a:t>
            </a:r>
            <a:endParaRPr lang="en-US" sz="1350" dirty="0"/>
          </a:p>
        </p:txBody>
      </p:sp>
      <p:sp>
        <p:nvSpPr>
          <p:cNvPr id="9" name="Text 6"/>
          <p:cNvSpPr txBox="1"/>
          <p:nvPr/>
        </p:nvSpPr>
        <p:spPr>
          <a:xfrm>
            <a:off x="6172200" y="1773936"/>
            <a:ext cx="5242255" cy="905256"/>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A day is flagged when its count falls outside the 95% interval: 201 flagged forecasts = 83 distinct days (67 above, 16 below). Largest: Swiggy 24 Jul, 469 vs 157 expected; Flipkart 4 Jul, 451 vs 264.</a:t>
            </a:r>
            <a:endParaRPr lang="en-US" sz="1150" dirty="0"/>
          </a:p>
        </p:txBody>
      </p:sp>
      <p:sp>
        <p:nvSpPr>
          <p:cNvPr id="10" name="Predictable: the food apps"/>
          <p:cNvSpPr/>
          <p:nvPr/>
        </p:nvSpPr>
        <p:spPr>
          <a:xfrm>
            <a:off x="5943600" y="2825496"/>
            <a:ext cx="5608015" cy="914400"/>
          </a:xfrm>
          <a:prstGeom prst="roundRect">
            <a:avLst>
              <a:gd name="adj" fmla="val 60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1" name="Shape 8"/>
          <p:cNvSpPr/>
          <p:nvPr/>
        </p:nvSpPr>
        <p:spPr>
          <a:xfrm>
            <a:off x="5943600" y="2935224"/>
            <a:ext cx="64008" cy="694944"/>
          </a:xfrm>
          <a:prstGeom prst="rect">
            <a:avLst/>
          </a:prstGeom>
          <a:solidFill>
            <a:schemeClr val="accent3"/>
          </a:solidFill>
          <a:ln w="12700">
            <a:solidFill>
              <a:schemeClr val="accent3"/>
            </a:solidFill>
            <a:prstDash val="solid"/>
          </a:ln>
        </p:spPr>
      </p:sp>
      <p:sp>
        <p:nvSpPr>
          <p:cNvPr id="12" name="Text 9"/>
          <p:cNvSpPr txBox="1"/>
          <p:nvPr/>
        </p:nvSpPr>
        <p:spPr>
          <a:xfrm>
            <a:off x="6172200" y="2871216"/>
            <a:ext cx="524225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Predictable: the food apps</a:t>
            </a:r>
            <a:endParaRPr lang="en-US" sz="1350" dirty="0"/>
          </a:p>
        </p:txBody>
      </p:sp>
      <p:sp>
        <p:nvSpPr>
          <p:cNvPr id="13" name="Text 10"/>
          <p:cNvSpPr txBox="1"/>
          <p:nvPr/>
        </p:nvSpPr>
        <p:spPr>
          <a:xfrm>
            <a:off x="6172200" y="3182112"/>
            <a:ext cx="5242255" cy="521208"/>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A steady weekly rhythm. Zomato's and Blinkit's 95% intervals hold 99% and 97% of days.</a:t>
            </a:r>
            <a:endParaRPr lang="en-US" sz="1150" dirty="0"/>
          </a:p>
        </p:txBody>
      </p:sp>
      <p:sp>
        <p:nvSpPr>
          <p:cNvPr id="14" name="Hard: shopping apps with level shifts"/>
          <p:cNvSpPr/>
          <p:nvPr/>
        </p:nvSpPr>
        <p:spPr>
          <a:xfrm>
            <a:off x="5943600" y="3849624"/>
            <a:ext cx="5608015" cy="100584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2"/>
          <p:cNvSpPr/>
          <p:nvPr/>
        </p:nvSpPr>
        <p:spPr>
          <a:xfrm>
            <a:off x="5943600" y="3959352"/>
            <a:ext cx="64008" cy="786384"/>
          </a:xfrm>
          <a:prstGeom prst="rect">
            <a:avLst/>
          </a:prstGeom>
          <a:solidFill>
            <a:schemeClr val="accent4"/>
          </a:solidFill>
          <a:ln w="12700">
            <a:solidFill>
              <a:schemeClr val="accent4"/>
            </a:solidFill>
            <a:prstDash val="solid"/>
          </a:ln>
        </p:spPr>
      </p:sp>
      <p:sp>
        <p:nvSpPr>
          <p:cNvPr id="16" name="Text 13"/>
          <p:cNvSpPr txBox="1"/>
          <p:nvPr/>
        </p:nvSpPr>
        <p:spPr>
          <a:xfrm>
            <a:off x="6172200" y="3895344"/>
            <a:ext cx="524225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Hard: shopping apps with level shifts</a:t>
            </a:r>
            <a:endParaRPr lang="en-US" sz="1350" dirty="0"/>
          </a:p>
        </p:txBody>
      </p:sp>
      <p:sp>
        <p:nvSpPr>
          <p:cNvPr id="17" name="Text 14"/>
          <p:cNvSpPr txBox="1"/>
          <p:nvPr/>
        </p:nvSpPr>
        <p:spPr>
          <a:xfrm>
            <a:off x="6172200" y="4206240"/>
            <a:ext cx="5242255" cy="612648"/>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Flipkart, Amazon, Meesho, Myntra: the 80% interval holds only 64–71% of days, and they have the most alerts.</a:t>
            </a:r>
            <a:endParaRPr lang="en-US" sz="1150" dirty="0"/>
          </a:p>
        </p:txBody>
      </p:sp>
      <p:sp>
        <p:nvSpPr>
          <p:cNvPr id="18" name="Use with care: Google Pay and Paytm"/>
          <p:cNvSpPr/>
          <p:nvPr/>
        </p:nvSpPr>
        <p:spPr>
          <a:xfrm>
            <a:off x="5943600" y="4965192"/>
            <a:ext cx="5608015" cy="100584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9" name="Shape 16"/>
          <p:cNvSpPr/>
          <p:nvPr/>
        </p:nvSpPr>
        <p:spPr>
          <a:xfrm>
            <a:off x="5943600" y="5074920"/>
            <a:ext cx="64008" cy="786384"/>
          </a:xfrm>
          <a:prstGeom prst="rect">
            <a:avLst/>
          </a:prstGeom>
          <a:solidFill>
            <a:schemeClr val="accent2"/>
          </a:solidFill>
          <a:ln w="12700">
            <a:solidFill>
              <a:schemeClr val="accent2"/>
            </a:solidFill>
            <a:prstDash val="solid"/>
          </a:ln>
        </p:spPr>
      </p:sp>
      <p:sp>
        <p:nvSpPr>
          <p:cNvPr id="20" name="Text 17"/>
          <p:cNvSpPr txBox="1"/>
          <p:nvPr/>
        </p:nvSpPr>
        <p:spPr>
          <a:xfrm>
            <a:off x="6172200" y="5010912"/>
            <a:ext cx="524225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Use with care: Google Pay and Paytm</a:t>
            </a:r>
            <a:endParaRPr lang="en-US" sz="1350" dirty="0"/>
          </a:p>
        </p:txBody>
      </p:sp>
      <p:sp>
        <p:nvSpPr>
          <p:cNvPr id="21" name="Text 18"/>
          <p:cNvSpPr txBox="1"/>
          <p:nvPr/>
        </p:nvSpPr>
        <p:spPr>
          <a:xfrm>
            <a:off x="6172200" y="5321808"/>
            <a:ext cx="5242255" cy="612648"/>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Google Pay is low and noisy (the baseline wins). Paytm jumped to about 80 a day in September, so its week-1 forecast (−61%) is not reliable.</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9  |  INTERACTIVE DASHBOARD (3 OF 4)</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Dashboard: Check a Review</a:t>
            </a:r>
            <a:endParaRPr lang="en-US" sz="2800" dirty="0"/>
          </a:p>
        </p:txBody>
      </p:sp>
      <p:sp>
        <p:nvSpPr>
          <p:cNvPr id="4" name="Shape 2"/>
          <p:cNvSpPr/>
          <p:nvPr/>
        </p:nvSpPr>
        <p:spPr>
          <a:xfrm>
            <a:off x="621792" y="1399032"/>
            <a:ext cx="4414623" cy="4745736"/>
          </a:xfrm>
          <a:prstGeom prst="rect">
            <a:avLst/>
          </a:prstGeom>
          <a:solidFill>
            <a:schemeClr val="bg1"/>
          </a:solidFill>
          <a:ln w="12700">
            <a:solidFill>
              <a:srgbClr val="E3E8EF"/>
            </a:solidFill>
            <a:prstDash val="solid"/>
          </a:ln>
        </p:spPr>
      </p:sp>
      <p:pic>
        <p:nvPicPr>
          <p:cNvPr id="5" name="Image 0" descr="dash_check_review.png">    </p:cNvPr>
          <p:cNvPicPr>
            <a:picLocks noChangeAspect="1"/>
          </p:cNvPicPr>
          <p:nvPr/>
        </p:nvPicPr>
        <p:blipFill>
          <a:blip r:embed="rId1"/>
          <a:stretch>
            <a:fillRect/>
          </a:stretch>
        </p:blipFill>
        <p:spPr>
          <a:xfrm>
            <a:off x="640080" y="1417320"/>
            <a:ext cx="4378047" cy="4709160"/>
          </a:xfrm>
          <a:prstGeom prst="rect">
            <a:avLst/>
          </a:prstGeom>
        </p:spPr>
      </p:pic>
      <p:sp>
        <p:nvSpPr>
          <p:cNvPr id="6" name="how"/>
          <p:cNvSpPr/>
          <p:nvPr/>
        </p:nvSpPr>
        <p:spPr>
          <a:xfrm>
            <a:off x="5292447" y="1417320"/>
            <a:ext cx="6259168" cy="2788920"/>
          </a:xfrm>
          <a:prstGeom prst="roundRect">
            <a:avLst>
              <a:gd name="adj" fmla="val 196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5521047" y="1536192"/>
            <a:ext cx="580196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Paste any review and get four answers</a:t>
            </a:r>
            <a:endParaRPr lang="en-US" sz="1500" dirty="0"/>
          </a:p>
        </p:txBody>
      </p:sp>
      <p:sp>
        <p:nvSpPr>
          <p:cNvPr id="8" name="Shape 5"/>
          <p:cNvSpPr/>
          <p:nvPr/>
        </p:nvSpPr>
        <p:spPr>
          <a:xfrm>
            <a:off x="5521047" y="1984248"/>
            <a:ext cx="310896" cy="310896"/>
          </a:xfrm>
          <a:prstGeom prst="ellipse">
            <a:avLst/>
          </a:prstGeom>
          <a:solidFill>
            <a:schemeClr val="accent1"/>
          </a:solidFill>
          <a:ln w="12700">
            <a:solidFill>
              <a:schemeClr val="accent1"/>
            </a:solidFill>
            <a:prstDash val="solid"/>
          </a:ln>
        </p:spPr>
      </p:sp>
      <p:sp>
        <p:nvSpPr>
          <p:cNvPr id="9" name="Text 6"/>
          <p:cNvSpPr txBox="1"/>
          <p:nvPr/>
        </p:nvSpPr>
        <p:spPr>
          <a:xfrm>
            <a:off x="5521047" y="198424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950815" y="1965960"/>
            <a:ext cx="5390488" cy="53035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Problem review: </a:t>
            </a:r>
            <a:pPr indent="0" marL="0">
              <a:lnSpc>
                <a:spcPct val="100000"/>
              </a:lnSpc>
              <a:spcAft>
                <a:spcPts val="600"/>
              </a:spcAft>
              <a:buNone/>
            </a:pPr>
            <a:r>
              <a:rPr lang="en-US" sz="1200" dirty="0">
                <a:solidFill>
                  <a:schemeClr val="tx1"/>
                </a:solidFill>
              </a:rPr>
              <a:t>probability from the Review 1 Logistic Regression and Random Forest, with an adjustable threshold</a:t>
            </a:r>
            <a:endParaRPr lang="en-US" sz="1200" dirty="0"/>
          </a:p>
        </p:txBody>
      </p:sp>
      <p:sp>
        <p:nvSpPr>
          <p:cNvPr id="11" name="Shape 8"/>
          <p:cNvSpPr/>
          <p:nvPr/>
        </p:nvSpPr>
        <p:spPr>
          <a:xfrm>
            <a:off x="5521047" y="2532888"/>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5521047" y="253288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0"/>
          <p:cNvSpPr txBox="1"/>
          <p:nvPr/>
        </p:nvSpPr>
        <p:spPr>
          <a:xfrm>
            <a:off x="5950815" y="2514600"/>
            <a:ext cx="5390488" cy="53035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Complaint topic: </a:t>
            </a:r>
            <a:pPr indent="0" marL="0">
              <a:lnSpc>
                <a:spcPct val="100000"/>
              </a:lnSpc>
              <a:spcAft>
                <a:spcPts val="600"/>
              </a:spcAft>
              <a:buNone/>
            </a:pPr>
            <a:r>
              <a:rPr lang="en-US" sz="1200" dirty="0">
                <a:solidFill>
                  <a:schemeClr val="tx1"/>
                </a:solidFill>
              </a:rPr>
              <a:t>from the saved NMF pipeline of the chosen domain</a:t>
            </a:r>
            <a:endParaRPr lang="en-US" sz="1200" dirty="0"/>
          </a:p>
        </p:txBody>
      </p:sp>
      <p:sp>
        <p:nvSpPr>
          <p:cNvPr id="14" name="Shape 11"/>
          <p:cNvSpPr/>
          <p:nvPr/>
        </p:nvSpPr>
        <p:spPr>
          <a:xfrm>
            <a:off x="5521047" y="3081528"/>
            <a:ext cx="310896" cy="310896"/>
          </a:xfrm>
          <a:prstGeom prst="ellipse">
            <a:avLst/>
          </a:prstGeom>
          <a:solidFill>
            <a:schemeClr val="accent1"/>
          </a:solidFill>
          <a:ln w="12700">
            <a:solidFill>
              <a:schemeClr val="accent1"/>
            </a:solidFill>
            <a:prstDash val="solid"/>
          </a:ln>
        </p:spPr>
      </p:sp>
      <p:sp>
        <p:nvSpPr>
          <p:cNvPr id="15" name="Text 12"/>
          <p:cNvSpPr txBox="1"/>
          <p:nvPr/>
        </p:nvSpPr>
        <p:spPr>
          <a:xfrm>
            <a:off x="5521047" y="308152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3"/>
          <p:cNvSpPr txBox="1"/>
          <p:nvPr/>
        </p:nvSpPr>
        <p:spPr>
          <a:xfrm>
            <a:off x="5950815" y="3063240"/>
            <a:ext cx="5390488" cy="53035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Sentiment: </a:t>
            </a:r>
            <a:pPr indent="0" marL="0">
              <a:lnSpc>
                <a:spcPct val="100000"/>
              </a:lnSpc>
              <a:spcAft>
                <a:spcPts val="600"/>
              </a:spcAft>
              <a:buNone/>
            </a:pPr>
            <a:r>
              <a:rPr lang="en-US" sz="1200" dirty="0">
                <a:solidFill>
                  <a:schemeClr val="tx1"/>
                </a:solidFill>
              </a:rPr>
              <a:t>VADER negative, neutral, positive and compound scores</a:t>
            </a:r>
            <a:endParaRPr lang="en-US" sz="1200" dirty="0"/>
          </a:p>
        </p:txBody>
      </p:sp>
      <p:sp>
        <p:nvSpPr>
          <p:cNvPr id="17" name="Shape 14"/>
          <p:cNvSpPr/>
          <p:nvPr/>
        </p:nvSpPr>
        <p:spPr>
          <a:xfrm>
            <a:off x="5521047" y="3630168"/>
            <a:ext cx="310896" cy="310896"/>
          </a:xfrm>
          <a:prstGeom prst="ellipse">
            <a:avLst/>
          </a:prstGeom>
          <a:solidFill>
            <a:schemeClr val="accent1"/>
          </a:solidFill>
          <a:ln w="12700">
            <a:solidFill>
              <a:schemeClr val="accent1"/>
            </a:solidFill>
            <a:prstDash val="solid"/>
          </a:ln>
        </p:spPr>
      </p:sp>
      <p:sp>
        <p:nvSpPr>
          <p:cNvPr id="18" name="Text 15"/>
          <p:cNvSpPr txBox="1"/>
          <p:nvPr/>
        </p:nvSpPr>
        <p:spPr>
          <a:xfrm>
            <a:off x="5521047" y="363016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9" name="Text 16"/>
          <p:cNvSpPr txBox="1"/>
          <p:nvPr/>
        </p:nvSpPr>
        <p:spPr>
          <a:xfrm>
            <a:off x="5950815" y="3611880"/>
            <a:ext cx="5390488" cy="53035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Issue tags: </a:t>
            </a:r>
            <a:pPr indent="0" marL="0">
              <a:lnSpc>
                <a:spcPct val="100000"/>
              </a:lnSpc>
              <a:spcAft>
                <a:spcPts val="600"/>
              </a:spcAft>
              <a:buNone/>
            </a:pPr>
            <a:r>
              <a:rPr lang="en-US" sz="1200" dirty="0">
                <a:solidFill>
                  <a:schemeClr val="tx1"/>
                </a:solidFill>
              </a:rPr>
              <a:t>the Review 1 keyword tags it matches</a:t>
            </a:r>
            <a:endParaRPr lang="en-US" sz="1200" dirty="0"/>
          </a:p>
        </p:txBody>
      </p:sp>
      <p:sp>
        <p:nvSpPr>
          <p:cNvPr id="20" name="example"/>
          <p:cNvSpPr/>
          <p:nvPr/>
        </p:nvSpPr>
        <p:spPr>
          <a:xfrm>
            <a:off x="5292447" y="4343400"/>
            <a:ext cx="6259168" cy="1783080"/>
          </a:xfrm>
          <a:prstGeom prst="roundRect">
            <a:avLst>
              <a:gd name="adj" fmla="val 30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1" name="Text 18"/>
          <p:cNvSpPr txBox="1"/>
          <p:nvPr/>
        </p:nvSpPr>
        <p:spPr>
          <a:xfrm>
            <a:off x="5521047" y="4434840"/>
            <a:ext cx="580196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In the example shown</a:t>
            </a:r>
            <a:endParaRPr lang="en-US" sz="1500" dirty="0"/>
          </a:p>
        </p:txBody>
      </p:sp>
      <p:sp>
        <p:nvSpPr>
          <p:cNvPr id="22" name="Text 19"/>
          <p:cNvSpPr txBox="1"/>
          <p:nvPr/>
        </p:nvSpPr>
        <p:spPr>
          <a:xfrm>
            <a:off x="5521047" y="4800600"/>
            <a:ext cx="5801968" cy="1280160"/>
          </a:xfrm>
          <a:prstGeom prst="rect">
            <a:avLst/>
          </a:prstGeom>
          <a:noFill/>
          <a:ln/>
        </p:spPr>
        <p:txBody>
          <a:bodyPr wrap="square" lIns="0" tIns="0" rIns="0" bIns="0" rtlCol="0" anchor="t">
            <a:normAutofit/>
          </a:bodyPr>
          <a:lstStyle/>
          <a:p>
            <a:pPr indent="0" marL="0">
              <a:lnSpc>
                <a:spcPct val="100000"/>
              </a:lnSpc>
              <a:spcAft>
                <a:spcPts val="500"/>
              </a:spcAft>
              <a:buNone/>
            </a:pPr>
            <a:r>
              <a:rPr lang="en-US" sz="1150" dirty="0">
                <a:solidFill>
                  <a:schemeClr val="tx1"/>
                </a:solidFill>
              </a:rPr>
              <a:t>"Ordered food 2 hours ago, still not delivered. Money debited…" is flagged by both models (99.8% and 96.2%), gets Order Cancellation &amp; Refund, and the Payment &amp; Refund and Customer Support tags.</a:t>
            </a:r>
            <a:endParaRPr lang="en-US" sz="1150" dirty="0"/>
          </a:p>
          <a:p>
            <a:pPr indent="0" marL="0">
              <a:lnSpc>
                <a:spcPct val="100000"/>
              </a:lnSpc>
              <a:spcAft>
                <a:spcPts val="500"/>
              </a:spcAft>
              <a:buNone/>
            </a:pPr>
            <a:r>
              <a:rPr lang="en-US" sz="1150" dirty="0">
                <a:solidFill>
                  <a:schemeClr val="tx1"/>
                </a:solidFill>
              </a:rPr>
              <a:t>Its VADER compound is 0.00: sentiment alone would miss this complaint, which is why the page combines all four.</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10  |  METHOD 2, TIME SERIES: UPDATE IMPACT</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Update Impact: Did a New Version Make Things Worse?</a:t>
            </a:r>
            <a:endParaRPr lang="en-US" sz="2800" dirty="0"/>
          </a:p>
        </p:txBody>
      </p:sp>
      <p:sp>
        <p:nvSpPr>
          <p:cNvPr id="4" name="method"/>
          <p:cNvSpPr/>
          <p:nvPr/>
        </p:nvSpPr>
        <p:spPr>
          <a:xfrm>
            <a:off x="640080" y="1417320"/>
            <a:ext cx="4480560" cy="4709160"/>
          </a:xfrm>
          <a:prstGeom prst="roundRect">
            <a:avLst>
              <a:gd name="adj" fmla="val 122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402336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Two comparisons per release (7-day windows)</a:t>
            </a:r>
            <a:endParaRPr lang="en-US" sz="1500" dirty="0"/>
          </a:p>
        </p:txBody>
      </p:sp>
      <p:sp>
        <p:nvSpPr>
          <p:cNvPr id="6" name="Text 4"/>
          <p:cNvSpPr txBox="1"/>
          <p:nvPr/>
        </p:nvSpPr>
        <p:spPr>
          <a:xfrm>
            <a:off x="868680" y="1938528"/>
            <a:ext cx="4023360" cy="4114800"/>
          </a:xfrm>
          <a:prstGeom prst="rect">
            <a:avLst/>
          </a:prstGeom>
          <a:noFill/>
          <a:ln/>
        </p:spPr>
        <p:txBody>
          <a:bodyPr wrap="square" lIns="0" tIns="0" rIns="0" bIns="0" rtlCol="0" anchor="t">
            <a:normAutofit/>
          </a:bodyPr>
          <a:lstStyle/>
          <a:p>
            <a:pPr indent="0" marL="0">
              <a:lnSpc>
                <a:spcPct val="100000"/>
              </a:lnSpc>
              <a:spcAft>
                <a:spcPts val="700"/>
              </a:spcAft>
              <a:buNone/>
            </a:pPr>
            <a:r>
              <a:rPr lang="en-US" sz="1200" b="1" dirty="0">
                <a:solidFill>
                  <a:schemeClr val="tx1"/>
                </a:solidFill>
              </a:rPr>
              <a:t>A. Before vs after: </a:t>
            </a:r>
            <a:pPr indent="0" marL="0">
              <a:lnSpc>
                <a:spcPct val="100000"/>
              </a:lnSpc>
              <a:spcAft>
                <a:spcPts val="700"/>
              </a:spcAft>
              <a:buNone/>
            </a:pPr>
            <a:r>
              <a:rPr lang="en-US" sz="1200" dirty="0">
                <a:solidFill>
                  <a:schemeClr val="tx1"/>
                </a:solidFill>
              </a:rPr>
              <a:t>the app's 1–2★ reviews per day in the week before vs the week from the release (Welch t-test).</a:t>
            </a:r>
            <a:endParaRPr lang="en-US" sz="1200" dirty="0"/>
          </a:p>
          <a:p>
            <a:pPr indent="0" marL="0">
              <a:lnSpc>
                <a:spcPct val="100000"/>
              </a:lnSpc>
              <a:spcAft>
                <a:spcPts val="700"/>
              </a:spcAft>
              <a:buNone/>
            </a:pPr>
            <a:r>
              <a:rPr lang="en-US" sz="1200" b="1" dirty="0">
                <a:solidFill>
                  <a:schemeClr val="tx1"/>
                </a:solidFill>
              </a:rPr>
              <a:t>B. New vs older version (main): </a:t>
            </a:r>
            <a:pPr indent="0" marL="0">
              <a:lnSpc>
                <a:spcPct val="100000"/>
              </a:lnSpc>
              <a:spcAft>
                <a:spcPts val="700"/>
              </a:spcAft>
              <a:buNone/>
            </a:pPr>
            <a:r>
              <a:rPr lang="en-US" sz="1200" dirty="0">
                <a:solidFill>
                  <a:schemeClr val="tx1"/>
                </a:solidFill>
              </a:rPr>
              <a:t>in the same 7 days, the 1–2★ share of users on the new version vs users still on older versions (two-proportion z-test). Same days, so sales and outages hit both groups.</a:t>
            </a:r>
            <a:endParaRPr lang="en-US" sz="1200" dirty="0"/>
          </a:p>
          <a:p>
            <a:pPr indent="0" marL="0">
              <a:lnSpc>
                <a:spcPct val="100000"/>
              </a:lnSpc>
              <a:spcAft>
                <a:spcPts val="700"/>
              </a:spcAft>
              <a:buNone/>
            </a:pPr>
            <a:r>
              <a:rPr lang="en-US" sz="1200" b="1" dirty="0">
                <a:solidFill>
                  <a:schemeClr val="tx1"/>
                </a:solidFill>
              </a:rPr>
              <a:t>Usual gap: </a:t>
            </a:r>
            <a:pPr indent="0" marL="0">
              <a:lnSpc>
                <a:spcPct val="100000"/>
              </a:lnSpc>
              <a:spcAft>
                <a:spcPts val="700"/>
              </a:spcAft>
              <a:buNone/>
            </a:pPr>
            <a:r>
              <a:rPr lang="en-US" sz="1200" dirty="0">
                <a:solidFill>
                  <a:schemeClr val="tx1"/>
                </a:solidFill>
              </a:rPr>
              <a:t>new-version users on Amazon and Flipkart are always about 6 points more negative, so each release is compared with its app's usual gap.</a:t>
            </a:r>
            <a:endParaRPr lang="en-US" sz="1200" dirty="0"/>
          </a:p>
          <a:p>
            <a:pPr indent="0" marL="0">
              <a:lnSpc>
                <a:spcPct val="100000"/>
              </a:lnSpc>
              <a:spcAft>
                <a:spcPts val="700"/>
              </a:spcAft>
              <a:buNone/>
            </a:pPr>
            <a:r>
              <a:rPr lang="en-US" sz="1200" b="1" dirty="0">
                <a:solidFill>
                  <a:schemeClr val="tx1"/>
                </a:solidFill>
              </a:rPr>
              <a:t>Worse: </a:t>
            </a:r>
            <a:pPr indent="0" marL="0">
              <a:lnSpc>
                <a:spcPct val="100000"/>
              </a:lnSpc>
              <a:spcAft>
                <a:spcPts val="700"/>
              </a:spcAft>
              <a:buNone/>
            </a:pPr>
            <a:r>
              <a:rPr lang="en-US" sz="1200" dirty="0">
                <a:solidFill>
                  <a:schemeClr val="tx1"/>
                </a:solidFill>
              </a:rPr>
              <a:t>at least 5 points beyond the usual gap, Benjamini–Hochberg q &lt; 0.05 over all releases. Confirmed if A also rises.</a:t>
            </a:r>
            <a:endParaRPr lang="en-US" sz="1200" dirty="0"/>
          </a:p>
          <a:p>
            <a:pPr indent="0" marL="0">
              <a:lnSpc>
                <a:spcPct val="100000"/>
              </a:lnSpc>
              <a:spcAft>
                <a:spcPts val="700"/>
              </a:spcAft>
              <a:buNone/>
            </a:pPr>
            <a:r>
              <a:rPr lang="en-US" sz="1200" b="1" dirty="0">
                <a:solidFill>
                  <a:schemeClr val="tx1"/>
                </a:solidFill>
              </a:rPr>
              <a:t>Release day: </a:t>
            </a:r>
            <a:pPr indent="0" marL="0">
              <a:lnSpc>
                <a:spcPct val="100000"/>
              </a:lnSpc>
              <a:spcAft>
                <a:spcPts val="700"/>
              </a:spcAft>
              <a:buNone/>
            </a:pPr>
            <a:r>
              <a:rPr lang="en-US" sz="1200" dirty="0">
                <a:solidFill>
                  <a:schemeClr val="tx1"/>
                </a:solidFill>
              </a:rPr>
              <a:t>the day the version got its 10th review; at least 30 reviews on each side, else not testable.</a:t>
            </a:r>
            <a:endParaRPr lang="en-US" sz="1200" dirty="0"/>
          </a:p>
        </p:txBody>
      </p:sp>
      <p:sp>
        <p:nvSpPr>
          <p:cNvPr id="7" name="verdicts"/>
          <p:cNvSpPr/>
          <p:nvPr/>
        </p:nvSpPr>
        <p:spPr>
          <a:xfrm>
            <a:off x="5303520" y="1417320"/>
            <a:ext cx="6248095" cy="3429000"/>
          </a:xfrm>
          <a:prstGeom prst="roundRect">
            <a:avLst>
              <a:gd name="adj" fmla="val 16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8" name="Image 0" descr="01_release_verdicts_by_app.png">    </p:cNvPr>
          <p:cNvPicPr>
            <a:picLocks noChangeAspect="1"/>
          </p:cNvPicPr>
          <p:nvPr/>
        </p:nvPicPr>
        <p:blipFill>
          <a:blip r:embed="rId1"/>
          <a:stretch>
            <a:fillRect/>
          </a:stretch>
        </p:blipFill>
        <p:spPr>
          <a:xfrm>
            <a:off x="5394960" y="1592519"/>
            <a:ext cx="6065215" cy="3087746"/>
          </a:xfrm>
          <a:prstGeom prst="rect">
            <a:avLst/>
          </a:prstGeom>
        </p:spPr>
      </p:pic>
      <p:sp>
        <p:nvSpPr>
          <p:cNvPr id="9" name="stat"/>
          <p:cNvSpPr/>
          <p:nvPr/>
        </p:nvSpPr>
        <p:spPr>
          <a:xfrm>
            <a:off x="5303520"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Text 7"/>
          <p:cNvSpPr txBox="1"/>
          <p:nvPr/>
        </p:nvSpPr>
        <p:spPr>
          <a:xfrm>
            <a:off x="5413248" y="5001768"/>
            <a:ext cx="957011" cy="502920"/>
          </a:xfrm>
          <a:prstGeom prst="rect">
            <a:avLst/>
          </a:prstGeom>
          <a:noFill/>
          <a:ln/>
        </p:spPr>
        <p:txBody>
          <a:bodyPr wrap="square" lIns="0" tIns="0" rIns="0" bIns="0" rtlCol="0" anchor="b"/>
          <a:lstStyle/>
          <a:p>
            <a:pPr indent="0" marL="0">
              <a:buNone/>
            </a:pPr>
            <a:r>
              <a:rPr lang="en-US" sz="2400" b="1" dirty="0">
                <a:solidFill>
                  <a:schemeClr val="tx2"/>
                </a:solidFill>
                <a:latin typeface="Calibri" pitchFamily="34" charset="0"/>
                <a:ea typeface="Calibri" pitchFamily="34" charset="-122"/>
                <a:cs typeface="Calibri" pitchFamily="34" charset="-120"/>
              </a:rPr>
              <a:t>224</a:t>
            </a:r>
            <a:endParaRPr lang="en-US" sz="2400" dirty="0"/>
          </a:p>
        </p:txBody>
      </p:sp>
      <p:sp>
        <p:nvSpPr>
          <p:cNvPr id="11" name="Text 8"/>
          <p:cNvSpPr txBox="1"/>
          <p:nvPr/>
        </p:nvSpPr>
        <p:spPr>
          <a:xfrm>
            <a:off x="5413248"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release events</a:t>
            </a:r>
            <a:endParaRPr lang="en-US" sz="1050" dirty="0"/>
          </a:p>
        </p:txBody>
      </p:sp>
      <p:sp>
        <p:nvSpPr>
          <p:cNvPr id="12" name="stat"/>
          <p:cNvSpPr/>
          <p:nvPr/>
        </p:nvSpPr>
        <p:spPr>
          <a:xfrm>
            <a:off x="6571427"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Text 10"/>
          <p:cNvSpPr txBox="1"/>
          <p:nvPr/>
        </p:nvSpPr>
        <p:spPr>
          <a:xfrm>
            <a:off x="6681155" y="5001768"/>
            <a:ext cx="957011" cy="502920"/>
          </a:xfrm>
          <a:prstGeom prst="rect">
            <a:avLst/>
          </a:prstGeom>
          <a:noFill/>
          <a:ln/>
        </p:spPr>
        <p:txBody>
          <a:bodyPr wrap="square" lIns="0" tIns="0" rIns="0" bIns="0" rtlCol="0" anchor="b"/>
          <a:lstStyle/>
          <a:p>
            <a:pPr indent="0" marL="0">
              <a:buNone/>
            </a:pPr>
            <a:r>
              <a:rPr lang="en-US" sz="2400" b="1" dirty="0">
                <a:solidFill>
                  <a:schemeClr val="tx2"/>
                </a:solidFill>
                <a:latin typeface="Calibri" pitchFamily="34" charset="0"/>
                <a:ea typeface="Calibri" pitchFamily="34" charset="-122"/>
                <a:cs typeface="Calibri" pitchFamily="34" charset="-120"/>
              </a:rPr>
              <a:t>205</a:t>
            </a:r>
            <a:endParaRPr lang="en-US" sz="2400" dirty="0"/>
          </a:p>
        </p:txBody>
      </p:sp>
      <p:sp>
        <p:nvSpPr>
          <p:cNvPr id="14" name="Text 11"/>
          <p:cNvSpPr txBox="1"/>
          <p:nvPr/>
        </p:nvSpPr>
        <p:spPr>
          <a:xfrm>
            <a:off x="6681155"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testable</a:t>
            </a:r>
            <a:endParaRPr lang="en-US" sz="1050" dirty="0"/>
          </a:p>
        </p:txBody>
      </p:sp>
      <p:sp>
        <p:nvSpPr>
          <p:cNvPr id="15" name="stat"/>
          <p:cNvSpPr/>
          <p:nvPr/>
        </p:nvSpPr>
        <p:spPr>
          <a:xfrm>
            <a:off x="7839334"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6" name="Text 13"/>
          <p:cNvSpPr txBox="1"/>
          <p:nvPr/>
        </p:nvSpPr>
        <p:spPr>
          <a:xfrm>
            <a:off x="7949062" y="5001768"/>
            <a:ext cx="957011" cy="502920"/>
          </a:xfrm>
          <a:prstGeom prst="rect">
            <a:avLst/>
          </a:prstGeom>
          <a:noFill/>
          <a:ln/>
        </p:spPr>
        <p:txBody>
          <a:bodyPr wrap="square" lIns="0" tIns="0" rIns="0" bIns="0" rtlCol="0" anchor="b"/>
          <a:lstStyle/>
          <a:p>
            <a:pPr indent="0" marL="0">
              <a:buNone/>
            </a:pPr>
            <a:r>
              <a:rPr lang="en-US" sz="2400" b="1" dirty="0">
                <a:solidFill>
                  <a:schemeClr val="tx2"/>
                </a:solidFill>
                <a:latin typeface="Calibri" pitchFamily="34" charset="0"/>
                <a:ea typeface="Calibri" pitchFamily="34" charset="-122"/>
                <a:cs typeface="Calibri" pitchFamily="34" charset="-120"/>
              </a:rPr>
              <a:t>196</a:t>
            </a:r>
            <a:endParaRPr lang="en-US" sz="2400" dirty="0"/>
          </a:p>
        </p:txBody>
      </p:sp>
      <p:sp>
        <p:nvSpPr>
          <p:cNvPr id="17" name="Text 14"/>
          <p:cNvSpPr txBox="1"/>
          <p:nvPr/>
        </p:nvSpPr>
        <p:spPr>
          <a:xfrm>
            <a:off x="7949062"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no clear change (96%)</a:t>
            </a:r>
            <a:endParaRPr lang="en-US" sz="1050" dirty="0"/>
          </a:p>
        </p:txBody>
      </p:sp>
      <p:sp>
        <p:nvSpPr>
          <p:cNvPr id="18" name="stat"/>
          <p:cNvSpPr/>
          <p:nvPr/>
        </p:nvSpPr>
        <p:spPr>
          <a:xfrm>
            <a:off x="9107241"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9" name="Text 16"/>
          <p:cNvSpPr txBox="1"/>
          <p:nvPr/>
        </p:nvSpPr>
        <p:spPr>
          <a:xfrm>
            <a:off x="9216969" y="5001768"/>
            <a:ext cx="957011" cy="502920"/>
          </a:xfrm>
          <a:prstGeom prst="rect">
            <a:avLst/>
          </a:prstGeom>
          <a:noFill/>
          <a:ln/>
        </p:spPr>
        <p:txBody>
          <a:bodyPr wrap="square" lIns="0" tIns="0" rIns="0" bIns="0" rtlCol="0" anchor="b"/>
          <a:lstStyle/>
          <a:p>
            <a:pPr indent="0" marL="0">
              <a:buNone/>
            </a:pPr>
            <a:r>
              <a:rPr lang="en-US" sz="2400" b="1" dirty="0">
                <a:solidFill>
                  <a:schemeClr val="accent1"/>
                </a:solidFill>
                <a:latin typeface="Calibri" pitchFamily="34" charset="0"/>
                <a:ea typeface="Calibri" pitchFamily="34" charset="-122"/>
                <a:cs typeface="Calibri" pitchFamily="34" charset="-120"/>
              </a:rPr>
              <a:t>5</a:t>
            </a:r>
            <a:endParaRPr lang="en-US" sz="2400" dirty="0"/>
          </a:p>
        </p:txBody>
      </p:sp>
      <p:sp>
        <p:nvSpPr>
          <p:cNvPr id="20" name="Text 17"/>
          <p:cNvSpPr txBox="1"/>
          <p:nvPr/>
        </p:nvSpPr>
        <p:spPr>
          <a:xfrm>
            <a:off x="9216969"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better</a:t>
            </a:r>
            <a:endParaRPr lang="en-US" sz="1050" dirty="0"/>
          </a:p>
        </p:txBody>
      </p:sp>
      <p:sp>
        <p:nvSpPr>
          <p:cNvPr id="21" name="stat"/>
          <p:cNvSpPr/>
          <p:nvPr/>
        </p:nvSpPr>
        <p:spPr>
          <a:xfrm>
            <a:off x="10375148"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2" name="Text 19"/>
          <p:cNvSpPr txBox="1"/>
          <p:nvPr/>
        </p:nvSpPr>
        <p:spPr>
          <a:xfrm>
            <a:off x="10484876" y="5001768"/>
            <a:ext cx="957011" cy="502920"/>
          </a:xfrm>
          <a:prstGeom prst="rect">
            <a:avLst/>
          </a:prstGeom>
          <a:noFill/>
          <a:ln/>
        </p:spPr>
        <p:txBody>
          <a:bodyPr wrap="square" lIns="0" tIns="0" rIns="0" bIns="0" rtlCol="0" anchor="b"/>
          <a:lstStyle/>
          <a:p>
            <a:pPr indent="0" marL="0">
              <a:buNone/>
            </a:pPr>
            <a:r>
              <a:rPr lang="en-US" sz="2400" b="1" dirty="0">
                <a:solidFill>
                  <a:schemeClr val="accent5"/>
                </a:solidFill>
                <a:latin typeface="Calibri" pitchFamily="34" charset="0"/>
                <a:ea typeface="Calibri" pitchFamily="34" charset="-122"/>
                <a:cs typeface="Calibri" pitchFamily="34" charset="-120"/>
              </a:rPr>
              <a:t>4</a:t>
            </a:r>
            <a:endParaRPr lang="en-US" sz="2400" dirty="0"/>
          </a:p>
        </p:txBody>
      </p:sp>
      <p:sp>
        <p:nvSpPr>
          <p:cNvPr id="23" name="Text 20"/>
          <p:cNvSpPr txBox="1"/>
          <p:nvPr/>
        </p:nvSpPr>
        <p:spPr>
          <a:xfrm>
            <a:off x="10484876"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worse, 1 confirmed</a:t>
            </a:r>
            <a:endParaRPr lang="en-US" sz="10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10  |  METHOD 2, TIME SERIES: UPDATE IMPACT RESULTS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Four Releases Made Things Worse; Paytm 10.84.5 Is Confirmed</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911535" cy="914400"/>
        </p:xfrm>
        <a:graphic>
          <a:graphicData uri="http://schemas.openxmlformats.org/drawingml/2006/table">
            <a:tbl>
              <a:tblPr/>
              <a:tblGrid>
                <a:gridCol w="914400"/>
                <a:gridCol w="822960"/>
                <a:gridCol w="777240"/>
                <a:gridCol w="1417320"/>
                <a:gridCol w="1463040"/>
                <a:gridCol w="1828800"/>
                <a:gridCol w="1828800"/>
                <a:gridCol w="1858975"/>
              </a:tblGrid>
              <a:tr h="32918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App</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Version</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Release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1–2★ new vs older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Beyond usual gap (pts)</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1–2★ per day before → after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Issue that rose most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329184">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Swiggy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4.107.1</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19 Apr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60% vs 42%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162 → 150</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Customer Support +8.9</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New version only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Swiggy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4.107.2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23 Apr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88% vs 83%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163 → 137</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New version only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29184">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Flipkart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9.3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16 Apr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30% vs 16%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263 → 234</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Customer Support +4.2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New version only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Paytm</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10.84.5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3 Sep</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23% vs 13%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+8.1</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34 → 66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b="1" dirty="0">
                          <a:solidFill>
                            <a:srgbClr val="C93A39"/>
                          </a:solidFill>
                          <a:latin typeface="Calibri" pitchFamily="34" charset="0"/>
                          <a:ea typeface="Calibri" pitchFamily="34" charset="-122"/>
                          <a:cs typeface="Calibri" pitchFamily="34" charset="-120"/>
                        </a:rPr>
                        <a:t>Confirmed at app level</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bl>
          </a:graphicData>
        </a:graphic>
      </p:graphicFrame>
      <p:sp>
        <p:nvSpPr>
          <p:cNvPr id="5" name="worst chart"/>
          <p:cNvSpPr/>
          <p:nvPr/>
        </p:nvSpPr>
        <p:spPr>
          <a:xfrm>
            <a:off x="640080" y="3291840"/>
            <a:ext cx="6675120" cy="2834640"/>
          </a:xfrm>
          <a:prstGeom prst="roundRect">
            <a:avLst>
              <a:gd name="adj" fmla="val 193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6" name="Image 0" descr="03_worst_release_examples.png">    </p:cNvPr>
          <p:cNvPicPr>
            <a:picLocks noChangeAspect="1"/>
          </p:cNvPicPr>
          <p:nvPr/>
        </p:nvPicPr>
        <p:blipFill>
          <a:blip r:embed="rId1"/>
          <a:stretch>
            <a:fillRect/>
          </a:stretch>
        </p:blipFill>
        <p:spPr>
          <a:xfrm>
            <a:off x="731520" y="3631692"/>
            <a:ext cx="6492240" cy="2164080"/>
          </a:xfrm>
          <a:prstGeom prst="rect">
            <a:avLst/>
          </a:prstGeom>
        </p:spPr>
      </p:pic>
      <p:sp>
        <p:nvSpPr>
          <p:cNvPr id="7" name="reading"/>
          <p:cNvSpPr/>
          <p:nvPr/>
        </p:nvSpPr>
        <p:spPr>
          <a:xfrm>
            <a:off x="7498080" y="3291840"/>
            <a:ext cx="4053535" cy="2834640"/>
          </a:xfrm>
          <a:prstGeom prst="roundRect">
            <a:avLst>
              <a:gd name="adj" fmla="val 193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Text 4"/>
          <p:cNvSpPr txBox="1"/>
          <p:nvPr/>
        </p:nvSpPr>
        <p:spPr>
          <a:xfrm>
            <a:off x="7726680" y="3383280"/>
            <a:ext cx="3596335"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How to read it</a:t>
            </a:r>
            <a:endParaRPr lang="en-US" sz="1500" dirty="0"/>
          </a:p>
        </p:txBody>
      </p:sp>
      <p:sp>
        <p:nvSpPr>
          <p:cNvPr id="9" name="Text 5"/>
          <p:cNvSpPr txBox="1"/>
          <p:nvPr/>
        </p:nvSpPr>
        <p:spPr>
          <a:xfrm>
            <a:off x="7726680" y="3767328"/>
            <a:ext cx="3596335" cy="2286000"/>
          </a:xfrm>
          <a:prstGeom prst="rect">
            <a:avLst/>
          </a:prstGeom>
          <a:noFill/>
          <a:ln/>
        </p:spPr>
        <p:txBody>
          <a:bodyPr wrap="square" lIns="0" tIns="0" rIns="0" bIns="0" rtlCol="0" anchor="t">
            <a:normAutofit/>
          </a:bodyPr>
          <a:lstStyle/>
          <a:p>
            <a:pPr indent="0" marL="0">
              <a:lnSpc>
                <a:spcPct val="100000"/>
              </a:lnSpc>
              <a:spcAft>
                <a:spcPts val="500"/>
              </a:spcAft>
              <a:buNone/>
            </a:pPr>
            <a:r>
              <a:rPr lang="en-US" sz="1150" b="1" dirty="0">
                <a:solidFill>
                  <a:schemeClr val="tx1"/>
                </a:solidFill>
              </a:rPr>
              <a:t>Paytm 10.84.5 is the clearest bad release: </a:t>
            </a:r>
            <a:pPr indent="0" marL="0">
              <a:lnSpc>
                <a:spcPct val="100000"/>
              </a:lnSpc>
              <a:spcAft>
                <a:spcPts val="500"/>
              </a:spcAft>
              <a:buNone/>
            </a:pPr>
            <a:r>
              <a:rPr lang="en-US" sz="1150" dirty="0">
                <a:solidFill>
                  <a:schemeClr val="tx1"/>
                </a:solidFill>
              </a:rPr>
              <a:t>app-wide 1–2★ reviews nearly doubled (34 → 66 a day) and Harshini's forecast raised 6 alerts that week. It explains Paytm's September jump.</a:t>
            </a:r>
            <a:endParaRPr lang="en-US" sz="1150" dirty="0"/>
          </a:p>
          <a:p>
            <a:pPr indent="0" marL="0">
              <a:lnSpc>
                <a:spcPct val="100000"/>
              </a:lnSpc>
              <a:spcAft>
                <a:spcPts val="500"/>
              </a:spcAft>
              <a:buNone/>
            </a:pPr>
            <a:r>
              <a:rPr lang="en-US" sz="1150" dirty="0">
                <a:solidFill>
                  <a:schemeClr val="tx1"/>
                </a:solidFill>
              </a:rPr>
              <a:t>The other three have windows that overlap the late-April feed gap, so their shares are inflated.</a:t>
            </a:r>
            <a:endParaRPr lang="en-US" sz="1150" dirty="0"/>
          </a:p>
          <a:p>
            <a:pPr indent="0" marL="0">
              <a:lnSpc>
                <a:spcPct val="100000"/>
              </a:lnSpc>
              <a:spcAft>
                <a:spcPts val="500"/>
              </a:spcAft>
              <a:buNone/>
            </a:pPr>
            <a:r>
              <a:rPr lang="en-US" sz="1150" dirty="0">
                <a:solidFill>
                  <a:schemeClr val="tx1"/>
                </a:solidFill>
              </a:rPr>
              <a:t>No release made things worse for the other 8 apps. Same 4 flagged when the release day is the first review.</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11  |  COMBINED BUSINESS INSIGHTS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Combining Every Stage: Which App Needs Attention First</a:t>
            </a:r>
            <a:endParaRPr lang="en-US" sz="2800" dirty="0"/>
          </a:p>
        </p:txBody>
      </p:sp>
      <p:sp>
        <p:nvSpPr>
          <p:cNvPr id="4" name="rule"/>
          <p:cNvSpPr/>
          <p:nvPr/>
        </p:nvSpPr>
        <p:spPr>
          <a:xfrm>
            <a:off x="640080" y="1417320"/>
            <a:ext cx="4160520" cy="4709160"/>
          </a:xfrm>
          <a:prstGeom prst="roundRect">
            <a:avLst>
              <a:gd name="adj" fmla="val 1319"/>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374904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Six warning signs, one point each</a:t>
            </a:r>
            <a:endParaRPr lang="en-US" sz="1500" dirty="0"/>
          </a:p>
        </p:txBody>
      </p:sp>
      <p:sp>
        <p:nvSpPr>
          <p:cNvPr id="6" name="Shape 4"/>
          <p:cNvSpPr/>
          <p:nvPr/>
        </p:nvSpPr>
        <p:spPr>
          <a:xfrm>
            <a:off x="868680" y="2002536"/>
            <a:ext cx="292608" cy="292608"/>
          </a:xfrm>
          <a:prstGeom prst="ellipse">
            <a:avLst/>
          </a:prstGeom>
          <a:solidFill>
            <a:schemeClr val="accent5"/>
          </a:solidFill>
          <a:ln w="12700">
            <a:solidFill>
              <a:schemeClr val="accent5"/>
            </a:solidFill>
            <a:prstDash val="solid"/>
          </a:ln>
        </p:spPr>
      </p:sp>
      <p:sp>
        <p:nvSpPr>
          <p:cNvPr id="7" name="Text 5"/>
          <p:cNvSpPr txBox="1"/>
          <p:nvPr/>
        </p:nvSpPr>
        <p:spPr>
          <a:xfrm>
            <a:off x="868680" y="200253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280160" y="196596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Many 1–2★ per day: </a:t>
            </a:r>
            <a:pPr indent="0" marL="0">
              <a:lnSpc>
                <a:spcPct val="100000"/>
              </a:lnSpc>
              <a:buNone/>
            </a:pPr>
            <a:r>
              <a:rPr lang="en-US" sz="1100" dirty="0">
                <a:solidFill>
                  <a:schemeClr val="tx1"/>
                </a:solidFill>
              </a:rPr>
              <a:t>above the median app (103) </a:t>
            </a:r>
            <a:endParaRPr lang="en-US" sz="1100" dirty="0"/>
          </a:p>
          <a:p>
            <a:pPr indent="0" marL="0">
              <a:lnSpc>
                <a:spcPct val="100000"/>
              </a:lnSpc>
              <a:buNone/>
            </a:pPr>
            <a:r>
              <a:rPr lang="en-US" sz="1100" dirty="0">
                <a:solidFill>
                  <a:schemeClr val="accent6"/>
                </a:solidFill>
              </a:rPr>
              <a:t>time series</a:t>
            </a:r>
            <a:endParaRPr lang="en-US" sz="1100" dirty="0"/>
          </a:p>
        </p:txBody>
      </p:sp>
      <p:sp>
        <p:nvSpPr>
          <p:cNvPr id="9" name="Shape 7"/>
          <p:cNvSpPr/>
          <p:nvPr/>
        </p:nvSpPr>
        <p:spPr>
          <a:xfrm>
            <a:off x="868680" y="2551176"/>
            <a:ext cx="292608" cy="292608"/>
          </a:xfrm>
          <a:prstGeom prst="ellipse">
            <a:avLst/>
          </a:prstGeom>
          <a:solidFill>
            <a:schemeClr val="accent5"/>
          </a:solidFill>
          <a:ln w="12700">
            <a:solidFill>
              <a:schemeClr val="accent5"/>
            </a:solidFill>
            <a:prstDash val="solid"/>
          </a:ln>
        </p:spPr>
      </p:sp>
      <p:sp>
        <p:nvSpPr>
          <p:cNvPr id="10" name="Text 8"/>
          <p:cNvSpPr txBox="1"/>
          <p:nvPr/>
        </p:nvSpPr>
        <p:spPr>
          <a:xfrm>
            <a:off x="868680" y="255117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1280160" y="251460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High 1–2★ share: </a:t>
            </a:r>
            <a:pPr indent="0" marL="0">
              <a:lnSpc>
                <a:spcPct val="100000"/>
              </a:lnSpc>
              <a:buNone/>
            </a:pPr>
            <a:r>
              <a:rPr lang="en-US" sz="1100" dirty="0">
                <a:solidFill>
                  <a:schemeClr val="tx1"/>
                </a:solidFill>
              </a:rPr>
              <a:t>above the all-app share (18.9%) </a:t>
            </a:r>
            <a:endParaRPr lang="en-US" sz="1100" dirty="0"/>
          </a:p>
          <a:p>
            <a:pPr indent="0" marL="0">
              <a:lnSpc>
                <a:spcPct val="100000"/>
              </a:lnSpc>
              <a:buNone/>
            </a:pPr>
            <a:r>
              <a:rPr lang="en-US" sz="1100" dirty="0">
                <a:solidFill>
                  <a:schemeClr val="accent6"/>
                </a:solidFill>
              </a:rPr>
              <a:t>time series</a:t>
            </a:r>
            <a:endParaRPr lang="en-US" sz="1100" dirty="0"/>
          </a:p>
        </p:txBody>
      </p:sp>
      <p:sp>
        <p:nvSpPr>
          <p:cNvPr id="12" name="Shape 10"/>
          <p:cNvSpPr/>
          <p:nvPr/>
        </p:nvSpPr>
        <p:spPr>
          <a:xfrm>
            <a:off x="868680" y="3099816"/>
            <a:ext cx="292608" cy="292608"/>
          </a:xfrm>
          <a:prstGeom prst="ellipse">
            <a:avLst/>
          </a:prstGeom>
          <a:solidFill>
            <a:schemeClr val="accent5"/>
          </a:solidFill>
          <a:ln w="12700">
            <a:solidFill>
              <a:schemeClr val="accent5"/>
            </a:solidFill>
            <a:prstDash val="solid"/>
          </a:ln>
        </p:spPr>
      </p:sp>
      <p:sp>
        <p:nvSpPr>
          <p:cNvPr id="13" name="Text 11"/>
          <p:cNvSpPr txBox="1"/>
          <p:nvPr/>
        </p:nvSpPr>
        <p:spPr>
          <a:xfrm>
            <a:off x="868680" y="309981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Text 12"/>
          <p:cNvSpPr txBox="1"/>
          <p:nvPr/>
        </p:nvSpPr>
        <p:spPr>
          <a:xfrm>
            <a:off x="1280160" y="306324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Rising trend: </a:t>
            </a:r>
            <a:pPr indent="0" marL="0">
              <a:lnSpc>
                <a:spcPct val="100000"/>
              </a:lnSpc>
              <a:buNone/>
            </a:pPr>
            <a:r>
              <a:rPr lang="en-US" sz="1100" dirty="0">
                <a:solidFill>
                  <a:schemeClr val="tx1"/>
                </a:solidFill>
              </a:rPr>
              <a:t>last 4 weeks +10% vs first 4 </a:t>
            </a:r>
            <a:endParaRPr lang="en-US" sz="1100" dirty="0"/>
          </a:p>
          <a:p>
            <a:pPr indent="0" marL="0">
              <a:lnSpc>
                <a:spcPct val="100000"/>
              </a:lnSpc>
              <a:buNone/>
            </a:pPr>
            <a:r>
              <a:rPr lang="en-US" sz="1100" dirty="0">
                <a:solidFill>
                  <a:schemeClr val="accent6"/>
                </a:solidFill>
              </a:rPr>
              <a:t>time series</a:t>
            </a:r>
            <a:endParaRPr lang="en-US" sz="1100" dirty="0"/>
          </a:p>
        </p:txBody>
      </p:sp>
      <p:sp>
        <p:nvSpPr>
          <p:cNvPr id="15" name="Shape 13"/>
          <p:cNvSpPr/>
          <p:nvPr/>
        </p:nvSpPr>
        <p:spPr>
          <a:xfrm>
            <a:off x="868680" y="3648456"/>
            <a:ext cx="292608" cy="292608"/>
          </a:xfrm>
          <a:prstGeom prst="ellipse">
            <a:avLst/>
          </a:prstGeom>
          <a:solidFill>
            <a:schemeClr val="accent5"/>
          </a:solidFill>
          <a:ln w="12700">
            <a:solidFill>
              <a:schemeClr val="accent5"/>
            </a:solidFill>
            <a:prstDash val="solid"/>
          </a:ln>
        </p:spPr>
      </p:sp>
      <p:sp>
        <p:nvSpPr>
          <p:cNvPr id="16" name="Text 14"/>
          <p:cNvSpPr txBox="1"/>
          <p:nvPr/>
        </p:nvSpPr>
        <p:spPr>
          <a:xfrm>
            <a:off x="868680" y="364845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Text 15"/>
          <p:cNvSpPr txBox="1"/>
          <p:nvPr/>
        </p:nvSpPr>
        <p:spPr>
          <a:xfrm>
            <a:off x="1280160" y="361188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Forecast above recent: </a:t>
            </a:r>
            <a:pPr indent="0" marL="0">
              <a:lnSpc>
                <a:spcPct val="100000"/>
              </a:lnSpc>
              <a:buNone/>
            </a:pPr>
            <a:r>
              <a:rPr lang="en-US" sz="1100" dirty="0">
                <a:solidFill>
                  <a:schemeClr val="tx1"/>
                </a:solidFill>
              </a:rPr>
              <a:t>reliable week-1 forecast +5% </a:t>
            </a:r>
            <a:endParaRPr lang="en-US" sz="1100" dirty="0"/>
          </a:p>
          <a:p>
            <a:pPr indent="0" marL="0">
              <a:lnSpc>
                <a:spcPct val="100000"/>
              </a:lnSpc>
              <a:buNone/>
            </a:pPr>
            <a:r>
              <a:rPr lang="en-US" sz="1100" dirty="0">
                <a:solidFill>
                  <a:schemeClr val="accent6"/>
                </a:solidFill>
              </a:rPr>
              <a:t>forecasting</a:t>
            </a:r>
            <a:endParaRPr lang="en-US" sz="1100" dirty="0"/>
          </a:p>
        </p:txBody>
      </p:sp>
      <p:sp>
        <p:nvSpPr>
          <p:cNvPr id="18" name="Shape 16"/>
          <p:cNvSpPr/>
          <p:nvPr/>
        </p:nvSpPr>
        <p:spPr>
          <a:xfrm>
            <a:off x="868680" y="4197096"/>
            <a:ext cx="292608" cy="292608"/>
          </a:xfrm>
          <a:prstGeom prst="ellipse">
            <a:avLst/>
          </a:prstGeom>
          <a:solidFill>
            <a:schemeClr val="accent5"/>
          </a:solidFill>
          <a:ln w="12700">
            <a:solidFill>
              <a:schemeClr val="accent5"/>
            </a:solidFill>
            <a:prstDash val="solid"/>
          </a:ln>
        </p:spPr>
      </p:sp>
      <p:sp>
        <p:nvSpPr>
          <p:cNvPr id="19" name="Text 17"/>
          <p:cNvSpPr txBox="1"/>
          <p:nvPr/>
        </p:nvSpPr>
        <p:spPr>
          <a:xfrm>
            <a:off x="868680" y="419709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0" name="Text 18"/>
          <p:cNvSpPr txBox="1"/>
          <p:nvPr/>
        </p:nvSpPr>
        <p:spPr>
          <a:xfrm>
            <a:off x="1280160" y="416052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Days above forecast: </a:t>
            </a:r>
            <a:pPr indent="0" marL="0">
              <a:lnSpc>
                <a:spcPct val="100000"/>
              </a:lnSpc>
              <a:buNone/>
            </a:pPr>
            <a:r>
              <a:rPr lang="en-US" sz="1100" dirty="0">
                <a:solidFill>
                  <a:schemeClr val="tx1"/>
                </a:solidFill>
              </a:rPr>
              <a:t>5+ days above the 95% interval </a:t>
            </a:r>
            <a:endParaRPr lang="en-US" sz="1100" dirty="0"/>
          </a:p>
          <a:p>
            <a:pPr indent="0" marL="0">
              <a:lnSpc>
                <a:spcPct val="100000"/>
              </a:lnSpc>
              <a:buNone/>
            </a:pPr>
            <a:r>
              <a:rPr lang="en-US" sz="1100" dirty="0">
                <a:solidFill>
                  <a:schemeClr val="accent6"/>
                </a:solidFill>
              </a:rPr>
              <a:t>evaluation</a:t>
            </a:r>
            <a:endParaRPr lang="en-US" sz="1100" dirty="0"/>
          </a:p>
        </p:txBody>
      </p:sp>
      <p:sp>
        <p:nvSpPr>
          <p:cNvPr id="21" name="Shape 19"/>
          <p:cNvSpPr/>
          <p:nvPr/>
        </p:nvSpPr>
        <p:spPr>
          <a:xfrm>
            <a:off x="868680" y="4745736"/>
            <a:ext cx="292608" cy="292608"/>
          </a:xfrm>
          <a:prstGeom prst="ellipse">
            <a:avLst/>
          </a:prstGeom>
          <a:solidFill>
            <a:schemeClr val="accent5"/>
          </a:solidFill>
          <a:ln w="12700">
            <a:solidFill>
              <a:schemeClr val="accent5"/>
            </a:solidFill>
            <a:prstDash val="solid"/>
          </a:ln>
        </p:spPr>
      </p:sp>
      <p:sp>
        <p:nvSpPr>
          <p:cNvPr id="22" name="Text 20"/>
          <p:cNvSpPr txBox="1"/>
          <p:nvPr/>
        </p:nvSpPr>
        <p:spPr>
          <a:xfrm>
            <a:off x="868680" y="474573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3" name="Text 21"/>
          <p:cNvSpPr txBox="1"/>
          <p:nvPr/>
        </p:nvSpPr>
        <p:spPr>
          <a:xfrm>
            <a:off x="1280160" y="470916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Release made it worse: </a:t>
            </a:r>
            <a:pPr indent="0" marL="0">
              <a:lnSpc>
                <a:spcPct val="100000"/>
              </a:lnSpc>
              <a:buNone/>
            </a:pPr>
            <a:r>
              <a:rPr lang="en-US" sz="1100" dirty="0">
                <a:solidFill>
                  <a:schemeClr val="tx1"/>
                </a:solidFill>
              </a:rPr>
              <a:t>at least one worse release </a:t>
            </a:r>
            <a:endParaRPr lang="en-US" sz="1100" dirty="0"/>
          </a:p>
          <a:p>
            <a:pPr indent="0" marL="0">
              <a:lnSpc>
                <a:spcPct val="100000"/>
              </a:lnSpc>
              <a:buNone/>
            </a:pPr>
            <a:r>
              <a:rPr lang="en-US" sz="1100" dirty="0">
                <a:solidFill>
                  <a:schemeClr val="accent6"/>
                </a:solidFill>
              </a:rPr>
              <a:t>update impact</a:t>
            </a:r>
            <a:endParaRPr lang="en-US" sz="1100" dirty="0"/>
          </a:p>
        </p:txBody>
      </p:sp>
      <p:sp>
        <p:nvSpPr>
          <p:cNvPr id="24" name="Text 22"/>
          <p:cNvSpPr txBox="1"/>
          <p:nvPr/>
        </p:nvSpPr>
        <p:spPr>
          <a:xfrm>
            <a:off x="868680" y="5349240"/>
            <a:ext cx="3749040" cy="73152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b="1" dirty="0">
                <a:solidFill>
                  <a:schemeClr val="tx1"/>
                </a:solidFill>
              </a:rPr>
              <a:t>Score: </a:t>
            </a:r>
            <a:pPr indent="0" marL="0">
              <a:lnSpc>
                <a:spcPct val="100000"/>
              </a:lnSpc>
              <a:spcAft>
                <a:spcPts val="600"/>
              </a:spcAft>
              <a:buNone/>
            </a:pPr>
            <a:r>
              <a:rPr lang="en-US" sz="1150" dirty="0">
                <a:solidFill>
                  <a:schemeClr val="tx1"/>
                </a:solidFill>
              </a:rPr>
              <a:t>3+ High, 2 Medium, 0–1 Low. Every point traces back to one number from one stage.</a:t>
            </a:r>
            <a:endParaRPr lang="en-US" sz="1150" dirty="0"/>
          </a:p>
        </p:txBody>
      </p:sp>
      <p:sp>
        <p:nvSpPr>
          <p:cNvPr id="25" name="priority chart"/>
          <p:cNvSpPr/>
          <p:nvPr/>
        </p:nvSpPr>
        <p:spPr>
          <a:xfrm>
            <a:off x="4983480" y="1417320"/>
            <a:ext cx="6568135"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26" name="Image 0" descr="ci_01_priority_overview.png">    </p:cNvPr>
          <p:cNvPicPr>
            <a:picLocks noChangeAspect="1"/>
          </p:cNvPicPr>
          <p:nvPr/>
        </p:nvPicPr>
        <p:blipFill>
          <a:blip r:embed="rId1"/>
          <a:stretch>
            <a:fillRect/>
          </a:stretch>
        </p:blipFill>
        <p:spPr>
          <a:xfrm>
            <a:off x="5074920" y="1752044"/>
            <a:ext cx="6385255" cy="3299049"/>
          </a:xfrm>
          <a:prstGeom prst="rect">
            <a:avLst/>
          </a:prstGeom>
        </p:spPr>
      </p:pic>
      <p:sp>
        <p:nvSpPr>
          <p:cNvPr id="27" name="Text 24"/>
          <p:cNvSpPr txBox="1"/>
          <p:nvPr/>
        </p:nvSpPr>
        <p:spPr>
          <a:xfrm>
            <a:off x="5212080" y="5394960"/>
            <a:ext cx="6110935" cy="68580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accent5"/>
                </a:solidFill>
              </a:rPr>
              <a:t>High: </a:t>
            </a:r>
            <a:pPr indent="0" marL="0">
              <a:lnSpc>
                <a:spcPct val="100000"/>
              </a:lnSpc>
              <a:spcAft>
                <a:spcPts val="600"/>
              </a:spcAft>
              <a:buNone/>
            </a:pPr>
            <a:r>
              <a:rPr lang="en-US" sz="1200" dirty="0">
                <a:solidFill>
                  <a:schemeClr val="tx1"/>
                </a:solidFill>
              </a:rPr>
              <a:t>Swiggy (4), Flipkart, Amazon, Paytm (3).  </a:t>
            </a:r>
            <a:pPr indent="0" marL="0">
              <a:lnSpc>
                <a:spcPct val="100000"/>
              </a:lnSpc>
              <a:spcAft>
                <a:spcPts val="600"/>
              </a:spcAft>
              <a:buNone/>
            </a:pPr>
            <a:r>
              <a:rPr lang="en-US" sz="1200" b="1" dirty="0">
                <a:solidFill>
                  <a:schemeClr val="accent4"/>
                </a:solidFill>
              </a:rPr>
              <a:t>Medium: </a:t>
            </a:r>
            <a:pPr indent="0" marL="0">
              <a:lnSpc>
                <a:spcPct val="100000"/>
              </a:lnSpc>
              <a:spcAft>
                <a:spcPts val="600"/>
              </a:spcAft>
              <a:buNone/>
            </a:pPr>
            <a:r>
              <a:rPr lang="en-US" sz="1200" dirty="0">
                <a:solidFill>
                  <a:schemeClr val="tx1"/>
                </a:solidFill>
              </a:rPr>
              <a:t>Blinkit, Meesho, Domino's, Myntra.  </a:t>
            </a:r>
            <a:pPr indent="0" marL="0">
              <a:lnSpc>
                <a:spcPct val="100000"/>
              </a:lnSpc>
              <a:spcAft>
                <a:spcPts val="600"/>
              </a:spcAft>
              <a:buNone/>
            </a:pPr>
            <a:r>
              <a:rPr lang="en-US" sz="1200" b="1" dirty="0">
                <a:solidFill>
                  <a:schemeClr val="accent6"/>
                </a:solidFill>
              </a:rPr>
              <a:t>Low: </a:t>
            </a:r>
            <a:pPr indent="0" marL="0">
              <a:lnSpc>
                <a:spcPct val="100000"/>
              </a:lnSpc>
              <a:spcAft>
                <a:spcPts val="600"/>
              </a:spcAft>
              <a:buNone/>
            </a:pPr>
            <a:r>
              <a:rPr lang="en-US" sz="1200" dirty="0">
                <a:solidFill>
                  <a:schemeClr val="tx1"/>
                </a:solidFill>
              </a:rPr>
              <a:t>Zomato, Google Pay, PhonePe.</a:t>
            </a:r>
            <a:endParaRPr lang="en-US" sz="12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11  |  BUSINESS RECOMMENDATIONS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Recommendations, Each Backed by a Number</a:t>
            </a:r>
            <a:endParaRPr lang="en-US" sz="2800" dirty="0"/>
          </a:p>
        </p:txBody>
      </p:sp>
      <p:sp>
        <p:nvSpPr>
          <p:cNvPr id="4" name="Food &amp; Grocery"/>
          <p:cNvSpPr/>
          <p:nvPr/>
        </p:nvSpPr>
        <p:spPr>
          <a:xfrm>
            <a:off x="640080" y="1417320"/>
            <a:ext cx="3515258" cy="2148840"/>
          </a:xfrm>
          <a:prstGeom prst="roundRect">
            <a:avLst>
              <a:gd name="adj" fmla="val 255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Shape 3"/>
          <p:cNvSpPr/>
          <p:nvPr/>
        </p:nvSpPr>
        <p:spPr>
          <a:xfrm>
            <a:off x="640080" y="1417320"/>
            <a:ext cx="3515258" cy="73152"/>
          </a:xfrm>
          <a:prstGeom prst="rect">
            <a:avLst/>
          </a:prstGeom>
          <a:solidFill>
            <a:schemeClr val="accent1"/>
          </a:solidFill>
          <a:ln w="12700">
            <a:solidFill>
              <a:schemeClr val="accent1"/>
            </a:solidFill>
            <a:prstDash val="solid"/>
          </a:ln>
        </p:spPr>
      </p:sp>
      <p:sp>
        <p:nvSpPr>
          <p:cNvPr id="6" name="Text 4"/>
          <p:cNvSpPr txBox="1"/>
          <p:nvPr/>
        </p:nvSpPr>
        <p:spPr>
          <a:xfrm>
            <a:off x="868680" y="1554480"/>
            <a:ext cx="305805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Food &amp; Grocery</a:t>
            </a:r>
            <a:endParaRPr lang="en-US" sz="1500" dirty="0"/>
          </a:p>
        </p:txBody>
      </p:sp>
      <p:sp>
        <p:nvSpPr>
          <p:cNvPr id="7" name="Text 5"/>
          <p:cNvSpPr txBox="1"/>
          <p:nvPr/>
        </p:nvSpPr>
        <p:spPr>
          <a:xfrm>
            <a:off x="868680" y="1920240"/>
            <a:ext cx="3058058" cy="1600200"/>
          </a:xfrm>
          <a:prstGeom prst="rect">
            <a:avLst/>
          </a:prstGeom>
          <a:noFill/>
          <a:ln/>
        </p:spPr>
        <p:txBody>
          <a:bodyPr wrap="square" lIns="0" tIns="0" rIns="0" bIns="0" rtlCol="0" anchor="t">
            <a:normAutofit/>
          </a:bodyPr>
          <a:lstStyle/>
          <a:p>
            <a:pPr indent="0" marL="0">
              <a:lnSpc>
                <a:spcPct val="100000"/>
              </a:lnSpc>
              <a:spcAft>
                <a:spcPts val="800"/>
              </a:spcAft>
              <a:buNone/>
            </a:pPr>
            <a:r>
              <a:rPr lang="en-US" sz="1250" b="1" dirty="0">
                <a:solidFill>
                  <a:schemeClr val="tx1"/>
                </a:solidFill>
              </a:rPr>
              <a:t>Fix first: </a:t>
            </a:r>
            <a:pPr indent="0" marL="0">
              <a:lnSpc>
                <a:spcPct val="100000"/>
              </a:lnSpc>
              <a:spcAft>
                <a:spcPts val="800"/>
              </a:spcAft>
              <a:buNone/>
            </a:pPr>
            <a:r>
              <a:rPr lang="en-US" sz="1250" dirty="0">
                <a:solidFill>
                  <a:schemeClr val="tx1"/>
                </a:solidFill>
              </a:rPr>
              <a:t>Fix the refund and cancellation flow: 35% of complaints (28,656), in every food app.</a:t>
            </a:r>
            <a:endParaRPr lang="en-US" sz="1250" dirty="0"/>
          </a:p>
          <a:p>
            <a:pPr indent="0" marL="0">
              <a:lnSpc>
                <a:spcPct val="100000"/>
              </a:lnSpc>
              <a:spcAft>
                <a:spcPts val="800"/>
              </a:spcAft>
              <a:buNone/>
            </a:pPr>
            <a:r>
              <a:rPr lang="en-US" sz="1250" b="1" dirty="0">
                <a:solidFill>
                  <a:schemeClr val="tx1"/>
                </a:solidFill>
              </a:rPr>
              <a:t>Most damaging: </a:t>
            </a:r>
            <a:pPr indent="0" marL="0">
              <a:lnSpc>
                <a:spcPct val="100000"/>
              </a:lnSpc>
              <a:spcAft>
                <a:spcPts val="800"/>
              </a:spcAft>
              <a:buNone/>
            </a:pPr>
            <a:r>
              <a:rPr lang="en-US" sz="1250" dirty="0">
                <a:solidFill>
                  <a:schemeClr val="tx1"/>
                </a:solidFill>
              </a:rPr>
              <a:t>Food quality is the angriest topic (−0.44, 59% strongly negative): act fast on stale or wrong food.</a:t>
            </a:r>
            <a:endParaRPr lang="en-US" sz="1250" dirty="0"/>
          </a:p>
        </p:txBody>
      </p:sp>
      <p:sp>
        <p:nvSpPr>
          <p:cNvPr id="8" name="Shopping"/>
          <p:cNvSpPr/>
          <p:nvPr/>
        </p:nvSpPr>
        <p:spPr>
          <a:xfrm>
            <a:off x="4338218" y="1417320"/>
            <a:ext cx="3515258" cy="2148840"/>
          </a:xfrm>
          <a:prstGeom prst="roundRect">
            <a:avLst>
              <a:gd name="adj" fmla="val 255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9" name="Shape 7"/>
          <p:cNvSpPr/>
          <p:nvPr/>
        </p:nvSpPr>
        <p:spPr>
          <a:xfrm>
            <a:off x="4338218" y="1417320"/>
            <a:ext cx="3515258" cy="73152"/>
          </a:xfrm>
          <a:prstGeom prst="rect">
            <a:avLst/>
          </a:prstGeom>
          <a:solidFill>
            <a:schemeClr val="accent2"/>
          </a:solidFill>
          <a:ln w="12700">
            <a:solidFill>
              <a:schemeClr val="accent2"/>
            </a:solidFill>
            <a:prstDash val="solid"/>
          </a:ln>
        </p:spPr>
      </p:sp>
      <p:sp>
        <p:nvSpPr>
          <p:cNvPr id="10" name="Text 8"/>
          <p:cNvSpPr txBox="1"/>
          <p:nvPr/>
        </p:nvSpPr>
        <p:spPr>
          <a:xfrm>
            <a:off x="4566818" y="1554480"/>
            <a:ext cx="305805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Shopping</a:t>
            </a:r>
            <a:endParaRPr lang="en-US" sz="1500" dirty="0"/>
          </a:p>
        </p:txBody>
      </p:sp>
      <p:sp>
        <p:nvSpPr>
          <p:cNvPr id="11" name="Text 9"/>
          <p:cNvSpPr txBox="1"/>
          <p:nvPr/>
        </p:nvSpPr>
        <p:spPr>
          <a:xfrm>
            <a:off x="4566818" y="1920240"/>
            <a:ext cx="3058058" cy="1600200"/>
          </a:xfrm>
          <a:prstGeom prst="rect">
            <a:avLst/>
          </a:prstGeom>
          <a:noFill/>
          <a:ln/>
        </p:spPr>
        <p:txBody>
          <a:bodyPr wrap="square" lIns="0" tIns="0" rIns="0" bIns="0" rtlCol="0" anchor="t">
            <a:normAutofit/>
          </a:bodyPr>
          <a:lstStyle/>
          <a:p>
            <a:pPr indent="0" marL="0">
              <a:lnSpc>
                <a:spcPct val="100000"/>
              </a:lnSpc>
              <a:spcAft>
                <a:spcPts val="800"/>
              </a:spcAft>
              <a:buNone/>
            </a:pPr>
            <a:r>
              <a:rPr lang="en-US" sz="1250" b="1" dirty="0">
                <a:solidFill>
                  <a:schemeClr val="tx1"/>
                </a:solidFill>
              </a:rPr>
              <a:t>Fix first: </a:t>
            </a:r>
            <a:pPr indent="0" marL="0">
              <a:lnSpc>
                <a:spcPct val="100000"/>
              </a:lnSpc>
              <a:spcAft>
                <a:spcPts val="800"/>
              </a:spcAft>
              <a:buNone/>
            </a:pPr>
            <a:r>
              <a:rPr lang="en-US" sz="1250" dirty="0">
                <a:solidFill>
                  <a:schemeClr val="tx1"/>
                </a:solidFill>
              </a:rPr>
              <a:t>Fix return rejections and defective products: 25% of complaints, largest in Flipkart, Meesho and Myntra.</a:t>
            </a:r>
            <a:endParaRPr lang="en-US" sz="1250" dirty="0"/>
          </a:p>
          <a:p>
            <a:pPr indent="0" marL="0">
              <a:lnSpc>
                <a:spcPct val="100000"/>
              </a:lnSpc>
              <a:spcAft>
                <a:spcPts val="800"/>
              </a:spcAft>
              <a:buNone/>
            </a:pPr>
            <a:r>
              <a:rPr lang="en-US" sz="1250" b="1" dirty="0">
                <a:solidFill>
                  <a:schemeClr val="tx1"/>
                </a:solidFill>
              </a:rPr>
              <a:t>Most damaging: </a:t>
            </a:r>
            <a:pPr indent="0" marL="0">
              <a:lnSpc>
                <a:spcPct val="100000"/>
              </a:lnSpc>
              <a:spcAft>
                <a:spcPts val="800"/>
              </a:spcAft>
              <a:buNone/>
            </a:pPr>
            <a:r>
              <a:rPr lang="en-US" sz="1250" dirty="0">
                <a:solidFill>
                  <a:schemeClr val="tx1"/>
                </a:solidFill>
              </a:rPr>
              <a:t>Answer scam allegations quickly and visibly: the most hostile reviews (−0.61).</a:t>
            </a:r>
            <a:endParaRPr lang="en-US" sz="1250" dirty="0"/>
          </a:p>
        </p:txBody>
      </p:sp>
      <p:sp>
        <p:nvSpPr>
          <p:cNvPr id="12" name="Payments"/>
          <p:cNvSpPr/>
          <p:nvPr/>
        </p:nvSpPr>
        <p:spPr>
          <a:xfrm>
            <a:off x="8036357" y="1417320"/>
            <a:ext cx="3515258" cy="2148840"/>
          </a:xfrm>
          <a:prstGeom prst="roundRect">
            <a:avLst>
              <a:gd name="adj" fmla="val 255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Shape 11"/>
          <p:cNvSpPr/>
          <p:nvPr/>
        </p:nvSpPr>
        <p:spPr>
          <a:xfrm>
            <a:off x="8036357" y="1417320"/>
            <a:ext cx="3515258" cy="73152"/>
          </a:xfrm>
          <a:prstGeom prst="rect">
            <a:avLst/>
          </a:prstGeom>
          <a:solidFill>
            <a:schemeClr val="accent3"/>
          </a:solidFill>
          <a:ln w="12700">
            <a:solidFill>
              <a:schemeClr val="accent3"/>
            </a:solidFill>
            <a:prstDash val="solid"/>
          </a:ln>
        </p:spPr>
      </p:sp>
      <p:sp>
        <p:nvSpPr>
          <p:cNvPr id="14" name="Text 12"/>
          <p:cNvSpPr txBox="1"/>
          <p:nvPr/>
        </p:nvSpPr>
        <p:spPr>
          <a:xfrm>
            <a:off x="8264957" y="1554480"/>
            <a:ext cx="305805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Payments</a:t>
            </a:r>
            <a:endParaRPr lang="en-US" sz="1500" dirty="0"/>
          </a:p>
        </p:txBody>
      </p:sp>
      <p:sp>
        <p:nvSpPr>
          <p:cNvPr id="15" name="Text 13"/>
          <p:cNvSpPr txBox="1"/>
          <p:nvPr/>
        </p:nvSpPr>
        <p:spPr>
          <a:xfrm>
            <a:off x="8264957" y="1920240"/>
            <a:ext cx="3058058" cy="1600200"/>
          </a:xfrm>
          <a:prstGeom prst="rect">
            <a:avLst/>
          </a:prstGeom>
          <a:noFill/>
          <a:ln/>
        </p:spPr>
        <p:txBody>
          <a:bodyPr wrap="square" lIns="0" tIns="0" rIns="0" bIns="0" rtlCol="0" anchor="t">
            <a:normAutofit/>
          </a:bodyPr>
          <a:lstStyle/>
          <a:p>
            <a:pPr indent="0" marL="0">
              <a:lnSpc>
                <a:spcPct val="100000"/>
              </a:lnSpc>
              <a:spcAft>
                <a:spcPts val="800"/>
              </a:spcAft>
              <a:buNone/>
            </a:pPr>
            <a:r>
              <a:rPr lang="en-US" sz="1250" b="1" dirty="0">
                <a:solidFill>
                  <a:schemeClr val="tx1"/>
                </a:solidFill>
              </a:rPr>
              <a:t>Fix first: </a:t>
            </a:r>
            <a:pPr indent="0" marL="0">
              <a:lnSpc>
                <a:spcPct val="100000"/>
              </a:lnSpc>
              <a:spcAft>
                <a:spcPts val="800"/>
              </a:spcAft>
              <a:buNone/>
            </a:pPr>
            <a:r>
              <a:rPr lang="en-US" sz="1250" dirty="0">
                <a:solidFill>
                  <a:schemeClr val="tx1"/>
                </a:solidFill>
              </a:rPr>
              <a:t>Resolve debited-but-not-received payments: 52% of complaints.</a:t>
            </a:r>
            <a:endParaRPr lang="en-US" sz="1250" dirty="0"/>
          </a:p>
          <a:p>
            <a:pPr indent="0" marL="0">
              <a:lnSpc>
                <a:spcPct val="100000"/>
              </a:lnSpc>
              <a:spcAft>
                <a:spcPts val="800"/>
              </a:spcAft>
              <a:buNone/>
            </a:pPr>
            <a:r>
              <a:rPr lang="en-US" sz="1250" b="1" dirty="0">
                <a:solidFill>
                  <a:schemeClr val="tx1"/>
                </a:solidFill>
              </a:rPr>
              <a:t>Most damaging: </a:t>
            </a:r>
            <a:pPr indent="0" marL="0">
              <a:lnSpc>
                <a:spcPct val="100000"/>
              </a:lnSpc>
              <a:spcAft>
                <a:spcPts val="800"/>
              </a:spcAft>
              <a:buNone/>
            </a:pPr>
            <a:r>
              <a:rPr lang="en-US" sz="1250" dirty="0">
                <a:solidFill>
                  <a:schemeClr val="tx1"/>
                </a:solidFill>
              </a:rPr>
              <a:t>Support that does not answer drives the anger (−0.23), more than the failure itself (−0.15).</a:t>
            </a:r>
            <a:endParaRPr lang="en-US" sz="1250" dirty="0"/>
          </a:p>
        </p:txBody>
      </p:sp>
      <p:sp>
        <p:nvSpPr>
          <p:cNvPr id="16" name="Swiggy · High (4)"/>
          <p:cNvSpPr/>
          <p:nvPr/>
        </p:nvSpPr>
        <p:spPr>
          <a:xfrm>
            <a:off x="640080" y="3703320"/>
            <a:ext cx="2625014"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7" name="Text 15"/>
          <p:cNvSpPr txBox="1"/>
          <p:nvPr/>
        </p:nvSpPr>
        <p:spPr>
          <a:xfrm>
            <a:off x="822960" y="3794760"/>
            <a:ext cx="2259254" cy="329184"/>
          </a:xfrm>
          <a:prstGeom prst="rect">
            <a:avLst/>
          </a:prstGeom>
          <a:noFill/>
          <a:ln/>
        </p:spPr>
        <p:txBody>
          <a:bodyPr wrap="square" lIns="0" tIns="0" rIns="0" bIns="0" rtlCol="0" anchor="ctr">
            <a:normAutofit/>
          </a:bodyPr>
          <a:lstStyle/>
          <a:p>
            <a:pPr indent="0" marL="0">
              <a:buNone/>
            </a:pPr>
            <a:r>
              <a:rPr lang="en-US" sz="1400" b="1" dirty="0">
                <a:solidFill>
                  <a:schemeClr val="accent5"/>
                </a:solidFill>
              </a:rPr>
              <a:t>Swiggy · High (4)</a:t>
            </a:r>
            <a:endParaRPr lang="en-US" sz="1400" dirty="0"/>
          </a:p>
        </p:txBody>
      </p:sp>
      <p:sp>
        <p:nvSpPr>
          <p:cNvPr id="18" name="Text 16"/>
          <p:cNvSpPr txBox="1"/>
          <p:nvPr/>
        </p:nvSpPr>
        <p:spPr>
          <a:xfrm>
            <a:off x="822960" y="4206240"/>
            <a:ext cx="2259254" cy="1828800"/>
          </a:xfrm>
          <a:prstGeom prst="rect">
            <a:avLst/>
          </a:prstGeom>
          <a:noFill/>
          <a:ln/>
        </p:spPr>
        <p:txBody>
          <a:bodyPr wrap="square" lIns="0" tIns="0" rIns="0" bIns="0" rtlCol="0" anchor="t">
            <a:normAutofit/>
          </a:bodyPr>
          <a:lstStyle/>
          <a:p>
            <a:pPr marL="177800" indent="-177800">
              <a:lnSpc>
                <a:spcPct val="100000"/>
              </a:lnSpc>
              <a:spcAft>
                <a:spcPts val="700"/>
              </a:spcAft>
              <a:buSzPct val="100000"/>
              <a:buChar char="•"/>
            </a:pPr>
            <a:r>
              <a:rPr lang="en-US" sz="1250" dirty="0">
                <a:solidFill>
                  <a:schemeClr val="tx1"/>
                </a:solidFill>
              </a:rPr>
              <a:t>Fix refunds first (37% of its complaints)</a:t>
            </a:r>
            <a:endParaRPr lang="en-US" sz="1250" dirty="0"/>
          </a:p>
          <a:p>
            <a:pPr marL="177800" indent="-177800">
              <a:lnSpc>
                <a:spcPct val="100000"/>
              </a:lnSpc>
              <a:spcAft>
                <a:spcPts val="700"/>
              </a:spcAft>
              <a:buSzPct val="100000"/>
              <a:buChar char="•"/>
            </a:pPr>
            <a:r>
              <a:rPr lang="en-US" sz="1250" dirty="0">
                <a:solidFill>
                  <a:schemeClr val="tx1"/>
                </a:solidFill>
              </a:rPr>
              <a:t>Review 4.107.1: support complaints +8.9 pts</a:t>
            </a:r>
            <a:endParaRPr lang="en-US" sz="1250" dirty="0"/>
          </a:p>
          <a:p>
            <a:pPr marL="177800" indent="-177800">
              <a:lnSpc>
                <a:spcPct val="100000"/>
              </a:lnSpc>
              <a:spcAft>
                <a:spcPts val="700"/>
              </a:spcAft>
              <a:buSzPct val="100000"/>
              <a:buChar char="•"/>
            </a:pPr>
            <a:r>
              <a:rPr lang="en-US" sz="1250" dirty="0">
                <a:solidFill>
                  <a:schemeClr val="tx1"/>
                </a:solidFill>
              </a:rPr>
              <a:t>Plan for ~1,037 1–2★ reviews next week</a:t>
            </a:r>
            <a:endParaRPr lang="en-US" sz="1250" dirty="0"/>
          </a:p>
        </p:txBody>
      </p:sp>
      <p:sp>
        <p:nvSpPr>
          <p:cNvPr id="19" name="Flipkart · High (3)"/>
          <p:cNvSpPr/>
          <p:nvPr/>
        </p:nvSpPr>
        <p:spPr>
          <a:xfrm>
            <a:off x="3402254" y="3703320"/>
            <a:ext cx="2625014"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0" name="Text 18"/>
          <p:cNvSpPr txBox="1"/>
          <p:nvPr/>
        </p:nvSpPr>
        <p:spPr>
          <a:xfrm>
            <a:off x="3585134" y="3794760"/>
            <a:ext cx="2259254" cy="329184"/>
          </a:xfrm>
          <a:prstGeom prst="rect">
            <a:avLst/>
          </a:prstGeom>
          <a:noFill/>
          <a:ln/>
        </p:spPr>
        <p:txBody>
          <a:bodyPr wrap="square" lIns="0" tIns="0" rIns="0" bIns="0" rtlCol="0" anchor="ctr">
            <a:normAutofit/>
          </a:bodyPr>
          <a:lstStyle/>
          <a:p>
            <a:pPr indent="0" marL="0">
              <a:buNone/>
            </a:pPr>
            <a:r>
              <a:rPr lang="en-US" sz="1400" b="1" dirty="0">
                <a:solidFill>
                  <a:schemeClr val="accent5"/>
                </a:solidFill>
              </a:rPr>
              <a:t>Flipkart · High (3)</a:t>
            </a:r>
            <a:endParaRPr lang="en-US" sz="1400" dirty="0"/>
          </a:p>
        </p:txBody>
      </p:sp>
      <p:sp>
        <p:nvSpPr>
          <p:cNvPr id="21" name="Text 19"/>
          <p:cNvSpPr txBox="1"/>
          <p:nvPr/>
        </p:nvSpPr>
        <p:spPr>
          <a:xfrm>
            <a:off x="3585134" y="4206240"/>
            <a:ext cx="2259254" cy="1828800"/>
          </a:xfrm>
          <a:prstGeom prst="rect">
            <a:avLst/>
          </a:prstGeom>
          <a:noFill/>
          <a:ln/>
        </p:spPr>
        <p:txBody>
          <a:bodyPr wrap="square" lIns="0" tIns="0" rIns="0" bIns="0" rtlCol="0" anchor="t">
            <a:normAutofit/>
          </a:bodyPr>
          <a:lstStyle/>
          <a:p>
            <a:pPr marL="177800" indent="-177800">
              <a:lnSpc>
                <a:spcPct val="100000"/>
              </a:lnSpc>
              <a:spcAft>
                <a:spcPts val="700"/>
              </a:spcAft>
              <a:buSzPct val="100000"/>
              <a:buChar char="•"/>
            </a:pPr>
            <a:r>
              <a:rPr lang="en-US" sz="1250" dirty="0">
                <a:solidFill>
                  <a:schemeClr val="tx1"/>
                </a:solidFill>
              </a:rPr>
              <a:t>Fix return rejections (25%)</a:t>
            </a:r>
            <a:endParaRPr lang="en-US" sz="1250" dirty="0"/>
          </a:p>
          <a:p>
            <a:pPr marL="177800" indent="-177800">
              <a:lnSpc>
                <a:spcPct val="100000"/>
              </a:lnSpc>
              <a:spcAft>
                <a:spcPts val="700"/>
              </a:spcAft>
              <a:buSzPct val="100000"/>
              <a:buChar char="•"/>
            </a:pPr>
            <a:r>
              <a:rPr lang="en-US" sz="1250" dirty="0">
                <a:solidFill>
                  <a:schemeClr val="tx1"/>
                </a:solidFill>
              </a:rPr>
              <a:t>Daily alert: 18 days above the forecast, the most</a:t>
            </a:r>
            <a:endParaRPr lang="en-US" sz="1250" dirty="0"/>
          </a:p>
          <a:p>
            <a:pPr marL="177800" indent="-177800">
              <a:lnSpc>
                <a:spcPct val="100000"/>
              </a:lnSpc>
              <a:spcAft>
                <a:spcPts val="700"/>
              </a:spcAft>
              <a:buSzPct val="100000"/>
              <a:buChar char="•"/>
            </a:pPr>
            <a:r>
              <a:rPr lang="en-US" sz="1250" dirty="0">
                <a:solidFill>
                  <a:schemeClr val="tx1"/>
                </a:solidFill>
              </a:rPr>
              <a:t>Review 9.3: support and returns rose</a:t>
            </a:r>
            <a:endParaRPr lang="en-US" sz="1250" dirty="0"/>
          </a:p>
        </p:txBody>
      </p:sp>
      <p:sp>
        <p:nvSpPr>
          <p:cNvPr id="22" name="Amazon · High (3)"/>
          <p:cNvSpPr/>
          <p:nvPr/>
        </p:nvSpPr>
        <p:spPr>
          <a:xfrm>
            <a:off x="6164428" y="3703320"/>
            <a:ext cx="2625014"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3" name="Text 21"/>
          <p:cNvSpPr txBox="1"/>
          <p:nvPr/>
        </p:nvSpPr>
        <p:spPr>
          <a:xfrm>
            <a:off x="6347308" y="3794760"/>
            <a:ext cx="2259254" cy="329184"/>
          </a:xfrm>
          <a:prstGeom prst="rect">
            <a:avLst/>
          </a:prstGeom>
          <a:noFill/>
          <a:ln/>
        </p:spPr>
        <p:txBody>
          <a:bodyPr wrap="square" lIns="0" tIns="0" rIns="0" bIns="0" rtlCol="0" anchor="ctr">
            <a:normAutofit/>
          </a:bodyPr>
          <a:lstStyle/>
          <a:p>
            <a:pPr indent="0" marL="0">
              <a:buNone/>
            </a:pPr>
            <a:r>
              <a:rPr lang="en-US" sz="1400" b="1" dirty="0">
                <a:solidFill>
                  <a:schemeClr val="accent5"/>
                </a:solidFill>
              </a:rPr>
              <a:t>Amazon · High (3)</a:t>
            </a:r>
            <a:endParaRPr lang="en-US" sz="1400" dirty="0"/>
          </a:p>
        </p:txBody>
      </p:sp>
      <p:sp>
        <p:nvSpPr>
          <p:cNvPr id="24" name="Text 22"/>
          <p:cNvSpPr txBox="1"/>
          <p:nvPr/>
        </p:nvSpPr>
        <p:spPr>
          <a:xfrm>
            <a:off x="6347308" y="4206240"/>
            <a:ext cx="2259254" cy="1828800"/>
          </a:xfrm>
          <a:prstGeom prst="rect">
            <a:avLst/>
          </a:prstGeom>
          <a:noFill/>
          <a:ln/>
        </p:spPr>
        <p:txBody>
          <a:bodyPr wrap="square" lIns="0" tIns="0" rIns="0" bIns="0" rtlCol="0" anchor="t">
            <a:normAutofit/>
          </a:bodyPr>
          <a:lstStyle/>
          <a:p>
            <a:pPr marL="177800" indent="-177800">
              <a:lnSpc>
                <a:spcPct val="100000"/>
              </a:lnSpc>
              <a:spcAft>
                <a:spcPts val="700"/>
              </a:spcAft>
              <a:buSzPct val="100000"/>
              <a:buChar char="•"/>
            </a:pPr>
            <a:r>
              <a:rPr lang="en-US" sz="1250" dirty="0">
                <a:solidFill>
                  <a:schemeClr val="tx1"/>
                </a:solidFill>
              </a:rPr>
              <a:t>Fix escalations in customer service (24%)</a:t>
            </a:r>
            <a:endParaRPr lang="en-US" sz="1250" dirty="0"/>
          </a:p>
          <a:p>
            <a:pPr marL="177800" indent="-177800">
              <a:lnSpc>
                <a:spcPct val="100000"/>
              </a:lnSpc>
              <a:spcAft>
                <a:spcPts val="700"/>
              </a:spcAft>
              <a:buSzPct val="100000"/>
              <a:buChar char="•"/>
            </a:pPr>
            <a:r>
              <a:rPr lang="en-US" sz="1250" dirty="0">
                <a:solidFill>
                  <a:schemeClr val="tx1"/>
                </a:solidFill>
              </a:rPr>
              <a:t>53% of its reviews are 1–2★, the highest share</a:t>
            </a:r>
            <a:endParaRPr lang="en-US" sz="1250" dirty="0"/>
          </a:p>
          <a:p>
            <a:pPr marL="177800" indent="-177800">
              <a:lnSpc>
                <a:spcPct val="100000"/>
              </a:lnSpc>
              <a:spcAft>
                <a:spcPts val="700"/>
              </a:spcAft>
              <a:buSzPct val="100000"/>
              <a:buChar char="•"/>
            </a:pPr>
            <a:r>
              <a:rPr lang="en-US" sz="1250" dirty="0">
                <a:solidFill>
                  <a:schemeClr val="tx1"/>
                </a:solidFill>
              </a:rPr>
              <a:t>Classifier triage works best here (91% precision)</a:t>
            </a:r>
            <a:endParaRPr lang="en-US" sz="1250" dirty="0"/>
          </a:p>
        </p:txBody>
      </p:sp>
      <p:sp>
        <p:nvSpPr>
          <p:cNvPr id="25" name="Paytm · High (3)"/>
          <p:cNvSpPr/>
          <p:nvPr/>
        </p:nvSpPr>
        <p:spPr>
          <a:xfrm>
            <a:off x="8926601" y="3703320"/>
            <a:ext cx="2625014"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6" name="Text 24"/>
          <p:cNvSpPr txBox="1"/>
          <p:nvPr/>
        </p:nvSpPr>
        <p:spPr>
          <a:xfrm>
            <a:off x="9109481" y="3794760"/>
            <a:ext cx="2259254" cy="329184"/>
          </a:xfrm>
          <a:prstGeom prst="rect">
            <a:avLst/>
          </a:prstGeom>
          <a:noFill/>
          <a:ln/>
        </p:spPr>
        <p:txBody>
          <a:bodyPr wrap="square" lIns="0" tIns="0" rIns="0" bIns="0" rtlCol="0" anchor="ctr">
            <a:normAutofit/>
          </a:bodyPr>
          <a:lstStyle/>
          <a:p>
            <a:pPr indent="0" marL="0">
              <a:buNone/>
            </a:pPr>
            <a:r>
              <a:rPr lang="en-US" sz="1400" b="1" dirty="0">
                <a:solidFill>
                  <a:schemeClr val="accent5"/>
                </a:solidFill>
              </a:rPr>
              <a:t>Paytm · High (3)</a:t>
            </a:r>
            <a:endParaRPr lang="en-US" sz="1400" dirty="0"/>
          </a:p>
        </p:txBody>
      </p:sp>
      <p:sp>
        <p:nvSpPr>
          <p:cNvPr id="27" name="Text 25"/>
          <p:cNvSpPr txBox="1"/>
          <p:nvPr/>
        </p:nvSpPr>
        <p:spPr>
          <a:xfrm>
            <a:off x="9109481" y="4206240"/>
            <a:ext cx="2259254" cy="1828800"/>
          </a:xfrm>
          <a:prstGeom prst="rect">
            <a:avLst/>
          </a:prstGeom>
          <a:noFill/>
          <a:ln/>
        </p:spPr>
        <p:txBody>
          <a:bodyPr wrap="square" lIns="0" tIns="0" rIns="0" bIns="0" rtlCol="0" anchor="t">
            <a:normAutofit/>
          </a:bodyPr>
          <a:lstStyle/>
          <a:p>
            <a:pPr marL="177800" indent="-177800">
              <a:lnSpc>
                <a:spcPct val="100000"/>
              </a:lnSpc>
              <a:spcAft>
                <a:spcPts val="700"/>
              </a:spcAft>
              <a:buSzPct val="100000"/>
              <a:buChar char="•"/>
            </a:pPr>
            <a:r>
              <a:rPr lang="en-US" sz="1250" dirty="0">
                <a:solidFill>
                  <a:schemeClr val="tx1"/>
                </a:solidFill>
              </a:rPr>
              <a:t>Investigate 10.84.5 first: 34 → 66 a day</a:t>
            </a:r>
            <a:endParaRPr lang="en-US" sz="1250" dirty="0"/>
          </a:p>
          <a:p>
            <a:pPr marL="177800" indent="-177800">
              <a:lnSpc>
                <a:spcPct val="100000"/>
              </a:lnSpc>
              <a:spcAft>
                <a:spcPts val="700"/>
              </a:spcAft>
              <a:buSzPct val="100000"/>
              <a:buChar char="•"/>
            </a:pPr>
            <a:r>
              <a:rPr lang="en-US" sz="1250" dirty="0">
                <a:solidFill>
                  <a:schemeClr val="tx1"/>
                </a:solidFill>
              </a:rPr>
              <a:t>Plan on last week's level, not the forecast</a:t>
            </a:r>
            <a:endParaRPr lang="en-US" sz="1250" dirty="0"/>
          </a:p>
          <a:p>
            <a:pPr marL="177800" indent="-177800">
              <a:lnSpc>
                <a:spcPct val="100000"/>
              </a:lnSpc>
              <a:spcAft>
                <a:spcPts val="700"/>
              </a:spcAft>
              <a:buSzPct val="100000"/>
              <a:buChar char="•"/>
            </a:pPr>
            <a:r>
              <a:rPr lang="en-US" sz="1250" dirty="0">
                <a:solidFill>
                  <a:schemeClr val="tx1"/>
                </a:solidFill>
              </a:rPr>
              <a:t>Human check on flags (precision 66%)</a:t>
            </a:r>
            <a:endParaRPr lang="en-US" sz="12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12  |  INTERACTIVE DASHBOARD (4 OF 4)</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Dashboard: Forecasting, Update Impact and Recommendations</a:t>
            </a:r>
            <a:endParaRPr lang="en-US" sz="2800" dirty="0"/>
          </a:p>
        </p:txBody>
      </p:sp>
      <p:sp>
        <p:nvSpPr>
          <p:cNvPr id="4" name="Forecasting"/>
          <p:cNvSpPr/>
          <p:nvPr/>
        </p:nvSpPr>
        <p:spPr>
          <a:xfrm>
            <a:off x="640080"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5" name="Image 0" descr="dash_forecasting.png">    </p:cNvPr>
          <p:cNvPicPr>
            <a:picLocks noChangeAspect="1"/>
          </p:cNvPicPr>
          <p:nvPr/>
        </p:nvPicPr>
        <p:blipFill>
          <a:blip r:embed="rId1"/>
          <a:stretch>
            <a:fillRect/>
          </a:stretch>
        </p:blipFill>
        <p:spPr>
          <a:xfrm>
            <a:off x="749808" y="1527048"/>
            <a:ext cx="3295802" cy="2617255"/>
          </a:xfrm>
          <a:prstGeom prst="rect">
            <a:avLst/>
          </a:prstGeom>
        </p:spPr>
      </p:pic>
      <p:sp>
        <p:nvSpPr>
          <p:cNvPr id="6" name="Text 3"/>
          <p:cNvSpPr txBox="1"/>
          <p:nvPr/>
        </p:nvSpPr>
        <p:spPr>
          <a:xfrm>
            <a:off x="822960" y="4526280"/>
            <a:ext cx="314949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Forecasting</a:t>
            </a:r>
            <a:endParaRPr lang="en-US" sz="1500" dirty="0"/>
          </a:p>
        </p:txBody>
      </p:sp>
      <p:sp>
        <p:nvSpPr>
          <p:cNvPr id="7" name="Text 4"/>
          <p:cNvSpPr txBox="1"/>
          <p:nvPr/>
        </p:nvSpPr>
        <p:spPr>
          <a:xfrm>
            <a:off x="822960" y="4892040"/>
            <a:ext cx="3149498" cy="118872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ARIMA forecast with 80% and 95% intervals per app, unusual days, release markers (red = made things worse), optional baseline comparison</a:t>
            </a:r>
            <a:endParaRPr lang="en-US" sz="1150" dirty="0"/>
          </a:p>
        </p:txBody>
      </p:sp>
      <p:sp>
        <p:nvSpPr>
          <p:cNvPr id="8" name="Update impact"/>
          <p:cNvSpPr/>
          <p:nvPr/>
        </p:nvSpPr>
        <p:spPr>
          <a:xfrm>
            <a:off x="4338218"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9" name="Image 1" descr="dash_update_impact.png">    </p:cNvPr>
          <p:cNvPicPr>
            <a:picLocks noChangeAspect="1"/>
          </p:cNvPicPr>
          <p:nvPr/>
        </p:nvPicPr>
        <p:blipFill>
          <a:blip r:embed="rId2"/>
          <a:stretch>
            <a:fillRect/>
          </a:stretch>
        </p:blipFill>
        <p:spPr>
          <a:xfrm>
            <a:off x="4447946" y="1527048"/>
            <a:ext cx="3295802" cy="2617255"/>
          </a:xfrm>
          <a:prstGeom prst="rect">
            <a:avLst/>
          </a:prstGeom>
        </p:spPr>
      </p:pic>
      <p:sp>
        <p:nvSpPr>
          <p:cNvPr id="10" name="Text 6"/>
          <p:cNvSpPr txBox="1"/>
          <p:nvPr/>
        </p:nvSpPr>
        <p:spPr>
          <a:xfrm>
            <a:off x="4521098" y="4526280"/>
            <a:ext cx="314949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Update impact</a:t>
            </a:r>
            <a:endParaRPr lang="en-US" sz="1500" dirty="0"/>
          </a:p>
        </p:txBody>
      </p:sp>
      <p:sp>
        <p:nvSpPr>
          <p:cNvPr id="11" name="Text 7"/>
          <p:cNvSpPr txBox="1"/>
          <p:nvPr/>
        </p:nvSpPr>
        <p:spPr>
          <a:xfrm>
            <a:off x="4521098" y="4892040"/>
            <a:ext cx="3149498" cy="118872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verdict for every release, new vs older gap against the app's usual gap, before/after detail and issue mix of any release</a:t>
            </a:r>
            <a:endParaRPr lang="en-US" sz="1150" dirty="0"/>
          </a:p>
        </p:txBody>
      </p:sp>
      <p:sp>
        <p:nvSpPr>
          <p:cNvPr id="12" name="Recommendations"/>
          <p:cNvSpPr/>
          <p:nvPr/>
        </p:nvSpPr>
        <p:spPr>
          <a:xfrm>
            <a:off x="8036357"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13" name="Image 2" descr="dash_recommendations.png">    </p:cNvPr>
          <p:cNvPicPr>
            <a:picLocks noChangeAspect="1"/>
          </p:cNvPicPr>
          <p:nvPr/>
        </p:nvPicPr>
        <p:blipFill>
          <a:blip r:embed="rId3"/>
          <a:stretch>
            <a:fillRect/>
          </a:stretch>
        </p:blipFill>
        <p:spPr>
          <a:xfrm>
            <a:off x="8146085" y="1527048"/>
            <a:ext cx="3295802" cy="2617255"/>
          </a:xfrm>
          <a:prstGeom prst="rect">
            <a:avLst/>
          </a:prstGeom>
        </p:spPr>
      </p:pic>
      <p:sp>
        <p:nvSpPr>
          <p:cNvPr id="14" name="Text 9"/>
          <p:cNvSpPr txBox="1"/>
          <p:nvPr/>
        </p:nvSpPr>
        <p:spPr>
          <a:xfrm>
            <a:off x="8219237" y="4526280"/>
            <a:ext cx="314949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Recommendations</a:t>
            </a:r>
            <a:endParaRPr lang="en-US" sz="1500" dirty="0"/>
          </a:p>
        </p:txBody>
      </p:sp>
      <p:sp>
        <p:nvSpPr>
          <p:cNvPr id="15" name="Text 10"/>
          <p:cNvSpPr txBox="1"/>
          <p:nvPr/>
        </p:nvSpPr>
        <p:spPr>
          <a:xfrm>
            <a:off x="8219237" y="4892040"/>
            <a:ext cx="3149498" cy="118872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priority counts, warning-sign grid, priority table and the 65 recommendations, filtered by domain and app, with CSV download</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13  |  PROJECT TRACKING AND PROGRESS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Project Tracking and Progress</a:t>
            </a:r>
            <a:endParaRPr lang="en-US" sz="2800" dirty="0"/>
          </a:p>
        </p:txBody>
      </p:sp>
      <p:sp>
        <p:nvSpPr>
          <p:cNvPr id="4" name="Text 2"/>
          <p:cNvSpPr txBox="1"/>
          <p:nvPr/>
        </p:nvSpPr>
        <p:spPr>
          <a:xfrm>
            <a:off x="640080" y="1371600"/>
            <a:ext cx="10911535" cy="292608"/>
          </a:xfrm>
          <a:prstGeom prst="rect">
            <a:avLst/>
          </a:prstGeom>
          <a:noFill/>
          <a:ln/>
        </p:spPr>
        <p:txBody>
          <a:bodyPr wrap="square" lIns="0" tIns="0" rIns="0" bIns="0" rtlCol="0" anchor="ctr"/>
          <a:lstStyle/>
          <a:p>
            <a:pPr indent="0" marL="0">
              <a:buNone/>
            </a:pPr>
            <a:r>
              <a:rPr lang="en-US" sz="1200" b="1" dirty="0">
                <a:solidFill>
                  <a:schemeClr val="tx1"/>
                </a:solidFill>
              </a:rPr>
              <a:t>Tool and board link: </a:t>
            </a:r>
            <a:pPr indent="0" marL="0">
              <a:buNone/>
            </a:pPr>
            <a:r>
              <a:rPr lang="en-US" sz="12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GitHub Projects, github.com/users/Adithya-Monish-Kumar-K/projects/4</a:t>
            </a:r>
            <a:pPr indent="0" marL="0">
              <a:buNone/>
            </a:pPr>
            <a:r>
              <a:rPr lang="en-US" sz="1200" b="1" dirty="0">
                <a:solidFill>
                  <a:schemeClr val="tx1"/>
                </a:solidFill>
              </a:rPr>
              <a:t>    Repository: </a:t>
            </a:r>
            <a:pPr indent="0" marL="0">
              <a:buNone/>
            </a:pPr>
            <a:r>
              <a:rPr lang="en-US" sz="12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github.com/Adithya-Monish-Kumar-K/ba-capstone-app-reviews</a:t>
            </a:r>
            <a:endParaRPr lang="en-US" sz="1200" dirty="0"/>
          </a:p>
        </p:txBody>
      </p:sp>
      <p:sp>
        <p:nvSpPr>
          <p:cNvPr id="5" name="Shape 3"/>
          <p:cNvSpPr/>
          <p:nvPr/>
        </p:nvSpPr>
        <p:spPr>
          <a:xfrm>
            <a:off x="640080" y="1755648"/>
            <a:ext cx="2109155" cy="329184"/>
          </a:xfrm>
          <a:prstGeom prst="roundRect">
            <a:avLst>
              <a:gd name="adj" fmla="val 13889"/>
            </a:avLst>
          </a:prstGeom>
          <a:solidFill>
            <a:srgbClr val="E3E8EF"/>
          </a:solidFill>
          <a:ln w="12700">
            <a:solidFill>
              <a:srgbClr val="E3E8EF"/>
            </a:solidFill>
            <a:prstDash val="solid"/>
          </a:ln>
        </p:spPr>
      </p:sp>
      <p:sp>
        <p:nvSpPr>
          <p:cNvPr id="6" name="Text 4"/>
          <p:cNvSpPr txBox="1"/>
          <p:nvPr/>
        </p:nvSpPr>
        <p:spPr>
          <a:xfrm>
            <a:off x="640080" y="1755648"/>
            <a:ext cx="2109155" cy="329184"/>
          </a:xfrm>
          <a:prstGeom prst="rect">
            <a:avLst/>
          </a:prstGeom>
          <a:noFill/>
          <a:ln/>
        </p:spPr>
        <p:txBody>
          <a:bodyPr wrap="square" lIns="0" tIns="0" rIns="0" bIns="0" rtlCol="0" anchor="ctr"/>
          <a:lstStyle/>
          <a:p>
            <a:pPr algn="ctr" indent="0" marL="0">
              <a:buNone/>
            </a:pPr>
            <a:r>
              <a:rPr lang="en-US" sz="1150" b="1" dirty="0">
                <a:solidFill>
                  <a:srgbClr val="132C43"/>
                </a:solidFill>
              </a:rPr>
              <a:t>Backlog</a:t>
            </a:r>
            <a:endParaRPr lang="en-US" sz="1150" dirty="0"/>
          </a:p>
        </p:txBody>
      </p:sp>
      <p:sp>
        <p:nvSpPr>
          <p:cNvPr id="7" name="Shape 5"/>
          <p:cNvSpPr/>
          <p:nvPr/>
        </p:nvSpPr>
        <p:spPr>
          <a:xfrm>
            <a:off x="2840675" y="1755648"/>
            <a:ext cx="2109155" cy="329184"/>
          </a:xfrm>
          <a:prstGeom prst="roundRect">
            <a:avLst>
              <a:gd name="adj" fmla="val 13889"/>
            </a:avLst>
          </a:prstGeom>
          <a:solidFill>
            <a:srgbClr val="E3E8EF"/>
          </a:solidFill>
          <a:ln w="12700">
            <a:solidFill>
              <a:srgbClr val="E3E8EF"/>
            </a:solidFill>
            <a:prstDash val="solid"/>
          </a:ln>
        </p:spPr>
      </p:sp>
      <p:sp>
        <p:nvSpPr>
          <p:cNvPr id="8" name="Text 6"/>
          <p:cNvSpPr txBox="1"/>
          <p:nvPr/>
        </p:nvSpPr>
        <p:spPr>
          <a:xfrm>
            <a:off x="2840675" y="1755648"/>
            <a:ext cx="2109155" cy="329184"/>
          </a:xfrm>
          <a:prstGeom prst="rect">
            <a:avLst/>
          </a:prstGeom>
          <a:noFill/>
          <a:ln/>
        </p:spPr>
        <p:txBody>
          <a:bodyPr wrap="square" lIns="0" tIns="0" rIns="0" bIns="0" rtlCol="0" anchor="ctr"/>
          <a:lstStyle/>
          <a:p>
            <a:pPr algn="ctr" indent="0" marL="0">
              <a:buNone/>
            </a:pPr>
            <a:r>
              <a:rPr lang="en-US" sz="1150" b="1" dirty="0">
                <a:solidFill>
                  <a:srgbClr val="132C43"/>
                </a:solidFill>
              </a:rPr>
              <a:t>To Do</a:t>
            </a:r>
            <a:endParaRPr lang="en-US" sz="1150" dirty="0"/>
          </a:p>
        </p:txBody>
      </p:sp>
      <p:sp>
        <p:nvSpPr>
          <p:cNvPr id="9" name="Shape 7"/>
          <p:cNvSpPr/>
          <p:nvPr/>
        </p:nvSpPr>
        <p:spPr>
          <a:xfrm>
            <a:off x="5041270" y="1755648"/>
            <a:ext cx="2109155" cy="329184"/>
          </a:xfrm>
          <a:prstGeom prst="roundRect">
            <a:avLst>
              <a:gd name="adj" fmla="val 13889"/>
            </a:avLst>
          </a:prstGeom>
          <a:solidFill>
            <a:srgbClr val="E3E8EF"/>
          </a:solidFill>
          <a:ln w="12700">
            <a:solidFill>
              <a:srgbClr val="E3E8EF"/>
            </a:solidFill>
            <a:prstDash val="solid"/>
          </a:ln>
        </p:spPr>
      </p:sp>
      <p:sp>
        <p:nvSpPr>
          <p:cNvPr id="10" name="Text 8"/>
          <p:cNvSpPr txBox="1"/>
          <p:nvPr/>
        </p:nvSpPr>
        <p:spPr>
          <a:xfrm>
            <a:off x="5041270" y="1755648"/>
            <a:ext cx="2109155" cy="329184"/>
          </a:xfrm>
          <a:prstGeom prst="rect">
            <a:avLst/>
          </a:prstGeom>
          <a:noFill/>
          <a:ln/>
        </p:spPr>
        <p:txBody>
          <a:bodyPr wrap="square" lIns="0" tIns="0" rIns="0" bIns="0" rtlCol="0" anchor="ctr"/>
          <a:lstStyle/>
          <a:p>
            <a:pPr algn="ctr" indent="0" marL="0">
              <a:buNone/>
            </a:pPr>
            <a:r>
              <a:rPr lang="en-US" sz="1150" b="1" dirty="0">
                <a:solidFill>
                  <a:srgbClr val="132C43"/>
                </a:solidFill>
              </a:rPr>
              <a:t>In Progress</a:t>
            </a:r>
            <a:endParaRPr lang="en-US" sz="1150" dirty="0"/>
          </a:p>
        </p:txBody>
      </p:sp>
      <p:sp>
        <p:nvSpPr>
          <p:cNvPr id="11" name="Shape 9"/>
          <p:cNvSpPr/>
          <p:nvPr/>
        </p:nvSpPr>
        <p:spPr>
          <a:xfrm>
            <a:off x="7241865" y="1755648"/>
            <a:ext cx="2109155" cy="329184"/>
          </a:xfrm>
          <a:prstGeom prst="roundRect">
            <a:avLst>
              <a:gd name="adj" fmla="val 13889"/>
            </a:avLst>
          </a:prstGeom>
          <a:solidFill>
            <a:srgbClr val="E3E8EF"/>
          </a:solidFill>
          <a:ln w="12700">
            <a:solidFill>
              <a:srgbClr val="E3E8EF"/>
            </a:solidFill>
            <a:prstDash val="solid"/>
          </a:ln>
        </p:spPr>
      </p:sp>
      <p:sp>
        <p:nvSpPr>
          <p:cNvPr id="12" name="Text 10"/>
          <p:cNvSpPr txBox="1"/>
          <p:nvPr/>
        </p:nvSpPr>
        <p:spPr>
          <a:xfrm>
            <a:off x="7241865" y="1755648"/>
            <a:ext cx="2109155" cy="329184"/>
          </a:xfrm>
          <a:prstGeom prst="rect">
            <a:avLst/>
          </a:prstGeom>
          <a:noFill/>
          <a:ln/>
        </p:spPr>
        <p:txBody>
          <a:bodyPr wrap="square" lIns="0" tIns="0" rIns="0" bIns="0" rtlCol="0" anchor="ctr"/>
          <a:lstStyle/>
          <a:p>
            <a:pPr algn="ctr" indent="0" marL="0">
              <a:buNone/>
            </a:pPr>
            <a:r>
              <a:rPr lang="en-US" sz="1150" b="1" dirty="0">
                <a:solidFill>
                  <a:srgbClr val="132C43"/>
                </a:solidFill>
              </a:rPr>
              <a:t>Review/Testing</a:t>
            </a:r>
            <a:endParaRPr lang="en-US" sz="1150" dirty="0"/>
          </a:p>
        </p:txBody>
      </p:sp>
      <p:sp>
        <p:nvSpPr>
          <p:cNvPr id="13" name="Shape 11"/>
          <p:cNvSpPr/>
          <p:nvPr/>
        </p:nvSpPr>
        <p:spPr>
          <a:xfrm>
            <a:off x="9442460" y="1755648"/>
            <a:ext cx="2109155" cy="329184"/>
          </a:xfrm>
          <a:prstGeom prst="roundRect">
            <a:avLst>
              <a:gd name="adj" fmla="val 13889"/>
            </a:avLst>
          </a:prstGeom>
          <a:solidFill>
            <a:srgbClr val="132C43"/>
          </a:solidFill>
          <a:ln w="12700">
            <a:solidFill>
              <a:srgbClr val="132C43"/>
            </a:solidFill>
            <a:prstDash val="solid"/>
          </a:ln>
        </p:spPr>
      </p:sp>
      <p:sp>
        <p:nvSpPr>
          <p:cNvPr id="14" name="Text 12"/>
          <p:cNvSpPr txBox="1"/>
          <p:nvPr/>
        </p:nvSpPr>
        <p:spPr>
          <a:xfrm>
            <a:off x="9442460" y="1755648"/>
            <a:ext cx="2109155" cy="329184"/>
          </a:xfrm>
          <a:prstGeom prst="rect">
            <a:avLst/>
          </a:prstGeom>
          <a:noFill/>
          <a:ln/>
        </p:spPr>
        <p:txBody>
          <a:bodyPr wrap="square" lIns="0" tIns="0" rIns="0" bIns="0" rtlCol="0" anchor="ctr"/>
          <a:lstStyle/>
          <a:p>
            <a:pPr algn="ctr" indent="0" marL="0">
              <a:buNone/>
            </a:pPr>
            <a:r>
              <a:rPr lang="en-US" sz="1150" b="1" dirty="0">
                <a:solidFill>
                  <a:srgbClr val="FFFFFF"/>
                </a:solidFill>
              </a:rPr>
              <a:t>Completed</a:t>
            </a:r>
            <a:endParaRPr lang="en-US" sz="1150" dirty="0"/>
          </a:p>
        </p:txBody>
      </p:sp>
      <p:sp>
        <p:nvSpPr>
          <p:cNvPr id="15" name="Text 13"/>
          <p:cNvSpPr txBox="1"/>
          <p:nvPr/>
        </p:nvSpPr>
        <p:spPr>
          <a:xfrm>
            <a:off x="640080" y="2212848"/>
            <a:ext cx="10911535" cy="274320"/>
          </a:xfrm>
          <a:prstGeom prst="rect">
            <a:avLst/>
          </a:prstGeom>
          <a:noFill/>
          <a:ln/>
        </p:spPr>
        <p:txBody>
          <a:bodyPr wrap="square" lIns="0" tIns="0" rIns="0" bIns="0" rtlCol="0" anchor="ctr"/>
          <a:lstStyle/>
          <a:p>
            <a:pPr indent="0" marL="0">
              <a:buNone/>
            </a:pPr>
            <a:r>
              <a:rPr lang="en-US" sz="1200" b="1" dirty="0">
                <a:solidFill>
                  <a:schemeClr val="tx2"/>
                </a:solidFill>
              </a:rPr>
              <a:t>Evidence and activity history:</a:t>
            </a:r>
            <a:endParaRPr lang="en-US" sz="1200" dirty="0"/>
          </a:p>
        </p:txBody>
      </p:sp>
      <p:pic>
        <p:nvPicPr>
          <p:cNvPr id="16" name="Image 0" descr="Project board, table view of the 14 Review 2 tasks: all Completed, each with assignee, linked pull request and due date 11 Oct 2026">    </p:cNvPr>
          <p:cNvPicPr>
            <a:picLocks noChangeAspect="1"/>
          </p:cNvPicPr>
          <p:nvPr/>
        </p:nvPicPr>
        <p:blipFill>
          <a:blip r:embed="rId3"/>
          <a:stretch>
            <a:fillRect/>
          </a:stretch>
        </p:blipFill>
        <p:spPr>
          <a:xfrm>
            <a:off x="954837" y="2560320"/>
            <a:ext cx="10282021" cy="3749040"/>
          </a:xfrm>
          <a:prstGeom prst="rect">
            <a:avLst/>
          </a:prstGeom>
        </p:spPr>
      </p:pic>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14  |  INDIVIDUAL CONTRIBUTIONS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Individual Contributions</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11535" cy="914400"/>
        </p:xfrm>
        <a:graphic>
          <a:graphicData uri="http://schemas.openxmlformats.org/drawingml/2006/table">
            <a:tbl>
              <a:tblPr/>
              <a:tblGrid>
                <a:gridCol w="2240280"/>
                <a:gridCol w="685800"/>
                <a:gridCol w="3931920"/>
                <a:gridCol w="1600200"/>
                <a:gridCol w="2453335"/>
              </a:tblGrid>
              <a:tr h="384048">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Member</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Stage</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Board tasks (all due 11 Oct, all Completed)</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Pull requests (merged)</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Evidence</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777240">
                <a:tc>
                  <a:txBody>
                    <a:bodyPr/>
                    <a:lstStyle/>
                    <a:p>
                      <a:pPr algn="l" indent="0" marL="0">
                        <a:buNone/>
                      </a:pPr>
                      <a:r>
                        <a:rPr lang="en-US" sz="1250" b="1" dirty="0">
                          <a:solidFill>
                            <a:srgbClr val="1F2D3D"/>
                          </a:solidFill>
                          <a:latin typeface="Calibri" pitchFamily="34" charset="0"/>
                          <a:ea typeface="Calibri" pitchFamily="34" charset="-122"/>
                          <a:cs typeface="Calibri" pitchFamily="34" charset="-120"/>
                        </a:rPr>
                        <a:t>Aditya Monish Kumar K - CB.SC.U4CSE23103</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D3D"/>
                          </a:solidFill>
                          <a:latin typeface="Calibri" pitchFamily="34" charset="0"/>
                          <a:ea typeface="Calibri" pitchFamily="34" charset="-122"/>
                          <a:cs typeface="Calibri" pitchFamily="34" charset="-120"/>
                        </a:rPr>
                        <a:t>1 and 6</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#131 time series and patterns, #132 text preprocessing, #133 dashboard skeleton and overview; Stage 6: deck, final report, contribution summary</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#147, #148, #149 (8 Oct)</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scripts 15–16, dashboard/, FINAL_REPORT.md</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685800">
                <a:tc>
                  <a:txBody>
                    <a:bodyPr/>
                    <a:lstStyle/>
                    <a:p>
                      <a:pPr algn="l" indent="0" marL="0">
                        <a:buNone/>
                      </a:pPr>
                      <a:r>
                        <a:rPr lang="en-US" sz="1250" b="1" dirty="0">
                          <a:solidFill>
                            <a:srgbClr val="1F2D3D"/>
                          </a:solidFill>
                          <a:latin typeface="Calibri" pitchFamily="34" charset="0"/>
                          <a:ea typeface="Calibri" pitchFamily="34" charset="-122"/>
                          <a:cs typeface="Calibri" pitchFamily="34" charset="-120"/>
                        </a:rPr>
                        <a:t>Regella Krishna Saketh - CB.SC.U4CSE23649</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r>
                        <a:rPr lang="en-US" sz="1250" dirty="0">
                          <a:solidFill>
                            <a:srgbClr val="1F2D3D"/>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#134 topic modelling and distinctive terms, #136 topic evaluation and interpretation</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#150, #151 (8 Oct)</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scripts 17–18, models/textmining/, TEXT_MINING.md §2–3</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777240">
                <a:tc>
                  <a:txBody>
                    <a:bodyPr/>
                    <a:lstStyle/>
                    <a:p>
                      <a:pPr algn="l" indent="0" marL="0">
                        <a:buNone/>
                      </a:pPr>
                      <a:r>
                        <a:rPr lang="en-US" sz="1250" b="1" dirty="0">
                          <a:solidFill>
                            <a:srgbClr val="1F2D3D"/>
                          </a:solidFill>
                          <a:latin typeface="Calibri" pitchFamily="34" charset="0"/>
                          <a:ea typeface="Calibri" pitchFamily="34" charset="-122"/>
                          <a:cs typeface="Calibri" pitchFamily="34" charset="-120"/>
                        </a:rPr>
                        <a:t>Akshay KS - CB.SC.U4CSE23104</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D3D"/>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#135 ARIMA forecasting with rolling backtest, #139 text-mining dashboard page</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#152, #153 (9 Oct)</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scripts/19_forecasting.py, 20_topic_examples.py, TIME_SERIES.md §2, text_mining.py</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685800">
                <a:tc>
                  <a:txBody>
                    <a:bodyPr/>
                    <a:lstStyle/>
                    <a:p>
                      <a:pPr algn="l" indent="0" marL="0">
                        <a:buNone/>
                      </a:pPr>
                      <a:r>
                        <a:rPr lang="en-US" sz="1250" b="1" dirty="0">
                          <a:solidFill>
                            <a:srgbClr val="1F2D3D"/>
                          </a:solidFill>
                          <a:latin typeface="Calibri" pitchFamily="34" charset="0"/>
                          <a:ea typeface="Calibri" pitchFamily="34" charset="-122"/>
                          <a:cs typeface="Calibri" pitchFamily="34" charset="-120"/>
                        </a:rPr>
                        <a:t>Harshini Vennela - CB.SC.U4CSE23455</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r>
                        <a:rPr lang="en-US" sz="1250" dirty="0">
                          <a:solidFill>
                            <a:srgbClr val="1F2D3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#137 forecast evaluation and alerts, #142 forecast write-up, #146 check-a-review page</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#154, #155, #156 (10 Oct)</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scripts/20_forecast_evaluation.py, TIME_SERIES.md §2.5, check_review.py</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685800">
                <a:tc>
                  <a:txBody>
                    <a:bodyPr/>
                    <a:lstStyle/>
                    <a:p>
                      <a:pPr algn="l" indent="0" marL="0">
                        <a:buNone/>
                      </a:pPr>
                      <a:r>
                        <a:rPr lang="en-US" sz="1250" b="1" dirty="0">
                          <a:solidFill>
                            <a:srgbClr val="1F2D3D"/>
                          </a:solidFill>
                          <a:latin typeface="Calibri" pitchFamily="34" charset="0"/>
                          <a:ea typeface="Calibri" pitchFamily="34" charset="-122"/>
                          <a:cs typeface="Calibri" pitchFamily="34" charset="-120"/>
                        </a:rPr>
                        <a:t>Kanishka D - CB.SC.U4CSE23155</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D3D"/>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#138 update impact, #141 combined insights, #140 three dashboard pages, #143 final notebook</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#157, #158 (11 Oct)</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F2D3D"/>
                          </a:solidFill>
                          <a:latin typeface="Calibri" pitchFamily="34" charset="0"/>
                          <a:ea typeface="Calibri" pitchFamily="34" charset="-122"/>
                          <a:cs typeface="Calibri" pitchFamily="34" charset="-120"/>
                        </a:rPr>
                        <a:t>scripts 21–22, COMBINED_INSIGHTS.md, notebooks/Review_2.ipynb</a:t>
                      </a:r>
                      <a:endParaRPr lang="en-US" sz="12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623560"/>
            <a:ext cx="10911535" cy="68580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b="1" dirty="0">
                <a:solidFill>
                  <a:schemeClr val="tx1"/>
                </a:solidFill>
              </a:rPr>
              <a:t>Activity history: </a:t>
            </a:r>
            <a:pPr indent="0" marL="0">
              <a:lnSpc>
                <a:spcPct val="100000"/>
              </a:lnSpc>
              <a:spcAft>
                <a:spcPts val="600"/>
              </a:spcAft>
              <a:buNone/>
            </a:pPr>
            <a:r>
              <a:rPr lang="en-US" sz="1250" dirty="0">
                <a:solidFill>
                  <a:schemeClr val="tx1"/>
                </a:solidFill>
              </a:rPr>
              <a:t>one stage after another, each merged before the next began (Stages 1–2 on 8 Oct, Stage 3 on 9 Oct, Stage 4 on 10 Oct, Stage 5 on 11 Oct). Each task is linked to a merged pull request, and every card is in Completed.</a:t>
            </a:r>
            <a:endParaRPr lang="en-US" sz="12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15  |  CONCLUSION AND SUBMISSION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Submission Links</a:t>
            </a:r>
            <a:endParaRPr lang="en-US" sz="2800" dirty="0"/>
          </a:p>
        </p:txBody>
      </p:sp>
      <p:sp>
        <p:nvSpPr>
          <p:cNvPr id="4" name="conclusions"/>
          <p:cNvSpPr/>
          <p:nvPr/>
        </p:nvSpPr>
        <p:spPr>
          <a:xfrm>
            <a:off x="640080"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305805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What we found</a:t>
            </a:r>
            <a:endParaRPr lang="en-US" sz="1500" dirty="0"/>
          </a:p>
        </p:txBody>
      </p:sp>
      <p:sp>
        <p:nvSpPr>
          <p:cNvPr id="6" name="Text 4"/>
          <p:cNvSpPr txBox="1"/>
          <p:nvPr/>
        </p:nvSpPr>
        <p:spPr>
          <a:xfrm>
            <a:off x="868680" y="1938528"/>
            <a:ext cx="3058058" cy="4114800"/>
          </a:xfrm>
          <a:prstGeom prst="rect">
            <a:avLst/>
          </a:prstGeom>
          <a:noFill/>
          <a:ln/>
        </p:spPr>
        <p:txBody>
          <a:bodyPr wrap="square" lIns="0" tIns="0" rIns="0" bIns="0" rtlCol="0" anchor="t">
            <a:normAutofit/>
          </a:bodyPr>
          <a:lstStyle/>
          <a:p>
            <a:pPr marL="177800" indent="-177800">
              <a:lnSpc>
                <a:spcPct val="100000"/>
              </a:lnSpc>
              <a:spcAft>
                <a:spcPts val="900"/>
              </a:spcAft>
              <a:buSzPct val="100000"/>
              <a:buChar char="•"/>
            </a:pPr>
            <a:r>
              <a:rPr lang="en-US" sz="1250" dirty="0">
                <a:solidFill>
                  <a:schemeClr val="tx1"/>
                </a:solidFill>
              </a:rPr>
              <a:t>Complaints are mostly about service, not the app: refunds, returns, failed transfers and support lead every domain.</a:t>
            </a:r>
            <a:endParaRPr lang="en-US" sz="1250" dirty="0"/>
          </a:p>
          <a:p>
            <a:pPr marL="177800" indent="-177800">
              <a:lnSpc>
                <a:spcPct val="100000"/>
              </a:lnSpc>
              <a:spcAft>
                <a:spcPts val="900"/>
              </a:spcAft>
              <a:buSzPct val="100000"/>
              <a:buChar char="•"/>
            </a:pPr>
            <a:r>
              <a:rPr lang="en-US" sz="1250" dirty="0">
                <a:solidFill>
                  <a:schemeClr val="tx1"/>
                </a:solidFill>
              </a:rPr>
              <a:t>Topic models cover the 43% of complaints that keyword rules missed.</a:t>
            </a:r>
            <a:endParaRPr lang="en-US" sz="1250" dirty="0"/>
          </a:p>
          <a:p>
            <a:pPr marL="177800" indent="-177800">
              <a:lnSpc>
                <a:spcPct val="100000"/>
              </a:lnSpc>
              <a:spcAft>
                <a:spcPts val="900"/>
              </a:spcAft>
              <a:buSzPct val="100000"/>
              <a:buChar char="•"/>
            </a:pPr>
            <a:r>
              <a:rPr lang="en-US" sz="1250" dirty="0">
                <a:solidFill>
                  <a:schemeClr val="tx1"/>
                </a:solidFill>
              </a:rPr>
              <a:t>ARIMA forecasts 1–2★ reviews better than the baseline for 10 of 11 apps, with honest intervals.</a:t>
            </a:r>
            <a:endParaRPr lang="en-US" sz="1250" dirty="0"/>
          </a:p>
          <a:p>
            <a:pPr marL="177800" indent="-177800">
              <a:lnSpc>
                <a:spcPct val="100000"/>
              </a:lnSpc>
              <a:spcAft>
                <a:spcPts val="900"/>
              </a:spcAft>
              <a:buSzPct val="100000"/>
              <a:buChar char="•"/>
            </a:pPr>
            <a:r>
              <a:rPr lang="en-US" sz="1250" dirty="0">
                <a:solidFill>
                  <a:schemeClr val="tx1"/>
                </a:solidFill>
              </a:rPr>
              <a:t>Most releases change nothing; Paytm 10.84.5 clearly made things worse.</a:t>
            </a:r>
            <a:endParaRPr lang="en-US" sz="1250" dirty="0"/>
          </a:p>
          <a:p>
            <a:pPr marL="177800" indent="-177800">
              <a:lnSpc>
                <a:spcPct val="100000"/>
              </a:lnSpc>
              <a:spcAft>
                <a:spcPts val="900"/>
              </a:spcAft>
              <a:buSzPct val="100000"/>
              <a:buChar char="•"/>
            </a:pPr>
            <a:r>
              <a:rPr lang="en-US" sz="1250" dirty="0">
                <a:solidFill>
                  <a:schemeClr val="tx1"/>
                </a:solidFill>
              </a:rPr>
              <a:t>Fix first: Swiggy, Flipkart, Amazon and Paytm.</a:t>
            </a:r>
            <a:endParaRPr lang="en-US" sz="1250" dirty="0"/>
          </a:p>
        </p:txBody>
      </p:sp>
      <p:sp>
        <p:nvSpPr>
          <p:cNvPr id="7" name="limits"/>
          <p:cNvSpPr/>
          <p:nvPr/>
        </p:nvSpPr>
        <p:spPr>
          <a:xfrm>
            <a:off x="4338218"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Text 6"/>
          <p:cNvSpPr txBox="1"/>
          <p:nvPr/>
        </p:nvSpPr>
        <p:spPr>
          <a:xfrm>
            <a:off x="4566818" y="1536192"/>
            <a:ext cx="305805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Limitations</a:t>
            </a:r>
            <a:endParaRPr lang="en-US" sz="1500" dirty="0"/>
          </a:p>
        </p:txBody>
      </p:sp>
      <p:sp>
        <p:nvSpPr>
          <p:cNvPr id="9" name="Text 7"/>
          <p:cNvSpPr txBox="1"/>
          <p:nvPr/>
        </p:nvSpPr>
        <p:spPr>
          <a:xfrm>
            <a:off x="4566818" y="1938528"/>
            <a:ext cx="3058058" cy="4114800"/>
          </a:xfrm>
          <a:prstGeom prst="rect">
            <a:avLst/>
          </a:prstGeom>
          <a:noFill/>
          <a:ln/>
        </p:spPr>
        <p:txBody>
          <a:bodyPr wrap="square" lIns="0" tIns="0" rIns="0" bIns="0" rtlCol="0" anchor="t">
            <a:normAutofit/>
          </a:bodyPr>
          <a:lstStyle/>
          <a:p>
            <a:pPr marL="177800" indent="-177800">
              <a:lnSpc>
                <a:spcPct val="100000"/>
              </a:lnSpc>
              <a:spcAft>
                <a:spcPts val="900"/>
              </a:spcAft>
              <a:buSzPct val="100000"/>
              <a:buChar char="•"/>
            </a:pPr>
            <a:r>
              <a:rPr lang="en-US" sz="1250" dirty="0">
                <a:solidFill>
                  <a:schemeClr val="tx1"/>
                </a:solidFill>
              </a:rPr>
              <a:t>173 days of data: no yearly pattern, only 9 backtest origins.</a:t>
            </a:r>
            <a:endParaRPr lang="en-US" sz="1250" dirty="0"/>
          </a:p>
          <a:p>
            <a:pPr marL="177800" indent="-177800">
              <a:lnSpc>
                <a:spcPct val="100000"/>
              </a:lnSpc>
              <a:spcAft>
                <a:spcPts val="900"/>
              </a:spcAft>
              <a:buSzPct val="100000"/>
              <a:buChar char="•"/>
            </a:pPr>
            <a:r>
              <a:rPr lang="en-US" sz="1250" dirty="0">
                <a:solidFill>
                  <a:schemeClr val="tx1"/>
                </a:solidFill>
              </a:rPr>
              <a:t>A 1–2★ review is a user's judgement, not a confirmed defect.</a:t>
            </a:r>
            <a:endParaRPr lang="en-US" sz="1250" dirty="0"/>
          </a:p>
          <a:p>
            <a:pPr marL="177800" indent="-177800">
              <a:lnSpc>
                <a:spcPct val="100000"/>
              </a:lnSpc>
              <a:spcAft>
                <a:spcPts val="900"/>
              </a:spcAft>
              <a:buSzPct val="100000"/>
              <a:buChar char="•"/>
            </a:pPr>
            <a:r>
              <a:rPr lang="en-US" sz="1250" dirty="0">
                <a:solidFill>
                  <a:schemeClr val="tx1"/>
                </a:solidFill>
              </a:rPr>
              <a:t>VADER underrates calm technical complaints; topic names are our reading of the top terms.</a:t>
            </a:r>
            <a:endParaRPr lang="en-US" sz="1250" dirty="0"/>
          </a:p>
          <a:p>
            <a:pPr marL="177800" indent="-177800">
              <a:lnSpc>
                <a:spcPct val="100000"/>
              </a:lnSpc>
              <a:spcAft>
                <a:spcPts val="900"/>
              </a:spcAft>
              <a:buSzPct val="100000"/>
              <a:buChar char="•"/>
            </a:pPr>
            <a:r>
              <a:rPr lang="en-US" sz="1250" dirty="0">
                <a:solidFill>
                  <a:schemeClr val="tx1"/>
                </a:solidFill>
              </a:rPr>
              <a:t>Users choose when to update, and three of the worse releases overlap the feed gap.</a:t>
            </a:r>
            <a:endParaRPr lang="en-US" sz="1250" dirty="0"/>
          </a:p>
          <a:p>
            <a:pPr marL="177800" indent="-177800">
              <a:lnSpc>
                <a:spcPct val="100000"/>
              </a:lnSpc>
              <a:spcAft>
                <a:spcPts val="900"/>
              </a:spcAft>
              <a:buSzPct val="100000"/>
              <a:buChar char="•"/>
            </a:pPr>
            <a:r>
              <a:rPr lang="en-US" sz="1250" dirty="0">
                <a:solidFill>
                  <a:schemeClr val="tx1"/>
                </a:solidFill>
              </a:rPr>
              <a:t>Counts follow app traffic and campaigns that the models do not see.</a:t>
            </a:r>
            <a:endParaRPr lang="en-US" sz="1250" dirty="0"/>
          </a:p>
        </p:txBody>
      </p:sp>
      <p:sp>
        <p:nvSpPr>
          <p:cNvPr id="10" name="links"/>
          <p:cNvSpPr/>
          <p:nvPr/>
        </p:nvSpPr>
        <p:spPr>
          <a:xfrm>
            <a:off x="8036357"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1" name="Text 9"/>
          <p:cNvSpPr txBox="1"/>
          <p:nvPr/>
        </p:nvSpPr>
        <p:spPr>
          <a:xfrm>
            <a:off x="8264957" y="1536192"/>
            <a:ext cx="305805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Submission links</a:t>
            </a:r>
            <a:endParaRPr lang="en-US" sz="1500" dirty="0"/>
          </a:p>
        </p:txBody>
      </p:sp>
      <p:sp>
        <p:nvSpPr>
          <p:cNvPr id="12" name="Text 10"/>
          <p:cNvSpPr txBox="1"/>
          <p:nvPr/>
        </p:nvSpPr>
        <p:spPr>
          <a:xfrm>
            <a:off x="8264957" y="1965960"/>
            <a:ext cx="3058058" cy="594360"/>
          </a:xfrm>
          <a:prstGeom prst="rect">
            <a:avLst/>
          </a:prstGeom>
          <a:noFill/>
          <a:ln/>
        </p:spPr>
        <p:txBody>
          <a:bodyPr wrap="square" lIns="0" tIns="0" rIns="0" bIns="0" rtlCol="0" anchor="t"/>
          <a:lstStyle/>
          <a:p>
            <a:pPr indent="0" marL="0">
              <a:buNone/>
            </a:pPr>
            <a:r>
              <a:rPr lang="en-US" sz="1200" b="1" dirty="0">
                <a:solidFill>
                  <a:schemeClr val="tx2"/>
                </a:solidFill>
              </a:rPr>
              <a:t>Live dashboard</a:t>
            </a:r>
            <a:endParaRPr lang="en-US" sz="1200" dirty="0"/>
          </a:p>
          <a:p>
            <a:pPr indent="0" marL="0">
              <a:buNone/>
            </a:pPr>
            <a:r>
              <a:rPr lang="en-US" sz="12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team10-app-reviews.streamlit.app</a:t>
            </a:r>
            <a:endParaRPr lang="en-US" sz="1200" dirty="0"/>
          </a:p>
        </p:txBody>
      </p:sp>
      <p:sp>
        <p:nvSpPr>
          <p:cNvPr id="13" name="Text 11"/>
          <p:cNvSpPr txBox="1"/>
          <p:nvPr/>
        </p:nvSpPr>
        <p:spPr>
          <a:xfrm>
            <a:off x="8264957" y="2633472"/>
            <a:ext cx="3058058" cy="594360"/>
          </a:xfrm>
          <a:prstGeom prst="rect">
            <a:avLst/>
          </a:prstGeom>
          <a:noFill/>
          <a:ln/>
        </p:spPr>
        <p:txBody>
          <a:bodyPr wrap="square" lIns="0" tIns="0" rIns="0" bIns="0" rtlCol="0" anchor="t"/>
          <a:lstStyle/>
          <a:p>
            <a:pPr indent="0" marL="0">
              <a:buNone/>
            </a:pPr>
            <a:r>
              <a:rPr lang="en-US" sz="1200" b="1" dirty="0">
                <a:solidFill>
                  <a:schemeClr val="tx2"/>
                </a:solidFill>
              </a:rPr>
              <a:t>Final notebook</a:t>
            </a:r>
            <a:endParaRPr lang="en-US" sz="1200" dirty="0"/>
          </a:p>
          <a:p>
            <a:pPr indent="0" marL="0">
              <a:buNone/>
            </a:pPr>
            <a:r>
              <a:rPr lang="en-US" sz="12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notebooks/Review_2.ipynb</a:t>
            </a:r>
            <a:endParaRPr lang="en-US" sz="1200" dirty="0"/>
          </a:p>
        </p:txBody>
      </p:sp>
      <p:sp>
        <p:nvSpPr>
          <p:cNvPr id="14" name="Text 12"/>
          <p:cNvSpPr txBox="1"/>
          <p:nvPr/>
        </p:nvSpPr>
        <p:spPr>
          <a:xfrm>
            <a:off x="8264957" y="3300984"/>
            <a:ext cx="3058058" cy="594360"/>
          </a:xfrm>
          <a:prstGeom prst="rect">
            <a:avLst/>
          </a:prstGeom>
          <a:noFill/>
          <a:ln/>
        </p:spPr>
        <p:txBody>
          <a:bodyPr wrap="square" lIns="0" tIns="0" rIns="0" bIns="0" rtlCol="0" anchor="t"/>
          <a:lstStyle/>
          <a:p>
            <a:pPr indent="0" marL="0">
              <a:buNone/>
            </a:pPr>
            <a:r>
              <a:rPr lang="en-US" sz="1200" b="1" dirty="0">
                <a:solidFill>
                  <a:schemeClr val="tx2"/>
                </a:solidFill>
              </a:rPr>
              <a:t>Final report</a:t>
            </a:r>
            <a:endParaRPr lang="en-US" sz="1200" dirty="0"/>
          </a:p>
          <a:p>
            <a:pPr indent="0" marL="0">
              <a:buNone/>
            </a:pPr>
            <a:r>
              <a:rPr lang="en-US" sz="1200"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FINAL_REPORT.md</a:t>
            </a:r>
            <a:endParaRPr lang="en-US" sz="1200" dirty="0"/>
          </a:p>
        </p:txBody>
      </p:sp>
      <p:sp>
        <p:nvSpPr>
          <p:cNvPr id="15" name="Text 13"/>
          <p:cNvSpPr txBox="1"/>
          <p:nvPr/>
        </p:nvSpPr>
        <p:spPr>
          <a:xfrm>
            <a:off x="8264957" y="3968496"/>
            <a:ext cx="3058058" cy="594360"/>
          </a:xfrm>
          <a:prstGeom prst="rect">
            <a:avLst/>
          </a:prstGeom>
          <a:noFill/>
          <a:ln/>
        </p:spPr>
        <p:txBody>
          <a:bodyPr wrap="square" lIns="0" tIns="0" rIns="0" bIns="0" rtlCol="0" anchor="t"/>
          <a:lstStyle/>
          <a:p>
            <a:pPr indent="0" marL="0">
              <a:buNone/>
            </a:pPr>
            <a:r>
              <a:rPr lang="en-US" sz="1200" b="1" dirty="0">
                <a:solidFill>
                  <a:schemeClr val="tx2"/>
                </a:solidFill>
              </a:rPr>
              <a:t>Contribution summary</a:t>
            </a:r>
            <a:endParaRPr lang="en-US" sz="1200" dirty="0"/>
          </a:p>
          <a:p>
            <a:pPr indent="0" marL="0">
              <a:buNone/>
            </a:pPr>
            <a:r>
              <a:rPr lang="en-US" sz="1200"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docs/Review_2_Contribution_Summary.md</a:t>
            </a:r>
            <a:endParaRPr lang="en-US" sz="1200" dirty="0"/>
          </a:p>
        </p:txBody>
      </p:sp>
      <p:sp>
        <p:nvSpPr>
          <p:cNvPr id="16" name="Text 14"/>
          <p:cNvSpPr txBox="1"/>
          <p:nvPr/>
        </p:nvSpPr>
        <p:spPr>
          <a:xfrm>
            <a:off x="8264957" y="4636008"/>
            <a:ext cx="3058058" cy="594360"/>
          </a:xfrm>
          <a:prstGeom prst="rect">
            <a:avLst/>
          </a:prstGeom>
          <a:noFill/>
          <a:ln/>
        </p:spPr>
        <p:txBody>
          <a:bodyPr wrap="square" lIns="0" tIns="0" rIns="0" bIns="0" rtlCol="0" anchor="t"/>
          <a:lstStyle/>
          <a:p>
            <a:pPr indent="0" marL="0">
              <a:buNone/>
            </a:pPr>
            <a:r>
              <a:rPr lang="en-US" sz="1200" b="1" dirty="0">
                <a:solidFill>
                  <a:schemeClr val="tx2"/>
                </a:solidFill>
              </a:rPr>
              <a:t>Project board</a:t>
            </a:r>
            <a:endParaRPr lang="en-US" sz="1200" dirty="0"/>
          </a:p>
          <a:p>
            <a:pPr indent="0" marL="0">
              <a:buNone/>
            </a:pPr>
            <a:r>
              <a:rPr lang="en-US" sz="1200"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github.com/users/…/projects/4</a:t>
            </a:r>
            <a:endParaRPr lang="en-US" sz="1200" dirty="0"/>
          </a:p>
        </p:txBody>
      </p:sp>
      <p:sp>
        <p:nvSpPr>
          <p:cNvPr id="17" name="Text 15"/>
          <p:cNvSpPr txBox="1"/>
          <p:nvPr/>
        </p:nvSpPr>
        <p:spPr>
          <a:xfrm>
            <a:off x="8264957" y="5303520"/>
            <a:ext cx="3058058" cy="594360"/>
          </a:xfrm>
          <a:prstGeom prst="rect">
            <a:avLst/>
          </a:prstGeom>
          <a:noFill/>
          <a:ln/>
        </p:spPr>
        <p:txBody>
          <a:bodyPr wrap="square" lIns="0" tIns="0" rIns="0" bIns="0" rtlCol="0" anchor="t"/>
          <a:lstStyle/>
          <a:p>
            <a:pPr indent="0" marL="0">
              <a:buNone/>
            </a:pPr>
            <a:r>
              <a:rPr lang="en-US" sz="1200" b="1" dirty="0">
                <a:solidFill>
                  <a:schemeClr val="tx2"/>
                </a:solidFill>
              </a:rPr>
              <a:t>Repository</a:t>
            </a:r>
            <a:endParaRPr lang="en-US" sz="1200" dirty="0"/>
          </a:p>
          <a:p>
            <a:pPr indent="0" marL="0">
              <a:buNone/>
            </a:pPr>
            <a:r>
              <a:rPr lang="en-US" sz="1200"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ba-capstone-app-reviews</a:t>
            </a:r>
            <a:endParaRPr lang="en-US" sz="12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Team 10 Review">
  <a:themeElements>
    <a:clrScheme name="Team 10 Review">
      <a:dk1>
        <a:srgbClr val="1F2D3D"/>
      </a:dk1>
      <a:lt1>
        <a:srgbClr val="FFFFFF"/>
      </a:lt1>
      <a:dk2>
        <a:srgbClr val="132C43"/>
      </a:dk2>
      <a:lt2>
        <a:srgbClr val="F7F9FC"/>
      </a:lt2>
      <a:accent1>
        <a:srgbClr val="2A78D6"/>
      </a:accent1>
      <a:accent2>
        <a:srgbClr val="EB6834"/>
      </a:accent2>
      <a:accent3>
        <a:srgbClr val="1BAF7A"/>
      </a:accent3>
      <a:accent4>
        <a:srgbClr val="EDA100"/>
      </a:accent4>
      <a:accent5>
        <a:srgbClr val="C93A39"/>
      </a:accent5>
      <a:accent6>
        <a:srgbClr val="48677E"/>
      </a:accent6>
      <a:hlink>
        <a:srgbClr val="2A78D6"/>
      </a:hlink>
      <a:folHlink>
        <a:srgbClr val="48677E"/>
      </a:folHlink>
    </a:clrScheme>
    <a:fontScheme name="Team 10 Re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23CSE452 Business Analytics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Mobile App Update Impact and Failure Detection: Review 2</dc:title>
  <dc:subject>PptxGenJS Presentation</dc:subject>
  <dc:creator>Team 10</dc:creator>
  <cp:lastModifiedBy>Team 10</cp:lastModifiedBy>
  <cp:revision>1</cp:revision>
  <dcterms:created xsi:type="dcterms:W3CDTF">2026-10-13T17:14:20Z</dcterms:created>
  <dcterms:modified xsi:type="dcterms:W3CDTF">2026-10-13T17:14:20Z</dcterms:modified>
</cp:coreProperties>
</file>