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Lora Bold" charset="1" panose="00000800000000000000"/>
      <p:regular r:id="rId23"/>
    </p:embeddedFont>
    <p:embeddedFont>
      <p:font typeface="Lora" charset="1" panose="00000500000000000000"/>
      <p:regular r:id="rId24"/>
    </p:embeddedFont>
    <p:embeddedFont>
      <p:font typeface="Lora Italics" charset="1" panose="00000500000000000000"/>
      <p:regular r:id="rId25"/>
    </p:embeddedFont>
    <p:embeddedFont>
      <p:font typeface="Arimo" charset="1" panose="020B0604020202020204"/>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F7FCFA"/>
        </a:solidFill>
      </p:bgPr>
    </p:bg>
    <p:spTree>
      <p:nvGrpSpPr>
        <p:cNvPr id="1" name=""/>
        <p:cNvGrpSpPr/>
        <p:nvPr/>
      </p:nvGrpSpPr>
      <p:grpSpPr>
        <a:xfrm>
          <a:off x="0" y="0"/>
          <a:ext cx="0" cy="0"/>
          <a:chOff x="0" y="0"/>
          <a:chExt cx="0" cy="0"/>
        </a:xfrm>
      </p:grpSpPr>
      <p:sp>
        <p:nvSpPr>
          <p:cNvPr name="TextBox 2" id="2"/>
          <p:cNvSpPr txBox="true"/>
          <p:nvPr/>
        </p:nvSpPr>
        <p:spPr>
          <a:xfrm rot="0">
            <a:off x="913600" y="1476785"/>
            <a:ext cx="17374400" cy="876300"/>
          </a:xfrm>
          <a:prstGeom prst="rect">
            <a:avLst/>
          </a:prstGeom>
        </p:spPr>
        <p:txBody>
          <a:bodyPr anchor="t" rtlCol="false" tIns="0" lIns="0" bIns="0" rIns="0">
            <a:spAutoFit/>
          </a:bodyPr>
          <a:lstStyle/>
          <a:p>
            <a:pPr algn="l">
              <a:lnSpc>
                <a:spcPts val="6845"/>
              </a:lnSpc>
            </a:pPr>
            <a:r>
              <a:rPr lang="en-US" sz="5704" b="true">
                <a:solidFill>
                  <a:srgbClr val="000000"/>
                </a:solidFill>
                <a:latin typeface="Lora Bold"/>
                <a:ea typeface="Lora Bold"/>
                <a:cs typeface="Lora Bold"/>
                <a:sym typeface="Lora Bold"/>
              </a:rPr>
              <a:t>Mobile App Update: Impact &amp; Failure Detection</a:t>
            </a:r>
          </a:p>
        </p:txBody>
      </p:sp>
      <p:sp>
        <p:nvSpPr>
          <p:cNvPr name="TextBox 3" id="3"/>
          <p:cNvSpPr txBox="true"/>
          <p:nvPr/>
        </p:nvSpPr>
        <p:spPr>
          <a:xfrm rot="0">
            <a:off x="913600" y="2790349"/>
            <a:ext cx="16292065" cy="409575"/>
          </a:xfrm>
          <a:prstGeom prst="rect">
            <a:avLst/>
          </a:prstGeom>
        </p:spPr>
        <p:txBody>
          <a:bodyPr anchor="t" rtlCol="false" tIns="0" lIns="0" bIns="0" rIns="0">
            <a:spAutoFit/>
          </a:bodyPr>
          <a:lstStyle/>
          <a:p>
            <a:pPr algn="l">
              <a:lnSpc>
                <a:spcPts val="3242"/>
              </a:lnSpc>
            </a:pPr>
            <a:r>
              <a:rPr lang="en-US" sz="2702">
                <a:solidFill>
                  <a:srgbClr val="000000"/>
                </a:solidFill>
                <a:latin typeface="Lora"/>
                <a:ea typeface="Lora"/>
                <a:cs typeface="Lora"/>
                <a:sym typeface="Lora"/>
              </a:rPr>
              <a:t>23CSE452 Business Analytics</a:t>
            </a:r>
          </a:p>
        </p:txBody>
      </p:sp>
      <p:sp>
        <p:nvSpPr>
          <p:cNvPr name="TextBox 4" id="4"/>
          <p:cNvSpPr txBox="true"/>
          <p:nvPr/>
        </p:nvSpPr>
        <p:spPr>
          <a:xfrm rot="0">
            <a:off x="913600" y="4712084"/>
            <a:ext cx="5310692" cy="361950"/>
          </a:xfrm>
          <a:prstGeom prst="rect">
            <a:avLst/>
          </a:prstGeom>
        </p:spPr>
        <p:txBody>
          <a:bodyPr anchor="t" rtlCol="false" tIns="0" lIns="0" bIns="0" rIns="0">
            <a:spAutoFit/>
          </a:bodyPr>
          <a:lstStyle/>
          <a:p>
            <a:pPr algn="l">
              <a:lnSpc>
                <a:spcPts val="2882"/>
              </a:lnSpc>
            </a:pPr>
            <a:r>
              <a:rPr lang="en-US" sz="2401" b="true">
                <a:solidFill>
                  <a:srgbClr val="000000"/>
                </a:solidFill>
                <a:latin typeface="Lora Bold"/>
                <a:ea typeface="Lora Bold"/>
                <a:cs typeface="Lora Bold"/>
                <a:sym typeface="Lora Bold"/>
              </a:rPr>
              <a:t>Team 10</a:t>
            </a:r>
          </a:p>
        </p:txBody>
      </p:sp>
      <p:graphicFrame>
        <p:nvGraphicFramePr>
          <p:cNvPr name="Table 5" id="5"/>
          <p:cNvGraphicFramePr>
            <a:graphicFrameLocks noGrp="true"/>
          </p:cNvGraphicFramePr>
          <p:nvPr/>
        </p:nvGraphicFramePr>
        <p:xfrm>
          <a:off x="823603" y="5284789"/>
          <a:ext cx="8516870" cy="3343275"/>
        </p:xfrm>
        <a:graphic>
          <a:graphicData uri="http://schemas.openxmlformats.org/drawingml/2006/table">
            <a:tbl>
              <a:tblPr/>
              <a:tblGrid>
                <a:gridCol w="3571940"/>
                <a:gridCol w="4944931"/>
              </a:tblGrid>
              <a:tr h="557213">
                <a:tc>
                  <a:txBody>
                    <a:bodyPr anchor="t" rtlCol="false"/>
                    <a:lstStyle/>
                    <a:p>
                      <a:pPr algn="ctr">
                        <a:lnSpc>
                          <a:spcPts val="2521"/>
                        </a:lnSpc>
                        <a:defRPr/>
                      </a:pPr>
                      <a:r>
                        <a:rPr lang="en-US" sz="2101" b="true">
                          <a:solidFill>
                            <a:srgbClr val="000000"/>
                          </a:solidFill>
                          <a:latin typeface="Lora Bold"/>
                          <a:ea typeface="Lora Bold"/>
                          <a:cs typeface="Lora Bold"/>
                          <a:sym typeface="Lora Bold"/>
                        </a:rPr>
                        <a:t>Roll number</a:t>
                      </a:r>
                      <a:endParaRPr lang="en-US" sz="1100"/>
                    </a:p>
                  </a:txBody>
                  <a:tcPr marL="36720" marR="36720" marT="36720" marB="3672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521"/>
                        </a:lnSpc>
                        <a:defRPr/>
                      </a:pPr>
                      <a:r>
                        <a:rPr lang="en-US" sz="2101" b="true">
                          <a:solidFill>
                            <a:srgbClr val="000000"/>
                          </a:solidFill>
                          <a:latin typeface="Lora Bold"/>
                          <a:ea typeface="Lora Bold"/>
                          <a:cs typeface="Lora Bold"/>
                          <a:sym typeface="Lora Bold"/>
                        </a:rPr>
                        <a:t>Name</a:t>
                      </a:r>
                      <a:endParaRPr lang="en-US" sz="1100"/>
                    </a:p>
                  </a:txBody>
                  <a:tcPr marL="36720" marR="36720" marT="36720" marB="3672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557213">
                <a:tc>
                  <a:txBody>
                    <a:bodyPr anchor="t" rtlCol="false"/>
                    <a:lstStyle/>
                    <a:p>
                      <a:pPr algn="ctr">
                        <a:lnSpc>
                          <a:spcPts val="2521"/>
                        </a:lnSpc>
                        <a:defRPr/>
                      </a:pPr>
                      <a:r>
                        <a:rPr lang="en-US" sz="2101">
                          <a:solidFill>
                            <a:srgbClr val="000000"/>
                          </a:solidFill>
                          <a:latin typeface="Lora"/>
                          <a:ea typeface="Lora"/>
                          <a:cs typeface="Lora"/>
                          <a:sym typeface="Lora"/>
                        </a:rPr>
                        <a:t>CB.SC.U4CSE23103</a:t>
                      </a:r>
                      <a:endParaRPr lang="en-US" sz="1100"/>
                    </a:p>
                  </a:txBody>
                  <a:tcPr marL="36720" marR="36720" marT="36720" marB="3672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BFBFBF"/>
                      </a:solidFill>
                      <a:prstDash val="solid"/>
                      <a:round/>
                      <a:headEnd type="none" w="med" len="med"/>
                      <a:tailEnd type="none" w="med" len="med"/>
                    </a:lnB>
                  </a:tcPr>
                </a:tc>
                <a:tc>
                  <a:txBody>
                    <a:bodyPr anchor="t" rtlCol="false"/>
                    <a:lstStyle/>
                    <a:p>
                      <a:pPr algn="ctr">
                        <a:lnSpc>
                          <a:spcPts val="2521"/>
                        </a:lnSpc>
                        <a:defRPr/>
                      </a:pPr>
                      <a:r>
                        <a:rPr lang="en-US" sz="2101">
                          <a:solidFill>
                            <a:srgbClr val="000000"/>
                          </a:solidFill>
                          <a:latin typeface="Lora"/>
                          <a:ea typeface="Lora"/>
                          <a:cs typeface="Lora"/>
                          <a:sym typeface="Lora"/>
                        </a:rPr>
                        <a:t>Aditya Monish Kumar K</a:t>
                      </a:r>
                      <a:endParaRPr lang="en-US" sz="1100"/>
                    </a:p>
                  </a:txBody>
                  <a:tcPr marL="36720" marR="36720" marT="36720" marB="3672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BFBFBF"/>
                      </a:solidFill>
                      <a:prstDash val="solid"/>
                      <a:round/>
                      <a:headEnd type="none" w="med" len="med"/>
                      <a:tailEnd type="none" w="med" len="med"/>
                    </a:lnB>
                  </a:tcPr>
                </a:tc>
              </a:tr>
              <a:tr h="557213">
                <a:tc>
                  <a:txBody>
                    <a:bodyPr anchor="t" rtlCol="false"/>
                    <a:lstStyle/>
                    <a:p>
                      <a:pPr algn="ctr">
                        <a:lnSpc>
                          <a:spcPts val="2521"/>
                        </a:lnSpc>
                        <a:defRPr/>
                      </a:pPr>
                      <a:r>
                        <a:rPr lang="en-US" sz="2101">
                          <a:solidFill>
                            <a:srgbClr val="000000"/>
                          </a:solidFill>
                          <a:latin typeface="Lora"/>
                          <a:ea typeface="Lora"/>
                          <a:cs typeface="Lora"/>
                          <a:sym typeface="Lora"/>
                        </a:rPr>
                        <a:t>CB.SC.U4CSE23649</a:t>
                      </a:r>
                      <a:endParaRPr lang="en-US" sz="1100"/>
                    </a:p>
                  </a:txBody>
                  <a:tcPr marL="36720" marR="36720" marT="36720" marB="3672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BFBFBF"/>
                      </a:solidFill>
                      <a:prstDash val="solid"/>
                      <a:round/>
                      <a:headEnd type="none" w="med" len="med"/>
                      <a:tailEnd type="none" w="med" len="med"/>
                    </a:lnT>
                    <a:lnB cmpd="sng" algn="ctr" cap="flat" w="28575">
                      <a:solidFill>
                        <a:srgbClr val="BFBFBF"/>
                      </a:solidFill>
                      <a:prstDash val="solid"/>
                      <a:round/>
                      <a:headEnd type="none" w="med" len="med"/>
                      <a:tailEnd type="none" w="med" len="med"/>
                    </a:lnB>
                  </a:tcPr>
                </a:tc>
                <a:tc>
                  <a:txBody>
                    <a:bodyPr anchor="t" rtlCol="false"/>
                    <a:lstStyle/>
                    <a:p>
                      <a:pPr algn="ctr">
                        <a:lnSpc>
                          <a:spcPts val="2521"/>
                        </a:lnSpc>
                        <a:defRPr/>
                      </a:pPr>
                      <a:r>
                        <a:rPr lang="en-US" sz="2101">
                          <a:solidFill>
                            <a:srgbClr val="000000"/>
                          </a:solidFill>
                          <a:latin typeface="Lora"/>
                          <a:ea typeface="Lora"/>
                          <a:cs typeface="Lora"/>
                          <a:sym typeface="Lora"/>
                        </a:rPr>
                        <a:t>Regella Krishna Saketh</a:t>
                      </a:r>
                      <a:endParaRPr lang="en-US" sz="1100"/>
                    </a:p>
                  </a:txBody>
                  <a:tcPr marL="36720" marR="36720" marT="36720" marB="3672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BFBFBF"/>
                      </a:solidFill>
                      <a:prstDash val="solid"/>
                      <a:round/>
                      <a:headEnd type="none" w="med" len="med"/>
                      <a:tailEnd type="none" w="med" len="med"/>
                    </a:lnT>
                    <a:lnB cmpd="sng" algn="ctr" cap="flat" w="28575">
                      <a:solidFill>
                        <a:srgbClr val="BFBFBF"/>
                      </a:solidFill>
                      <a:prstDash val="solid"/>
                      <a:round/>
                      <a:headEnd type="none" w="med" len="med"/>
                      <a:tailEnd type="none" w="med" len="med"/>
                    </a:lnB>
                  </a:tcPr>
                </a:tc>
              </a:tr>
              <a:tr h="557213">
                <a:tc>
                  <a:txBody>
                    <a:bodyPr anchor="t" rtlCol="false"/>
                    <a:lstStyle/>
                    <a:p>
                      <a:pPr algn="ctr">
                        <a:lnSpc>
                          <a:spcPts val="2521"/>
                        </a:lnSpc>
                        <a:defRPr/>
                      </a:pPr>
                      <a:r>
                        <a:rPr lang="en-US" sz="2101">
                          <a:solidFill>
                            <a:srgbClr val="000000"/>
                          </a:solidFill>
                          <a:latin typeface="Lora"/>
                          <a:ea typeface="Lora"/>
                          <a:cs typeface="Lora"/>
                          <a:sym typeface="Lora"/>
                        </a:rPr>
                        <a:t>CB.SC.U4CSE23104</a:t>
                      </a:r>
                      <a:endParaRPr lang="en-US" sz="1100"/>
                    </a:p>
                  </a:txBody>
                  <a:tcPr marL="36720" marR="36720" marT="36720" marB="3672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BFBFBF"/>
                      </a:solidFill>
                      <a:prstDash val="solid"/>
                      <a:round/>
                      <a:headEnd type="none" w="med" len="med"/>
                      <a:tailEnd type="none" w="med" len="med"/>
                    </a:lnT>
                    <a:lnB cmpd="sng" algn="ctr" cap="flat" w="28575">
                      <a:solidFill>
                        <a:srgbClr val="BFBFBF"/>
                      </a:solidFill>
                      <a:prstDash val="solid"/>
                      <a:round/>
                      <a:headEnd type="none" w="med" len="med"/>
                      <a:tailEnd type="none" w="med" len="med"/>
                    </a:lnB>
                  </a:tcPr>
                </a:tc>
                <a:tc>
                  <a:txBody>
                    <a:bodyPr anchor="t" rtlCol="false"/>
                    <a:lstStyle/>
                    <a:p>
                      <a:pPr algn="ctr">
                        <a:lnSpc>
                          <a:spcPts val="2521"/>
                        </a:lnSpc>
                        <a:defRPr/>
                      </a:pPr>
                      <a:r>
                        <a:rPr lang="en-US" sz="2101">
                          <a:solidFill>
                            <a:srgbClr val="000000"/>
                          </a:solidFill>
                          <a:latin typeface="Lora"/>
                          <a:ea typeface="Lora"/>
                          <a:cs typeface="Lora"/>
                          <a:sym typeface="Lora"/>
                        </a:rPr>
                        <a:t>Akshay KS</a:t>
                      </a:r>
                      <a:endParaRPr lang="en-US" sz="1100"/>
                    </a:p>
                  </a:txBody>
                  <a:tcPr marL="36720" marR="36720" marT="36720" marB="3672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BFBFBF"/>
                      </a:solidFill>
                      <a:prstDash val="solid"/>
                      <a:round/>
                      <a:headEnd type="none" w="med" len="med"/>
                      <a:tailEnd type="none" w="med" len="med"/>
                    </a:lnT>
                    <a:lnB cmpd="sng" algn="ctr" cap="flat" w="28575">
                      <a:solidFill>
                        <a:srgbClr val="BFBFBF"/>
                      </a:solidFill>
                      <a:prstDash val="solid"/>
                      <a:round/>
                      <a:headEnd type="none" w="med" len="med"/>
                      <a:tailEnd type="none" w="med" len="med"/>
                    </a:lnB>
                  </a:tcPr>
                </a:tc>
              </a:tr>
              <a:tr h="557213">
                <a:tc>
                  <a:txBody>
                    <a:bodyPr anchor="t" rtlCol="false"/>
                    <a:lstStyle/>
                    <a:p>
                      <a:pPr algn="ctr">
                        <a:lnSpc>
                          <a:spcPts val="2521"/>
                        </a:lnSpc>
                        <a:defRPr/>
                      </a:pPr>
                      <a:r>
                        <a:rPr lang="en-US" sz="2101">
                          <a:solidFill>
                            <a:srgbClr val="000000"/>
                          </a:solidFill>
                          <a:latin typeface="Lora"/>
                          <a:ea typeface="Lora"/>
                          <a:cs typeface="Lora"/>
                          <a:sym typeface="Lora"/>
                        </a:rPr>
                        <a:t>CB.SC.U4CSE23455</a:t>
                      </a:r>
                      <a:endParaRPr lang="en-US" sz="1100"/>
                    </a:p>
                  </a:txBody>
                  <a:tcPr marL="36720" marR="36720" marT="36720" marB="3672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BFBFBF"/>
                      </a:solidFill>
                      <a:prstDash val="solid"/>
                      <a:round/>
                      <a:headEnd type="none" w="med" len="med"/>
                      <a:tailEnd type="none" w="med" len="med"/>
                    </a:lnT>
                    <a:lnB cmpd="sng" algn="ctr" cap="flat" w="28575">
                      <a:solidFill>
                        <a:srgbClr val="BFBFBF"/>
                      </a:solidFill>
                      <a:prstDash val="solid"/>
                      <a:round/>
                      <a:headEnd type="none" w="med" len="med"/>
                      <a:tailEnd type="none" w="med" len="med"/>
                    </a:lnB>
                  </a:tcPr>
                </a:tc>
                <a:tc>
                  <a:txBody>
                    <a:bodyPr anchor="t" rtlCol="false"/>
                    <a:lstStyle/>
                    <a:p>
                      <a:pPr algn="ctr">
                        <a:lnSpc>
                          <a:spcPts val="2521"/>
                        </a:lnSpc>
                        <a:defRPr/>
                      </a:pPr>
                      <a:r>
                        <a:rPr lang="en-US" sz="2101">
                          <a:solidFill>
                            <a:srgbClr val="000000"/>
                          </a:solidFill>
                          <a:latin typeface="Lora"/>
                          <a:ea typeface="Lora"/>
                          <a:cs typeface="Lora"/>
                          <a:sym typeface="Lora"/>
                        </a:rPr>
                        <a:t>Harshini Vennela</a:t>
                      </a:r>
                      <a:endParaRPr lang="en-US" sz="1100"/>
                    </a:p>
                  </a:txBody>
                  <a:tcPr marL="36720" marR="36720" marT="36720" marB="3672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BFBFBF"/>
                      </a:solidFill>
                      <a:prstDash val="solid"/>
                      <a:round/>
                      <a:headEnd type="none" w="med" len="med"/>
                      <a:tailEnd type="none" w="med" len="med"/>
                    </a:lnT>
                    <a:lnB cmpd="sng" algn="ctr" cap="flat" w="28575">
                      <a:solidFill>
                        <a:srgbClr val="BFBFBF"/>
                      </a:solidFill>
                      <a:prstDash val="solid"/>
                      <a:round/>
                      <a:headEnd type="none" w="med" len="med"/>
                      <a:tailEnd type="none" w="med" len="med"/>
                    </a:lnB>
                  </a:tcPr>
                </a:tc>
              </a:tr>
              <a:tr h="557213">
                <a:tc>
                  <a:txBody>
                    <a:bodyPr anchor="t" rtlCol="false"/>
                    <a:lstStyle/>
                    <a:p>
                      <a:pPr algn="ctr">
                        <a:lnSpc>
                          <a:spcPts val="2521"/>
                        </a:lnSpc>
                        <a:defRPr/>
                      </a:pPr>
                      <a:r>
                        <a:rPr lang="en-US" sz="2101">
                          <a:solidFill>
                            <a:srgbClr val="000000"/>
                          </a:solidFill>
                          <a:latin typeface="Lora"/>
                          <a:ea typeface="Lora"/>
                          <a:cs typeface="Lora"/>
                          <a:sym typeface="Lora"/>
                        </a:rPr>
                        <a:t>CB.SC.U4CSE23155</a:t>
                      </a:r>
                      <a:endParaRPr lang="en-US" sz="1100"/>
                    </a:p>
                  </a:txBody>
                  <a:tcPr marL="36720" marR="36720" marT="36720" marB="3672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BFBFBF"/>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521"/>
                        </a:lnSpc>
                        <a:defRPr/>
                      </a:pPr>
                      <a:r>
                        <a:rPr lang="en-US" sz="2101">
                          <a:solidFill>
                            <a:srgbClr val="000000"/>
                          </a:solidFill>
                          <a:latin typeface="Lora"/>
                          <a:ea typeface="Lora"/>
                          <a:cs typeface="Lora"/>
                          <a:sym typeface="Lora"/>
                        </a:rPr>
                        <a:t>Kanishka D</a:t>
                      </a:r>
                      <a:endParaRPr lang="en-US" sz="1100"/>
                    </a:p>
                  </a:txBody>
                  <a:tcPr marL="36720" marR="36720" marT="36720" marB="3672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BFBFBF"/>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bl>
          </a:graphicData>
        </a:graphic>
      </p:graphicFrame>
    </p:spTree>
  </p:cSld>
  <p:clrMapOvr>
    <a:masterClrMapping/>
  </p:clrMapOvr>
</p:sld>
</file>

<file path=ppt/slides/slide2.xml><?xml version="1.0" encoding="utf-8"?>
<p:sld xmlns:p="http://schemas.openxmlformats.org/presentationml/2006/main" xmlns:a="http://schemas.openxmlformats.org/drawingml/2006/main">
  <p:cSld>
    <p:bg>
      <p:bgPr>
        <a:solidFill>
          <a:srgbClr val="F7FCFA"/>
        </a:solidFill>
      </p:bgPr>
    </p:bg>
    <p:spTree>
      <p:nvGrpSpPr>
        <p:cNvPr id="1" name=""/>
        <p:cNvGrpSpPr/>
        <p:nvPr/>
      </p:nvGrpSpPr>
      <p:grpSpPr>
        <a:xfrm>
          <a:off x="0" y="0"/>
          <a:ext cx="0" cy="0"/>
          <a:chOff x="0" y="0"/>
          <a:chExt cx="0" cy="0"/>
        </a:xfrm>
      </p:grpSpPr>
      <p:sp>
        <p:nvSpPr>
          <p:cNvPr name="TextBox 2" id="2"/>
          <p:cNvSpPr txBox="true"/>
          <p:nvPr/>
        </p:nvSpPr>
        <p:spPr>
          <a:xfrm rot="0">
            <a:off x="1433961" y="1119854"/>
            <a:ext cx="16474735" cy="685800"/>
          </a:xfrm>
          <a:prstGeom prst="rect">
            <a:avLst/>
          </a:prstGeom>
        </p:spPr>
        <p:txBody>
          <a:bodyPr anchor="t" rtlCol="false" tIns="0" lIns="0" bIns="0" rIns="0">
            <a:spAutoFit/>
          </a:bodyPr>
          <a:lstStyle/>
          <a:p>
            <a:pPr algn="l">
              <a:lnSpc>
                <a:spcPts val="5404"/>
              </a:lnSpc>
            </a:pPr>
            <a:r>
              <a:rPr lang="en-US" sz="4503" b="true">
                <a:solidFill>
                  <a:srgbClr val="000000"/>
                </a:solidFill>
                <a:latin typeface="Lora Bold"/>
                <a:ea typeface="Lora Bold"/>
                <a:cs typeface="Lora Bold"/>
                <a:sym typeface="Lora Bold"/>
              </a:rPr>
              <a:t>Problem Statement and Research Gap</a:t>
            </a:r>
          </a:p>
        </p:txBody>
      </p:sp>
      <p:sp>
        <p:nvSpPr>
          <p:cNvPr name="TextBox 3" id="3"/>
          <p:cNvSpPr txBox="true"/>
          <p:nvPr/>
        </p:nvSpPr>
        <p:spPr>
          <a:xfrm rot="0">
            <a:off x="16470201" y="9722339"/>
            <a:ext cx="918134" cy="333375"/>
          </a:xfrm>
          <a:prstGeom prst="rect">
            <a:avLst/>
          </a:prstGeom>
        </p:spPr>
        <p:txBody>
          <a:bodyPr anchor="t" rtlCol="false" tIns="0" lIns="0" bIns="0" rIns="0">
            <a:spAutoFit/>
          </a:bodyPr>
          <a:lstStyle/>
          <a:p>
            <a:pPr algn="ctr">
              <a:lnSpc>
                <a:spcPts val="2639"/>
              </a:lnSpc>
            </a:pPr>
            <a:r>
              <a:rPr lang="en-US" sz="2199">
                <a:solidFill>
                  <a:srgbClr val="000000"/>
                </a:solidFill>
                <a:latin typeface="Lora"/>
                <a:ea typeface="Lora"/>
                <a:cs typeface="Lora"/>
                <a:sym typeface="Lora"/>
              </a:rPr>
              <a:t>02</a:t>
            </a:r>
          </a:p>
        </p:txBody>
      </p:sp>
      <p:sp>
        <p:nvSpPr>
          <p:cNvPr name="TextBox 4" id="4"/>
          <p:cNvSpPr txBox="true"/>
          <p:nvPr/>
        </p:nvSpPr>
        <p:spPr>
          <a:xfrm rot="0">
            <a:off x="1856039" y="2872978"/>
            <a:ext cx="14575921" cy="6096000"/>
          </a:xfrm>
          <a:prstGeom prst="rect">
            <a:avLst/>
          </a:prstGeom>
        </p:spPr>
        <p:txBody>
          <a:bodyPr anchor="t" rtlCol="false" tIns="0" lIns="0" bIns="0" rIns="0">
            <a:spAutoFit/>
          </a:bodyPr>
          <a:lstStyle/>
          <a:p>
            <a:pPr algn="l">
              <a:lnSpc>
                <a:spcPts val="3038"/>
              </a:lnSpc>
              <a:spcBef>
                <a:spcPct val="0"/>
              </a:spcBef>
            </a:pPr>
            <a:r>
              <a:rPr lang="en-US" b="true" sz="2532">
                <a:solidFill>
                  <a:srgbClr val="000000"/>
                </a:solidFill>
                <a:latin typeface="Lora Bold"/>
                <a:ea typeface="Lora Bold"/>
                <a:cs typeface="Lora Bold"/>
                <a:sym typeface="Lora Bold"/>
              </a:rPr>
              <a:t>Probl</a:t>
            </a:r>
            <a:r>
              <a:rPr lang="en-US" b="true" sz="2532">
                <a:solidFill>
                  <a:srgbClr val="000000"/>
                </a:solidFill>
                <a:latin typeface="Lora Bold"/>
                <a:ea typeface="Lora Bold"/>
                <a:cs typeface="Lora Bold"/>
                <a:sym typeface="Lora Bold"/>
              </a:rPr>
              <a:t>em statement: </a:t>
            </a:r>
            <a:r>
              <a:rPr lang="en-US" sz="2532">
                <a:solidFill>
                  <a:srgbClr val="000000"/>
                </a:solidFill>
                <a:latin typeface="Lora"/>
                <a:ea typeface="Lora"/>
                <a:cs typeface="Lora"/>
                <a:sym typeface="Lora"/>
              </a:rPr>
              <a:t> Swiggy, Zomato, Myntra, Paytm and PhonePe get thousands of Play Store reviews a day. Teams cannot read them all, so real problems (failed payments, late delivery, crashes) are noticed late.</a:t>
            </a:r>
          </a:p>
          <a:p>
            <a:pPr algn="l">
              <a:lnSpc>
                <a:spcPts val="3038"/>
              </a:lnSpc>
              <a:spcBef>
                <a:spcPct val="0"/>
              </a:spcBef>
            </a:pPr>
          </a:p>
          <a:p>
            <a:pPr algn="l">
              <a:lnSpc>
                <a:spcPts val="3038"/>
              </a:lnSpc>
              <a:spcBef>
                <a:spcPct val="0"/>
              </a:spcBef>
            </a:pPr>
            <a:r>
              <a:rPr lang="en-US" b="true" sz="2532">
                <a:solidFill>
                  <a:srgbClr val="000000"/>
                </a:solidFill>
                <a:latin typeface="Lora Bold"/>
                <a:ea typeface="Lora Bold"/>
                <a:cs typeface="Lora Bold"/>
                <a:sym typeface="Lora Bold"/>
              </a:rPr>
              <a:t>Existing methods:</a:t>
            </a:r>
            <a:r>
              <a:rPr lang="en-US" sz="2532">
                <a:solidFill>
                  <a:srgbClr val="000000"/>
                </a:solidFill>
                <a:latin typeface="Lora"/>
                <a:ea typeface="Lora"/>
                <a:cs typeface="Lora"/>
                <a:sym typeface="Lora"/>
              </a:rPr>
              <a:t> Review classification into bug / feature request (Maalej and Nabil, 2015), AR-Miner topic grouping (Chen et al., 2014), feature-level sentiment (Guzman and Maalej, 2014), VADER (Hutto and Gilbert, 2014).</a:t>
            </a:r>
          </a:p>
          <a:p>
            <a:pPr algn="l">
              <a:lnSpc>
                <a:spcPts val="3038"/>
              </a:lnSpc>
              <a:spcBef>
                <a:spcPct val="0"/>
              </a:spcBef>
            </a:pPr>
          </a:p>
          <a:p>
            <a:pPr algn="l">
              <a:lnSpc>
                <a:spcPts val="3038"/>
              </a:lnSpc>
              <a:spcBef>
                <a:spcPct val="0"/>
              </a:spcBef>
            </a:pPr>
            <a:r>
              <a:rPr lang="en-US" b="true" sz="2532">
                <a:solidFill>
                  <a:srgbClr val="000000"/>
                </a:solidFill>
                <a:latin typeface="Lora Bold"/>
                <a:ea typeface="Lora Bold"/>
                <a:cs typeface="Lora Bold"/>
                <a:sym typeface="Lora Bold"/>
              </a:rPr>
              <a:t>Research gap:</a:t>
            </a:r>
            <a:r>
              <a:rPr lang="en-US" sz="2532">
                <a:solidFill>
                  <a:srgbClr val="000000"/>
                </a:solidFill>
                <a:latin typeface="Lora"/>
                <a:ea typeface="Lora"/>
                <a:cs typeface="Lora"/>
                <a:sym typeface="Lora"/>
              </a:rPr>
              <a:t> Reviews are studied as one fixed set and not followed over time. Labels are general and do not fit Indian delivery and payment apps. Collection bias is rarely checked.</a:t>
            </a:r>
          </a:p>
          <a:p>
            <a:pPr algn="l">
              <a:lnSpc>
                <a:spcPts val="3038"/>
              </a:lnSpc>
              <a:spcBef>
                <a:spcPct val="0"/>
              </a:spcBef>
            </a:pPr>
            <a:r>
              <a:rPr lang="en-US" sz="2532">
                <a:solidFill>
                  <a:srgbClr val="000000"/>
                </a:solidFill>
                <a:latin typeface="Lora"/>
                <a:ea typeface="Lora"/>
                <a:cs typeface="Lora"/>
                <a:sym typeface="Lora"/>
              </a:rPr>
              <a:t>Proposed approach: One pipeline on data we collected ourselves: issue tagging, sentiment, classifier, weekly forecast and a dashboard.</a:t>
            </a:r>
          </a:p>
          <a:p>
            <a:pPr algn="l">
              <a:lnSpc>
                <a:spcPts val="3038"/>
              </a:lnSpc>
              <a:spcBef>
                <a:spcPct val="0"/>
              </a:spcBef>
            </a:pPr>
          </a:p>
          <a:p>
            <a:pPr algn="l">
              <a:lnSpc>
                <a:spcPts val="3038"/>
              </a:lnSpc>
              <a:spcBef>
                <a:spcPct val="0"/>
              </a:spcBef>
            </a:pPr>
            <a:r>
              <a:rPr lang="en-US" b="true" sz="2532">
                <a:solidFill>
                  <a:srgbClr val="000000"/>
                </a:solidFill>
                <a:latin typeface="Lora Bold"/>
                <a:ea typeface="Lora Bold"/>
                <a:cs typeface="Lora Bold"/>
                <a:sym typeface="Lora Bold"/>
              </a:rPr>
              <a:t>Business objective:</a:t>
            </a:r>
            <a:r>
              <a:rPr lang="en-US" sz="2532">
                <a:solidFill>
                  <a:srgbClr val="000000"/>
                </a:solidFill>
                <a:latin typeface="Lora"/>
                <a:ea typeface="Lora"/>
                <a:cs typeface="Lora"/>
                <a:sym typeface="Lora"/>
              </a:rPr>
              <a:t> Show which problems hurt users most in each app, which reviews need attention first, and whether this week's negative share is normal.</a:t>
            </a:r>
          </a:p>
          <a:p>
            <a:pPr algn="l">
              <a:lnSpc>
                <a:spcPts val="3038"/>
              </a:lnSpc>
              <a:spcBef>
                <a:spcPct val="0"/>
              </a:spcBef>
            </a:pP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p:cSld>
    <p:bg>
      <p:bgPr>
        <a:solidFill>
          <a:srgbClr val="F7FCFA"/>
        </a:solidFill>
      </p:bgPr>
    </p:bg>
    <p:spTree>
      <p:nvGrpSpPr>
        <p:cNvPr id="1" name=""/>
        <p:cNvGrpSpPr/>
        <p:nvPr/>
      </p:nvGrpSpPr>
      <p:grpSpPr>
        <a:xfrm>
          <a:off x="0" y="0"/>
          <a:ext cx="0" cy="0"/>
          <a:chOff x="0" y="0"/>
          <a:chExt cx="0" cy="0"/>
        </a:xfrm>
      </p:grpSpPr>
      <p:sp>
        <p:nvSpPr>
          <p:cNvPr name="TextBox 2" id="2"/>
          <p:cNvSpPr txBox="true"/>
          <p:nvPr/>
        </p:nvSpPr>
        <p:spPr>
          <a:xfrm rot="0">
            <a:off x="913600" y="1046940"/>
            <a:ext cx="16474735" cy="685800"/>
          </a:xfrm>
          <a:prstGeom prst="rect">
            <a:avLst/>
          </a:prstGeom>
        </p:spPr>
        <p:txBody>
          <a:bodyPr anchor="t" rtlCol="false" tIns="0" lIns="0" bIns="0" rIns="0">
            <a:spAutoFit/>
          </a:bodyPr>
          <a:lstStyle/>
          <a:p>
            <a:pPr algn="l">
              <a:lnSpc>
                <a:spcPts val="5404"/>
              </a:lnSpc>
            </a:pPr>
            <a:r>
              <a:rPr lang="en-US" sz="4503" b="true">
                <a:solidFill>
                  <a:srgbClr val="000000"/>
                </a:solidFill>
                <a:latin typeface="Lora Bold"/>
                <a:ea typeface="Lora Bold"/>
                <a:cs typeface="Lora Bold"/>
                <a:sym typeface="Lora Bold"/>
              </a:rPr>
              <a:t>Da</a:t>
            </a:r>
            <a:r>
              <a:rPr lang="en-US" sz="4503" b="true">
                <a:solidFill>
                  <a:srgbClr val="000000"/>
                </a:solidFill>
                <a:latin typeface="Lora Bold"/>
                <a:ea typeface="Lora Bold"/>
                <a:cs typeface="Lora Bold"/>
                <a:sym typeface="Lora Bold"/>
              </a:rPr>
              <a:t>taset Description</a:t>
            </a:r>
          </a:p>
        </p:txBody>
      </p:sp>
      <p:sp>
        <p:nvSpPr>
          <p:cNvPr name="TextBox 3" id="3"/>
          <p:cNvSpPr txBox="true"/>
          <p:nvPr/>
        </p:nvSpPr>
        <p:spPr>
          <a:xfrm rot="0">
            <a:off x="16470201" y="9722339"/>
            <a:ext cx="918134" cy="333375"/>
          </a:xfrm>
          <a:prstGeom prst="rect">
            <a:avLst/>
          </a:prstGeom>
        </p:spPr>
        <p:txBody>
          <a:bodyPr anchor="t" rtlCol="false" tIns="0" lIns="0" bIns="0" rIns="0">
            <a:spAutoFit/>
          </a:bodyPr>
          <a:lstStyle/>
          <a:p>
            <a:pPr algn="r">
              <a:lnSpc>
                <a:spcPts val="2639"/>
              </a:lnSpc>
            </a:pPr>
            <a:r>
              <a:rPr lang="en-US" sz="2199">
                <a:solidFill>
                  <a:srgbClr val="000000"/>
                </a:solidFill>
                <a:latin typeface="Lora"/>
                <a:ea typeface="Lora"/>
                <a:cs typeface="Lora"/>
                <a:sym typeface="Lora"/>
              </a:rPr>
              <a:t>03</a:t>
            </a:r>
          </a:p>
        </p:txBody>
      </p:sp>
      <p:graphicFrame>
        <p:nvGraphicFramePr>
          <p:cNvPr name="Table 4" id="4"/>
          <p:cNvGraphicFramePr>
            <a:graphicFrameLocks noGrp="true"/>
          </p:cNvGraphicFramePr>
          <p:nvPr/>
        </p:nvGraphicFramePr>
        <p:xfrm>
          <a:off x="10638211" y="2470810"/>
          <a:ext cx="6844297" cy="3431681"/>
        </p:xfrm>
        <a:graphic>
          <a:graphicData uri="http://schemas.openxmlformats.org/drawingml/2006/table">
            <a:tbl>
              <a:tblPr/>
              <a:tblGrid>
                <a:gridCol w="2190261"/>
                <a:gridCol w="3010802"/>
                <a:gridCol w="1643234"/>
              </a:tblGrid>
              <a:tr h="594267">
                <a:tc>
                  <a:txBody>
                    <a:bodyPr anchor="t" rtlCol="false"/>
                    <a:lstStyle/>
                    <a:p>
                      <a:pPr algn="l">
                        <a:lnSpc>
                          <a:spcPts val="2521"/>
                        </a:lnSpc>
                        <a:defRPr/>
                      </a:pPr>
                      <a:r>
                        <a:rPr lang="en-US" sz="2101" b="true">
                          <a:solidFill>
                            <a:srgbClr val="000000"/>
                          </a:solidFill>
                          <a:latin typeface="Lora Bold"/>
                          <a:ea typeface="Lora Bold"/>
                          <a:cs typeface="Lora Bold"/>
                          <a:sym typeface="Lora Bold"/>
                        </a:rPr>
                        <a:t>App</a:t>
                      </a:r>
                      <a:endParaRPr lang="en-US" sz="1100"/>
                    </a:p>
                  </a:txBody>
                  <a:tcPr marL="36720" marR="36720" marT="36720" marB="36720" anchor="ctr">
                    <a:lnL cmpd="sng" algn="ctr" cap="flat" w="720">
                      <a:solidFill>
                        <a:srgbClr val="000000"/>
                      </a:solidFill>
                      <a:prstDash val="solid"/>
                      <a:round/>
                      <a:headEnd type="none" w="med" len="med"/>
                      <a:tailEnd type="none" w="med" len="med"/>
                    </a:lnL>
                    <a:lnR cmpd="sng" algn="ctr" cap="flat" w="720">
                      <a:solidFill>
                        <a:srgbClr val="000000"/>
                      </a:solidFill>
                      <a:prstDash val="solid"/>
                      <a:round/>
                      <a:headEnd type="none" w="med" len="med"/>
                      <a:tailEnd type="none" w="med" len="med"/>
                    </a:lnR>
                    <a:lnT cmpd="sng" algn="ctr" cap="flat" w="25200">
                      <a:solidFill>
                        <a:srgbClr val="000000"/>
                      </a:solidFill>
                      <a:prstDash val="solid"/>
                      <a:round/>
                      <a:headEnd type="none" w="med" len="med"/>
                      <a:tailEnd type="none" w="med" len="med"/>
                    </a:lnT>
                    <a:lnB cmpd="sng" algn="ctr" cap="flat" w="25200">
                      <a:solidFill>
                        <a:srgbClr val="000000"/>
                      </a:solidFill>
                      <a:prstDash val="solid"/>
                      <a:round/>
                      <a:headEnd type="none" w="med" len="med"/>
                      <a:tailEnd type="none" w="med" len="med"/>
                    </a:lnB>
                  </a:tcPr>
                </a:tc>
                <a:tc>
                  <a:txBody>
                    <a:bodyPr anchor="t" rtlCol="false"/>
                    <a:lstStyle/>
                    <a:p>
                      <a:pPr algn="l">
                        <a:lnSpc>
                          <a:spcPts val="2521"/>
                        </a:lnSpc>
                        <a:defRPr/>
                      </a:pPr>
                      <a:r>
                        <a:rPr lang="en-US" sz="2101" b="true">
                          <a:solidFill>
                            <a:srgbClr val="000000"/>
                          </a:solidFill>
                          <a:latin typeface="Lora Bold"/>
                          <a:ea typeface="Lora Bold"/>
                          <a:cs typeface="Lora Bold"/>
                          <a:sym typeface="Lora Bold"/>
                        </a:rPr>
                        <a:t>Category</a:t>
                      </a:r>
                      <a:endParaRPr lang="en-US" sz="1100"/>
                    </a:p>
                  </a:txBody>
                  <a:tcPr marL="36720" marR="36720" marT="36720" marB="36720" anchor="ctr">
                    <a:lnL cmpd="sng" algn="ctr" cap="flat" w="720">
                      <a:solidFill>
                        <a:srgbClr val="000000"/>
                      </a:solidFill>
                      <a:prstDash val="solid"/>
                      <a:round/>
                      <a:headEnd type="none" w="med" len="med"/>
                      <a:tailEnd type="none" w="med" len="med"/>
                    </a:lnL>
                    <a:lnR cmpd="sng" algn="ctr" cap="flat" w="720">
                      <a:solidFill>
                        <a:srgbClr val="000000"/>
                      </a:solidFill>
                      <a:prstDash val="solid"/>
                      <a:round/>
                      <a:headEnd type="none" w="med" len="med"/>
                      <a:tailEnd type="none" w="med" len="med"/>
                    </a:lnR>
                    <a:lnT cmpd="sng" algn="ctr" cap="flat" w="25200">
                      <a:solidFill>
                        <a:srgbClr val="000000"/>
                      </a:solidFill>
                      <a:prstDash val="solid"/>
                      <a:round/>
                      <a:headEnd type="none" w="med" len="med"/>
                      <a:tailEnd type="none" w="med" len="med"/>
                    </a:lnT>
                    <a:lnB cmpd="sng" algn="ctr" cap="flat" w="25200">
                      <a:solidFill>
                        <a:srgbClr val="000000"/>
                      </a:solidFill>
                      <a:prstDash val="solid"/>
                      <a:round/>
                      <a:headEnd type="none" w="med" len="med"/>
                      <a:tailEnd type="none" w="med" len="med"/>
                    </a:lnB>
                  </a:tcPr>
                </a:tc>
                <a:tc>
                  <a:txBody>
                    <a:bodyPr anchor="t" rtlCol="false"/>
                    <a:lstStyle/>
                    <a:p>
                      <a:pPr algn="r">
                        <a:lnSpc>
                          <a:spcPts val="2521"/>
                        </a:lnSpc>
                        <a:defRPr/>
                      </a:pPr>
                      <a:r>
                        <a:rPr lang="en-US" sz="2101" b="true">
                          <a:solidFill>
                            <a:srgbClr val="000000"/>
                          </a:solidFill>
                          <a:latin typeface="Lora Bold"/>
                          <a:ea typeface="Lora Bold"/>
                          <a:cs typeface="Lora Bold"/>
                          <a:sym typeface="Lora Bold"/>
                        </a:rPr>
                        <a:t>Reviews</a:t>
                      </a:r>
                      <a:endParaRPr lang="en-US" sz="1100"/>
                    </a:p>
                  </a:txBody>
                  <a:tcPr marL="36720" marR="36720" marT="36720" marB="36720" anchor="ctr">
                    <a:lnL cmpd="sng" algn="ctr" cap="flat" w="720">
                      <a:solidFill>
                        <a:srgbClr val="000000"/>
                      </a:solidFill>
                      <a:prstDash val="solid"/>
                      <a:round/>
                      <a:headEnd type="none" w="med" len="med"/>
                      <a:tailEnd type="none" w="med" len="med"/>
                    </a:lnL>
                    <a:lnR cmpd="sng" algn="ctr" cap="flat" w="720">
                      <a:solidFill>
                        <a:srgbClr val="000000"/>
                      </a:solidFill>
                      <a:prstDash val="solid"/>
                      <a:round/>
                      <a:headEnd type="none" w="med" len="med"/>
                      <a:tailEnd type="none" w="med" len="med"/>
                    </a:lnR>
                    <a:lnT cmpd="sng" algn="ctr" cap="flat" w="25200">
                      <a:solidFill>
                        <a:srgbClr val="000000"/>
                      </a:solidFill>
                      <a:prstDash val="solid"/>
                      <a:round/>
                      <a:headEnd type="none" w="med" len="med"/>
                      <a:tailEnd type="none" w="med" len="med"/>
                    </a:lnT>
                    <a:lnB cmpd="sng" algn="ctr" cap="flat" w="25200">
                      <a:solidFill>
                        <a:srgbClr val="000000"/>
                      </a:solidFill>
                      <a:prstDash val="solid"/>
                      <a:round/>
                      <a:headEnd type="none" w="med" len="med"/>
                      <a:tailEnd type="none" w="med" len="med"/>
                    </a:lnB>
                  </a:tcPr>
                </a:tc>
              </a:tr>
              <a:tr h="577527">
                <a:tc>
                  <a:txBody>
                    <a:bodyPr anchor="t" rtlCol="false"/>
                    <a:lstStyle/>
                    <a:p>
                      <a:pPr algn="l">
                        <a:lnSpc>
                          <a:spcPts val="2521"/>
                        </a:lnSpc>
                        <a:defRPr/>
                      </a:pPr>
                      <a:r>
                        <a:rPr lang="en-US" sz="2101">
                          <a:solidFill>
                            <a:srgbClr val="000000"/>
                          </a:solidFill>
                          <a:latin typeface="Lora"/>
                          <a:ea typeface="Lora"/>
                          <a:cs typeface="Lora"/>
                          <a:sym typeface="Lora"/>
                        </a:rPr>
                        <a:t>Swiggy</a:t>
                      </a:r>
                      <a:endParaRPr lang="en-US" sz="1100"/>
                    </a:p>
                  </a:txBody>
                  <a:tcPr marL="36720" marR="36720" marT="36720" marB="36720" anchor="ctr">
                    <a:lnL cmpd="sng" algn="ctr" cap="flat" w="720">
                      <a:solidFill>
                        <a:srgbClr val="000000"/>
                      </a:solidFill>
                      <a:prstDash val="solid"/>
                      <a:round/>
                      <a:headEnd type="none" w="med" len="med"/>
                      <a:tailEnd type="none" w="med" len="med"/>
                    </a:lnL>
                    <a:lnR cmpd="sng" algn="ctr" cap="flat" w="720">
                      <a:solidFill>
                        <a:srgbClr val="000000"/>
                      </a:solidFill>
                      <a:prstDash val="solid"/>
                      <a:round/>
                      <a:headEnd type="none" w="med" len="med"/>
                      <a:tailEnd type="none" w="med" len="med"/>
                    </a:lnR>
                    <a:lnT cmpd="sng" algn="ctr" cap="flat" w="25200">
                      <a:solidFill>
                        <a:srgbClr val="000000"/>
                      </a:solidFill>
                      <a:prstDash val="solid"/>
                      <a:round/>
                      <a:headEnd type="none" w="med" len="med"/>
                      <a:tailEnd type="none" w="med" len="med"/>
                    </a:lnT>
                    <a:lnB cmpd="sng" algn="ctr" cap="flat" w="12960">
                      <a:solidFill>
                        <a:srgbClr val="BFBFBF"/>
                      </a:solidFill>
                      <a:prstDash val="solid"/>
                      <a:round/>
                      <a:headEnd type="none" w="med" len="med"/>
                      <a:tailEnd type="none" w="med" len="med"/>
                    </a:lnB>
                  </a:tcPr>
                </a:tc>
                <a:tc>
                  <a:txBody>
                    <a:bodyPr anchor="t" rtlCol="false"/>
                    <a:lstStyle/>
                    <a:p>
                      <a:pPr algn="l">
                        <a:lnSpc>
                          <a:spcPts val="2521"/>
                        </a:lnSpc>
                        <a:defRPr/>
                      </a:pPr>
                      <a:r>
                        <a:rPr lang="en-US" sz="2101">
                          <a:solidFill>
                            <a:srgbClr val="000000"/>
                          </a:solidFill>
                          <a:latin typeface="Lora"/>
                          <a:ea typeface="Lora"/>
                          <a:cs typeface="Lora"/>
                          <a:sym typeface="Lora"/>
                        </a:rPr>
                        <a:t>Food and Drink</a:t>
                      </a:r>
                      <a:endParaRPr lang="en-US" sz="1100"/>
                    </a:p>
                  </a:txBody>
                  <a:tcPr marL="36720" marR="36720" marT="36720" marB="36720" anchor="ctr">
                    <a:lnL cmpd="sng" algn="ctr" cap="flat" w="720">
                      <a:solidFill>
                        <a:srgbClr val="000000"/>
                      </a:solidFill>
                      <a:prstDash val="solid"/>
                      <a:round/>
                      <a:headEnd type="none" w="med" len="med"/>
                      <a:tailEnd type="none" w="med" len="med"/>
                    </a:lnL>
                    <a:lnR cmpd="sng" algn="ctr" cap="flat" w="720">
                      <a:solidFill>
                        <a:srgbClr val="000000"/>
                      </a:solidFill>
                      <a:prstDash val="solid"/>
                      <a:round/>
                      <a:headEnd type="none" w="med" len="med"/>
                      <a:tailEnd type="none" w="med" len="med"/>
                    </a:lnR>
                    <a:lnT cmpd="sng" algn="ctr" cap="flat" w="25200">
                      <a:solidFill>
                        <a:srgbClr val="000000"/>
                      </a:solidFill>
                      <a:prstDash val="solid"/>
                      <a:round/>
                      <a:headEnd type="none" w="med" len="med"/>
                      <a:tailEnd type="none" w="med" len="med"/>
                    </a:lnT>
                    <a:lnB cmpd="sng" algn="ctr" cap="flat" w="12960">
                      <a:solidFill>
                        <a:srgbClr val="BFBFBF"/>
                      </a:solidFill>
                      <a:prstDash val="solid"/>
                      <a:round/>
                      <a:headEnd type="none" w="med" len="med"/>
                      <a:tailEnd type="none" w="med" len="med"/>
                    </a:lnB>
                  </a:tcPr>
                </a:tc>
                <a:tc>
                  <a:txBody>
                    <a:bodyPr anchor="t" rtlCol="false"/>
                    <a:lstStyle/>
                    <a:p>
                      <a:pPr algn="r">
                        <a:lnSpc>
                          <a:spcPts val="2521"/>
                        </a:lnSpc>
                        <a:defRPr/>
                      </a:pPr>
                      <a:r>
                        <a:rPr lang="en-US" sz="2101">
                          <a:solidFill>
                            <a:srgbClr val="000000"/>
                          </a:solidFill>
                          <a:latin typeface="Lora"/>
                          <a:ea typeface="Lora"/>
                          <a:cs typeface="Lora"/>
                          <a:sym typeface="Lora"/>
                        </a:rPr>
                        <a:t>3,000</a:t>
                      </a:r>
                      <a:endParaRPr lang="en-US" sz="1100"/>
                    </a:p>
                  </a:txBody>
                  <a:tcPr marL="36720" marR="36720" marT="36720" marB="36720" anchor="ctr">
                    <a:lnL cmpd="sng" algn="ctr" cap="flat" w="720">
                      <a:solidFill>
                        <a:srgbClr val="000000"/>
                      </a:solidFill>
                      <a:prstDash val="solid"/>
                      <a:round/>
                      <a:headEnd type="none" w="med" len="med"/>
                      <a:tailEnd type="none" w="med" len="med"/>
                    </a:lnL>
                    <a:lnR cmpd="sng" algn="ctr" cap="flat" w="720">
                      <a:solidFill>
                        <a:srgbClr val="000000"/>
                      </a:solidFill>
                      <a:prstDash val="solid"/>
                      <a:round/>
                      <a:headEnd type="none" w="med" len="med"/>
                      <a:tailEnd type="none" w="med" len="med"/>
                    </a:lnR>
                    <a:lnT cmpd="sng" algn="ctr" cap="flat" w="25200">
                      <a:solidFill>
                        <a:srgbClr val="000000"/>
                      </a:solidFill>
                      <a:prstDash val="solid"/>
                      <a:round/>
                      <a:headEnd type="none" w="med" len="med"/>
                      <a:tailEnd type="none" w="med" len="med"/>
                    </a:lnT>
                    <a:lnB cmpd="sng" algn="ctr" cap="flat" w="12960">
                      <a:solidFill>
                        <a:srgbClr val="BFBFBF"/>
                      </a:solidFill>
                      <a:prstDash val="solid"/>
                      <a:round/>
                      <a:headEnd type="none" w="med" len="med"/>
                      <a:tailEnd type="none" w="med" len="med"/>
                    </a:lnB>
                  </a:tcPr>
                </a:tc>
              </a:tr>
              <a:tr h="560787">
                <a:tc>
                  <a:txBody>
                    <a:bodyPr anchor="t" rtlCol="false"/>
                    <a:lstStyle/>
                    <a:p>
                      <a:pPr algn="l">
                        <a:lnSpc>
                          <a:spcPts val="2521"/>
                        </a:lnSpc>
                        <a:defRPr/>
                      </a:pPr>
                      <a:r>
                        <a:rPr lang="en-US" sz="2101">
                          <a:solidFill>
                            <a:srgbClr val="000000"/>
                          </a:solidFill>
                          <a:latin typeface="Lora"/>
                          <a:ea typeface="Lora"/>
                          <a:cs typeface="Lora"/>
                          <a:sym typeface="Lora"/>
                        </a:rPr>
                        <a:t>Zomato</a:t>
                      </a:r>
                      <a:endParaRPr lang="en-US" sz="1100"/>
                    </a:p>
                  </a:txBody>
                  <a:tcPr marL="36720" marR="36720" marT="36720" marB="36720" anchor="ctr">
                    <a:lnL cmpd="sng" algn="ctr" cap="flat" w="720">
                      <a:solidFill>
                        <a:srgbClr val="000000"/>
                      </a:solidFill>
                      <a:prstDash val="solid"/>
                      <a:round/>
                      <a:headEnd type="none" w="med" len="med"/>
                      <a:tailEnd type="none" w="med" len="med"/>
                    </a:lnL>
                    <a:lnR cmpd="sng" algn="ctr" cap="flat" w="720">
                      <a:solidFill>
                        <a:srgbClr val="000000"/>
                      </a:solidFill>
                      <a:prstDash val="solid"/>
                      <a:round/>
                      <a:headEnd type="none" w="med" len="med"/>
                      <a:tailEnd type="none" w="med" len="med"/>
                    </a:lnR>
                    <a:lnT cmpd="sng" algn="ctr" cap="flat" w="12960">
                      <a:solidFill>
                        <a:srgbClr val="BFBFBF"/>
                      </a:solidFill>
                      <a:prstDash val="solid"/>
                      <a:round/>
                      <a:headEnd type="none" w="med" len="med"/>
                      <a:tailEnd type="none" w="med" len="med"/>
                    </a:lnT>
                    <a:lnB cmpd="sng" algn="ctr" cap="flat" w="12960">
                      <a:solidFill>
                        <a:srgbClr val="BFBFBF"/>
                      </a:solidFill>
                      <a:prstDash val="solid"/>
                      <a:round/>
                      <a:headEnd type="none" w="med" len="med"/>
                      <a:tailEnd type="none" w="med" len="med"/>
                    </a:lnB>
                  </a:tcPr>
                </a:tc>
                <a:tc>
                  <a:txBody>
                    <a:bodyPr anchor="t" rtlCol="false"/>
                    <a:lstStyle/>
                    <a:p>
                      <a:pPr algn="l">
                        <a:lnSpc>
                          <a:spcPts val="2521"/>
                        </a:lnSpc>
                        <a:defRPr/>
                      </a:pPr>
                      <a:r>
                        <a:rPr lang="en-US" sz="2101">
                          <a:solidFill>
                            <a:srgbClr val="000000"/>
                          </a:solidFill>
                          <a:latin typeface="Lora"/>
                          <a:ea typeface="Lora"/>
                          <a:cs typeface="Lora"/>
                          <a:sym typeface="Lora"/>
                        </a:rPr>
                        <a:t>Food and Drink</a:t>
                      </a:r>
                      <a:endParaRPr lang="en-US" sz="1100"/>
                    </a:p>
                  </a:txBody>
                  <a:tcPr marL="36720" marR="36720" marT="36720" marB="36720" anchor="ctr">
                    <a:lnL cmpd="sng" algn="ctr" cap="flat" w="720">
                      <a:solidFill>
                        <a:srgbClr val="000000"/>
                      </a:solidFill>
                      <a:prstDash val="solid"/>
                      <a:round/>
                      <a:headEnd type="none" w="med" len="med"/>
                      <a:tailEnd type="none" w="med" len="med"/>
                    </a:lnL>
                    <a:lnR cmpd="sng" algn="ctr" cap="flat" w="720">
                      <a:solidFill>
                        <a:srgbClr val="000000"/>
                      </a:solidFill>
                      <a:prstDash val="solid"/>
                      <a:round/>
                      <a:headEnd type="none" w="med" len="med"/>
                      <a:tailEnd type="none" w="med" len="med"/>
                    </a:lnR>
                    <a:lnT cmpd="sng" algn="ctr" cap="flat" w="12960">
                      <a:solidFill>
                        <a:srgbClr val="BFBFBF"/>
                      </a:solidFill>
                      <a:prstDash val="solid"/>
                      <a:round/>
                      <a:headEnd type="none" w="med" len="med"/>
                      <a:tailEnd type="none" w="med" len="med"/>
                    </a:lnT>
                    <a:lnB cmpd="sng" algn="ctr" cap="flat" w="12960">
                      <a:solidFill>
                        <a:srgbClr val="BFBFBF"/>
                      </a:solidFill>
                      <a:prstDash val="solid"/>
                      <a:round/>
                      <a:headEnd type="none" w="med" len="med"/>
                      <a:tailEnd type="none" w="med" len="med"/>
                    </a:lnB>
                  </a:tcPr>
                </a:tc>
                <a:tc>
                  <a:txBody>
                    <a:bodyPr anchor="t" rtlCol="false"/>
                    <a:lstStyle/>
                    <a:p>
                      <a:pPr algn="r">
                        <a:lnSpc>
                          <a:spcPts val="2521"/>
                        </a:lnSpc>
                        <a:defRPr/>
                      </a:pPr>
                      <a:r>
                        <a:rPr lang="en-US" sz="2101">
                          <a:solidFill>
                            <a:srgbClr val="000000"/>
                          </a:solidFill>
                          <a:latin typeface="Lora"/>
                          <a:ea typeface="Lora"/>
                          <a:cs typeface="Lora"/>
                          <a:sym typeface="Lora"/>
                        </a:rPr>
                        <a:t>2,997</a:t>
                      </a:r>
                      <a:endParaRPr lang="en-US" sz="1100"/>
                    </a:p>
                  </a:txBody>
                  <a:tcPr marL="36720" marR="36720" marT="36720" marB="36720" anchor="ctr">
                    <a:lnL cmpd="sng" algn="ctr" cap="flat" w="720">
                      <a:solidFill>
                        <a:srgbClr val="000000"/>
                      </a:solidFill>
                      <a:prstDash val="solid"/>
                      <a:round/>
                      <a:headEnd type="none" w="med" len="med"/>
                      <a:tailEnd type="none" w="med" len="med"/>
                    </a:lnL>
                    <a:lnR cmpd="sng" algn="ctr" cap="flat" w="720">
                      <a:solidFill>
                        <a:srgbClr val="000000"/>
                      </a:solidFill>
                      <a:prstDash val="solid"/>
                      <a:round/>
                      <a:headEnd type="none" w="med" len="med"/>
                      <a:tailEnd type="none" w="med" len="med"/>
                    </a:lnR>
                    <a:lnT cmpd="sng" algn="ctr" cap="flat" w="12960">
                      <a:solidFill>
                        <a:srgbClr val="BFBFBF"/>
                      </a:solidFill>
                      <a:prstDash val="solid"/>
                      <a:round/>
                      <a:headEnd type="none" w="med" len="med"/>
                      <a:tailEnd type="none" w="med" len="med"/>
                    </a:lnT>
                    <a:lnB cmpd="sng" algn="ctr" cap="flat" w="12960">
                      <a:solidFill>
                        <a:srgbClr val="BFBFBF"/>
                      </a:solidFill>
                      <a:prstDash val="solid"/>
                      <a:round/>
                      <a:headEnd type="none" w="med" len="med"/>
                      <a:tailEnd type="none" w="med" len="med"/>
                    </a:lnB>
                  </a:tcPr>
                </a:tc>
              </a:tr>
              <a:tr h="560787">
                <a:tc>
                  <a:txBody>
                    <a:bodyPr anchor="t" rtlCol="false"/>
                    <a:lstStyle/>
                    <a:p>
                      <a:pPr algn="l">
                        <a:lnSpc>
                          <a:spcPts val="2521"/>
                        </a:lnSpc>
                        <a:defRPr/>
                      </a:pPr>
                      <a:r>
                        <a:rPr lang="en-US" sz="2101">
                          <a:solidFill>
                            <a:srgbClr val="000000"/>
                          </a:solidFill>
                          <a:latin typeface="Lora"/>
                          <a:ea typeface="Lora"/>
                          <a:cs typeface="Lora"/>
                          <a:sym typeface="Lora"/>
                        </a:rPr>
                        <a:t>Myntra</a:t>
                      </a:r>
                      <a:endParaRPr lang="en-US" sz="1100"/>
                    </a:p>
                  </a:txBody>
                  <a:tcPr marL="36720" marR="36720" marT="36720" marB="36720" anchor="ctr">
                    <a:lnL cmpd="sng" algn="ctr" cap="flat" w="720">
                      <a:solidFill>
                        <a:srgbClr val="000000"/>
                      </a:solidFill>
                      <a:prstDash val="solid"/>
                      <a:round/>
                      <a:headEnd type="none" w="med" len="med"/>
                      <a:tailEnd type="none" w="med" len="med"/>
                    </a:lnL>
                    <a:lnR cmpd="sng" algn="ctr" cap="flat" w="720">
                      <a:solidFill>
                        <a:srgbClr val="000000"/>
                      </a:solidFill>
                      <a:prstDash val="solid"/>
                      <a:round/>
                      <a:headEnd type="none" w="med" len="med"/>
                      <a:tailEnd type="none" w="med" len="med"/>
                    </a:lnR>
                    <a:lnT cmpd="sng" algn="ctr" cap="flat" w="12960">
                      <a:solidFill>
                        <a:srgbClr val="BFBFBF"/>
                      </a:solidFill>
                      <a:prstDash val="solid"/>
                      <a:round/>
                      <a:headEnd type="none" w="med" len="med"/>
                      <a:tailEnd type="none" w="med" len="med"/>
                    </a:lnT>
                    <a:lnB cmpd="sng" algn="ctr" cap="flat" w="12960">
                      <a:solidFill>
                        <a:srgbClr val="BFBFBF"/>
                      </a:solidFill>
                      <a:prstDash val="solid"/>
                      <a:round/>
                      <a:headEnd type="none" w="med" len="med"/>
                      <a:tailEnd type="none" w="med" len="med"/>
                    </a:lnB>
                  </a:tcPr>
                </a:tc>
                <a:tc>
                  <a:txBody>
                    <a:bodyPr anchor="t" rtlCol="false"/>
                    <a:lstStyle/>
                    <a:p>
                      <a:pPr algn="l">
                        <a:lnSpc>
                          <a:spcPts val="2521"/>
                        </a:lnSpc>
                        <a:defRPr/>
                      </a:pPr>
                      <a:r>
                        <a:rPr lang="en-US" sz="2101">
                          <a:solidFill>
                            <a:srgbClr val="000000"/>
                          </a:solidFill>
                          <a:latin typeface="Lora"/>
                          <a:ea typeface="Lora"/>
                          <a:cs typeface="Lora"/>
                          <a:sym typeface="Lora"/>
                        </a:rPr>
                        <a:t>Shopping</a:t>
                      </a:r>
                      <a:endParaRPr lang="en-US" sz="1100"/>
                    </a:p>
                  </a:txBody>
                  <a:tcPr marL="36720" marR="36720" marT="36720" marB="36720" anchor="ctr">
                    <a:lnL cmpd="sng" algn="ctr" cap="flat" w="720">
                      <a:solidFill>
                        <a:srgbClr val="000000"/>
                      </a:solidFill>
                      <a:prstDash val="solid"/>
                      <a:round/>
                      <a:headEnd type="none" w="med" len="med"/>
                      <a:tailEnd type="none" w="med" len="med"/>
                    </a:lnL>
                    <a:lnR cmpd="sng" algn="ctr" cap="flat" w="720">
                      <a:solidFill>
                        <a:srgbClr val="000000"/>
                      </a:solidFill>
                      <a:prstDash val="solid"/>
                      <a:round/>
                      <a:headEnd type="none" w="med" len="med"/>
                      <a:tailEnd type="none" w="med" len="med"/>
                    </a:lnR>
                    <a:lnT cmpd="sng" algn="ctr" cap="flat" w="12960">
                      <a:solidFill>
                        <a:srgbClr val="BFBFBF"/>
                      </a:solidFill>
                      <a:prstDash val="solid"/>
                      <a:round/>
                      <a:headEnd type="none" w="med" len="med"/>
                      <a:tailEnd type="none" w="med" len="med"/>
                    </a:lnT>
                    <a:lnB cmpd="sng" algn="ctr" cap="flat" w="12960">
                      <a:solidFill>
                        <a:srgbClr val="BFBFBF"/>
                      </a:solidFill>
                      <a:prstDash val="solid"/>
                      <a:round/>
                      <a:headEnd type="none" w="med" len="med"/>
                      <a:tailEnd type="none" w="med" len="med"/>
                    </a:lnB>
                  </a:tcPr>
                </a:tc>
                <a:tc>
                  <a:txBody>
                    <a:bodyPr anchor="t" rtlCol="false"/>
                    <a:lstStyle/>
                    <a:p>
                      <a:pPr algn="r">
                        <a:lnSpc>
                          <a:spcPts val="2521"/>
                        </a:lnSpc>
                        <a:defRPr/>
                      </a:pPr>
                      <a:r>
                        <a:rPr lang="en-US" sz="2101">
                          <a:solidFill>
                            <a:srgbClr val="000000"/>
                          </a:solidFill>
                          <a:latin typeface="Lora"/>
                          <a:ea typeface="Lora"/>
                          <a:cs typeface="Lora"/>
                          <a:sym typeface="Lora"/>
                        </a:rPr>
                        <a:t>2,998</a:t>
                      </a:r>
                      <a:endParaRPr lang="en-US" sz="1100"/>
                    </a:p>
                  </a:txBody>
                  <a:tcPr marL="36720" marR="36720" marT="36720" marB="36720" anchor="ctr">
                    <a:lnL cmpd="sng" algn="ctr" cap="flat" w="720">
                      <a:solidFill>
                        <a:srgbClr val="000000"/>
                      </a:solidFill>
                      <a:prstDash val="solid"/>
                      <a:round/>
                      <a:headEnd type="none" w="med" len="med"/>
                      <a:tailEnd type="none" w="med" len="med"/>
                    </a:lnL>
                    <a:lnR cmpd="sng" algn="ctr" cap="flat" w="720">
                      <a:solidFill>
                        <a:srgbClr val="000000"/>
                      </a:solidFill>
                      <a:prstDash val="solid"/>
                      <a:round/>
                      <a:headEnd type="none" w="med" len="med"/>
                      <a:tailEnd type="none" w="med" len="med"/>
                    </a:lnR>
                    <a:lnT cmpd="sng" algn="ctr" cap="flat" w="12960">
                      <a:solidFill>
                        <a:srgbClr val="BFBFBF"/>
                      </a:solidFill>
                      <a:prstDash val="solid"/>
                      <a:round/>
                      <a:headEnd type="none" w="med" len="med"/>
                      <a:tailEnd type="none" w="med" len="med"/>
                    </a:lnT>
                    <a:lnB cmpd="sng" algn="ctr" cap="flat" w="12960">
                      <a:solidFill>
                        <a:srgbClr val="BFBFBF"/>
                      </a:solidFill>
                      <a:prstDash val="solid"/>
                      <a:round/>
                      <a:headEnd type="none" w="med" len="med"/>
                      <a:tailEnd type="none" w="med" len="med"/>
                    </a:lnB>
                  </a:tcPr>
                </a:tc>
              </a:tr>
              <a:tr h="560787">
                <a:tc>
                  <a:txBody>
                    <a:bodyPr anchor="t" rtlCol="false"/>
                    <a:lstStyle/>
                    <a:p>
                      <a:pPr algn="l">
                        <a:lnSpc>
                          <a:spcPts val="2521"/>
                        </a:lnSpc>
                        <a:defRPr/>
                      </a:pPr>
                      <a:r>
                        <a:rPr lang="en-US" sz="2101">
                          <a:solidFill>
                            <a:srgbClr val="000000"/>
                          </a:solidFill>
                          <a:latin typeface="Lora"/>
                          <a:ea typeface="Lora"/>
                          <a:cs typeface="Lora"/>
                          <a:sym typeface="Lora"/>
                        </a:rPr>
                        <a:t>Paytm</a:t>
                      </a:r>
                      <a:endParaRPr lang="en-US" sz="1100"/>
                    </a:p>
                  </a:txBody>
                  <a:tcPr marL="36720" marR="36720" marT="36720" marB="36720" anchor="ctr">
                    <a:lnL cmpd="sng" algn="ctr" cap="flat" w="720">
                      <a:solidFill>
                        <a:srgbClr val="000000"/>
                      </a:solidFill>
                      <a:prstDash val="solid"/>
                      <a:round/>
                      <a:headEnd type="none" w="med" len="med"/>
                      <a:tailEnd type="none" w="med" len="med"/>
                    </a:lnL>
                    <a:lnR cmpd="sng" algn="ctr" cap="flat" w="720">
                      <a:solidFill>
                        <a:srgbClr val="000000"/>
                      </a:solidFill>
                      <a:prstDash val="solid"/>
                      <a:round/>
                      <a:headEnd type="none" w="med" len="med"/>
                      <a:tailEnd type="none" w="med" len="med"/>
                    </a:lnR>
                    <a:lnT cmpd="sng" algn="ctr" cap="flat" w="12960">
                      <a:solidFill>
                        <a:srgbClr val="BFBFBF"/>
                      </a:solidFill>
                      <a:prstDash val="solid"/>
                      <a:round/>
                      <a:headEnd type="none" w="med" len="med"/>
                      <a:tailEnd type="none" w="med" len="med"/>
                    </a:lnT>
                    <a:lnB cmpd="sng" algn="ctr" cap="flat" w="12960">
                      <a:solidFill>
                        <a:srgbClr val="BFBFBF"/>
                      </a:solidFill>
                      <a:prstDash val="solid"/>
                      <a:round/>
                      <a:headEnd type="none" w="med" len="med"/>
                      <a:tailEnd type="none" w="med" len="med"/>
                    </a:lnB>
                  </a:tcPr>
                </a:tc>
                <a:tc>
                  <a:txBody>
                    <a:bodyPr anchor="t" rtlCol="false"/>
                    <a:lstStyle/>
                    <a:p>
                      <a:pPr algn="l">
                        <a:lnSpc>
                          <a:spcPts val="2521"/>
                        </a:lnSpc>
                        <a:defRPr/>
                      </a:pPr>
                      <a:r>
                        <a:rPr lang="en-US" sz="2101">
                          <a:solidFill>
                            <a:srgbClr val="000000"/>
                          </a:solidFill>
                          <a:latin typeface="Lora"/>
                          <a:ea typeface="Lora"/>
                          <a:cs typeface="Lora"/>
                          <a:sym typeface="Lora"/>
                        </a:rPr>
                        <a:t>Finance</a:t>
                      </a:r>
                      <a:endParaRPr lang="en-US" sz="1100"/>
                    </a:p>
                  </a:txBody>
                  <a:tcPr marL="36720" marR="36720" marT="36720" marB="36720" anchor="ctr">
                    <a:lnL cmpd="sng" algn="ctr" cap="flat" w="720">
                      <a:solidFill>
                        <a:srgbClr val="000000"/>
                      </a:solidFill>
                      <a:prstDash val="solid"/>
                      <a:round/>
                      <a:headEnd type="none" w="med" len="med"/>
                      <a:tailEnd type="none" w="med" len="med"/>
                    </a:lnL>
                    <a:lnR cmpd="sng" algn="ctr" cap="flat" w="720">
                      <a:solidFill>
                        <a:srgbClr val="000000"/>
                      </a:solidFill>
                      <a:prstDash val="solid"/>
                      <a:round/>
                      <a:headEnd type="none" w="med" len="med"/>
                      <a:tailEnd type="none" w="med" len="med"/>
                    </a:lnR>
                    <a:lnT cmpd="sng" algn="ctr" cap="flat" w="12960">
                      <a:solidFill>
                        <a:srgbClr val="BFBFBF"/>
                      </a:solidFill>
                      <a:prstDash val="solid"/>
                      <a:round/>
                      <a:headEnd type="none" w="med" len="med"/>
                      <a:tailEnd type="none" w="med" len="med"/>
                    </a:lnT>
                    <a:lnB cmpd="sng" algn="ctr" cap="flat" w="12960">
                      <a:solidFill>
                        <a:srgbClr val="BFBFBF"/>
                      </a:solidFill>
                      <a:prstDash val="solid"/>
                      <a:round/>
                      <a:headEnd type="none" w="med" len="med"/>
                      <a:tailEnd type="none" w="med" len="med"/>
                    </a:lnB>
                  </a:tcPr>
                </a:tc>
                <a:tc>
                  <a:txBody>
                    <a:bodyPr anchor="t" rtlCol="false"/>
                    <a:lstStyle/>
                    <a:p>
                      <a:pPr algn="r">
                        <a:lnSpc>
                          <a:spcPts val="2521"/>
                        </a:lnSpc>
                        <a:defRPr/>
                      </a:pPr>
                      <a:r>
                        <a:rPr lang="en-US" sz="2101">
                          <a:solidFill>
                            <a:srgbClr val="000000"/>
                          </a:solidFill>
                          <a:latin typeface="Lora"/>
                          <a:ea typeface="Lora"/>
                          <a:cs typeface="Lora"/>
                          <a:sym typeface="Lora"/>
                        </a:rPr>
                        <a:t>2,998</a:t>
                      </a:r>
                      <a:endParaRPr lang="en-US" sz="1100"/>
                    </a:p>
                  </a:txBody>
                  <a:tcPr marL="36720" marR="36720" marT="36720" marB="36720" anchor="ctr">
                    <a:lnL cmpd="sng" algn="ctr" cap="flat" w="720">
                      <a:solidFill>
                        <a:srgbClr val="000000"/>
                      </a:solidFill>
                      <a:prstDash val="solid"/>
                      <a:round/>
                      <a:headEnd type="none" w="med" len="med"/>
                      <a:tailEnd type="none" w="med" len="med"/>
                    </a:lnL>
                    <a:lnR cmpd="sng" algn="ctr" cap="flat" w="720">
                      <a:solidFill>
                        <a:srgbClr val="000000"/>
                      </a:solidFill>
                      <a:prstDash val="solid"/>
                      <a:round/>
                      <a:headEnd type="none" w="med" len="med"/>
                      <a:tailEnd type="none" w="med" len="med"/>
                    </a:lnR>
                    <a:lnT cmpd="sng" algn="ctr" cap="flat" w="12960">
                      <a:solidFill>
                        <a:srgbClr val="BFBFBF"/>
                      </a:solidFill>
                      <a:prstDash val="solid"/>
                      <a:round/>
                      <a:headEnd type="none" w="med" len="med"/>
                      <a:tailEnd type="none" w="med" len="med"/>
                    </a:lnT>
                    <a:lnB cmpd="sng" algn="ctr" cap="flat" w="12960">
                      <a:solidFill>
                        <a:srgbClr val="BFBFBF"/>
                      </a:solidFill>
                      <a:prstDash val="solid"/>
                      <a:round/>
                      <a:headEnd type="none" w="med" len="med"/>
                      <a:tailEnd type="none" w="med" len="med"/>
                    </a:lnB>
                  </a:tcPr>
                </a:tc>
              </a:tr>
              <a:tr h="577527">
                <a:tc>
                  <a:txBody>
                    <a:bodyPr anchor="t" rtlCol="false"/>
                    <a:lstStyle/>
                    <a:p>
                      <a:pPr algn="l">
                        <a:lnSpc>
                          <a:spcPts val="2521"/>
                        </a:lnSpc>
                        <a:defRPr/>
                      </a:pPr>
                      <a:r>
                        <a:rPr lang="en-US" sz="2101">
                          <a:solidFill>
                            <a:srgbClr val="000000"/>
                          </a:solidFill>
                          <a:latin typeface="Lora"/>
                          <a:ea typeface="Lora"/>
                          <a:cs typeface="Lora"/>
                          <a:sym typeface="Lora"/>
                        </a:rPr>
                        <a:t>PhonePe</a:t>
                      </a:r>
                      <a:endParaRPr lang="en-US" sz="1100"/>
                    </a:p>
                  </a:txBody>
                  <a:tcPr marL="36720" marR="36720" marT="36720" marB="36720" anchor="ctr">
                    <a:lnL cmpd="sng" algn="ctr" cap="flat" w="720">
                      <a:solidFill>
                        <a:srgbClr val="000000"/>
                      </a:solidFill>
                      <a:prstDash val="solid"/>
                      <a:round/>
                      <a:headEnd type="none" w="med" len="med"/>
                      <a:tailEnd type="none" w="med" len="med"/>
                    </a:lnL>
                    <a:lnR cmpd="sng" algn="ctr" cap="flat" w="720">
                      <a:solidFill>
                        <a:srgbClr val="000000"/>
                      </a:solidFill>
                      <a:prstDash val="solid"/>
                      <a:round/>
                      <a:headEnd type="none" w="med" len="med"/>
                      <a:tailEnd type="none" w="med" len="med"/>
                    </a:lnR>
                    <a:lnT cmpd="sng" algn="ctr" cap="flat" w="12960">
                      <a:solidFill>
                        <a:srgbClr val="BFBFBF"/>
                      </a:solidFill>
                      <a:prstDash val="solid"/>
                      <a:round/>
                      <a:headEnd type="none" w="med" len="med"/>
                      <a:tailEnd type="none" w="med" len="med"/>
                    </a:lnT>
                    <a:lnB cmpd="sng" algn="ctr" cap="flat" w="25200">
                      <a:solidFill>
                        <a:srgbClr val="000000"/>
                      </a:solidFill>
                      <a:prstDash val="solid"/>
                      <a:round/>
                      <a:headEnd type="none" w="med" len="med"/>
                      <a:tailEnd type="none" w="med" len="med"/>
                    </a:lnB>
                  </a:tcPr>
                </a:tc>
                <a:tc>
                  <a:txBody>
                    <a:bodyPr anchor="t" rtlCol="false"/>
                    <a:lstStyle/>
                    <a:p>
                      <a:pPr algn="l">
                        <a:lnSpc>
                          <a:spcPts val="2521"/>
                        </a:lnSpc>
                        <a:defRPr/>
                      </a:pPr>
                      <a:r>
                        <a:rPr lang="en-US" sz="2101">
                          <a:solidFill>
                            <a:srgbClr val="000000"/>
                          </a:solidFill>
                          <a:latin typeface="Lora"/>
                          <a:ea typeface="Lora"/>
                          <a:cs typeface="Lora"/>
                          <a:sym typeface="Lora"/>
                        </a:rPr>
                        <a:t>Finance</a:t>
                      </a:r>
                      <a:endParaRPr lang="en-US" sz="1100"/>
                    </a:p>
                  </a:txBody>
                  <a:tcPr marL="36720" marR="36720" marT="36720" marB="36720" anchor="ctr">
                    <a:lnL cmpd="sng" algn="ctr" cap="flat" w="720">
                      <a:solidFill>
                        <a:srgbClr val="000000"/>
                      </a:solidFill>
                      <a:prstDash val="solid"/>
                      <a:round/>
                      <a:headEnd type="none" w="med" len="med"/>
                      <a:tailEnd type="none" w="med" len="med"/>
                    </a:lnL>
                    <a:lnR cmpd="sng" algn="ctr" cap="flat" w="720">
                      <a:solidFill>
                        <a:srgbClr val="000000"/>
                      </a:solidFill>
                      <a:prstDash val="solid"/>
                      <a:round/>
                      <a:headEnd type="none" w="med" len="med"/>
                      <a:tailEnd type="none" w="med" len="med"/>
                    </a:lnR>
                    <a:lnT cmpd="sng" algn="ctr" cap="flat" w="12960">
                      <a:solidFill>
                        <a:srgbClr val="BFBFBF"/>
                      </a:solidFill>
                      <a:prstDash val="solid"/>
                      <a:round/>
                      <a:headEnd type="none" w="med" len="med"/>
                      <a:tailEnd type="none" w="med" len="med"/>
                    </a:lnT>
                    <a:lnB cmpd="sng" algn="ctr" cap="flat" w="25200">
                      <a:solidFill>
                        <a:srgbClr val="000000"/>
                      </a:solidFill>
                      <a:prstDash val="solid"/>
                      <a:round/>
                      <a:headEnd type="none" w="med" len="med"/>
                      <a:tailEnd type="none" w="med" len="med"/>
                    </a:lnB>
                  </a:tcPr>
                </a:tc>
                <a:tc>
                  <a:txBody>
                    <a:bodyPr anchor="t" rtlCol="false"/>
                    <a:lstStyle/>
                    <a:p>
                      <a:pPr algn="r">
                        <a:lnSpc>
                          <a:spcPts val="2521"/>
                        </a:lnSpc>
                        <a:defRPr/>
                      </a:pPr>
                      <a:r>
                        <a:rPr lang="en-US" sz="2101">
                          <a:solidFill>
                            <a:srgbClr val="000000"/>
                          </a:solidFill>
                          <a:latin typeface="Lora"/>
                          <a:ea typeface="Lora"/>
                          <a:cs typeface="Lora"/>
                          <a:sym typeface="Lora"/>
                        </a:rPr>
                        <a:t>2,995</a:t>
                      </a:r>
                      <a:endParaRPr lang="en-US" sz="1100"/>
                    </a:p>
                  </a:txBody>
                  <a:tcPr marL="36720" marR="36720" marT="36720" marB="36720" anchor="ctr">
                    <a:lnL cmpd="sng" algn="ctr" cap="flat" w="720">
                      <a:solidFill>
                        <a:srgbClr val="000000"/>
                      </a:solidFill>
                      <a:prstDash val="solid"/>
                      <a:round/>
                      <a:headEnd type="none" w="med" len="med"/>
                      <a:tailEnd type="none" w="med" len="med"/>
                    </a:lnL>
                    <a:lnR cmpd="sng" algn="ctr" cap="flat" w="720">
                      <a:solidFill>
                        <a:srgbClr val="000000"/>
                      </a:solidFill>
                      <a:prstDash val="solid"/>
                      <a:round/>
                      <a:headEnd type="none" w="med" len="med"/>
                      <a:tailEnd type="none" w="med" len="med"/>
                    </a:lnR>
                    <a:lnT cmpd="sng" algn="ctr" cap="flat" w="12960">
                      <a:solidFill>
                        <a:srgbClr val="BFBFBF"/>
                      </a:solidFill>
                      <a:prstDash val="solid"/>
                      <a:round/>
                      <a:headEnd type="none" w="med" len="med"/>
                      <a:tailEnd type="none" w="med" len="med"/>
                    </a:lnT>
                    <a:lnB cmpd="sng" algn="ctr" cap="flat" w="25200">
                      <a:solidFill>
                        <a:srgbClr val="000000"/>
                      </a:solidFill>
                      <a:prstDash val="solid"/>
                      <a:round/>
                      <a:headEnd type="none" w="med" len="med"/>
                      <a:tailEnd type="none" w="med" len="med"/>
                    </a:lnB>
                  </a:tcPr>
                </a:tc>
              </a:tr>
            </a:tbl>
          </a:graphicData>
        </a:graphic>
      </p:graphicFrame>
      <p:sp>
        <p:nvSpPr>
          <p:cNvPr name="TextBox 5" id="5"/>
          <p:cNvSpPr txBox="true"/>
          <p:nvPr/>
        </p:nvSpPr>
        <p:spPr>
          <a:xfrm rot="0">
            <a:off x="10728208" y="6162913"/>
            <a:ext cx="6683359" cy="238125"/>
          </a:xfrm>
          <a:prstGeom prst="rect">
            <a:avLst/>
          </a:prstGeom>
        </p:spPr>
        <p:txBody>
          <a:bodyPr anchor="t" rtlCol="false" tIns="0" lIns="0" bIns="0" rIns="0">
            <a:spAutoFit/>
          </a:bodyPr>
          <a:lstStyle/>
          <a:p>
            <a:pPr algn="l">
              <a:lnSpc>
                <a:spcPts val="1981"/>
              </a:lnSpc>
            </a:pPr>
            <a:r>
              <a:rPr lang="en-US" sz="1651" i="true">
                <a:solidFill>
                  <a:srgbClr val="000000"/>
                </a:solidFill>
                <a:latin typeface="Lora Italics"/>
                <a:ea typeface="Lora Italics"/>
                <a:cs typeface="Lora Italics"/>
                <a:sym typeface="Lora Italics"/>
              </a:rPr>
              <a:t>Reviews per app after cleaning</a:t>
            </a:r>
          </a:p>
        </p:txBody>
      </p:sp>
      <p:sp>
        <p:nvSpPr>
          <p:cNvPr name="TextBox 6" id="6"/>
          <p:cNvSpPr txBox="true"/>
          <p:nvPr/>
        </p:nvSpPr>
        <p:spPr>
          <a:xfrm rot="0">
            <a:off x="1028700" y="2415001"/>
            <a:ext cx="8954691" cy="5505450"/>
          </a:xfrm>
          <a:prstGeom prst="rect">
            <a:avLst/>
          </a:prstGeom>
        </p:spPr>
        <p:txBody>
          <a:bodyPr anchor="t" rtlCol="false" tIns="0" lIns="0" bIns="0" rIns="0">
            <a:spAutoFit/>
          </a:bodyPr>
          <a:lstStyle/>
          <a:p>
            <a:pPr algn="l">
              <a:lnSpc>
                <a:spcPts val="2581"/>
              </a:lnSpc>
              <a:spcBef>
                <a:spcPct val="0"/>
              </a:spcBef>
            </a:pPr>
            <a:r>
              <a:rPr lang="en-US" b="true" sz="2151">
                <a:solidFill>
                  <a:srgbClr val="000000"/>
                </a:solidFill>
                <a:latin typeface="Lora Bold"/>
                <a:ea typeface="Lora Bold"/>
                <a:cs typeface="Lora Bold"/>
                <a:sym typeface="Lora Bold"/>
              </a:rPr>
              <a:t>Source and collection method:</a:t>
            </a:r>
            <a:r>
              <a:rPr lang="en-US" sz="2151">
                <a:solidFill>
                  <a:srgbClr val="000000"/>
                </a:solidFill>
                <a:latin typeface="Lora"/>
                <a:ea typeface="Lora"/>
                <a:cs typeface="Lora"/>
                <a:sym typeface="Lora"/>
              </a:rPr>
              <a:t> Google Play Store, collected with the google-play-scraper package (English, India, MOST_RELEVANT order, 3,000 reviews per app). </a:t>
            </a:r>
          </a:p>
          <a:p>
            <a:pPr algn="l">
              <a:lnSpc>
                <a:spcPts val="2581"/>
              </a:lnSpc>
              <a:spcBef>
                <a:spcPct val="0"/>
              </a:spcBef>
            </a:pPr>
          </a:p>
          <a:p>
            <a:pPr algn="l">
              <a:lnSpc>
                <a:spcPts val="2581"/>
              </a:lnSpc>
              <a:spcBef>
                <a:spcPct val="0"/>
              </a:spcBef>
            </a:pPr>
            <a:r>
              <a:rPr lang="en-US" b="true" sz="2151">
                <a:solidFill>
                  <a:srgbClr val="000000"/>
                </a:solidFill>
                <a:latin typeface="Lora Bold"/>
                <a:ea typeface="Lora Bold"/>
                <a:cs typeface="Lora Bold"/>
                <a:sym typeface="Lora Bold"/>
              </a:rPr>
              <a:t>Dataset size:</a:t>
            </a:r>
            <a:r>
              <a:rPr lang="en-US" sz="2151">
                <a:solidFill>
                  <a:srgbClr val="000000"/>
                </a:solidFill>
                <a:latin typeface="Lora"/>
                <a:ea typeface="Lora"/>
                <a:cs typeface="Lora"/>
                <a:sym typeface="Lora"/>
              </a:rPr>
              <a:t> 15,000 raw reviews; 14,988 after cleaning; 28 columns after tagging and sentiment.</a:t>
            </a:r>
          </a:p>
          <a:p>
            <a:pPr algn="l">
              <a:lnSpc>
                <a:spcPts val="2581"/>
              </a:lnSpc>
              <a:spcBef>
                <a:spcPct val="0"/>
              </a:spcBef>
            </a:pPr>
          </a:p>
          <a:p>
            <a:pPr algn="l">
              <a:lnSpc>
                <a:spcPts val="2581"/>
              </a:lnSpc>
              <a:spcBef>
                <a:spcPct val="0"/>
              </a:spcBef>
            </a:pPr>
            <a:r>
              <a:rPr lang="en-US" b="true" sz="2151">
                <a:solidFill>
                  <a:srgbClr val="000000"/>
                </a:solidFill>
                <a:latin typeface="Lora Bold"/>
                <a:ea typeface="Lora Bold"/>
                <a:cs typeface="Lora Bold"/>
                <a:sym typeface="Lora Bold"/>
              </a:rPr>
              <a:t>Key variables: </a:t>
            </a:r>
            <a:r>
              <a:rPr lang="en-US" sz="2151">
                <a:solidFill>
                  <a:srgbClr val="000000"/>
                </a:solidFill>
                <a:latin typeface="Lora"/>
                <a:ea typeface="Lora"/>
                <a:cs typeface="Lora"/>
                <a:sym typeface="Lora"/>
              </a:rPr>
              <a:t>app_name, score (1 to 5), content (text), thumbs_up, app_version, review_date, review_length, 9 issue flags, sentiment score and label.</a:t>
            </a:r>
          </a:p>
          <a:p>
            <a:pPr algn="l">
              <a:lnSpc>
                <a:spcPts val="2581"/>
              </a:lnSpc>
              <a:spcBef>
                <a:spcPct val="0"/>
              </a:spcBef>
            </a:pPr>
          </a:p>
          <a:p>
            <a:pPr algn="l">
              <a:lnSpc>
                <a:spcPts val="2581"/>
              </a:lnSpc>
              <a:spcBef>
                <a:spcPct val="0"/>
              </a:spcBef>
            </a:pPr>
            <a:r>
              <a:rPr lang="en-US" b="true" sz="2151">
                <a:solidFill>
                  <a:srgbClr val="000000"/>
                </a:solidFill>
                <a:latin typeface="Lora Bold"/>
                <a:ea typeface="Lora Bold"/>
                <a:cs typeface="Lora Bold"/>
                <a:sym typeface="Lora Bold"/>
              </a:rPr>
              <a:t>Prediction target:</a:t>
            </a:r>
            <a:r>
              <a:rPr lang="en-US" sz="2151">
                <a:solidFill>
                  <a:srgbClr val="000000"/>
                </a:solidFill>
                <a:latin typeface="Lora"/>
                <a:ea typeface="Lora"/>
                <a:cs typeface="Lora"/>
                <a:sym typeface="Lora"/>
              </a:rPr>
              <a:t> is_problematic = 1 when the rating is 1 or 2 stars (74.1% of reviews).</a:t>
            </a:r>
          </a:p>
          <a:p>
            <a:pPr algn="l">
              <a:lnSpc>
                <a:spcPts val="2581"/>
              </a:lnSpc>
              <a:spcBef>
                <a:spcPct val="0"/>
              </a:spcBef>
            </a:pPr>
          </a:p>
          <a:p>
            <a:pPr algn="l">
              <a:lnSpc>
                <a:spcPts val="2581"/>
              </a:lnSpc>
              <a:spcBef>
                <a:spcPct val="0"/>
              </a:spcBef>
            </a:pPr>
            <a:r>
              <a:rPr lang="en-US" b="true" sz="2151">
                <a:solidFill>
                  <a:srgbClr val="000000"/>
                </a:solidFill>
                <a:latin typeface="Lora Bold"/>
                <a:ea typeface="Lora Bold"/>
                <a:cs typeface="Lora Bold"/>
                <a:sym typeface="Lora Bold"/>
              </a:rPr>
              <a:t>Collection period and limitations:</a:t>
            </a:r>
            <a:r>
              <a:rPr lang="en-US" sz="2151">
                <a:solidFill>
                  <a:srgbClr val="000000"/>
                </a:solidFill>
                <a:latin typeface="Lora"/>
                <a:ea typeface="Lora"/>
                <a:cs typeface="Lora"/>
                <a:sym typeface="Lora"/>
              </a:rPr>
              <a:t> Collected 20 Sep 2026; review dates 15 Sep 2018 to 18 Sep 2026. The feed favours complaints: 69.2% are 1-star, while public ratings are 4.43 to 4.66.</a:t>
            </a:r>
          </a:p>
        </p:txBody>
      </p:sp>
    </p:spTree>
  </p:cSld>
  <p:clrMapOvr>
    <a:masterClrMapping/>
  </p:clrMapOvr>
  <p:transition spd="fast">
    <p:fade/>
  </p:transition>
</p:sld>
</file>

<file path=ppt/slides/slide4.xml><?xml version="1.0" encoding="utf-8"?>
<p:sld xmlns:p="http://schemas.openxmlformats.org/presentationml/2006/main" xmlns:a="http://schemas.openxmlformats.org/drawingml/2006/main">
  <p:cSld>
    <p:bg>
      <p:bgPr>
        <a:solidFill>
          <a:srgbClr val="F7FCFA"/>
        </a:solidFill>
      </p:bgPr>
    </p:bg>
    <p:spTree>
      <p:nvGrpSpPr>
        <p:cNvPr id="1" name=""/>
        <p:cNvGrpSpPr/>
        <p:nvPr/>
      </p:nvGrpSpPr>
      <p:grpSpPr>
        <a:xfrm>
          <a:off x="0" y="0"/>
          <a:ext cx="0" cy="0"/>
          <a:chOff x="0" y="0"/>
          <a:chExt cx="0" cy="0"/>
        </a:xfrm>
      </p:grpSpPr>
      <p:sp>
        <p:nvSpPr>
          <p:cNvPr name="TextBox 2" id="2"/>
          <p:cNvSpPr txBox="true"/>
          <p:nvPr/>
        </p:nvSpPr>
        <p:spPr>
          <a:xfrm rot="0">
            <a:off x="1439466" y="1779175"/>
            <a:ext cx="16474735" cy="685800"/>
          </a:xfrm>
          <a:prstGeom prst="rect">
            <a:avLst/>
          </a:prstGeom>
        </p:spPr>
        <p:txBody>
          <a:bodyPr anchor="t" rtlCol="false" tIns="0" lIns="0" bIns="0" rIns="0">
            <a:spAutoFit/>
          </a:bodyPr>
          <a:lstStyle/>
          <a:p>
            <a:pPr algn="l">
              <a:lnSpc>
                <a:spcPts val="5404"/>
              </a:lnSpc>
            </a:pPr>
            <a:r>
              <a:rPr lang="en-US" sz="4503" b="true">
                <a:solidFill>
                  <a:srgbClr val="000000"/>
                </a:solidFill>
                <a:latin typeface="Lora Bold"/>
                <a:ea typeface="Lora Bold"/>
                <a:cs typeface="Lora Bold"/>
                <a:sym typeface="Lora Bold"/>
              </a:rPr>
              <a:t>Cleaning and preprocessing</a:t>
            </a:r>
          </a:p>
        </p:txBody>
      </p:sp>
      <p:sp>
        <p:nvSpPr>
          <p:cNvPr name="TextBox 3" id="3"/>
          <p:cNvSpPr txBox="true"/>
          <p:nvPr/>
        </p:nvSpPr>
        <p:spPr>
          <a:xfrm rot="0">
            <a:off x="16470201" y="9722339"/>
            <a:ext cx="918134" cy="333375"/>
          </a:xfrm>
          <a:prstGeom prst="rect">
            <a:avLst/>
          </a:prstGeom>
        </p:spPr>
        <p:txBody>
          <a:bodyPr anchor="t" rtlCol="false" tIns="0" lIns="0" bIns="0" rIns="0">
            <a:spAutoFit/>
          </a:bodyPr>
          <a:lstStyle/>
          <a:p>
            <a:pPr algn="r">
              <a:lnSpc>
                <a:spcPts val="2639"/>
              </a:lnSpc>
            </a:pPr>
            <a:r>
              <a:rPr lang="en-US" sz="2199">
                <a:solidFill>
                  <a:srgbClr val="000000"/>
                </a:solidFill>
                <a:latin typeface="Lora"/>
                <a:ea typeface="Lora"/>
                <a:cs typeface="Lora"/>
                <a:sym typeface="Lora"/>
              </a:rPr>
              <a:t>04</a:t>
            </a:r>
          </a:p>
        </p:txBody>
      </p:sp>
      <p:sp>
        <p:nvSpPr>
          <p:cNvPr name="TextBox 4" id="4"/>
          <p:cNvSpPr txBox="true"/>
          <p:nvPr/>
        </p:nvSpPr>
        <p:spPr>
          <a:xfrm rot="0">
            <a:off x="1761918" y="3475123"/>
            <a:ext cx="15008299" cy="3771900"/>
          </a:xfrm>
          <a:prstGeom prst="rect">
            <a:avLst/>
          </a:prstGeom>
        </p:spPr>
        <p:txBody>
          <a:bodyPr anchor="t" rtlCol="false" tIns="0" lIns="0" bIns="0" rIns="0">
            <a:spAutoFit/>
          </a:bodyPr>
          <a:lstStyle/>
          <a:p>
            <a:pPr algn="l">
              <a:lnSpc>
                <a:spcPts val="2753"/>
              </a:lnSpc>
              <a:spcBef>
                <a:spcPct val="0"/>
              </a:spcBef>
            </a:pPr>
            <a:r>
              <a:rPr lang="en-US" b="true" sz="2294">
                <a:solidFill>
                  <a:srgbClr val="000000"/>
                </a:solidFill>
                <a:latin typeface="Lora Bold"/>
                <a:ea typeface="Lora Bold"/>
                <a:cs typeface="Lora Bold"/>
                <a:sym typeface="Lora Bold"/>
              </a:rPr>
              <a:t>Missing values:</a:t>
            </a:r>
            <a:r>
              <a:rPr lang="en-US" sz="2294">
                <a:solidFill>
                  <a:srgbClr val="000000"/>
                </a:solidFill>
                <a:latin typeface="Lora"/>
                <a:ea typeface="Lora"/>
                <a:cs typeface="Lora"/>
                <a:sym typeface="Lora"/>
              </a:rPr>
              <a:t> Only app_version is missing (449 rows, 3.0%). Rows were kept because the version is not a model feature.</a:t>
            </a:r>
          </a:p>
          <a:p>
            <a:pPr algn="l">
              <a:lnSpc>
                <a:spcPts val="2753"/>
              </a:lnSpc>
              <a:spcBef>
                <a:spcPct val="0"/>
              </a:spcBef>
            </a:pPr>
          </a:p>
          <a:p>
            <a:pPr algn="l">
              <a:lnSpc>
                <a:spcPts val="2753"/>
              </a:lnSpc>
              <a:spcBef>
                <a:spcPct val="0"/>
              </a:spcBef>
            </a:pPr>
            <a:r>
              <a:rPr lang="en-US" b="true" sz="2294">
                <a:solidFill>
                  <a:srgbClr val="000000"/>
                </a:solidFill>
                <a:latin typeface="Lora Bold"/>
                <a:ea typeface="Lora Bold"/>
                <a:cs typeface="Lora Bold"/>
                <a:sym typeface="Lora Bold"/>
              </a:rPr>
              <a:t>Duplicates and outliers:</a:t>
            </a:r>
            <a:r>
              <a:rPr lang="en-US" sz="2294">
                <a:solidFill>
                  <a:srgbClr val="000000"/>
                </a:solidFill>
                <a:latin typeface="Lora"/>
                <a:ea typeface="Lora"/>
                <a:cs typeface="Lora"/>
                <a:sym typeface="Lora"/>
              </a:rPr>
              <a:t> 0 duplicate review IDs. 12 non-English reviews removed (less than 85% ASCII). thumbs_up has 1,897 extreme values (max 46,743); these are real viral reviews, so we kept them and used medians and log scale.</a:t>
            </a:r>
          </a:p>
          <a:p>
            <a:pPr algn="l">
              <a:lnSpc>
                <a:spcPts val="2753"/>
              </a:lnSpc>
              <a:spcBef>
                <a:spcPct val="0"/>
              </a:spcBef>
            </a:pPr>
          </a:p>
          <a:p>
            <a:pPr algn="l">
              <a:lnSpc>
                <a:spcPts val="2753"/>
              </a:lnSpc>
              <a:spcBef>
                <a:spcPct val="0"/>
              </a:spcBef>
            </a:pPr>
            <a:r>
              <a:rPr lang="en-US" b="true" sz="2294">
                <a:solidFill>
                  <a:srgbClr val="000000"/>
                </a:solidFill>
                <a:latin typeface="Lora Bold"/>
                <a:ea typeface="Lora Bold"/>
                <a:cs typeface="Lora Bold"/>
                <a:sym typeface="Lora Bold"/>
              </a:rPr>
              <a:t>Encoding and scaling:</a:t>
            </a:r>
            <a:r>
              <a:rPr lang="en-US" sz="2294">
                <a:solidFill>
                  <a:srgbClr val="000000"/>
                </a:solidFill>
                <a:latin typeface="Lora"/>
                <a:ea typeface="Lora"/>
                <a:cs typeface="Lora"/>
                <a:sym typeface="Lora"/>
              </a:rPr>
              <a:t> Text to TF-IDF; issue categories as 0/1 columns; 15 structural features scaled with StandardScaler.</a:t>
            </a:r>
          </a:p>
          <a:p>
            <a:pPr algn="l">
              <a:lnSpc>
                <a:spcPts val="2753"/>
              </a:lnSpc>
              <a:spcBef>
                <a:spcPct val="0"/>
              </a:spcBef>
            </a:pPr>
          </a:p>
          <a:p>
            <a:pPr algn="l">
              <a:lnSpc>
                <a:spcPts val="2753"/>
              </a:lnSpc>
              <a:spcBef>
                <a:spcPct val="0"/>
              </a:spcBef>
            </a:pPr>
            <a:r>
              <a:rPr lang="en-US" b="true" sz="2294">
                <a:solidFill>
                  <a:srgbClr val="000000"/>
                </a:solidFill>
                <a:latin typeface="Lora Bold"/>
                <a:ea typeface="Lora Bold"/>
                <a:cs typeface="Lora Bold"/>
                <a:sym typeface="Lora Bold"/>
              </a:rPr>
              <a:t>Before and after:</a:t>
            </a:r>
            <a:r>
              <a:rPr lang="en-US" sz="2294">
                <a:solidFill>
                  <a:srgbClr val="000000"/>
                </a:solidFill>
                <a:latin typeface="Lora"/>
                <a:ea typeface="Lora"/>
                <a:cs typeface="Lora"/>
                <a:sym typeface="Lora"/>
              </a:rPr>
              <a:t> 15,000 rows to 14,988 rows (12 removed). Columns: 8 raw, 10 after cleaning, 28 after tagging.</a:t>
            </a:r>
          </a:p>
        </p:txBody>
      </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7FCFA"/>
        </a:solidFill>
      </p:bgPr>
    </p:bg>
    <p:spTree>
      <p:nvGrpSpPr>
        <p:cNvPr id="1" name=""/>
        <p:cNvGrpSpPr/>
        <p:nvPr/>
      </p:nvGrpSpPr>
      <p:grpSpPr>
        <a:xfrm>
          <a:off x="0" y="0"/>
          <a:ext cx="0" cy="0"/>
          <a:chOff x="0" y="0"/>
          <a:chExt cx="0" cy="0"/>
        </a:xfrm>
      </p:grpSpPr>
      <p:sp>
        <p:nvSpPr>
          <p:cNvPr name="TextBox 2" id="2"/>
          <p:cNvSpPr txBox="true"/>
          <p:nvPr/>
        </p:nvSpPr>
        <p:spPr>
          <a:xfrm rot="0">
            <a:off x="913600" y="1046940"/>
            <a:ext cx="16474735" cy="685800"/>
          </a:xfrm>
          <a:prstGeom prst="rect">
            <a:avLst/>
          </a:prstGeom>
        </p:spPr>
        <p:txBody>
          <a:bodyPr anchor="t" rtlCol="false" tIns="0" lIns="0" bIns="0" rIns="0">
            <a:spAutoFit/>
          </a:bodyPr>
          <a:lstStyle/>
          <a:p>
            <a:pPr algn="l">
              <a:lnSpc>
                <a:spcPts val="5404"/>
              </a:lnSpc>
            </a:pPr>
            <a:r>
              <a:rPr lang="en-US" sz="4503" b="true">
                <a:solidFill>
                  <a:srgbClr val="000000"/>
                </a:solidFill>
                <a:latin typeface="Lora Bold"/>
                <a:ea typeface="Lora Bold"/>
                <a:cs typeface="Lora Bold"/>
                <a:sym typeface="Lora Bold"/>
              </a:rPr>
              <a:t>Exploratory A</a:t>
            </a:r>
            <a:r>
              <a:rPr lang="en-US" sz="4503" b="true">
                <a:solidFill>
                  <a:srgbClr val="000000"/>
                </a:solidFill>
                <a:latin typeface="Lora Bold"/>
                <a:ea typeface="Lora Bold"/>
                <a:cs typeface="Lora Bold"/>
                <a:sym typeface="Lora Bold"/>
              </a:rPr>
              <a:t>nalysis and Visualization</a:t>
            </a:r>
          </a:p>
        </p:txBody>
      </p:sp>
      <p:sp>
        <p:nvSpPr>
          <p:cNvPr name="TextBox 3" id="3"/>
          <p:cNvSpPr txBox="true"/>
          <p:nvPr/>
        </p:nvSpPr>
        <p:spPr>
          <a:xfrm rot="0">
            <a:off x="16470201" y="9722339"/>
            <a:ext cx="918134" cy="333375"/>
          </a:xfrm>
          <a:prstGeom prst="rect">
            <a:avLst/>
          </a:prstGeom>
        </p:spPr>
        <p:txBody>
          <a:bodyPr anchor="t" rtlCol="false" tIns="0" lIns="0" bIns="0" rIns="0">
            <a:spAutoFit/>
          </a:bodyPr>
          <a:lstStyle/>
          <a:p>
            <a:pPr algn="r">
              <a:lnSpc>
                <a:spcPts val="2639"/>
              </a:lnSpc>
            </a:pPr>
            <a:r>
              <a:rPr lang="en-US" sz="2199">
                <a:solidFill>
                  <a:srgbClr val="000000"/>
                </a:solidFill>
                <a:latin typeface="Lora"/>
                <a:ea typeface="Lora"/>
                <a:cs typeface="Lora"/>
                <a:sym typeface="Lora"/>
              </a:rPr>
              <a:t>05</a:t>
            </a:r>
          </a:p>
        </p:txBody>
      </p:sp>
      <p:grpSp>
        <p:nvGrpSpPr>
          <p:cNvPr name="Group 4" id="4"/>
          <p:cNvGrpSpPr/>
          <p:nvPr/>
        </p:nvGrpSpPr>
        <p:grpSpPr>
          <a:xfrm rot="0">
            <a:off x="816578" y="2952331"/>
            <a:ext cx="8788673" cy="4857023"/>
            <a:chOff x="0" y="0"/>
            <a:chExt cx="12910642" cy="7135012"/>
          </a:xfrm>
        </p:grpSpPr>
        <p:sp>
          <p:nvSpPr>
            <p:cNvPr name="Freeform 5" id="5"/>
            <p:cNvSpPr/>
            <p:nvPr/>
          </p:nvSpPr>
          <p:spPr>
            <a:xfrm flipH="false" flipV="false" rot="0">
              <a:off x="0" y="0"/>
              <a:ext cx="12910693" cy="7134987"/>
            </a:xfrm>
            <a:custGeom>
              <a:avLst/>
              <a:gdLst/>
              <a:ahLst/>
              <a:cxnLst/>
              <a:rect r="r" b="b" t="t" l="l"/>
              <a:pathLst>
                <a:path h="7134987" w="12910693">
                  <a:moveTo>
                    <a:pt x="0" y="0"/>
                  </a:moveTo>
                  <a:lnTo>
                    <a:pt x="12910693" y="0"/>
                  </a:lnTo>
                  <a:lnTo>
                    <a:pt x="12910693" y="7134987"/>
                  </a:lnTo>
                  <a:lnTo>
                    <a:pt x="0" y="7134987"/>
                  </a:lnTo>
                  <a:lnTo>
                    <a:pt x="0" y="0"/>
                  </a:lnTo>
                  <a:close/>
                </a:path>
              </a:pathLst>
            </a:custGeom>
            <a:blipFill>
              <a:blip r:embed="rId2"/>
              <a:stretch>
                <a:fillRect l="-1170" t="0" r="-1170" b="0"/>
              </a:stretch>
            </a:blipFill>
          </p:spPr>
        </p:sp>
      </p:grpSp>
      <p:sp>
        <p:nvSpPr>
          <p:cNvPr name="TextBox 6" id="6"/>
          <p:cNvSpPr txBox="true"/>
          <p:nvPr/>
        </p:nvSpPr>
        <p:spPr>
          <a:xfrm rot="0">
            <a:off x="9903525" y="3494893"/>
            <a:ext cx="8188022" cy="3771900"/>
          </a:xfrm>
          <a:prstGeom prst="rect">
            <a:avLst/>
          </a:prstGeom>
        </p:spPr>
        <p:txBody>
          <a:bodyPr anchor="t" rtlCol="false" tIns="0" lIns="0" bIns="0" rIns="0">
            <a:spAutoFit/>
          </a:bodyPr>
          <a:lstStyle/>
          <a:p>
            <a:pPr algn="l">
              <a:lnSpc>
                <a:spcPts val="2759"/>
              </a:lnSpc>
              <a:spcBef>
                <a:spcPct val="0"/>
              </a:spcBef>
            </a:pPr>
            <a:r>
              <a:rPr lang="en-US" b="true" sz="2299">
                <a:solidFill>
                  <a:srgbClr val="000000"/>
                </a:solidFill>
                <a:latin typeface="Lora Bold"/>
                <a:ea typeface="Lora Bold"/>
                <a:cs typeface="Lora Bold"/>
                <a:sym typeface="Lora Bold"/>
              </a:rPr>
              <a:t>Finding 1:</a:t>
            </a:r>
            <a:r>
              <a:rPr lang="en-US" sz="2299">
                <a:solidFill>
                  <a:srgbClr val="000000"/>
                </a:solidFill>
                <a:latin typeface="Lora"/>
                <a:ea typeface="Lora"/>
                <a:cs typeface="Lora"/>
                <a:sym typeface="Lora"/>
              </a:rPr>
              <a:t> Each app has its own problem. Delivery Delay is about 29% at Swiggy and Zomato but 1 to 2% at Paytm and PhonePe. Cancellation and Return is 40% at Myntra. Crash and Stability is 17% at Paytm.</a:t>
            </a:r>
          </a:p>
          <a:p>
            <a:pPr algn="l">
              <a:lnSpc>
                <a:spcPts val="2759"/>
              </a:lnSpc>
              <a:spcBef>
                <a:spcPct val="0"/>
              </a:spcBef>
            </a:pPr>
          </a:p>
          <a:p>
            <a:pPr algn="l">
              <a:lnSpc>
                <a:spcPts val="2759"/>
              </a:lnSpc>
              <a:spcBef>
                <a:spcPct val="0"/>
              </a:spcBef>
            </a:pPr>
            <a:r>
              <a:rPr lang="en-US" b="true" sz="2299">
                <a:solidFill>
                  <a:srgbClr val="000000"/>
                </a:solidFill>
                <a:latin typeface="Lora Bold"/>
                <a:ea typeface="Lora Bold"/>
                <a:cs typeface="Lora Bold"/>
                <a:sym typeface="Lora Bold"/>
              </a:rPr>
              <a:t>Finding 2</a:t>
            </a:r>
            <a:r>
              <a:rPr lang="en-US" sz="2299">
                <a:solidFill>
                  <a:srgbClr val="000000"/>
                </a:solidFill>
                <a:latin typeface="Lora"/>
                <a:ea typeface="Lora"/>
                <a:cs typeface="Lora"/>
                <a:sym typeface="Lora"/>
              </a:rPr>
              <a:t>: Customer Support is the biggest issue overall (34.4% of reviews, average 1.19 stars). Order Quality is rare (6.6%) but rated worst (1.13 stars).</a:t>
            </a:r>
          </a:p>
          <a:p>
            <a:pPr algn="l">
              <a:lnSpc>
                <a:spcPts val="2759"/>
              </a:lnSpc>
              <a:spcBef>
                <a:spcPct val="0"/>
              </a:spcBef>
            </a:pPr>
          </a:p>
          <a:p>
            <a:pPr algn="l">
              <a:lnSpc>
                <a:spcPts val="2759"/>
              </a:lnSpc>
              <a:spcBef>
                <a:spcPct val="0"/>
              </a:spcBef>
            </a:pPr>
            <a:r>
              <a:rPr lang="en-US" b="true" sz="2299">
                <a:solidFill>
                  <a:srgbClr val="000000"/>
                </a:solidFill>
                <a:latin typeface="Lora Bold"/>
                <a:ea typeface="Lora Bold"/>
                <a:cs typeface="Lora Bold"/>
                <a:sym typeface="Lora Bold"/>
              </a:rPr>
              <a:t>Business significance:</a:t>
            </a:r>
            <a:r>
              <a:rPr lang="en-US" sz="2299">
                <a:solidFill>
                  <a:srgbClr val="000000"/>
                </a:solidFill>
                <a:latin typeface="Lora"/>
                <a:ea typeface="Lora"/>
                <a:cs typeface="Lora"/>
                <a:sym typeface="Lora"/>
              </a:rPr>
              <a:t> One common fix will not work. Each company should fix its own top problem first.</a:t>
            </a:r>
          </a:p>
        </p:txBody>
      </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7FCFA"/>
        </a:solidFill>
      </p:bgPr>
    </p:bg>
    <p:spTree>
      <p:nvGrpSpPr>
        <p:cNvPr id="1" name=""/>
        <p:cNvGrpSpPr/>
        <p:nvPr/>
      </p:nvGrpSpPr>
      <p:grpSpPr>
        <a:xfrm>
          <a:off x="0" y="0"/>
          <a:ext cx="0" cy="0"/>
          <a:chOff x="0" y="0"/>
          <a:chExt cx="0" cy="0"/>
        </a:xfrm>
      </p:grpSpPr>
      <p:sp>
        <p:nvSpPr>
          <p:cNvPr name="TextBox 2" id="2"/>
          <p:cNvSpPr txBox="true"/>
          <p:nvPr/>
        </p:nvSpPr>
        <p:spPr>
          <a:xfrm rot="0">
            <a:off x="16245168" y="9650901"/>
            <a:ext cx="918134" cy="333375"/>
          </a:xfrm>
          <a:prstGeom prst="rect">
            <a:avLst/>
          </a:prstGeom>
        </p:spPr>
        <p:txBody>
          <a:bodyPr anchor="t" rtlCol="false" tIns="0" lIns="0" bIns="0" rIns="0">
            <a:spAutoFit/>
          </a:bodyPr>
          <a:lstStyle/>
          <a:p>
            <a:pPr algn="r">
              <a:lnSpc>
                <a:spcPts val="2639"/>
              </a:lnSpc>
            </a:pPr>
            <a:r>
              <a:rPr lang="en-US" sz="2199">
                <a:solidFill>
                  <a:srgbClr val="000000"/>
                </a:solidFill>
                <a:latin typeface="Lora"/>
                <a:ea typeface="Lora"/>
                <a:cs typeface="Lora"/>
                <a:sym typeface="Lora"/>
              </a:rPr>
              <a:t>06</a:t>
            </a:r>
          </a:p>
        </p:txBody>
      </p:sp>
      <p:grpSp>
        <p:nvGrpSpPr>
          <p:cNvPr name="Group 3" id="3"/>
          <p:cNvGrpSpPr/>
          <p:nvPr/>
        </p:nvGrpSpPr>
        <p:grpSpPr>
          <a:xfrm rot="0">
            <a:off x="1583765" y="1513399"/>
            <a:ext cx="15120471" cy="4887039"/>
            <a:chOff x="0" y="0"/>
            <a:chExt cx="20160628" cy="6516053"/>
          </a:xfrm>
        </p:grpSpPr>
        <p:sp>
          <p:nvSpPr>
            <p:cNvPr name="Freeform 4" id="4"/>
            <p:cNvSpPr/>
            <p:nvPr/>
          </p:nvSpPr>
          <p:spPr>
            <a:xfrm flipH="false" flipV="false" rot="0">
              <a:off x="0" y="0"/>
              <a:ext cx="20160614" cy="6515989"/>
            </a:xfrm>
            <a:custGeom>
              <a:avLst/>
              <a:gdLst/>
              <a:ahLst/>
              <a:cxnLst/>
              <a:rect r="r" b="b" t="t" l="l"/>
              <a:pathLst>
                <a:path h="6515989" w="20160614">
                  <a:moveTo>
                    <a:pt x="0" y="0"/>
                  </a:moveTo>
                  <a:lnTo>
                    <a:pt x="20160614" y="0"/>
                  </a:lnTo>
                  <a:lnTo>
                    <a:pt x="20160614" y="6515989"/>
                  </a:lnTo>
                  <a:lnTo>
                    <a:pt x="0" y="6515989"/>
                  </a:lnTo>
                  <a:lnTo>
                    <a:pt x="0" y="0"/>
                  </a:lnTo>
                  <a:close/>
                </a:path>
              </a:pathLst>
            </a:custGeom>
            <a:blipFill>
              <a:blip r:embed="rId2"/>
              <a:stretch>
                <a:fillRect l="-97" t="0" r="-97" b="0"/>
              </a:stretch>
            </a:blipFill>
          </p:spPr>
        </p:sp>
      </p:grpSp>
      <p:sp>
        <p:nvSpPr>
          <p:cNvPr name="TextBox 5" id="5"/>
          <p:cNvSpPr txBox="true"/>
          <p:nvPr/>
        </p:nvSpPr>
        <p:spPr>
          <a:xfrm rot="0">
            <a:off x="1711633" y="6858305"/>
            <a:ext cx="15891110" cy="2171700"/>
          </a:xfrm>
          <a:prstGeom prst="rect">
            <a:avLst/>
          </a:prstGeom>
        </p:spPr>
        <p:txBody>
          <a:bodyPr anchor="t" rtlCol="false" tIns="0" lIns="0" bIns="0" rIns="0">
            <a:spAutoFit/>
          </a:bodyPr>
          <a:lstStyle/>
          <a:p>
            <a:pPr algn="l">
              <a:lnSpc>
                <a:spcPts val="2882"/>
              </a:lnSpc>
            </a:pPr>
            <a:r>
              <a:rPr lang="en-US" b="true" sz="2401">
                <a:solidFill>
                  <a:srgbClr val="000000"/>
                </a:solidFill>
                <a:latin typeface="Lora Bold"/>
                <a:ea typeface="Lora Bold"/>
                <a:cs typeface="Lora Bold"/>
                <a:sym typeface="Lora Bold"/>
              </a:rPr>
              <a:t>Finding 3: </a:t>
            </a:r>
            <a:r>
              <a:rPr lang="en-US" sz="2401">
                <a:solidFill>
                  <a:srgbClr val="000000"/>
                </a:solidFill>
                <a:latin typeface="Lora"/>
                <a:ea typeface="Lora"/>
                <a:cs typeface="Lora"/>
                <a:sym typeface="Lora"/>
              </a:rPr>
              <a:t>From July 2026 all five apps get 2.9 times more reviews per day and the reviews are 27 to 50% shorter. Issue rates seem to fall 7 to 16 points, but only 1 to 5 points when reviews of the same length are compared.</a:t>
            </a:r>
          </a:p>
          <a:p>
            <a:pPr algn="l">
              <a:lnSpc>
                <a:spcPts val="2882"/>
              </a:lnSpc>
            </a:pPr>
          </a:p>
          <a:p>
            <a:pPr algn="l">
              <a:lnSpc>
                <a:spcPts val="2882"/>
              </a:lnSpc>
            </a:pPr>
            <a:r>
              <a:rPr lang="en-US" b="true" sz="2401">
                <a:solidFill>
                  <a:srgbClr val="000000"/>
                </a:solidFill>
                <a:latin typeface="Lora Bold"/>
                <a:ea typeface="Lora Bold"/>
                <a:cs typeface="Lora Bold"/>
                <a:sym typeface="Lora Bold"/>
              </a:rPr>
              <a:t>Business significance: </a:t>
            </a:r>
            <a:r>
              <a:rPr lang="en-US" sz="2401">
                <a:solidFill>
                  <a:srgbClr val="000000"/>
                </a:solidFill>
                <a:latin typeface="Lora"/>
                <a:ea typeface="Lora"/>
                <a:cs typeface="Lora"/>
                <a:sym typeface="Lora"/>
              </a:rPr>
              <a:t>This is a change in what the Play Store feed returned, not an improvement in the apps. Without this check we would report a false improvement.</a:t>
            </a:r>
          </a:p>
        </p:txBody>
      </p:sp>
    </p:spTree>
  </p:cSld>
  <p:clrMapOvr>
    <a:masterClrMapping/>
  </p:clrMapOvr>
  <p:transition spd="fast">
    <p:fade/>
  </p:transition>
</p:sld>
</file>

<file path=ppt/slides/slide7.xml><?xml version="1.0" encoding="utf-8"?>
<p:sld xmlns:p="http://schemas.openxmlformats.org/presentationml/2006/main" xmlns:a="http://schemas.openxmlformats.org/drawingml/2006/main">
  <p:cSld>
    <p:bg>
      <p:bgPr>
        <a:solidFill>
          <a:srgbClr val="F7FCFA"/>
        </a:solidFill>
      </p:bgPr>
    </p:bg>
    <p:spTree>
      <p:nvGrpSpPr>
        <p:cNvPr id="1" name=""/>
        <p:cNvGrpSpPr/>
        <p:nvPr/>
      </p:nvGrpSpPr>
      <p:grpSpPr>
        <a:xfrm>
          <a:off x="0" y="0"/>
          <a:ext cx="0" cy="0"/>
          <a:chOff x="0" y="0"/>
          <a:chExt cx="0" cy="0"/>
        </a:xfrm>
      </p:grpSpPr>
      <p:sp>
        <p:nvSpPr>
          <p:cNvPr name="TextBox 2" id="2"/>
          <p:cNvSpPr txBox="true"/>
          <p:nvPr/>
        </p:nvSpPr>
        <p:spPr>
          <a:xfrm rot="0">
            <a:off x="1120940" y="828142"/>
            <a:ext cx="16055835" cy="752475"/>
          </a:xfrm>
          <a:prstGeom prst="rect">
            <a:avLst/>
          </a:prstGeom>
        </p:spPr>
        <p:txBody>
          <a:bodyPr anchor="t" rtlCol="false" tIns="0" lIns="0" bIns="0" rIns="0">
            <a:spAutoFit/>
          </a:bodyPr>
          <a:lstStyle/>
          <a:p>
            <a:pPr algn="l">
              <a:lnSpc>
                <a:spcPts val="5944"/>
              </a:lnSpc>
            </a:pPr>
            <a:r>
              <a:rPr lang="en-US" b="true" sz="4953">
                <a:solidFill>
                  <a:srgbClr val="000000"/>
                </a:solidFill>
                <a:latin typeface="Lora Bold"/>
                <a:ea typeface="Lora Bold"/>
                <a:cs typeface="Lora Bold"/>
                <a:sym typeface="Lora Bold"/>
              </a:rPr>
              <a:t>Feature Engineering or Dimensionality Reduction</a:t>
            </a:r>
          </a:p>
        </p:txBody>
      </p:sp>
      <p:sp>
        <p:nvSpPr>
          <p:cNvPr name="TextBox 3" id="3"/>
          <p:cNvSpPr txBox="true"/>
          <p:nvPr/>
        </p:nvSpPr>
        <p:spPr>
          <a:xfrm rot="0">
            <a:off x="16769409" y="9487163"/>
            <a:ext cx="777992" cy="342900"/>
          </a:xfrm>
          <a:prstGeom prst="rect">
            <a:avLst/>
          </a:prstGeom>
        </p:spPr>
        <p:txBody>
          <a:bodyPr anchor="t" rtlCol="false" tIns="0" lIns="0" bIns="0" rIns="0">
            <a:spAutoFit/>
          </a:bodyPr>
          <a:lstStyle/>
          <a:p>
            <a:pPr algn="l">
              <a:lnSpc>
                <a:spcPts val="2702"/>
              </a:lnSpc>
            </a:pPr>
            <a:r>
              <a:rPr lang="en-US" sz="2251">
                <a:solidFill>
                  <a:srgbClr val="000000"/>
                </a:solidFill>
                <a:latin typeface="Lora"/>
                <a:ea typeface="Lora"/>
                <a:cs typeface="Lora"/>
                <a:sym typeface="Lora"/>
              </a:rPr>
              <a:t>07</a:t>
            </a:r>
          </a:p>
        </p:txBody>
      </p:sp>
      <p:sp>
        <p:nvSpPr>
          <p:cNvPr name="TextBox 4" id="4"/>
          <p:cNvSpPr txBox="true"/>
          <p:nvPr/>
        </p:nvSpPr>
        <p:spPr>
          <a:xfrm rot="0">
            <a:off x="1273799" y="2379259"/>
            <a:ext cx="9974894" cy="5572125"/>
          </a:xfrm>
          <a:prstGeom prst="rect">
            <a:avLst/>
          </a:prstGeom>
        </p:spPr>
        <p:txBody>
          <a:bodyPr anchor="t" rtlCol="false" tIns="0" lIns="0" bIns="0" rIns="0">
            <a:spAutoFit/>
          </a:bodyPr>
          <a:lstStyle/>
          <a:p>
            <a:pPr algn="l">
              <a:lnSpc>
                <a:spcPts val="2972"/>
              </a:lnSpc>
            </a:pPr>
            <a:r>
              <a:rPr lang="en-US" b="true" sz="2476">
                <a:solidFill>
                  <a:srgbClr val="000000"/>
                </a:solidFill>
                <a:latin typeface="Lora Bold"/>
                <a:ea typeface="Lora Bold"/>
                <a:cs typeface="Lora Bold"/>
                <a:sym typeface="Lora Bold"/>
              </a:rPr>
              <a:t>Method: </a:t>
            </a:r>
            <a:r>
              <a:rPr lang="en-US" sz="2476">
                <a:solidFill>
                  <a:srgbClr val="000000"/>
                </a:solidFill>
                <a:latin typeface="Lora"/>
                <a:ea typeface="Lora"/>
                <a:cs typeface="Lora"/>
                <a:sym typeface="Lora"/>
              </a:rPr>
              <a:t>TF-IDF on review text (5,000 terms, single words and word pairs), reduced to 100 components with Truncated SVD.</a:t>
            </a:r>
          </a:p>
          <a:p>
            <a:pPr algn="l">
              <a:lnSpc>
                <a:spcPts val="2972"/>
              </a:lnSpc>
            </a:pPr>
          </a:p>
          <a:p>
            <a:pPr algn="l">
              <a:lnSpc>
                <a:spcPts val="2972"/>
              </a:lnSpc>
            </a:pPr>
            <a:r>
              <a:rPr lang="en-US" b="true" sz="2476">
                <a:solidFill>
                  <a:srgbClr val="000000"/>
                </a:solidFill>
                <a:latin typeface="Lora Bold"/>
                <a:ea typeface="Lora Bold"/>
                <a:cs typeface="Lora Bold"/>
                <a:sym typeface="Lora Bold"/>
              </a:rPr>
              <a:t>Features used: </a:t>
            </a:r>
            <a:r>
              <a:rPr lang="en-US" sz="2476">
                <a:solidFill>
                  <a:srgbClr val="000000"/>
                </a:solidFill>
                <a:latin typeface="Lora"/>
                <a:ea typeface="Lora"/>
                <a:cs typeface="Lora"/>
                <a:sym typeface="Lora"/>
              </a:rPr>
              <a:t>100 text components + 9 issue flags + 4 VADER sentiment scores + review_length + thumbs_up = 115 features.</a:t>
            </a:r>
          </a:p>
          <a:p>
            <a:pPr algn="l">
              <a:lnSpc>
                <a:spcPts val="2972"/>
              </a:lnSpc>
            </a:pPr>
          </a:p>
          <a:p>
            <a:pPr algn="l">
              <a:lnSpc>
                <a:spcPts val="2972"/>
              </a:lnSpc>
            </a:pPr>
            <a:r>
              <a:rPr lang="en-US" b="true" sz="2476">
                <a:solidFill>
                  <a:srgbClr val="000000"/>
                </a:solidFill>
                <a:latin typeface="Lora Bold"/>
                <a:ea typeface="Lora Bold"/>
                <a:cs typeface="Lora Bold"/>
                <a:sym typeface="Lora Bold"/>
              </a:rPr>
              <a:t>Justification: </a:t>
            </a:r>
            <a:r>
              <a:rPr lang="en-US" sz="2476">
                <a:solidFill>
                  <a:srgbClr val="000000"/>
                </a:solidFill>
                <a:latin typeface="Lora"/>
                <a:ea typeface="Lora"/>
                <a:cs typeface="Lora"/>
                <a:sym typeface="Lora"/>
              </a:rPr>
              <a:t>A 5,000-column sparse matrix is slow and noisy for a Random Forest. Issue flags and sentiment add meaning that single words miss. Review length is kept as its own feature because longer reviews get more tags.</a:t>
            </a:r>
          </a:p>
          <a:p>
            <a:pPr algn="l">
              <a:lnSpc>
                <a:spcPts val="2972"/>
              </a:lnSpc>
            </a:pPr>
          </a:p>
          <a:p>
            <a:pPr algn="l">
              <a:lnSpc>
                <a:spcPts val="2972"/>
              </a:lnSpc>
            </a:pPr>
            <a:r>
              <a:rPr lang="en-US" b="true" sz="2476">
                <a:solidFill>
                  <a:srgbClr val="000000"/>
                </a:solidFill>
                <a:latin typeface="Lora Bold"/>
                <a:ea typeface="Lora Bold"/>
                <a:cs typeface="Lora Bold"/>
                <a:sym typeface="Lora Bold"/>
              </a:rPr>
              <a:t>Effect: </a:t>
            </a:r>
            <a:r>
              <a:rPr lang="en-US" sz="2476">
                <a:solidFill>
                  <a:srgbClr val="000000"/>
                </a:solidFill>
                <a:latin typeface="Lora"/>
                <a:ea typeface="Lora"/>
                <a:cs typeface="Lora"/>
                <a:sym typeface="Lora"/>
              </a:rPr>
              <a:t>Text features are 50 times smaller (5,000 to 100) and keep 21.8% of the TF-IDF variance. Both models still reach ROC-AUC of about 0.95. Sentiment scores are the most important features in the Random Forest.</a:t>
            </a:r>
          </a:p>
        </p:txBody>
      </p:sp>
      <p:graphicFrame>
        <p:nvGraphicFramePr>
          <p:cNvPr name="Table 5" id="5"/>
          <p:cNvGraphicFramePr>
            <a:graphicFrameLocks noGrp="true"/>
          </p:cNvGraphicFramePr>
          <p:nvPr/>
        </p:nvGraphicFramePr>
        <p:xfrm>
          <a:off x="11667715" y="2095763"/>
          <a:ext cx="5490690" cy="3548062"/>
        </p:xfrm>
        <a:graphic>
          <a:graphicData uri="http://schemas.openxmlformats.org/drawingml/2006/table">
            <a:tbl>
              <a:tblPr/>
              <a:tblGrid>
                <a:gridCol w="4118017"/>
                <a:gridCol w="1372672"/>
              </a:tblGrid>
              <a:tr h="591344">
                <a:tc>
                  <a:txBody>
                    <a:bodyPr anchor="t" rtlCol="false"/>
                    <a:lstStyle/>
                    <a:p>
                      <a:pPr algn="just">
                        <a:lnSpc>
                          <a:spcPts val="2431"/>
                        </a:lnSpc>
                        <a:defRPr/>
                      </a:pPr>
                      <a:r>
                        <a:rPr lang="en-US" b="true" sz="2026">
                          <a:solidFill>
                            <a:srgbClr val="000000"/>
                          </a:solidFill>
                          <a:latin typeface="Lora Bold"/>
                          <a:ea typeface="Lora Bold"/>
                          <a:cs typeface="Lora Bold"/>
                          <a:sym typeface="Lora Bold"/>
                        </a:rPr>
                        <a:t>Feature group</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431"/>
                        </a:lnSpc>
                        <a:defRPr/>
                      </a:pPr>
                      <a:r>
                        <a:rPr lang="en-US" b="true" sz="2026">
                          <a:solidFill>
                            <a:srgbClr val="000000"/>
                          </a:solidFill>
                          <a:latin typeface="Lora Bold"/>
                          <a:ea typeface="Lora Bold"/>
                          <a:cs typeface="Lora Bold"/>
                          <a:sym typeface="Lora Bold"/>
                        </a:rPr>
                        <a:t>Count</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591344">
                <a:tc>
                  <a:txBody>
                    <a:bodyPr anchor="t" rtlCol="false"/>
                    <a:lstStyle/>
                    <a:p>
                      <a:pPr algn="just">
                        <a:lnSpc>
                          <a:spcPts val="2431"/>
                        </a:lnSpc>
                        <a:defRPr/>
                      </a:pPr>
                      <a:r>
                        <a:rPr lang="en-US" sz="2026">
                          <a:solidFill>
                            <a:srgbClr val="000000"/>
                          </a:solidFill>
                          <a:latin typeface="Lora"/>
                          <a:ea typeface="Lora"/>
                          <a:cs typeface="Lora"/>
                          <a:sym typeface="Lora"/>
                        </a:rPr>
                        <a:t>Text components (SVD)</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431"/>
                        </a:lnSpc>
                        <a:defRPr/>
                      </a:pPr>
                      <a:r>
                        <a:rPr lang="en-US" sz="2026">
                          <a:solidFill>
                            <a:srgbClr val="000000"/>
                          </a:solidFill>
                          <a:latin typeface="Lora"/>
                          <a:ea typeface="Lora"/>
                          <a:cs typeface="Lora"/>
                          <a:sym typeface="Lora"/>
                        </a:rPr>
                        <a:t>100</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591344">
                <a:tc>
                  <a:txBody>
                    <a:bodyPr anchor="t" rtlCol="false"/>
                    <a:lstStyle/>
                    <a:p>
                      <a:pPr algn="just">
                        <a:lnSpc>
                          <a:spcPts val="2431"/>
                        </a:lnSpc>
                        <a:defRPr/>
                      </a:pPr>
                      <a:r>
                        <a:rPr lang="en-US" sz="2026">
                          <a:solidFill>
                            <a:srgbClr val="000000"/>
                          </a:solidFill>
                          <a:latin typeface="Lora"/>
                          <a:ea typeface="Lora"/>
                          <a:cs typeface="Lora"/>
                          <a:sym typeface="Lora"/>
                        </a:rPr>
                        <a:t>Issue flags</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431"/>
                        </a:lnSpc>
                        <a:defRPr/>
                      </a:pPr>
                      <a:r>
                        <a:rPr lang="en-US" sz="2026">
                          <a:solidFill>
                            <a:srgbClr val="000000"/>
                          </a:solidFill>
                          <a:latin typeface="Lora"/>
                          <a:ea typeface="Lora"/>
                          <a:cs typeface="Lora"/>
                          <a:sym typeface="Lora"/>
                        </a:rPr>
                        <a:t>9</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591344">
                <a:tc>
                  <a:txBody>
                    <a:bodyPr anchor="t" rtlCol="false"/>
                    <a:lstStyle/>
                    <a:p>
                      <a:pPr algn="just">
                        <a:lnSpc>
                          <a:spcPts val="2431"/>
                        </a:lnSpc>
                        <a:defRPr/>
                      </a:pPr>
                      <a:r>
                        <a:rPr lang="en-US" sz="2026">
                          <a:solidFill>
                            <a:srgbClr val="000000"/>
                          </a:solidFill>
                          <a:latin typeface="Lora"/>
                          <a:ea typeface="Lora"/>
                          <a:cs typeface="Lora"/>
                          <a:sym typeface="Lora"/>
                        </a:rPr>
                        <a:t>VADER sentiment scores</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431"/>
                        </a:lnSpc>
                        <a:defRPr/>
                      </a:pPr>
                      <a:r>
                        <a:rPr lang="en-US" sz="2026">
                          <a:solidFill>
                            <a:srgbClr val="000000"/>
                          </a:solidFill>
                          <a:latin typeface="Lora"/>
                          <a:ea typeface="Lora"/>
                          <a:cs typeface="Lora"/>
                          <a:sym typeface="Lora"/>
                        </a:rPr>
                        <a:t>4</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591344">
                <a:tc>
                  <a:txBody>
                    <a:bodyPr anchor="t" rtlCol="false"/>
                    <a:lstStyle/>
                    <a:p>
                      <a:pPr algn="just">
                        <a:lnSpc>
                          <a:spcPts val="2431"/>
                        </a:lnSpc>
                        <a:defRPr/>
                      </a:pPr>
                      <a:r>
                        <a:rPr lang="en-US" sz="2026">
                          <a:solidFill>
                            <a:srgbClr val="000000"/>
                          </a:solidFill>
                          <a:latin typeface="Lora"/>
                          <a:ea typeface="Lora"/>
                          <a:cs typeface="Lora"/>
                          <a:sym typeface="Lora"/>
                        </a:rPr>
                        <a:t>review_length, thumbs_up</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431"/>
                        </a:lnSpc>
                        <a:defRPr/>
                      </a:pPr>
                      <a:r>
                        <a:rPr lang="en-US" sz="2026">
                          <a:solidFill>
                            <a:srgbClr val="000000"/>
                          </a:solidFill>
                          <a:latin typeface="Lora"/>
                          <a:ea typeface="Lora"/>
                          <a:cs typeface="Lora"/>
                          <a:sym typeface="Lora"/>
                        </a:rPr>
                        <a:t>2</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591344">
                <a:tc>
                  <a:txBody>
                    <a:bodyPr anchor="t" rtlCol="false"/>
                    <a:lstStyle/>
                    <a:p>
                      <a:pPr algn="just">
                        <a:lnSpc>
                          <a:spcPts val="2431"/>
                        </a:lnSpc>
                        <a:defRPr/>
                      </a:pPr>
                      <a:r>
                        <a:rPr lang="en-US" sz="2026">
                          <a:solidFill>
                            <a:srgbClr val="000000"/>
                          </a:solidFill>
                          <a:latin typeface="Lora"/>
                          <a:ea typeface="Lora"/>
                          <a:cs typeface="Lora"/>
                          <a:sym typeface="Lora"/>
                        </a:rPr>
                        <a:t>Total features</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431"/>
                        </a:lnSpc>
                        <a:defRPr/>
                      </a:pPr>
                      <a:r>
                        <a:rPr lang="en-US" sz="2026">
                          <a:solidFill>
                            <a:srgbClr val="000000"/>
                          </a:solidFill>
                          <a:latin typeface="Lora"/>
                          <a:ea typeface="Lora"/>
                          <a:cs typeface="Lora"/>
                          <a:sym typeface="Lora"/>
                        </a:rPr>
                        <a:t>115</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bl>
          </a:graphicData>
        </a:graphic>
      </p:graphicFrame>
      <p:graphicFrame>
        <p:nvGraphicFramePr>
          <p:cNvPr name="Table 6" id="6"/>
          <p:cNvGraphicFramePr>
            <a:graphicFrameLocks noGrp="true"/>
          </p:cNvGraphicFramePr>
          <p:nvPr/>
        </p:nvGraphicFramePr>
        <p:xfrm>
          <a:off x="11768610" y="6158176"/>
          <a:ext cx="5490690" cy="2814637"/>
        </p:xfrm>
        <a:graphic>
          <a:graphicData uri="http://schemas.openxmlformats.org/drawingml/2006/table">
            <a:tbl>
              <a:tblPr/>
              <a:tblGrid>
                <a:gridCol w="4118017"/>
                <a:gridCol w="1372672"/>
              </a:tblGrid>
              <a:tr h="562927">
                <a:tc>
                  <a:txBody>
                    <a:bodyPr anchor="t" rtlCol="false"/>
                    <a:lstStyle/>
                    <a:p>
                      <a:pPr algn="just">
                        <a:lnSpc>
                          <a:spcPts val="2251"/>
                        </a:lnSpc>
                        <a:defRPr/>
                      </a:pPr>
                      <a:r>
                        <a:rPr lang="en-US" b="true" sz="1876">
                          <a:solidFill>
                            <a:srgbClr val="000000"/>
                          </a:solidFill>
                          <a:latin typeface="Lora Bold"/>
                          <a:ea typeface="Lora Bold"/>
                          <a:cs typeface="Lora Bold"/>
                          <a:sym typeface="Lora Bold"/>
                        </a:rPr>
                        <a:t>Top Random Forest features</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251"/>
                        </a:lnSpc>
                        <a:defRPr/>
                      </a:pPr>
                      <a:r>
                        <a:rPr lang="en-US" b="true" sz="1876">
                          <a:solidFill>
                            <a:srgbClr val="000000"/>
                          </a:solidFill>
                          <a:latin typeface="Lora Bold"/>
                          <a:ea typeface="Lora Bold"/>
                          <a:cs typeface="Lora Bold"/>
                          <a:sym typeface="Lora Bold"/>
                        </a:rPr>
                        <a:t>Weight</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562927">
                <a:tc>
                  <a:txBody>
                    <a:bodyPr anchor="t" rtlCol="false"/>
                    <a:lstStyle/>
                    <a:p>
                      <a:pPr algn="just">
                        <a:lnSpc>
                          <a:spcPts val="2251"/>
                        </a:lnSpc>
                        <a:defRPr/>
                      </a:pPr>
                      <a:r>
                        <a:rPr lang="en-US" sz="1876">
                          <a:solidFill>
                            <a:srgbClr val="000000"/>
                          </a:solidFill>
                          <a:latin typeface="Lora"/>
                          <a:ea typeface="Lora"/>
                          <a:cs typeface="Lora"/>
                          <a:sym typeface="Lora"/>
                        </a:rPr>
                        <a:t>Sentiment compound</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251"/>
                        </a:lnSpc>
                        <a:defRPr/>
                      </a:pPr>
                      <a:r>
                        <a:rPr lang="en-US" sz="1876">
                          <a:solidFill>
                            <a:srgbClr val="000000"/>
                          </a:solidFill>
                          <a:latin typeface="Lora"/>
                          <a:ea typeface="Lora"/>
                          <a:cs typeface="Lora"/>
                          <a:sym typeface="Lora"/>
                        </a:rPr>
                        <a:t>0.103</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562927">
                <a:tc>
                  <a:txBody>
                    <a:bodyPr anchor="t" rtlCol="false"/>
                    <a:lstStyle/>
                    <a:p>
                      <a:pPr algn="just">
                        <a:lnSpc>
                          <a:spcPts val="2251"/>
                        </a:lnSpc>
                        <a:defRPr/>
                      </a:pPr>
                      <a:r>
                        <a:rPr lang="en-US" sz="1876">
                          <a:solidFill>
                            <a:srgbClr val="000000"/>
                          </a:solidFill>
                          <a:latin typeface="Lora"/>
                          <a:ea typeface="Lora"/>
                          <a:cs typeface="Lora"/>
                          <a:sym typeface="Lora"/>
                        </a:rPr>
                        <a:t>Sentiment negative</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251"/>
                        </a:lnSpc>
                        <a:defRPr/>
                      </a:pPr>
                      <a:r>
                        <a:rPr lang="en-US" sz="1876">
                          <a:solidFill>
                            <a:srgbClr val="000000"/>
                          </a:solidFill>
                          <a:latin typeface="Lora"/>
                          <a:ea typeface="Lora"/>
                          <a:cs typeface="Lora"/>
                          <a:sym typeface="Lora"/>
                        </a:rPr>
                        <a:t>0.093</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562927">
                <a:tc>
                  <a:txBody>
                    <a:bodyPr anchor="t" rtlCol="false"/>
                    <a:lstStyle/>
                    <a:p>
                      <a:pPr algn="just">
                        <a:lnSpc>
                          <a:spcPts val="2251"/>
                        </a:lnSpc>
                        <a:defRPr/>
                      </a:pPr>
                      <a:r>
                        <a:rPr lang="en-US" sz="1876">
                          <a:solidFill>
                            <a:srgbClr val="000000"/>
                          </a:solidFill>
                          <a:latin typeface="Lora"/>
                          <a:ea typeface="Lora"/>
                          <a:cs typeface="Lora"/>
                          <a:sym typeface="Lora"/>
                        </a:rPr>
                        <a:t>Sentiment positive</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251"/>
                        </a:lnSpc>
                        <a:defRPr/>
                      </a:pPr>
                      <a:r>
                        <a:rPr lang="en-US" sz="1876">
                          <a:solidFill>
                            <a:srgbClr val="000000"/>
                          </a:solidFill>
                          <a:latin typeface="Lora"/>
                          <a:ea typeface="Lora"/>
                          <a:cs typeface="Lora"/>
                          <a:sym typeface="Lora"/>
                        </a:rPr>
                        <a:t>0.092</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562927">
                <a:tc>
                  <a:txBody>
                    <a:bodyPr anchor="t" rtlCol="false"/>
                    <a:lstStyle/>
                    <a:p>
                      <a:pPr algn="just">
                        <a:lnSpc>
                          <a:spcPts val="2251"/>
                        </a:lnSpc>
                        <a:defRPr/>
                      </a:pPr>
                      <a:r>
                        <a:rPr lang="en-US" sz="1876">
                          <a:solidFill>
                            <a:srgbClr val="000000"/>
                          </a:solidFill>
                          <a:latin typeface="Lora"/>
                          <a:ea typeface="Lora"/>
                          <a:cs typeface="Lora"/>
                          <a:sym typeface="Lora"/>
                        </a:rPr>
                        <a:t>Text component 2</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251"/>
                        </a:lnSpc>
                        <a:defRPr/>
                      </a:pPr>
                      <a:r>
                        <a:rPr lang="en-US" sz="1876">
                          <a:solidFill>
                            <a:srgbClr val="000000"/>
                          </a:solidFill>
                          <a:latin typeface="Lora"/>
                          <a:ea typeface="Lora"/>
                          <a:cs typeface="Lora"/>
                          <a:sym typeface="Lora"/>
                        </a:rPr>
                        <a:t>0.092</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bl>
          </a:graphicData>
        </a:graphic>
      </p:graphicFrame>
    </p:spTree>
  </p:cSld>
  <p:clrMapOvr>
    <a:masterClrMapping/>
  </p:clrMapOvr>
  <p:transition spd="fast">
    <p:fade/>
  </p:transition>
</p:sld>
</file>

<file path=ppt/slides/slide8.xml><?xml version="1.0" encoding="utf-8"?>
<p:sld xmlns:p="http://schemas.openxmlformats.org/presentationml/2006/main" xmlns:a="http://schemas.openxmlformats.org/drawingml/2006/main">
  <p:cSld>
    <p:bg>
      <p:bgPr>
        <a:solidFill>
          <a:srgbClr val="F7FCFA"/>
        </a:solidFill>
      </p:bgPr>
    </p:bg>
    <p:spTree>
      <p:nvGrpSpPr>
        <p:cNvPr id="1" name=""/>
        <p:cNvGrpSpPr/>
        <p:nvPr/>
      </p:nvGrpSpPr>
      <p:grpSpPr>
        <a:xfrm>
          <a:off x="0" y="0"/>
          <a:ext cx="0" cy="0"/>
          <a:chOff x="0" y="0"/>
          <a:chExt cx="0" cy="0"/>
        </a:xfrm>
      </p:grpSpPr>
      <p:sp>
        <p:nvSpPr>
          <p:cNvPr name="TextBox 2" id="2"/>
          <p:cNvSpPr txBox="true"/>
          <p:nvPr/>
        </p:nvSpPr>
        <p:spPr>
          <a:xfrm rot="0">
            <a:off x="1116082" y="1167470"/>
            <a:ext cx="16055835" cy="752475"/>
          </a:xfrm>
          <a:prstGeom prst="rect">
            <a:avLst/>
          </a:prstGeom>
        </p:spPr>
        <p:txBody>
          <a:bodyPr anchor="t" rtlCol="false" tIns="0" lIns="0" bIns="0" rIns="0">
            <a:spAutoFit/>
          </a:bodyPr>
          <a:lstStyle/>
          <a:p>
            <a:pPr algn="l">
              <a:lnSpc>
                <a:spcPts val="5944"/>
              </a:lnSpc>
            </a:pPr>
            <a:r>
              <a:rPr lang="en-US" b="true" sz="4953">
                <a:solidFill>
                  <a:srgbClr val="000000"/>
                </a:solidFill>
                <a:latin typeface="Lora Bold"/>
                <a:ea typeface="Lora Bold"/>
                <a:cs typeface="Lora Bold"/>
                <a:sym typeface="Lora Bold"/>
              </a:rPr>
              <a:t>Predictive Model Development</a:t>
            </a:r>
          </a:p>
        </p:txBody>
      </p:sp>
      <p:sp>
        <p:nvSpPr>
          <p:cNvPr name="TextBox 3" id="3"/>
          <p:cNvSpPr txBox="true"/>
          <p:nvPr/>
        </p:nvSpPr>
        <p:spPr>
          <a:xfrm rot="0">
            <a:off x="16673322" y="9173994"/>
            <a:ext cx="777992" cy="342900"/>
          </a:xfrm>
          <a:prstGeom prst="rect">
            <a:avLst/>
          </a:prstGeom>
        </p:spPr>
        <p:txBody>
          <a:bodyPr anchor="t" rtlCol="false" tIns="0" lIns="0" bIns="0" rIns="0">
            <a:spAutoFit/>
          </a:bodyPr>
          <a:lstStyle/>
          <a:p>
            <a:pPr algn="l">
              <a:lnSpc>
                <a:spcPts val="2702"/>
              </a:lnSpc>
            </a:pPr>
            <a:r>
              <a:rPr lang="en-US" sz="2251">
                <a:solidFill>
                  <a:srgbClr val="000000"/>
                </a:solidFill>
                <a:latin typeface="Lora"/>
                <a:ea typeface="Lora"/>
                <a:cs typeface="Lora"/>
                <a:sym typeface="Lora"/>
              </a:rPr>
              <a:t>08</a:t>
            </a:r>
          </a:p>
        </p:txBody>
      </p:sp>
      <p:sp>
        <p:nvSpPr>
          <p:cNvPr name="TextBox 4" id="4"/>
          <p:cNvSpPr txBox="true"/>
          <p:nvPr/>
        </p:nvSpPr>
        <p:spPr>
          <a:xfrm rot="0">
            <a:off x="1175852" y="2890838"/>
            <a:ext cx="16083448" cy="4505325"/>
          </a:xfrm>
          <a:prstGeom prst="rect">
            <a:avLst/>
          </a:prstGeom>
        </p:spPr>
        <p:txBody>
          <a:bodyPr anchor="t" rtlCol="false" tIns="0" lIns="0" bIns="0" rIns="0">
            <a:spAutoFit/>
          </a:bodyPr>
          <a:lstStyle/>
          <a:p>
            <a:pPr algn="l">
              <a:lnSpc>
                <a:spcPts val="3242"/>
              </a:lnSpc>
            </a:pPr>
            <a:r>
              <a:rPr lang="en-US" b="true" sz="2702">
                <a:solidFill>
                  <a:srgbClr val="000000"/>
                </a:solidFill>
                <a:latin typeface="Lora Bold"/>
                <a:ea typeface="Lora Bold"/>
                <a:cs typeface="Lora Bold"/>
                <a:sym typeface="Lora Bold"/>
              </a:rPr>
              <a:t>Prediction task: </a:t>
            </a:r>
            <a:r>
              <a:rPr lang="en-US" sz="2702">
                <a:solidFill>
                  <a:srgbClr val="000000"/>
                </a:solidFill>
                <a:latin typeface="Lora"/>
                <a:ea typeface="Lora"/>
                <a:cs typeface="Lora"/>
                <a:sym typeface="Lora"/>
              </a:rPr>
              <a:t>Classification: is the review problematic (1 or 2 stars) or not.</a:t>
            </a:r>
          </a:p>
          <a:p>
            <a:pPr algn="l">
              <a:lnSpc>
                <a:spcPts val="3242"/>
              </a:lnSpc>
            </a:pPr>
          </a:p>
          <a:p>
            <a:pPr algn="l">
              <a:lnSpc>
                <a:spcPts val="3242"/>
              </a:lnSpc>
            </a:pPr>
            <a:r>
              <a:rPr lang="en-US" b="true" sz="2702">
                <a:solidFill>
                  <a:srgbClr val="000000"/>
                </a:solidFill>
                <a:latin typeface="Lora Bold"/>
                <a:ea typeface="Lora Bold"/>
                <a:cs typeface="Lora Bold"/>
                <a:sym typeface="Lora Bold"/>
              </a:rPr>
              <a:t>Models: </a:t>
            </a:r>
            <a:r>
              <a:rPr lang="en-US" sz="2702">
                <a:solidFill>
                  <a:srgbClr val="000000"/>
                </a:solidFill>
                <a:latin typeface="Lora"/>
                <a:ea typeface="Lora"/>
                <a:cs typeface="Lora"/>
                <a:sym typeface="Lora"/>
              </a:rPr>
              <a:t>Logistic Regression and Random Forest.</a:t>
            </a:r>
          </a:p>
          <a:p>
            <a:pPr algn="l">
              <a:lnSpc>
                <a:spcPts val="3242"/>
              </a:lnSpc>
            </a:pPr>
          </a:p>
          <a:p>
            <a:pPr algn="l">
              <a:lnSpc>
                <a:spcPts val="3242"/>
              </a:lnSpc>
            </a:pPr>
            <a:r>
              <a:rPr lang="en-US" b="true" sz="2702">
                <a:solidFill>
                  <a:srgbClr val="000000"/>
                </a:solidFill>
                <a:latin typeface="Lora Bold"/>
                <a:ea typeface="Lora Bold"/>
                <a:cs typeface="Lora Bold"/>
                <a:sym typeface="Lora Bold"/>
              </a:rPr>
              <a:t>Model selection: </a:t>
            </a:r>
            <a:r>
              <a:rPr lang="en-US" sz="2702">
                <a:solidFill>
                  <a:srgbClr val="000000"/>
                </a:solidFill>
                <a:latin typeface="Lora"/>
                <a:ea typeface="Lora"/>
                <a:cs typeface="Lora"/>
                <a:sym typeface="Lora"/>
              </a:rPr>
              <a:t>Logistic Regression is a simple, fast baseline that is easy to explain. Random Forest can learn non-linear patterns. One linear and one tree model let us compare two kinds of error.</a:t>
            </a:r>
          </a:p>
          <a:p>
            <a:pPr algn="l">
              <a:lnSpc>
                <a:spcPts val="3242"/>
              </a:lnSpc>
            </a:pPr>
          </a:p>
          <a:p>
            <a:pPr algn="l">
              <a:lnSpc>
                <a:spcPts val="3242"/>
              </a:lnSpc>
            </a:pPr>
            <a:r>
              <a:rPr lang="en-US" b="true" sz="2702">
                <a:solidFill>
                  <a:srgbClr val="000000"/>
                </a:solidFill>
                <a:latin typeface="Lora Bold"/>
                <a:ea typeface="Lora Bold"/>
                <a:cs typeface="Lora Bold"/>
                <a:sym typeface="Lora Bold"/>
              </a:rPr>
              <a:t>Data split: </a:t>
            </a:r>
            <a:r>
              <a:rPr lang="en-US" sz="2702">
                <a:solidFill>
                  <a:srgbClr val="000000"/>
                </a:solidFill>
                <a:latin typeface="Lora"/>
                <a:ea typeface="Lora"/>
                <a:cs typeface="Lora"/>
                <a:sym typeface="Lora"/>
              </a:rPr>
              <a:t>80% training (11,990 reviews) and 20% testing (2,998 reviews), stratified, random state 42.</a:t>
            </a:r>
          </a:p>
          <a:p>
            <a:pPr algn="l">
              <a:lnSpc>
                <a:spcPts val="3242"/>
              </a:lnSpc>
            </a:pPr>
          </a:p>
          <a:p>
            <a:pPr algn="l">
              <a:lnSpc>
                <a:spcPts val="3242"/>
              </a:lnSpc>
            </a:pPr>
            <a:r>
              <a:rPr lang="en-US" b="true" sz="2702">
                <a:solidFill>
                  <a:srgbClr val="000000"/>
                </a:solidFill>
                <a:latin typeface="Lora Bold"/>
                <a:ea typeface="Lora Bold"/>
                <a:cs typeface="Lora Bold"/>
                <a:sym typeface="Lora Bold"/>
              </a:rPr>
              <a:t>Model settings: </a:t>
            </a:r>
            <a:r>
              <a:rPr lang="en-US" sz="2702">
                <a:solidFill>
                  <a:srgbClr val="000000"/>
                </a:solidFill>
                <a:latin typeface="Lora"/>
                <a:ea typeface="Lora"/>
                <a:cs typeface="Lora"/>
                <a:sym typeface="Lora"/>
              </a:rPr>
              <a:t>Logistic Regression: class_weight = balanced, max_iter = 1000. Random Forest: 200 trees, class_weight = balanced. Other parameters at default; no grid search.</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7FCFA"/>
        </a:solidFill>
      </p:bgPr>
    </p:bg>
    <p:spTree>
      <p:nvGrpSpPr>
        <p:cNvPr id="1" name=""/>
        <p:cNvGrpSpPr/>
        <p:nvPr/>
      </p:nvGrpSpPr>
      <p:grpSpPr>
        <a:xfrm>
          <a:off x="0" y="0"/>
          <a:ext cx="0" cy="0"/>
          <a:chOff x="0" y="0"/>
          <a:chExt cx="0" cy="0"/>
        </a:xfrm>
      </p:grpSpPr>
      <p:sp>
        <p:nvSpPr>
          <p:cNvPr name="TextBox 2" id="2"/>
          <p:cNvSpPr txBox="true"/>
          <p:nvPr/>
        </p:nvSpPr>
        <p:spPr>
          <a:xfrm rot="0">
            <a:off x="1120940" y="828142"/>
            <a:ext cx="16055835" cy="752475"/>
          </a:xfrm>
          <a:prstGeom prst="rect">
            <a:avLst/>
          </a:prstGeom>
        </p:spPr>
        <p:txBody>
          <a:bodyPr anchor="t" rtlCol="false" tIns="0" lIns="0" bIns="0" rIns="0">
            <a:spAutoFit/>
          </a:bodyPr>
          <a:lstStyle/>
          <a:p>
            <a:pPr algn="l">
              <a:lnSpc>
                <a:spcPts val="5944"/>
              </a:lnSpc>
            </a:pPr>
            <a:r>
              <a:rPr lang="en-US" b="true" sz="4953">
                <a:solidFill>
                  <a:srgbClr val="000000"/>
                </a:solidFill>
                <a:latin typeface="Lora Bold"/>
                <a:ea typeface="Lora Bold"/>
                <a:cs typeface="Lora Bold"/>
                <a:sym typeface="Lora Bold"/>
              </a:rPr>
              <a:t>Model Evaluation and Result Interpretation</a:t>
            </a:r>
          </a:p>
        </p:txBody>
      </p:sp>
      <p:sp>
        <p:nvSpPr>
          <p:cNvPr name="TextBox 3" id="3"/>
          <p:cNvSpPr txBox="true"/>
          <p:nvPr/>
        </p:nvSpPr>
        <p:spPr>
          <a:xfrm rot="0">
            <a:off x="16673322" y="9173994"/>
            <a:ext cx="777992" cy="342900"/>
          </a:xfrm>
          <a:prstGeom prst="rect">
            <a:avLst/>
          </a:prstGeom>
        </p:spPr>
        <p:txBody>
          <a:bodyPr anchor="t" rtlCol="false" tIns="0" lIns="0" bIns="0" rIns="0">
            <a:spAutoFit/>
          </a:bodyPr>
          <a:lstStyle/>
          <a:p>
            <a:pPr algn="l">
              <a:lnSpc>
                <a:spcPts val="2702"/>
              </a:lnSpc>
            </a:pPr>
            <a:r>
              <a:rPr lang="en-US" sz="2251">
                <a:solidFill>
                  <a:srgbClr val="000000"/>
                </a:solidFill>
                <a:latin typeface="Lora"/>
                <a:ea typeface="Lora"/>
                <a:cs typeface="Lora"/>
                <a:sym typeface="Lora"/>
              </a:rPr>
              <a:t>09</a:t>
            </a:r>
          </a:p>
        </p:txBody>
      </p:sp>
      <p:graphicFrame>
        <p:nvGraphicFramePr>
          <p:cNvPr name="Table 4" id="4"/>
          <p:cNvGraphicFramePr>
            <a:graphicFrameLocks noGrp="true"/>
          </p:cNvGraphicFramePr>
          <p:nvPr/>
        </p:nvGraphicFramePr>
        <p:xfrm>
          <a:off x="1084411" y="2264909"/>
          <a:ext cx="8788916" cy="1690688"/>
        </p:xfrm>
        <a:graphic>
          <a:graphicData uri="http://schemas.openxmlformats.org/drawingml/2006/table">
            <a:tbl>
              <a:tblPr/>
              <a:tblGrid>
                <a:gridCol w="2591604"/>
                <a:gridCol w="1408481"/>
                <a:gridCol w="1352141"/>
                <a:gridCol w="1070444"/>
                <a:gridCol w="901426"/>
                <a:gridCol w="1464820"/>
              </a:tblGrid>
              <a:tr h="563563">
                <a:tc>
                  <a:txBody>
                    <a:bodyPr anchor="t" rtlCol="false"/>
                    <a:lstStyle/>
                    <a:p>
                      <a:pPr algn="just">
                        <a:lnSpc>
                          <a:spcPts val="2251"/>
                        </a:lnSpc>
                        <a:defRPr/>
                      </a:pPr>
                      <a:r>
                        <a:rPr lang="en-US" b="true" sz="1876">
                          <a:solidFill>
                            <a:srgbClr val="000000"/>
                          </a:solidFill>
                          <a:latin typeface="Lora Bold"/>
                          <a:ea typeface="Lora Bold"/>
                          <a:cs typeface="Lora Bold"/>
                          <a:sym typeface="Lora Bold"/>
                        </a:rPr>
                        <a:t>Model</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251"/>
                        </a:lnSpc>
                        <a:defRPr/>
                      </a:pPr>
                      <a:r>
                        <a:rPr lang="en-US" b="true" sz="1876">
                          <a:solidFill>
                            <a:srgbClr val="000000"/>
                          </a:solidFill>
                          <a:latin typeface="Lora Bold"/>
                          <a:ea typeface="Lora Bold"/>
                          <a:cs typeface="Lora Bold"/>
                          <a:sym typeface="Lora Bold"/>
                        </a:rPr>
                        <a:t>Accuracy</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251"/>
                        </a:lnSpc>
                        <a:defRPr/>
                      </a:pPr>
                      <a:r>
                        <a:rPr lang="en-US" b="true" sz="1876">
                          <a:solidFill>
                            <a:srgbClr val="000000"/>
                          </a:solidFill>
                          <a:latin typeface="Lora Bold"/>
                          <a:ea typeface="Lora Bold"/>
                          <a:cs typeface="Lora Bold"/>
                          <a:sym typeface="Lora Bold"/>
                        </a:rPr>
                        <a:t>Precision</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251"/>
                        </a:lnSpc>
                        <a:defRPr/>
                      </a:pPr>
                      <a:r>
                        <a:rPr lang="en-US" b="true" sz="1876">
                          <a:solidFill>
                            <a:srgbClr val="000000"/>
                          </a:solidFill>
                          <a:latin typeface="Lora Bold"/>
                          <a:ea typeface="Lora Bold"/>
                          <a:cs typeface="Lora Bold"/>
                          <a:sym typeface="Lora Bold"/>
                        </a:rPr>
                        <a:t>Recall</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251"/>
                        </a:lnSpc>
                        <a:defRPr/>
                      </a:pPr>
                      <a:r>
                        <a:rPr lang="en-US" b="true" sz="1876">
                          <a:solidFill>
                            <a:srgbClr val="000000"/>
                          </a:solidFill>
                          <a:latin typeface="Lora Bold"/>
                          <a:ea typeface="Lora Bold"/>
                          <a:cs typeface="Lora Bold"/>
                          <a:sym typeface="Lora Bold"/>
                        </a:rPr>
                        <a:t>F1</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251"/>
                        </a:lnSpc>
                        <a:defRPr/>
                      </a:pPr>
                      <a:r>
                        <a:rPr lang="en-US" b="true" sz="1876">
                          <a:solidFill>
                            <a:srgbClr val="000000"/>
                          </a:solidFill>
                          <a:latin typeface="Lora Bold"/>
                          <a:ea typeface="Lora Bold"/>
                          <a:cs typeface="Lora Bold"/>
                          <a:sym typeface="Lora Bold"/>
                        </a:rPr>
                        <a:t>ROC-AUC</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563563">
                <a:tc>
                  <a:txBody>
                    <a:bodyPr anchor="t" rtlCol="false"/>
                    <a:lstStyle/>
                    <a:p>
                      <a:pPr algn="just">
                        <a:lnSpc>
                          <a:spcPts val="2251"/>
                        </a:lnSpc>
                        <a:defRPr/>
                      </a:pPr>
                      <a:r>
                        <a:rPr lang="en-US" sz="1876">
                          <a:solidFill>
                            <a:srgbClr val="000000"/>
                          </a:solidFill>
                          <a:latin typeface="Lora"/>
                          <a:ea typeface="Lora"/>
                          <a:cs typeface="Lora"/>
                          <a:sym typeface="Lora"/>
                        </a:rPr>
                        <a:t>Logistic Regression</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251"/>
                        </a:lnSpc>
                        <a:defRPr/>
                      </a:pPr>
                      <a:r>
                        <a:rPr lang="en-US" sz="1876">
                          <a:solidFill>
                            <a:srgbClr val="000000"/>
                          </a:solidFill>
                          <a:latin typeface="Lora"/>
                          <a:ea typeface="Lora"/>
                          <a:cs typeface="Lora"/>
                          <a:sym typeface="Lora"/>
                        </a:rPr>
                        <a:t>0.893</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251"/>
                        </a:lnSpc>
                        <a:defRPr/>
                      </a:pPr>
                      <a:r>
                        <a:rPr lang="en-US" sz="1876">
                          <a:solidFill>
                            <a:srgbClr val="000000"/>
                          </a:solidFill>
                          <a:latin typeface="Lora"/>
                          <a:ea typeface="Lora"/>
                          <a:cs typeface="Lora"/>
                          <a:sym typeface="Lora"/>
                        </a:rPr>
                        <a:t>0.949</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251"/>
                        </a:lnSpc>
                        <a:defRPr/>
                      </a:pPr>
                      <a:r>
                        <a:rPr lang="en-US" sz="1876">
                          <a:solidFill>
                            <a:srgbClr val="000000"/>
                          </a:solidFill>
                          <a:latin typeface="Lora"/>
                          <a:ea typeface="Lora"/>
                          <a:cs typeface="Lora"/>
                          <a:sym typeface="Lora"/>
                        </a:rPr>
                        <a:t>0.904</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251"/>
                        </a:lnSpc>
                        <a:defRPr/>
                      </a:pPr>
                      <a:r>
                        <a:rPr lang="en-US" sz="1876">
                          <a:solidFill>
                            <a:srgbClr val="000000"/>
                          </a:solidFill>
                          <a:latin typeface="Lora"/>
                          <a:ea typeface="Lora"/>
                          <a:cs typeface="Lora"/>
                          <a:sym typeface="Lora"/>
                        </a:rPr>
                        <a:t>0.926</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251"/>
                        </a:lnSpc>
                        <a:defRPr/>
                      </a:pPr>
                      <a:r>
                        <a:rPr lang="en-US" sz="1876">
                          <a:solidFill>
                            <a:srgbClr val="000000"/>
                          </a:solidFill>
                          <a:latin typeface="Lora"/>
                          <a:ea typeface="Lora"/>
                          <a:cs typeface="Lora"/>
                          <a:sym typeface="Lora"/>
                        </a:rPr>
                        <a:t>0.951</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563563">
                <a:tc>
                  <a:txBody>
                    <a:bodyPr anchor="t" rtlCol="false"/>
                    <a:lstStyle/>
                    <a:p>
                      <a:pPr algn="just">
                        <a:lnSpc>
                          <a:spcPts val="2251"/>
                        </a:lnSpc>
                        <a:defRPr/>
                      </a:pPr>
                      <a:r>
                        <a:rPr lang="en-US" sz="1876">
                          <a:solidFill>
                            <a:srgbClr val="000000"/>
                          </a:solidFill>
                          <a:latin typeface="Lora"/>
                          <a:ea typeface="Lora"/>
                          <a:cs typeface="Lora"/>
                          <a:sym typeface="Lora"/>
                        </a:rPr>
                        <a:t>Random Forest</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251"/>
                        </a:lnSpc>
                        <a:defRPr/>
                      </a:pPr>
                      <a:r>
                        <a:rPr lang="en-US" sz="1876">
                          <a:solidFill>
                            <a:srgbClr val="000000"/>
                          </a:solidFill>
                          <a:latin typeface="Lora"/>
                          <a:ea typeface="Lora"/>
                          <a:cs typeface="Lora"/>
                          <a:sym typeface="Lora"/>
                        </a:rPr>
                        <a:t>0.906</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251"/>
                        </a:lnSpc>
                        <a:defRPr/>
                      </a:pPr>
                      <a:r>
                        <a:rPr lang="en-US" sz="1876">
                          <a:solidFill>
                            <a:srgbClr val="000000"/>
                          </a:solidFill>
                          <a:latin typeface="Lora"/>
                          <a:ea typeface="Lora"/>
                          <a:cs typeface="Lora"/>
                          <a:sym typeface="Lora"/>
                        </a:rPr>
                        <a:t>0.905</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251"/>
                        </a:lnSpc>
                        <a:defRPr/>
                      </a:pPr>
                      <a:r>
                        <a:rPr lang="en-US" sz="1876">
                          <a:solidFill>
                            <a:srgbClr val="000000"/>
                          </a:solidFill>
                          <a:latin typeface="Lora"/>
                          <a:ea typeface="Lora"/>
                          <a:cs typeface="Lora"/>
                          <a:sym typeface="Lora"/>
                        </a:rPr>
                        <a:t>0.976</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251"/>
                        </a:lnSpc>
                        <a:defRPr/>
                      </a:pPr>
                      <a:r>
                        <a:rPr lang="en-US" sz="1876">
                          <a:solidFill>
                            <a:srgbClr val="000000"/>
                          </a:solidFill>
                          <a:latin typeface="Lora"/>
                          <a:ea typeface="Lora"/>
                          <a:cs typeface="Lora"/>
                          <a:sym typeface="Lora"/>
                        </a:rPr>
                        <a:t>0.939</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251"/>
                        </a:lnSpc>
                        <a:defRPr/>
                      </a:pPr>
                      <a:r>
                        <a:rPr lang="en-US" sz="1876">
                          <a:solidFill>
                            <a:srgbClr val="000000"/>
                          </a:solidFill>
                          <a:latin typeface="Lora"/>
                          <a:ea typeface="Lora"/>
                          <a:cs typeface="Lora"/>
                          <a:sym typeface="Lora"/>
                        </a:rPr>
                        <a:t>0.944</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bl>
          </a:graphicData>
        </a:graphic>
      </p:graphicFrame>
      <p:sp>
        <p:nvSpPr>
          <p:cNvPr name="TextBox 5" id="5"/>
          <p:cNvSpPr txBox="true"/>
          <p:nvPr/>
        </p:nvSpPr>
        <p:spPr>
          <a:xfrm rot="0">
            <a:off x="1120940" y="4788818"/>
            <a:ext cx="8876757" cy="3771900"/>
          </a:xfrm>
          <a:prstGeom prst="rect">
            <a:avLst/>
          </a:prstGeom>
        </p:spPr>
        <p:txBody>
          <a:bodyPr anchor="t" rtlCol="false" tIns="0" lIns="0" bIns="0" rIns="0">
            <a:spAutoFit/>
          </a:bodyPr>
          <a:lstStyle/>
          <a:p>
            <a:pPr algn="l">
              <a:lnSpc>
                <a:spcPts val="2702"/>
              </a:lnSpc>
            </a:pPr>
            <a:r>
              <a:rPr lang="en-US" b="true" sz="2251">
                <a:solidFill>
                  <a:srgbClr val="000000"/>
                </a:solidFill>
                <a:latin typeface="Lora Bold"/>
                <a:ea typeface="Lora Bold"/>
                <a:cs typeface="Lora Bold"/>
                <a:sym typeface="Lora Bold"/>
              </a:rPr>
              <a:t>Results: </a:t>
            </a:r>
            <a:r>
              <a:rPr lang="en-US" sz="2251">
                <a:solidFill>
                  <a:srgbClr val="000000"/>
                </a:solidFill>
                <a:latin typeface="Lora"/>
                <a:ea typeface="Lora"/>
                <a:cs typeface="Lora"/>
                <a:sym typeface="Lora"/>
              </a:rPr>
              <a:t>Both models are well above the 74.1% a model would get by always saying "problematic".</a:t>
            </a:r>
          </a:p>
          <a:p>
            <a:pPr algn="l">
              <a:lnSpc>
                <a:spcPts val="2702"/>
              </a:lnSpc>
            </a:pPr>
          </a:p>
          <a:p>
            <a:pPr algn="l">
              <a:lnSpc>
                <a:spcPts val="2702"/>
              </a:lnSpc>
            </a:pPr>
            <a:r>
              <a:rPr lang="en-US" b="true" sz="2251">
                <a:solidFill>
                  <a:srgbClr val="000000"/>
                </a:solidFill>
                <a:latin typeface="Lora Bold"/>
                <a:ea typeface="Lora Bold"/>
                <a:cs typeface="Lora Bold"/>
                <a:sym typeface="Lora Bold"/>
              </a:rPr>
              <a:t>Interpretation: </a:t>
            </a:r>
            <a:r>
              <a:rPr lang="en-US" sz="2251">
                <a:solidFill>
                  <a:srgbClr val="000000"/>
                </a:solidFill>
                <a:latin typeface="Lora"/>
                <a:ea typeface="Lora"/>
                <a:cs typeface="Lora"/>
                <a:sym typeface="Lora"/>
              </a:rPr>
              <a:t>Random Forest misses only 53 problem reviews but gives 229 false alarms. Logistic Regression gives 109 false alarms but misses 213. Limits: target comes from the star rating; one random split.</a:t>
            </a:r>
          </a:p>
          <a:p>
            <a:pPr algn="l">
              <a:lnSpc>
                <a:spcPts val="2702"/>
              </a:lnSpc>
            </a:pPr>
          </a:p>
          <a:p>
            <a:pPr algn="l">
              <a:lnSpc>
                <a:spcPts val="2702"/>
              </a:lnSpc>
            </a:pPr>
            <a:r>
              <a:rPr lang="en-US" b="true" sz="2251">
                <a:solidFill>
                  <a:srgbClr val="000000"/>
                </a:solidFill>
                <a:latin typeface="Lora Bold"/>
                <a:ea typeface="Lora Bold"/>
                <a:cs typeface="Lora Bold"/>
                <a:sym typeface="Lora Bold"/>
              </a:rPr>
              <a:t>Business findings: </a:t>
            </a:r>
            <a:r>
              <a:rPr lang="en-US" sz="2251">
                <a:solidFill>
                  <a:srgbClr val="000000"/>
                </a:solidFill>
                <a:latin typeface="Lora"/>
                <a:ea typeface="Lora"/>
                <a:cs typeface="Lora"/>
                <a:sym typeface="Lora"/>
              </a:rPr>
              <a:t>Reviews can be sorted automatically. Use Random Forest when no complaint should be missed, Logistic Regression when false alarms must be low.</a:t>
            </a:r>
          </a:p>
        </p:txBody>
      </p:sp>
      <p:grpSp>
        <p:nvGrpSpPr>
          <p:cNvPr name="Group 6" id="6"/>
          <p:cNvGrpSpPr/>
          <p:nvPr/>
        </p:nvGrpSpPr>
        <p:grpSpPr>
          <a:xfrm rot="0">
            <a:off x="10425160" y="2455078"/>
            <a:ext cx="6809022" cy="2845432"/>
            <a:chOff x="0" y="0"/>
            <a:chExt cx="9078697" cy="3793909"/>
          </a:xfrm>
        </p:grpSpPr>
        <p:sp>
          <p:nvSpPr>
            <p:cNvPr name="Freeform 7" id="7" descr="normalized_confusion_matrix_comparison.png"/>
            <p:cNvSpPr/>
            <p:nvPr/>
          </p:nvSpPr>
          <p:spPr>
            <a:xfrm flipH="false" flipV="false" rot="0">
              <a:off x="0" y="0"/>
              <a:ext cx="9078722" cy="3793871"/>
            </a:xfrm>
            <a:custGeom>
              <a:avLst/>
              <a:gdLst/>
              <a:ahLst/>
              <a:cxnLst/>
              <a:rect r="r" b="b" t="t" l="l"/>
              <a:pathLst>
                <a:path h="3793871" w="9078722">
                  <a:moveTo>
                    <a:pt x="0" y="0"/>
                  </a:moveTo>
                  <a:lnTo>
                    <a:pt x="9078722" y="0"/>
                  </a:lnTo>
                  <a:lnTo>
                    <a:pt x="9078722" y="3793871"/>
                  </a:lnTo>
                  <a:lnTo>
                    <a:pt x="0" y="3793871"/>
                  </a:lnTo>
                  <a:lnTo>
                    <a:pt x="0" y="0"/>
                  </a:lnTo>
                  <a:close/>
                </a:path>
              </a:pathLst>
            </a:custGeom>
            <a:blipFill>
              <a:blip r:embed="rId2"/>
              <a:stretch>
                <a:fillRect l="-147" t="0" r="-146" b="-1"/>
              </a:stretch>
            </a:blipFill>
          </p:spPr>
        </p:sp>
      </p:grpSp>
      <p:grpSp>
        <p:nvGrpSpPr>
          <p:cNvPr name="Group 8" id="8"/>
          <p:cNvGrpSpPr/>
          <p:nvPr/>
        </p:nvGrpSpPr>
        <p:grpSpPr>
          <a:xfrm rot="0">
            <a:off x="11672002" y="5689444"/>
            <a:ext cx="4315339" cy="3240081"/>
            <a:chOff x="0" y="0"/>
            <a:chExt cx="5753786" cy="4320108"/>
          </a:xfrm>
        </p:grpSpPr>
        <p:sp>
          <p:nvSpPr>
            <p:cNvPr name="Freeform 9" id="9" descr="roc_curves.png"/>
            <p:cNvSpPr/>
            <p:nvPr/>
          </p:nvSpPr>
          <p:spPr>
            <a:xfrm flipH="false" flipV="false" rot="0">
              <a:off x="0" y="0"/>
              <a:ext cx="5753735" cy="4320159"/>
            </a:xfrm>
            <a:custGeom>
              <a:avLst/>
              <a:gdLst/>
              <a:ahLst/>
              <a:cxnLst/>
              <a:rect r="r" b="b" t="t" l="l"/>
              <a:pathLst>
                <a:path h="4320159" w="5753735">
                  <a:moveTo>
                    <a:pt x="0" y="0"/>
                  </a:moveTo>
                  <a:lnTo>
                    <a:pt x="5753735" y="0"/>
                  </a:lnTo>
                  <a:lnTo>
                    <a:pt x="5753735" y="4320159"/>
                  </a:lnTo>
                  <a:lnTo>
                    <a:pt x="0" y="4320159"/>
                  </a:lnTo>
                  <a:lnTo>
                    <a:pt x="0" y="0"/>
                  </a:lnTo>
                  <a:close/>
                </a:path>
              </a:pathLst>
            </a:custGeom>
            <a:blipFill>
              <a:blip r:embed="rId3"/>
              <a:stretch>
                <a:fillRect l="-55" t="0" r="-56" b="1"/>
              </a:stretch>
            </a:blipFill>
          </p:spPr>
        </p:sp>
      </p:grpSp>
    </p:spTree>
  </p:cSld>
  <p:clrMapOvr>
    <a:masterClrMapping/>
  </p:clrMapOvr>
</p:sld>
</file>

<file path=ppt/slides/slide10.xml><?xml version="1.0" encoding="utf-8"?>
<p:sld xmlns:p="http://schemas.openxmlformats.org/presentationml/2006/main" xmlns:a="http://schemas.openxmlformats.org/drawingml/2006/main">
  <p:cSld>
    <p:bg>
      <p:bgPr>
        <a:solidFill>
          <a:srgbClr val="F7FCFA"/>
        </a:solidFill>
      </p:bgPr>
    </p:bg>
    <p:spTree>
      <p:nvGrpSpPr>
        <p:cNvPr id="1" name=""/>
        <p:cNvGrpSpPr/>
        <p:nvPr/>
      </p:nvGrpSpPr>
      <p:grpSpPr>
        <a:xfrm>
          <a:off x="0" y="0"/>
          <a:ext cx="0" cy="0"/>
          <a:chOff x="0" y="0"/>
          <a:chExt cx="0" cy="0"/>
        </a:xfrm>
      </p:grpSpPr>
      <p:sp>
        <p:nvSpPr>
          <p:cNvPr name="TextBox 2" id="2"/>
          <p:cNvSpPr txBox="true"/>
          <p:nvPr/>
        </p:nvSpPr>
        <p:spPr>
          <a:xfrm rot="0">
            <a:off x="1120940" y="828142"/>
            <a:ext cx="16055835" cy="609600"/>
          </a:xfrm>
          <a:prstGeom prst="rect">
            <a:avLst/>
          </a:prstGeom>
        </p:spPr>
        <p:txBody>
          <a:bodyPr anchor="t" rtlCol="false" tIns="0" lIns="0" bIns="0" rIns="0">
            <a:spAutoFit/>
          </a:bodyPr>
          <a:lstStyle/>
          <a:p>
            <a:pPr algn="l">
              <a:lnSpc>
                <a:spcPts val="4863"/>
              </a:lnSpc>
            </a:pPr>
            <a:r>
              <a:rPr lang="en-US" b="true" sz="4053">
                <a:solidFill>
                  <a:srgbClr val="000000"/>
                </a:solidFill>
                <a:latin typeface="Lora Bold"/>
                <a:ea typeface="Lora Bold"/>
                <a:cs typeface="Lora Bold"/>
                <a:sym typeface="Lora Bold"/>
              </a:rPr>
              <a:t>Method 1: Text Mining – Data Preparation and Implementation</a:t>
            </a:r>
          </a:p>
        </p:txBody>
      </p:sp>
      <p:sp>
        <p:nvSpPr>
          <p:cNvPr name="TextBox 3" id="3"/>
          <p:cNvSpPr txBox="true"/>
          <p:nvPr/>
        </p:nvSpPr>
        <p:spPr>
          <a:xfrm rot="0">
            <a:off x="16673322" y="9173994"/>
            <a:ext cx="777992" cy="342900"/>
          </a:xfrm>
          <a:prstGeom prst="rect">
            <a:avLst/>
          </a:prstGeom>
        </p:spPr>
        <p:txBody>
          <a:bodyPr anchor="t" rtlCol="false" tIns="0" lIns="0" bIns="0" rIns="0">
            <a:spAutoFit/>
          </a:bodyPr>
          <a:lstStyle/>
          <a:p>
            <a:pPr algn="l">
              <a:lnSpc>
                <a:spcPts val="2702"/>
              </a:lnSpc>
            </a:pPr>
            <a:r>
              <a:rPr lang="en-US" sz="2251">
                <a:solidFill>
                  <a:srgbClr val="000000"/>
                </a:solidFill>
                <a:latin typeface="Lora"/>
                <a:ea typeface="Lora"/>
                <a:cs typeface="Lora"/>
                <a:sym typeface="Lora"/>
              </a:rPr>
              <a:t>10</a:t>
            </a:r>
          </a:p>
        </p:txBody>
      </p:sp>
      <p:sp>
        <p:nvSpPr>
          <p:cNvPr name="TextBox 4" id="4"/>
          <p:cNvSpPr txBox="true"/>
          <p:nvPr/>
        </p:nvSpPr>
        <p:spPr>
          <a:xfrm rot="0">
            <a:off x="1175852" y="2379259"/>
            <a:ext cx="9837630" cy="5429250"/>
          </a:xfrm>
          <a:prstGeom prst="rect">
            <a:avLst/>
          </a:prstGeom>
        </p:spPr>
        <p:txBody>
          <a:bodyPr anchor="t" rtlCol="false" tIns="0" lIns="0" bIns="0" rIns="0">
            <a:spAutoFit/>
          </a:bodyPr>
          <a:lstStyle/>
          <a:p>
            <a:pPr algn="l">
              <a:lnSpc>
                <a:spcPts val="2882"/>
              </a:lnSpc>
            </a:pPr>
            <a:r>
              <a:rPr lang="en-US" b="true" sz="2401">
                <a:solidFill>
                  <a:srgbClr val="000000"/>
                </a:solidFill>
                <a:latin typeface="Lora Bold"/>
                <a:ea typeface="Lora Bold"/>
                <a:cs typeface="Lora Bold"/>
                <a:sym typeface="Lora Bold"/>
              </a:rPr>
              <a:t>Input: </a:t>
            </a:r>
            <a:r>
              <a:rPr lang="en-US" sz="2401">
                <a:solidFill>
                  <a:srgbClr val="000000"/>
                </a:solidFill>
                <a:latin typeface="Lora"/>
                <a:ea typeface="Lora"/>
                <a:cs typeface="Lora"/>
                <a:sym typeface="Lora"/>
              </a:rPr>
              <a:t>14,988 cleaned reviews (review text).</a:t>
            </a:r>
          </a:p>
          <a:p>
            <a:pPr algn="l">
              <a:lnSpc>
                <a:spcPts val="2882"/>
              </a:lnSpc>
            </a:pPr>
          </a:p>
          <a:p>
            <a:pPr algn="l">
              <a:lnSpc>
                <a:spcPts val="2882"/>
              </a:lnSpc>
            </a:pPr>
            <a:r>
              <a:rPr lang="en-US" b="true" sz="2401">
                <a:solidFill>
                  <a:srgbClr val="000000"/>
                </a:solidFill>
                <a:latin typeface="Lora Bold"/>
                <a:ea typeface="Lora Bold"/>
                <a:cs typeface="Lora Bold"/>
                <a:sym typeface="Lora Bold"/>
              </a:rPr>
              <a:t>Issue tagging: </a:t>
            </a:r>
            <a:r>
              <a:rPr lang="en-US" sz="2401">
                <a:solidFill>
                  <a:srgbClr val="000000"/>
                </a:solidFill>
                <a:latin typeface="Lora"/>
                <a:ea typeface="Lora"/>
                <a:cs typeface="Lora"/>
                <a:sym typeface="Lora"/>
              </a:rPr>
              <a:t>9 categories made for delivery, shopping and payment apps. Each has a list of keyword patterns. A review can get more than one tag; the category with the most matches is the primary issue.</a:t>
            </a:r>
          </a:p>
          <a:p>
            <a:pPr algn="l">
              <a:lnSpc>
                <a:spcPts val="2882"/>
              </a:lnSpc>
            </a:pPr>
          </a:p>
          <a:p>
            <a:pPr algn="l">
              <a:lnSpc>
                <a:spcPts val="2882"/>
              </a:lnSpc>
            </a:pPr>
            <a:r>
              <a:rPr lang="en-US" b="true" sz="2401">
                <a:solidFill>
                  <a:srgbClr val="000000"/>
                </a:solidFill>
                <a:latin typeface="Lora Bold"/>
                <a:ea typeface="Lora Bold"/>
                <a:cs typeface="Lora Bold"/>
                <a:sym typeface="Lora Bold"/>
              </a:rPr>
              <a:t>Sentiment scoring: </a:t>
            </a:r>
            <a:r>
              <a:rPr lang="en-US" sz="2401">
                <a:solidFill>
                  <a:srgbClr val="000000"/>
                </a:solidFill>
                <a:latin typeface="Lora"/>
                <a:ea typeface="Lora"/>
                <a:cs typeface="Lora"/>
                <a:sym typeface="Lora"/>
              </a:rPr>
              <a:t>VADER (NLTK), a rule-based scorer made for short informal text. Compound score from -1 to +1; Negative at -0.05 or below, Positive at +0.05 or above.</a:t>
            </a:r>
          </a:p>
          <a:p>
            <a:pPr algn="l">
              <a:lnSpc>
                <a:spcPts val="2882"/>
              </a:lnSpc>
            </a:pPr>
          </a:p>
          <a:p>
            <a:pPr algn="l">
              <a:lnSpc>
                <a:spcPts val="2882"/>
              </a:lnSpc>
            </a:pPr>
            <a:r>
              <a:rPr lang="en-US" b="true" sz="2401">
                <a:solidFill>
                  <a:srgbClr val="000000"/>
                </a:solidFill>
                <a:latin typeface="Lora Bold"/>
                <a:ea typeface="Lora Bold"/>
                <a:cs typeface="Lora Bold"/>
                <a:sym typeface="Lora Bold"/>
              </a:rPr>
              <a:t>Why these methods: </a:t>
            </a:r>
            <a:r>
              <a:rPr lang="en-US" sz="2401">
                <a:solidFill>
                  <a:srgbClr val="000000"/>
                </a:solidFill>
                <a:latin typeface="Lora"/>
                <a:ea typeface="Lora"/>
                <a:cs typeface="Lora"/>
                <a:sym typeface="Lora"/>
              </a:rPr>
              <a:t>Both are rule-based, so they need no labelled training data and are easy to explain.</a:t>
            </a:r>
          </a:p>
          <a:p>
            <a:pPr algn="l">
              <a:lnSpc>
                <a:spcPts val="2882"/>
              </a:lnSpc>
            </a:pPr>
          </a:p>
          <a:p>
            <a:pPr algn="l">
              <a:lnSpc>
                <a:spcPts val="2882"/>
              </a:lnSpc>
            </a:pPr>
            <a:r>
              <a:rPr lang="en-US" b="true" sz="2401">
                <a:solidFill>
                  <a:srgbClr val="000000"/>
                </a:solidFill>
                <a:latin typeface="Lora Bold"/>
                <a:ea typeface="Lora Bold"/>
                <a:cs typeface="Lora Bold"/>
                <a:sym typeface="Lora Bold"/>
              </a:rPr>
              <a:t>Output: </a:t>
            </a:r>
            <a:r>
              <a:rPr lang="en-US" sz="2401">
                <a:solidFill>
                  <a:srgbClr val="000000"/>
                </a:solidFill>
                <a:latin typeface="Lora"/>
                <a:ea typeface="Lora"/>
                <a:cs typeface="Lora"/>
                <a:sym typeface="Lora"/>
              </a:rPr>
              <a:t>app_reviews_tagged.csv with 28 columns: 9 issue flags, issue summary fields and 5 sentiment fields.</a:t>
            </a:r>
          </a:p>
        </p:txBody>
      </p:sp>
      <p:graphicFrame>
        <p:nvGraphicFramePr>
          <p:cNvPr name="Table 5" id="5"/>
          <p:cNvGraphicFramePr>
            <a:graphicFrameLocks noGrp="true"/>
          </p:cNvGraphicFramePr>
          <p:nvPr/>
        </p:nvGraphicFramePr>
        <p:xfrm>
          <a:off x="11530448" y="2402177"/>
          <a:ext cx="5662274" cy="5719763"/>
        </p:xfrm>
        <a:graphic>
          <a:graphicData uri="http://schemas.openxmlformats.org/drawingml/2006/table">
            <a:tbl>
              <a:tblPr/>
              <a:tblGrid>
                <a:gridCol w="3474578"/>
                <a:gridCol w="1286880"/>
                <a:gridCol w="900816"/>
              </a:tblGrid>
              <a:tr h="571976">
                <a:tc>
                  <a:txBody>
                    <a:bodyPr anchor="t" rtlCol="false"/>
                    <a:lstStyle/>
                    <a:p>
                      <a:pPr algn="just">
                        <a:lnSpc>
                          <a:spcPts val="2341"/>
                        </a:lnSpc>
                        <a:defRPr/>
                      </a:pPr>
                      <a:r>
                        <a:rPr lang="en-US" b="true" sz="1951">
                          <a:solidFill>
                            <a:srgbClr val="000000"/>
                          </a:solidFill>
                          <a:latin typeface="Lora Bold"/>
                          <a:ea typeface="Lora Bold"/>
                          <a:cs typeface="Lora Bold"/>
                          <a:sym typeface="Lora Bold"/>
                        </a:rPr>
                        <a:t>Issue category</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341"/>
                        </a:lnSpc>
                        <a:defRPr/>
                      </a:pPr>
                      <a:r>
                        <a:rPr lang="en-US" b="true" sz="1951">
                          <a:solidFill>
                            <a:srgbClr val="000000"/>
                          </a:solidFill>
                          <a:latin typeface="Lora Bold"/>
                          <a:ea typeface="Lora Bold"/>
                          <a:cs typeface="Lora Bold"/>
                          <a:sym typeface="Lora Bold"/>
                        </a:rPr>
                        <a:t>Reviews</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341"/>
                        </a:lnSpc>
                        <a:defRPr/>
                      </a:pPr>
                      <a:r>
                        <a:rPr lang="en-US" b="true" sz="1951">
                          <a:solidFill>
                            <a:srgbClr val="000000"/>
                          </a:solidFill>
                          <a:latin typeface="Lora Bold"/>
                          <a:ea typeface="Lora Bold"/>
                          <a:cs typeface="Lora Bold"/>
                          <a:sym typeface="Lora Bold"/>
                        </a:rPr>
                        <a:t>%</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571976">
                <a:tc>
                  <a:txBody>
                    <a:bodyPr anchor="t" rtlCol="false"/>
                    <a:lstStyle/>
                    <a:p>
                      <a:pPr algn="just">
                        <a:lnSpc>
                          <a:spcPts val="2341"/>
                        </a:lnSpc>
                        <a:defRPr/>
                      </a:pPr>
                      <a:r>
                        <a:rPr lang="en-US" sz="1951">
                          <a:solidFill>
                            <a:srgbClr val="000000"/>
                          </a:solidFill>
                          <a:latin typeface="Lora"/>
                          <a:ea typeface="Lora"/>
                          <a:cs typeface="Lora"/>
                          <a:sym typeface="Lora"/>
                        </a:rPr>
                        <a:t>Customer Support</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341"/>
                        </a:lnSpc>
                        <a:defRPr/>
                      </a:pPr>
                      <a:r>
                        <a:rPr lang="en-US" sz="1951">
                          <a:solidFill>
                            <a:srgbClr val="000000"/>
                          </a:solidFill>
                          <a:latin typeface="Lora"/>
                          <a:ea typeface="Lora"/>
                          <a:cs typeface="Lora"/>
                          <a:sym typeface="Lora"/>
                        </a:rPr>
                        <a:t>5,150</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341"/>
                        </a:lnSpc>
                        <a:defRPr/>
                      </a:pPr>
                      <a:r>
                        <a:rPr lang="en-US" sz="1951">
                          <a:solidFill>
                            <a:srgbClr val="000000"/>
                          </a:solidFill>
                          <a:latin typeface="Lora"/>
                          <a:ea typeface="Lora"/>
                          <a:cs typeface="Lora"/>
                          <a:sym typeface="Lora"/>
                        </a:rPr>
                        <a:t>34.4</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571976">
                <a:tc>
                  <a:txBody>
                    <a:bodyPr anchor="t" rtlCol="false"/>
                    <a:lstStyle/>
                    <a:p>
                      <a:pPr algn="just">
                        <a:lnSpc>
                          <a:spcPts val="2341"/>
                        </a:lnSpc>
                        <a:defRPr/>
                      </a:pPr>
                      <a:r>
                        <a:rPr lang="en-US" sz="1951">
                          <a:solidFill>
                            <a:srgbClr val="000000"/>
                          </a:solidFill>
                          <a:latin typeface="Lora"/>
                          <a:ea typeface="Lora"/>
                          <a:cs typeface="Lora"/>
                          <a:sym typeface="Lora"/>
                        </a:rPr>
                        <a:t>Cancellation and Return</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341"/>
                        </a:lnSpc>
                        <a:defRPr/>
                      </a:pPr>
                      <a:r>
                        <a:rPr lang="en-US" sz="1951">
                          <a:solidFill>
                            <a:srgbClr val="000000"/>
                          </a:solidFill>
                          <a:latin typeface="Lora"/>
                          <a:ea typeface="Lora"/>
                          <a:cs typeface="Lora"/>
                          <a:sym typeface="Lora"/>
                        </a:rPr>
                        <a:t>2,923</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341"/>
                        </a:lnSpc>
                        <a:defRPr/>
                      </a:pPr>
                      <a:r>
                        <a:rPr lang="en-US" sz="1951">
                          <a:solidFill>
                            <a:srgbClr val="000000"/>
                          </a:solidFill>
                          <a:latin typeface="Lora"/>
                          <a:ea typeface="Lora"/>
                          <a:cs typeface="Lora"/>
                          <a:sym typeface="Lora"/>
                        </a:rPr>
                        <a:t>19.5</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571976">
                <a:tc>
                  <a:txBody>
                    <a:bodyPr anchor="t" rtlCol="false"/>
                    <a:lstStyle/>
                    <a:p>
                      <a:pPr algn="just">
                        <a:lnSpc>
                          <a:spcPts val="2341"/>
                        </a:lnSpc>
                        <a:defRPr/>
                      </a:pPr>
                      <a:r>
                        <a:rPr lang="en-US" sz="1951">
                          <a:solidFill>
                            <a:srgbClr val="000000"/>
                          </a:solidFill>
                          <a:latin typeface="Lora"/>
                          <a:ea typeface="Lora"/>
                          <a:cs typeface="Lora"/>
                          <a:sym typeface="Lora"/>
                        </a:rPr>
                        <a:t>Delivery Delay</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341"/>
                        </a:lnSpc>
                        <a:defRPr/>
                      </a:pPr>
                      <a:r>
                        <a:rPr lang="en-US" sz="1951">
                          <a:solidFill>
                            <a:srgbClr val="000000"/>
                          </a:solidFill>
                          <a:latin typeface="Lora"/>
                          <a:ea typeface="Lora"/>
                          <a:cs typeface="Lora"/>
                          <a:sym typeface="Lora"/>
                        </a:rPr>
                        <a:t>2,301</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341"/>
                        </a:lnSpc>
                        <a:defRPr/>
                      </a:pPr>
                      <a:r>
                        <a:rPr lang="en-US" sz="1951">
                          <a:solidFill>
                            <a:srgbClr val="000000"/>
                          </a:solidFill>
                          <a:latin typeface="Lora"/>
                          <a:ea typeface="Lora"/>
                          <a:cs typeface="Lora"/>
                          <a:sym typeface="Lora"/>
                        </a:rPr>
                        <a:t>15.4</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571976">
                <a:tc>
                  <a:txBody>
                    <a:bodyPr anchor="t" rtlCol="false"/>
                    <a:lstStyle/>
                    <a:p>
                      <a:pPr algn="just">
                        <a:lnSpc>
                          <a:spcPts val="2341"/>
                        </a:lnSpc>
                        <a:defRPr/>
                      </a:pPr>
                      <a:r>
                        <a:rPr lang="en-US" sz="1951">
                          <a:solidFill>
                            <a:srgbClr val="000000"/>
                          </a:solidFill>
                          <a:latin typeface="Lora"/>
                          <a:ea typeface="Lora"/>
                          <a:cs typeface="Lora"/>
                          <a:sym typeface="Lora"/>
                        </a:rPr>
                        <a:t>Payment and Refund</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341"/>
                        </a:lnSpc>
                        <a:defRPr/>
                      </a:pPr>
                      <a:r>
                        <a:rPr lang="en-US" sz="1951">
                          <a:solidFill>
                            <a:srgbClr val="000000"/>
                          </a:solidFill>
                          <a:latin typeface="Lora"/>
                          <a:ea typeface="Lora"/>
                          <a:cs typeface="Lora"/>
                          <a:sym typeface="Lora"/>
                        </a:rPr>
                        <a:t>2,278</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341"/>
                        </a:lnSpc>
                        <a:defRPr/>
                      </a:pPr>
                      <a:r>
                        <a:rPr lang="en-US" sz="1951">
                          <a:solidFill>
                            <a:srgbClr val="000000"/>
                          </a:solidFill>
                          <a:latin typeface="Lora"/>
                          <a:ea typeface="Lora"/>
                          <a:cs typeface="Lora"/>
                          <a:sym typeface="Lora"/>
                        </a:rPr>
                        <a:t>15.2</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571976">
                <a:tc>
                  <a:txBody>
                    <a:bodyPr anchor="t" rtlCol="false"/>
                    <a:lstStyle/>
                    <a:p>
                      <a:pPr algn="just">
                        <a:lnSpc>
                          <a:spcPts val="2341"/>
                        </a:lnSpc>
                        <a:defRPr/>
                      </a:pPr>
                      <a:r>
                        <a:rPr lang="en-US" sz="1951">
                          <a:solidFill>
                            <a:srgbClr val="000000"/>
                          </a:solidFill>
                          <a:latin typeface="Lora"/>
                          <a:ea typeface="Lora"/>
                          <a:cs typeface="Lora"/>
                          <a:sym typeface="Lora"/>
                        </a:rPr>
                        <a:t>Pricing and Fraud</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341"/>
                        </a:lnSpc>
                        <a:defRPr/>
                      </a:pPr>
                      <a:r>
                        <a:rPr lang="en-US" sz="1951">
                          <a:solidFill>
                            <a:srgbClr val="000000"/>
                          </a:solidFill>
                          <a:latin typeface="Lora"/>
                          <a:ea typeface="Lora"/>
                          <a:cs typeface="Lora"/>
                          <a:sym typeface="Lora"/>
                        </a:rPr>
                        <a:t>1,414</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341"/>
                        </a:lnSpc>
                        <a:defRPr/>
                      </a:pPr>
                      <a:r>
                        <a:rPr lang="en-US" sz="1951">
                          <a:solidFill>
                            <a:srgbClr val="000000"/>
                          </a:solidFill>
                          <a:latin typeface="Lora"/>
                          <a:ea typeface="Lora"/>
                          <a:cs typeface="Lora"/>
                          <a:sym typeface="Lora"/>
                        </a:rPr>
                        <a:t>9.4</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571976">
                <a:tc>
                  <a:txBody>
                    <a:bodyPr anchor="t" rtlCol="false"/>
                    <a:lstStyle/>
                    <a:p>
                      <a:pPr algn="just">
                        <a:lnSpc>
                          <a:spcPts val="2341"/>
                        </a:lnSpc>
                        <a:defRPr/>
                      </a:pPr>
                      <a:r>
                        <a:rPr lang="en-US" sz="1951">
                          <a:solidFill>
                            <a:srgbClr val="000000"/>
                          </a:solidFill>
                          <a:latin typeface="Lora"/>
                          <a:ea typeface="Lora"/>
                          <a:cs typeface="Lora"/>
                          <a:sym typeface="Lora"/>
                        </a:rPr>
                        <a:t>Order Quality</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341"/>
                        </a:lnSpc>
                        <a:defRPr/>
                      </a:pPr>
                      <a:r>
                        <a:rPr lang="en-US" sz="1951">
                          <a:solidFill>
                            <a:srgbClr val="000000"/>
                          </a:solidFill>
                          <a:latin typeface="Lora"/>
                          <a:ea typeface="Lora"/>
                          <a:cs typeface="Lora"/>
                          <a:sym typeface="Lora"/>
                        </a:rPr>
                        <a:t>996</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341"/>
                        </a:lnSpc>
                        <a:defRPr/>
                      </a:pPr>
                      <a:r>
                        <a:rPr lang="en-US" sz="1951">
                          <a:solidFill>
                            <a:srgbClr val="000000"/>
                          </a:solidFill>
                          <a:latin typeface="Lora"/>
                          <a:ea typeface="Lora"/>
                          <a:cs typeface="Lora"/>
                          <a:sym typeface="Lora"/>
                        </a:rPr>
                        <a:t>6.6</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571976">
                <a:tc>
                  <a:txBody>
                    <a:bodyPr anchor="t" rtlCol="false"/>
                    <a:lstStyle/>
                    <a:p>
                      <a:pPr algn="just">
                        <a:lnSpc>
                          <a:spcPts val="2341"/>
                        </a:lnSpc>
                        <a:defRPr/>
                      </a:pPr>
                      <a:r>
                        <a:rPr lang="en-US" sz="1951">
                          <a:solidFill>
                            <a:srgbClr val="000000"/>
                          </a:solidFill>
                          <a:latin typeface="Lora"/>
                          <a:ea typeface="Lora"/>
                          <a:cs typeface="Lora"/>
                          <a:sym typeface="Lora"/>
                        </a:rPr>
                        <a:t>Crash and Stability</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341"/>
                        </a:lnSpc>
                        <a:defRPr/>
                      </a:pPr>
                      <a:r>
                        <a:rPr lang="en-US" sz="1951">
                          <a:solidFill>
                            <a:srgbClr val="000000"/>
                          </a:solidFill>
                          <a:latin typeface="Lora"/>
                          <a:ea typeface="Lora"/>
                          <a:cs typeface="Lora"/>
                          <a:sym typeface="Lora"/>
                        </a:rPr>
                        <a:t>938</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341"/>
                        </a:lnSpc>
                        <a:defRPr/>
                      </a:pPr>
                      <a:r>
                        <a:rPr lang="en-US" sz="1951">
                          <a:solidFill>
                            <a:srgbClr val="000000"/>
                          </a:solidFill>
                          <a:latin typeface="Lora"/>
                          <a:ea typeface="Lora"/>
                          <a:cs typeface="Lora"/>
                          <a:sym typeface="Lora"/>
                        </a:rPr>
                        <a:t>6.3</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571976">
                <a:tc>
                  <a:txBody>
                    <a:bodyPr anchor="t" rtlCol="false"/>
                    <a:lstStyle/>
                    <a:p>
                      <a:pPr algn="just">
                        <a:lnSpc>
                          <a:spcPts val="2341"/>
                        </a:lnSpc>
                        <a:defRPr/>
                      </a:pPr>
                      <a:r>
                        <a:rPr lang="en-US" sz="1951">
                          <a:solidFill>
                            <a:srgbClr val="000000"/>
                          </a:solidFill>
                          <a:latin typeface="Lora"/>
                          <a:ea typeface="Lora"/>
                          <a:cs typeface="Lora"/>
                          <a:sym typeface="Lora"/>
                        </a:rPr>
                        <a:t>UI/UX and Update</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341"/>
                        </a:lnSpc>
                        <a:defRPr/>
                      </a:pPr>
                      <a:r>
                        <a:rPr lang="en-US" sz="1951">
                          <a:solidFill>
                            <a:srgbClr val="000000"/>
                          </a:solidFill>
                          <a:latin typeface="Lora"/>
                          <a:ea typeface="Lora"/>
                          <a:cs typeface="Lora"/>
                          <a:sym typeface="Lora"/>
                        </a:rPr>
                        <a:t>364</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341"/>
                        </a:lnSpc>
                        <a:defRPr/>
                      </a:pPr>
                      <a:r>
                        <a:rPr lang="en-US" sz="1951">
                          <a:solidFill>
                            <a:srgbClr val="000000"/>
                          </a:solidFill>
                          <a:latin typeface="Lora"/>
                          <a:ea typeface="Lora"/>
                          <a:cs typeface="Lora"/>
                          <a:sym typeface="Lora"/>
                        </a:rPr>
                        <a:t>2.4</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571976">
                <a:tc>
                  <a:txBody>
                    <a:bodyPr anchor="t" rtlCol="false"/>
                    <a:lstStyle/>
                    <a:p>
                      <a:pPr algn="just">
                        <a:lnSpc>
                          <a:spcPts val="2341"/>
                        </a:lnSpc>
                        <a:defRPr/>
                      </a:pPr>
                      <a:r>
                        <a:rPr lang="en-US" sz="1951">
                          <a:solidFill>
                            <a:srgbClr val="000000"/>
                          </a:solidFill>
                          <a:latin typeface="Lora"/>
                          <a:ea typeface="Lora"/>
                          <a:cs typeface="Lora"/>
                          <a:sym typeface="Lora"/>
                        </a:rPr>
                        <a:t>Account, Login and OTP</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341"/>
                        </a:lnSpc>
                        <a:defRPr/>
                      </a:pPr>
                      <a:r>
                        <a:rPr lang="en-US" sz="1951">
                          <a:solidFill>
                            <a:srgbClr val="000000"/>
                          </a:solidFill>
                          <a:latin typeface="Lora"/>
                          <a:ea typeface="Lora"/>
                          <a:cs typeface="Lora"/>
                          <a:sym typeface="Lora"/>
                        </a:rPr>
                        <a:t>356</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341"/>
                        </a:lnSpc>
                        <a:defRPr/>
                      </a:pPr>
                      <a:r>
                        <a:rPr lang="en-US" sz="1951">
                          <a:solidFill>
                            <a:srgbClr val="000000"/>
                          </a:solidFill>
                          <a:latin typeface="Lora"/>
                          <a:ea typeface="Lora"/>
                          <a:cs typeface="Lora"/>
                          <a:sym typeface="Lora"/>
                        </a:rPr>
                        <a:t>2.4</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7FCFA"/>
        </a:solidFill>
      </p:bgPr>
    </p:bg>
    <p:spTree>
      <p:nvGrpSpPr>
        <p:cNvPr id="1" name=""/>
        <p:cNvGrpSpPr/>
        <p:nvPr/>
      </p:nvGrpSpPr>
      <p:grpSpPr>
        <a:xfrm>
          <a:off x="0" y="0"/>
          <a:ext cx="0" cy="0"/>
          <a:chOff x="0" y="0"/>
          <a:chExt cx="0" cy="0"/>
        </a:xfrm>
      </p:grpSpPr>
      <p:sp>
        <p:nvSpPr>
          <p:cNvPr name="TextBox 2" id="2"/>
          <p:cNvSpPr txBox="true"/>
          <p:nvPr/>
        </p:nvSpPr>
        <p:spPr>
          <a:xfrm rot="0">
            <a:off x="16673322" y="9154944"/>
            <a:ext cx="777992" cy="504130"/>
          </a:xfrm>
          <a:prstGeom prst="rect">
            <a:avLst/>
          </a:prstGeom>
        </p:spPr>
        <p:txBody>
          <a:bodyPr anchor="t" rtlCol="false" tIns="0" lIns="0" bIns="0" rIns="0">
            <a:spAutoFit/>
          </a:bodyPr>
          <a:lstStyle/>
          <a:p>
            <a:pPr algn="l">
              <a:lnSpc>
                <a:spcPts val="2702"/>
              </a:lnSpc>
            </a:pPr>
            <a:r>
              <a:rPr lang="en-US" sz="2251">
                <a:solidFill>
                  <a:srgbClr val="000000"/>
                </a:solidFill>
                <a:latin typeface="Arimo"/>
                <a:ea typeface="Arimo"/>
                <a:cs typeface="Arimo"/>
                <a:sym typeface="Arimo"/>
              </a:rPr>
              <a:t>11</a:t>
            </a:r>
          </a:p>
        </p:txBody>
      </p:sp>
      <p:grpSp>
        <p:nvGrpSpPr>
          <p:cNvPr name="Group 3" id="3"/>
          <p:cNvGrpSpPr/>
          <p:nvPr/>
        </p:nvGrpSpPr>
        <p:grpSpPr>
          <a:xfrm rot="0">
            <a:off x="1582417" y="1314021"/>
            <a:ext cx="6932571" cy="4338218"/>
            <a:chOff x="0" y="0"/>
            <a:chExt cx="9243428" cy="5784291"/>
          </a:xfrm>
        </p:grpSpPr>
        <p:sp>
          <p:nvSpPr>
            <p:cNvPr name="Freeform 4" id="4" descr="01_sentiment_validation_by_rating.png"/>
            <p:cNvSpPr/>
            <p:nvPr/>
          </p:nvSpPr>
          <p:spPr>
            <a:xfrm flipH="false" flipV="false" rot="0">
              <a:off x="0" y="0"/>
              <a:ext cx="9243441" cy="5784342"/>
            </a:xfrm>
            <a:custGeom>
              <a:avLst/>
              <a:gdLst/>
              <a:ahLst/>
              <a:cxnLst/>
              <a:rect r="r" b="b" t="t" l="l"/>
              <a:pathLst>
                <a:path h="5784342" w="9243441">
                  <a:moveTo>
                    <a:pt x="0" y="0"/>
                  </a:moveTo>
                  <a:lnTo>
                    <a:pt x="9243441" y="0"/>
                  </a:lnTo>
                  <a:lnTo>
                    <a:pt x="9243441" y="5784342"/>
                  </a:lnTo>
                  <a:lnTo>
                    <a:pt x="0" y="5784342"/>
                  </a:lnTo>
                  <a:lnTo>
                    <a:pt x="0" y="0"/>
                  </a:lnTo>
                  <a:close/>
                </a:path>
              </a:pathLst>
            </a:custGeom>
            <a:blipFill>
              <a:blip r:embed="rId2"/>
              <a:stretch>
                <a:fillRect l="-61" t="0" r="-61" b="0"/>
              </a:stretch>
            </a:blipFill>
          </p:spPr>
        </p:sp>
      </p:grpSp>
      <p:grpSp>
        <p:nvGrpSpPr>
          <p:cNvPr name="Group 5" id="5"/>
          <p:cNvGrpSpPr/>
          <p:nvPr/>
        </p:nvGrpSpPr>
        <p:grpSpPr>
          <a:xfrm rot="0">
            <a:off x="9601562" y="1171146"/>
            <a:ext cx="7220826" cy="4338218"/>
            <a:chOff x="0" y="0"/>
            <a:chExt cx="9627768" cy="5784291"/>
          </a:xfrm>
        </p:grpSpPr>
        <p:sp>
          <p:nvSpPr>
            <p:cNvPr name="Freeform 6" id="6" descr="03_sentiment_by_issue_category.png"/>
            <p:cNvSpPr/>
            <p:nvPr/>
          </p:nvSpPr>
          <p:spPr>
            <a:xfrm flipH="false" flipV="false" rot="0">
              <a:off x="0" y="0"/>
              <a:ext cx="9627743" cy="5784342"/>
            </a:xfrm>
            <a:custGeom>
              <a:avLst/>
              <a:gdLst/>
              <a:ahLst/>
              <a:cxnLst/>
              <a:rect r="r" b="b" t="t" l="l"/>
              <a:pathLst>
                <a:path h="5784342" w="9627743">
                  <a:moveTo>
                    <a:pt x="0" y="0"/>
                  </a:moveTo>
                  <a:lnTo>
                    <a:pt x="9627743" y="0"/>
                  </a:lnTo>
                  <a:lnTo>
                    <a:pt x="9627743" y="5784342"/>
                  </a:lnTo>
                  <a:lnTo>
                    <a:pt x="0" y="5784342"/>
                  </a:lnTo>
                  <a:lnTo>
                    <a:pt x="0" y="0"/>
                  </a:lnTo>
                  <a:close/>
                </a:path>
              </a:pathLst>
            </a:custGeom>
            <a:blipFill>
              <a:blip r:embed="rId3"/>
              <a:stretch>
                <a:fillRect l="-65" t="0" r="-66" b="0"/>
              </a:stretch>
            </a:blipFill>
          </p:spPr>
        </p:sp>
      </p:grpSp>
      <p:sp>
        <p:nvSpPr>
          <p:cNvPr name="TextBox 7" id="7"/>
          <p:cNvSpPr txBox="true"/>
          <p:nvPr/>
        </p:nvSpPr>
        <p:spPr>
          <a:xfrm rot="0">
            <a:off x="1175852" y="6693656"/>
            <a:ext cx="15891110" cy="2600325"/>
          </a:xfrm>
          <a:prstGeom prst="rect">
            <a:avLst/>
          </a:prstGeom>
        </p:spPr>
        <p:txBody>
          <a:bodyPr anchor="t" rtlCol="false" tIns="0" lIns="0" bIns="0" rIns="0">
            <a:spAutoFit/>
          </a:bodyPr>
          <a:lstStyle/>
          <a:p>
            <a:pPr algn="l">
              <a:lnSpc>
                <a:spcPts val="2612"/>
              </a:lnSpc>
            </a:pPr>
            <a:r>
              <a:rPr lang="en-US" b="true" sz="2176">
                <a:solidFill>
                  <a:srgbClr val="000000"/>
                </a:solidFill>
                <a:latin typeface="Lora Bold"/>
                <a:ea typeface="Lora Bold"/>
                <a:cs typeface="Lora Bold"/>
                <a:sym typeface="Lora Bold"/>
              </a:rPr>
              <a:t>Evaluation: </a:t>
            </a:r>
            <a:r>
              <a:rPr lang="en-US" sz="2176">
                <a:solidFill>
                  <a:srgbClr val="000000"/>
                </a:solidFill>
                <a:latin typeface="Lora"/>
                <a:ea typeface="Lora"/>
                <a:cs typeface="Lora"/>
                <a:sym typeface="Lora"/>
              </a:rPr>
              <a:t>Sentiment score against star rating: Pearson 0.60, Spearman 0.56. The label matches the rating class for 72.0% of reviews. 65.4% of reviews get at least one issue tag.</a:t>
            </a:r>
          </a:p>
          <a:p>
            <a:pPr algn="l">
              <a:lnSpc>
                <a:spcPts val="2612"/>
              </a:lnSpc>
            </a:pPr>
          </a:p>
          <a:p>
            <a:pPr algn="l">
              <a:lnSpc>
                <a:spcPts val="2612"/>
              </a:lnSpc>
            </a:pPr>
            <a:r>
              <a:rPr lang="en-US" b="true" sz="2176">
                <a:solidFill>
                  <a:srgbClr val="000000"/>
                </a:solidFill>
                <a:latin typeface="Lora Bold"/>
                <a:ea typeface="Lora Bold"/>
                <a:cs typeface="Lora Bold"/>
                <a:sym typeface="Lora Bold"/>
              </a:rPr>
              <a:t>Interpretation: </a:t>
            </a:r>
            <a:r>
              <a:rPr lang="en-US" sz="2176">
                <a:solidFill>
                  <a:srgbClr val="000000"/>
                </a:solidFill>
                <a:latin typeface="Lora"/>
                <a:ea typeface="Lora"/>
                <a:cs typeface="Lora"/>
                <a:sym typeface="Lora"/>
              </a:rPr>
              <a:t>Money and physical-goods problems make users angriest: Order Quality (-0.50), Pricing and Fraud (-0.44). Crash reviews use calmer language (-0.10).</a:t>
            </a:r>
          </a:p>
          <a:p>
            <a:pPr algn="l">
              <a:lnSpc>
                <a:spcPts val="2612"/>
              </a:lnSpc>
            </a:pPr>
          </a:p>
          <a:p>
            <a:pPr algn="l">
              <a:lnSpc>
                <a:spcPts val="2612"/>
              </a:lnSpc>
            </a:pPr>
            <a:r>
              <a:rPr lang="en-US" b="true" sz="2176">
                <a:solidFill>
                  <a:srgbClr val="000000"/>
                </a:solidFill>
                <a:latin typeface="Lora Bold"/>
                <a:ea typeface="Lora Bold"/>
                <a:cs typeface="Lora Bold"/>
                <a:sym typeface="Lora Bold"/>
              </a:rPr>
              <a:t>Limits: </a:t>
            </a:r>
            <a:r>
              <a:rPr lang="en-US" sz="2176">
                <a:solidFill>
                  <a:srgbClr val="000000"/>
                </a:solidFill>
                <a:latin typeface="Lora"/>
                <a:ea typeface="Lora"/>
                <a:cs typeface="Lora"/>
                <a:sym typeface="Lora"/>
              </a:rPr>
              <a:t>VADER cannot detect sarcasm (24% of 1-star reviews score positive). The tagger cannot tell praise from complaint (Myntra "easy returns"), and 22% of low-star reviews get no tag.</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7FCFA"/>
        </a:solidFill>
      </p:bgPr>
    </p:bg>
    <p:spTree>
      <p:nvGrpSpPr>
        <p:cNvPr id="1" name=""/>
        <p:cNvGrpSpPr/>
        <p:nvPr/>
      </p:nvGrpSpPr>
      <p:grpSpPr>
        <a:xfrm>
          <a:off x="0" y="0"/>
          <a:ext cx="0" cy="0"/>
          <a:chOff x="0" y="0"/>
          <a:chExt cx="0" cy="0"/>
        </a:xfrm>
      </p:grpSpPr>
      <p:sp>
        <p:nvSpPr>
          <p:cNvPr name="TextBox 2" id="2"/>
          <p:cNvSpPr txBox="true"/>
          <p:nvPr/>
        </p:nvSpPr>
        <p:spPr>
          <a:xfrm rot="0">
            <a:off x="1120940" y="828142"/>
            <a:ext cx="16055835" cy="609600"/>
          </a:xfrm>
          <a:prstGeom prst="rect">
            <a:avLst/>
          </a:prstGeom>
        </p:spPr>
        <p:txBody>
          <a:bodyPr anchor="t" rtlCol="false" tIns="0" lIns="0" bIns="0" rIns="0">
            <a:spAutoFit/>
          </a:bodyPr>
          <a:lstStyle/>
          <a:p>
            <a:pPr algn="l">
              <a:lnSpc>
                <a:spcPts val="4863"/>
              </a:lnSpc>
            </a:pPr>
            <a:r>
              <a:rPr lang="en-US" b="true" sz="4053">
                <a:solidFill>
                  <a:srgbClr val="000000"/>
                </a:solidFill>
                <a:latin typeface="Lora Bold"/>
                <a:ea typeface="Lora Bold"/>
                <a:cs typeface="Lora Bold"/>
                <a:sym typeface="Lora Bold"/>
              </a:rPr>
              <a:t>Method 2: Time-Series – Data Preparation and Implementation</a:t>
            </a:r>
          </a:p>
        </p:txBody>
      </p:sp>
      <p:sp>
        <p:nvSpPr>
          <p:cNvPr name="TextBox 3" id="3"/>
          <p:cNvSpPr txBox="true"/>
          <p:nvPr/>
        </p:nvSpPr>
        <p:spPr>
          <a:xfrm rot="0">
            <a:off x="16673322" y="9173994"/>
            <a:ext cx="777992" cy="342900"/>
          </a:xfrm>
          <a:prstGeom prst="rect">
            <a:avLst/>
          </a:prstGeom>
        </p:spPr>
        <p:txBody>
          <a:bodyPr anchor="t" rtlCol="false" tIns="0" lIns="0" bIns="0" rIns="0">
            <a:spAutoFit/>
          </a:bodyPr>
          <a:lstStyle/>
          <a:p>
            <a:pPr algn="l">
              <a:lnSpc>
                <a:spcPts val="2702"/>
              </a:lnSpc>
            </a:pPr>
            <a:r>
              <a:rPr lang="en-US" sz="2251">
                <a:solidFill>
                  <a:srgbClr val="000000"/>
                </a:solidFill>
                <a:latin typeface="Lora"/>
                <a:ea typeface="Lora"/>
                <a:cs typeface="Lora"/>
                <a:sym typeface="Lora"/>
              </a:rPr>
              <a:t>12</a:t>
            </a:r>
          </a:p>
        </p:txBody>
      </p:sp>
      <p:sp>
        <p:nvSpPr>
          <p:cNvPr name="TextBox 4" id="4"/>
          <p:cNvSpPr txBox="true"/>
          <p:nvPr/>
        </p:nvSpPr>
        <p:spPr>
          <a:xfrm rot="0">
            <a:off x="1120940" y="2057400"/>
            <a:ext cx="8876757" cy="7200900"/>
          </a:xfrm>
          <a:prstGeom prst="rect">
            <a:avLst/>
          </a:prstGeom>
        </p:spPr>
        <p:txBody>
          <a:bodyPr anchor="t" rtlCol="false" tIns="0" lIns="0" bIns="0" rIns="0">
            <a:spAutoFit/>
          </a:bodyPr>
          <a:lstStyle/>
          <a:p>
            <a:pPr algn="l">
              <a:lnSpc>
                <a:spcPts val="2702"/>
              </a:lnSpc>
            </a:pPr>
            <a:r>
              <a:rPr lang="en-US" b="true" sz="2251">
                <a:solidFill>
                  <a:srgbClr val="000000"/>
                </a:solidFill>
                <a:latin typeface="Lora Bold"/>
                <a:ea typeface="Lora Bold"/>
                <a:cs typeface="Lora Bold"/>
                <a:sym typeface="Lora Bold"/>
              </a:rPr>
              <a:t>Input: </a:t>
            </a:r>
            <a:r>
              <a:rPr lang="en-US" sz="2251">
                <a:solidFill>
                  <a:srgbClr val="000000"/>
                </a:solidFill>
                <a:latin typeface="Lora"/>
                <a:ea typeface="Lora"/>
                <a:cs typeface="Lora"/>
                <a:sym typeface="Lora"/>
              </a:rPr>
              <a:t>app_reviews_tagged.csv, using review_date.</a:t>
            </a:r>
          </a:p>
          <a:p>
            <a:pPr algn="l">
              <a:lnSpc>
                <a:spcPts val="2702"/>
              </a:lnSpc>
            </a:pPr>
          </a:p>
          <a:p>
            <a:pPr algn="l">
              <a:lnSpc>
                <a:spcPts val="2702"/>
              </a:lnSpc>
            </a:pPr>
            <a:r>
              <a:rPr lang="en-US" b="true" sz="2251">
                <a:solidFill>
                  <a:srgbClr val="000000"/>
                </a:solidFill>
                <a:latin typeface="Lora Bold"/>
                <a:ea typeface="Lora Bold"/>
                <a:cs typeface="Lora Bold"/>
                <a:sym typeface="Lora Bold"/>
              </a:rPr>
              <a:t>Weekly aggregation: </a:t>
            </a:r>
            <a:r>
              <a:rPr lang="en-US" sz="2251">
                <a:solidFill>
                  <a:srgbClr val="000000"/>
                </a:solidFill>
                <a:latin typeface="Lora"/>
                <a:ea typeface="Lora"/>
                <a:cs typeface="Lora"/>
                <a:sym typeface="Lora"/>
              </a:rPr>
              <a:t>Monday to Sunday weeks, per app and pooled: review count, average rating, share of 1-2 star reviews, negative sentiment share, issue rates. Empty weeks kept as 0, not filled in.</a:t>
            </a:r>
          </a:p>
          <a:p>
            <a:pPr algn="l">
              <a:lnSpc>
                <a:spcPts val="2702"/>
              </a:lnSpc>
            </a:pPr>
          </a:p>
          <a:p>
            <a:pPr algn="l">
              <a:lnSpc>
                <a:spcPts val="2702"/>
              </a:lnSpc>
            </a:pPr>
            <a:r>
              <a:rPr lang="en-US" b="true" sz="2251">
                <a:solidFill>
                  <a:srgbClr val="000000"/>
                </a:solidFill>
                <a:latin typeface="Lora Bold"/>
                <a:ea typeface="Lora Bold"/>
                <a:cs typeface="Lora Bold"/>
                <a:sym typeface="Lora Bold"/>
              </a:rPr>
              <a:t>Modelling window: </a:t>
            </a:r>
            <a:r>
              <a:rPr lang="en-US" sz="2251">
                <a:solidFill>
                  <a:srgbClr val="000000"/>
                </a:solidFill>
                <a:latin typeface="Lora"/>
                <a:ea typeface="Lora"/>
                <a:cs typeface="Lora"/>
                <a:sym typeface="Lora"/>
              </a:rPr>
              <a:t>20 Apr to 13 Sep 2026: the 21 complete weeks where every app has at least 30 reviews (12,428 reviews, 82.9% of the data).</a:t>
            </a:r>
          </a:p>
          <a:p>
            <a:pPr algn="l">
              <a:lnSpc>
                <a:spcPts val="2702"/>
              </a:lnSpc>
            </a:pPr>
          </a:p>
          <a:p>
            <a:pPr algn="l">
              <a:lnSpc>
                <a:spcPts val="2702"/>
              </a:lnSpc>
            </a:pPr>
            <a:r>
              <a:rPr lang="en-US" b="true" sz="2251">
                <a:solidFill>
                  <a:srgbClr val="000000"/>
                </a:solidFill>
                <a:latin typeface="Lora Bold"/>
                <a:ea typeface="Lora Bold"/>
                <a:cs typeface="Lora Bold"/>
                <a:sym typeface="Lora Bold"/>
              </a:rPr>
              <a:t>Models: </a:t>
            </a:r>
            <a:r>
              <a:rPr lang="en-US" sz="2251">
                <a:solidFill>
                  <a:srgbClr val="000000"/>
                </a:solidFill>
                <a:latin typeface="Lora"/>
                <a:ea typeface="Lora"/>
                <a:cs typeface="Lora"/>
                <a:sym typeface="Lora"/>
              </a:rPr>
              <a:t>Naive, mean of all history, level-shift mean, 4-week moving average, simple exponential smoothing (SES).</a:t>
            </a:r>
          </a:p>
          <a:p>
            <a:pPr algn="l">
              <a:lnSpc>
                <a:spcPts val="2702"/>
              </a:lnSpc>
            </a:pPr>
          </a:p>
          <a:p>
            <a:pPr algn="l">
              <a:lnSpc>
                <a:spcPts val="2702"/>
              </a:lnSpc>
            </a:pPr>
            <a:r>
              <a:rPr lang="en-US" b="true" sz="2251">
                <a:solidFill>
                  <a:srgbClr val="000000"/>
                </a:solidFill>
                <a:latin typeface="Lora Bold"/>
                <a:ea typeface="Lora Bold"/>
                <a:cs typeface="Lora Bold"/>
                <a:sym typeface="Lora Bold"/>
              </a:rPr>
              <a:t>Why simple models: </a:t>
            </a:r>
            <a:r>
              <a:rPr lang="en-US" sz="2251">
                <a:solidFill>
                  <a:srgbClr val="000000"/>
                </a:solidFill>
                <a:latin typeface="Lora"/>
                <a:ea typeface="Lora"/>
                <a:cs typeface="Lora"/>
                <a:sym typeface="Lora"/>
              </a:rPr>
              <a:t>21 weeks is too short for seasonal or ARIMA models, and the level changes suddenly in July.</a:t>
            </a:r>
          </a:p>
          <a:p>
            <a:pPr algn="l">
              <a:lnSpc>
                <a:spcPts val="2702"/>
              </a:lnSpc>
            </a:pPr>
          </a:p>
          <a:p>
            <a:pPr algn="l">
              <a:lnSpc>
                <a:spcPts val="2702"/>
              </a:lnSpc>
            </a:pPr>
            <a:r>
              <a:rPr lang="en-US" b="true" sz="2251">
                <a:solidFill>
                  <a:srgbClr val="000000"/>
                </a:solidFill>
                <a:latin typeface="Lora Bold"/>
                <a:ea typeface="Lora Bold"/>
                <a:cs typeface="Lora Bold"/>
                <a:sym typeface="Lora Bold"/>
              </a:rPr>
              <a:t>Test setup: </a:t>
            </a:r>
            <a:r>
              <a:rPr lang="en-US" sz="2251">
                <a:solidFill>
                  <a:srgbClr val="000000"/>
                </a:solidFill>
                <a:latin typeface="Lora"/>
                <a:ea typeface="Lora"/>
                <a:cs typeface="Lora"/>
                <a:sym typeface="Lora"/>
              </a:rPr>
              <a:t>Last 6 weeks held out. Each test week forecast 1 to 4 weeks ahead from earlier weeks only, so there is no leakage. Review volume is not forecast because each app was capped at 3,000 reviews.</a:t>
            </a:r>
          </a:p>
        </p:txBody>
      </p:sp>
      <p:grpSp>
        <p:nvGrpSpPr>
          <p:cNvPr name="Group 5" id="5"/>
          <p:cNvGrpSpPr/>
          <p:nvPr/>
        </p:nvGrpSpPr>
        <p:grpSpPr>
          <a:xfrm rot="0">
            <a:off x="10356523" y="2633977"/>
            <a:ext cx="6877660" cy="2556281"/>
            <a:chOff x="0" y="0"/>
            <a:chExt cx="9170213" cy="3408375"/>
          </a:xfrm>
        </p:grpSpPr>
        <p:sp>
          <p:nvSpPr>
            <p:cNvPr name="Freeform 6" id="6" descr="ts_02_weekly_failure_trend.png"/>
            <p:cNvSpPr/>
            <p:nvPr/>
          </p:nvSpPr>
          <p:spPr>
            <a:xfrm flipH="false" flipV="false" rot="0">
              <a:off x="0" y="0"/>
              <a:ext cx="9170162" cy="3408426"/>
            </a:xfrm>
            <a:custGeom>
              <a:avLst/>
              <a:gdLst/>
              <a:ahLst/>
              <a:cxnLst/>
              <a:rect r="r" b="b" t="t" l="l"/>
              <a:pathLst>
                <a:path h="3408426" w="9170162">
                  <a:moveTo>
                    <a:pt x="0" y="0"/>
                  </a:moveTo>
                  <a:lnTo>
                    <a:pt x="9170162" y="0"/>
                  </a:lnTo>
                  <a:lnTo>
                    <a:pt x="9170162" y="3408426"/>
                  </a:lnTo>
                  <a:lnTo>
                    <a:pt x="0" y="3408426"/>
                  </a:lnTo>
                  <a:lnTo>
                    <a:pt x="0" y="0"/>
                  </a:lnTo>
                  <a:close/>
                </a:path>
              </a:pathLst>
            </a:custGeom>
            <a:blipFill>
              <a:blip r:embed="rId2"/>
              <a:stretch>
                <a:fillRect l="-176" t="0" r="-177" b="1"/>
              </a:stretch>
            </a:blipFill>
          </p:spPr>
        </p:sp>
      </p:grpSp>
      <p:grpSp>
        <p:nvGrpSpPr>
          <p:cNvPr name="Group 7" id="7"/>
          <p:cNvGrpSpPr/>
          <p:nvPr/>
        </p:nvGrpSpPr>
        <p:grpSpPr>
          <a:xfrm rot="0">
            <a:off x="10356523" y="5859751"/>
            <a:ext cx="6877660" cy="2556281"/>
            <a:chOff x="0" y="0"/>
            <a:chExt cx="9170213" cy="3408375"/>
          </a:xfrm>
        </p:grpSpPr>
        <p:sp>
          <p:nvSpPr>
            <p:cNvPr name="Freeform 8" id="8" descr="ts_01_weekly_volume.png"/>
            <p:cNvSpPr/>
            <p:nvPr/>
          </p:nvSpPr>
          <p:spPr>
            <a:xfrm flipH="false" flipV="false" rot="0">
              <a:off x="0" y="0"/>
              <a:ext cx="9170162" cy="3408426"/>
            </a:xfrm>
            <a:custGeom>
              <a:avLst/>
              <a:gdLst/>
              <a:ahLst/>
              <a:cxnLst/>
              <a:rect r="r" b="b" t="t" l="l"/>
              <a:pathLst>
                <a:path h="3408426" w="9170162">
                  <a:moveTo>
                    <a:pt x="0" y="0"/>
                  </a:moveTo>
                  <a:lnTo>
                    <a:pt x="9170162" y="0"/>
                  </a:lnTo>
                  <a:lnTo>
                    <a:pt x="9170162" y="3408426"/>
                  </a:lnTo>
                  <a:lnTo>
                    <a:pt x="0" y="3408426"/>
                  </a:lnTo>
                  <a:lnTo>
                    <a:pt x="0" y="0"/>
                  </a:lnTo>
                  <a:close/>
                </a:path>
              </a:pathLst>
            </a:custGeom>
            <a:blipFill>
              <a:blip r:embed="rId3"/>
              <a:stretch>
                <a:fillRect l="-176" t="0" r="-177" b="1"/>
              </a:stretch>
            </a:blip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7FCFA"/>
        </a:solidFill>
      </p:bgPr>
    </p:bg>
    <p:spTree>
      <p:nvGrpSpPr>
        <p:cNvPr id="1" name=""/>
        <p:cNvGrpSpPr/>
        <p:nvPr/>
      </p:nvGrpSpPr>
      <p:grpSpPr>
        <a:xfrm>
          <a:off x="0" y="0"/>
          <a:ext cx="0" cy="0"/>
          <a:chOff x="0" y="0"/>
          <a:chExt cx="0" cy="0"/>
        </a:xfrm>
      </p:grpSpPr>
      <p:sp>
        <p:nvSpPr>
          <p:cNvPr name="TextBox 2" id="2"/>
          <p:cNvSpPr txBox="true"/>
          <p:nvPr/>
        </p:nvSpPr>
        <p:spPr>
          <a:xfrm rot="0">
            <a:off x="16673322" y="9173994"/>
            <a:ext cx="777992" cy="342900"/>
          </a:xfrm>
          <a:prstGeom prst="rect">
            <a:avLst/>
          </a:prstGeom>
        </p:spPr>
        <p:txBody>
          <a:bodyPr anchor="t" rtlCol="false" tIns="0" lIns="0" bIns="0" rIns="0">
            <a:spAutoFit/>
          </a:bodyPr>
          <a:lstStyle/>
          <a:p>
            <a:pPr algn="l">
              <a:lnSpc>
                <a:spcPts val="2702"/>
              </a:lnSpc>
            </a:pPr>
            <a:r>
              <a:rPr lang="en-US" sz="2251">
                <a:solidFill>
                  <a:srgbClr val="000000"/>
                </a:solidFill>
                <a:latin typeface="Lora"/>
                <a:ea typeface="Lora"/>
                <a:cs typeface="Lora"/>
                <a:sym typeface="Lora"/>
              </a:rPr>
              <a:t>13</a:t>
            </a:r>
          </a:p>
        </p:txBody>
      </p:sp>
      <p:grpSp>
        <p:nvGrpSpPr>
          <p:cNvPr name="Group 3" id="3"/>
          <p:cNvGrpSpPr/>
          <p:nvPr/>
        </p:nvGrpSpPr>
        <p:grpSpPr>
          <a:xfrm rot="0">
            <a:off x="1420435" y="1156087"/>
            <a:ext cx="8524865" cy="4681385"/>
            <a:chOff x="0" y="0"/>
            <a:chExt cx="11366487" cy="6241847"/>
          </a:xfrm>
        </p:grpSpPr>
        <p:sp>
          <p:nvSpPr>
            <p:cNvPr name="Freeform 4" id="4" descr="ts_07_forecast_low_star_by_app.png"/>
            <p:cNvSpPr/>
            <p:nvPr/>
          </p:nvSpPr>
          <p:spPr>
            <a:xfrm flipH="false" flipV="false" rot="0">
              <a:off x="0" y="0"/>
              <a:ext cx="11366500" cy="6241796"/>
            </a:xfrm>
            <a:custGeom>
              <a:avLst/>
              <a:gdLst/>
              <a:ahLst/>
              <a:cxnLst/>
              <a:rect r="r" b="b" t="t" l="l"/>
              <a:pathLst>
                <a:path h="6241796" w="11366500">
                  <a:moveTo>
                    <a:pt x="0" y="0"/>
                  </a:moveTo>
                  <a:lnTo>
                    <a:pt x="11366500" y="0"/>
                  </a:lnTo>
                  <a:lnTo>
                    <a:pt x="11366500" y="6241796"/>
                  </a:lnTo>
                  <a:lnTo>
                    <a:pt x="0" y="6241796"/>
                  </a:lnTo>
                  <a:lnTo>
                    <a:pt x="0" y="0"/>
                  </a:lnTo>
                  <a:close/>
                </a:path>
              </a:pathLst>
            </a:custGeom>
            <a:blipFill>
              <a:blip r:embed="rId2"/>
              <a:stretch>
                <a:fillRect l="-69" t="0" r="-68" b="0"/>
              </a:stretch>
            </a:blipFill>
          </p:spPr>
        </p:sp>
      </p:grpSp>
      <p:graphicFrame>
        <p:nvGraphicFramePr>
          <p:cNvPr name="Table 5" id="5"/>
          <p:cNvGraphicFramePr>
            <a:graphicFrameLocks noGrp="true"/>
          </p:cNvGraphicFramePr>
          <p:nvPr/>
        </p:nvGraphicFramePr>
        <p:xfrm>
          <a:off x="10662998" y="1695147"/>
          <a:ext cx="6539259" cy="3938588"/>
        </p:xfrm>
        <a:graphic>
          <a:graphicData uri="http://schemas.openxmlformats.org/drawingml/2006/table">
            <a:tbl>
              <a:tblPr/>
              <a:tblGrid>
                <a:gridCol w="1634815"/>
                <a:gridCol w="1131795"/>
                <a:gridCol w="1509059"/>
                <a:gridCol w="1257550"/>
                <a:gridCol w="1006040"/>
              </a:tblGrid>
              <a:tr h="562655">
                <a:tc>
                  <a:txBody>
                    <a:bodyPr anchor="t" rtlCol="false"/>
                    <a:lstStyle/>
                    <a:p>
                      <a:pPr algn="just">
                        <a:lnSpc>
                          <a:spcPts val="2251"/>
                        </a:lnSpc>
                        <a:defRPr/>
                      </a:pPr>
                      <a:r>
                        <a:rPr lang="en-US" b="true" sz="1876">
                          <a:solidFill>
                            <a:srgbClr val="000000"/>
                          </a:solidFill>
                          <a:latin typeface="Lora Bold"/>
                          <a:ea typeface="Lora Bold"/>
                          <a:cs typeface="Lora Bold"/>
                          <a:sym typeface="Lora Bold"/>
                        </a:rPr>
                        <a:t>Series</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251"/>
                        </a:lnSpc>
                        <a:defRPr/>
                      </a:pPr>
                      <a:r>
                        <a:rPr lang="en-US" b="true" sz="1876">
                          <a:solidFill>
                            <a:srgbClr val="000000"/>
                          </a:solidFill>
                          <a:latin typeface="Lora Bold"/>
                          <a:ea typeface="Lora Bold"/>
                          <a:cs typeface="Lora Bold"/>
                          <a:sym typeface="Lora Bold"/>
                        </a:rPr>
                        <a:t>Naive</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251"/>
                        </a:lnSpc>
                        <a:defRPr/>
                      </a:pPr>
                      <a:r>
                        <a:rPr lang="en-US" b="true" sz="1876">
                          <a:solidFill>
                            <a:srgbClr val="000000"/>
                          </a:solidFill>
                          <a:latin typeface="Lora Bold"/>
                          <a:ea typeface="Lora Bold"/>
                          <a:cs typeface="Lora Bold"/>
                          <a:sym typeface="Lora Bold"/>
                        </a:rPr>
                        <a:t>Level-shift</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251"/>
                        </a:lnSpc>
                        <a:defRPr/>
                      </a:pPr>
                      <a:r>
                        <a:rPr lang="en-US" b="true" sz="1876">
                          <a:solidFill>
                            <a:srgbClr val="000000"/>
                          </a:solidFill>
                          <a:latin typeface="Lora Bold"/>
                          <a:ea typeface="Lora Bold"/>
                          <a:cs typeface="Lora Bold"/>
                          <a:sym typeface="Lora Bold"/>
                        </a:rPr>
                        <a:t>4-wk avg</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251"/>
                        </a:lnSpc>
                        <a:defRPr/>
                      </a:pPr>
                      <a:r>
                        <a:rPr lang="en-US" b="true" sz="1876">
                          <a:solidFill>
                            <a:srgbClr val="000000"/>
                          </a:solidFill>
                          <a:latin typeface="Lora Bold"/>
                          <a:ea typeface="Lora Bold"/>
                          <a:cs typeface="Lora Bold"/>
                          <a:sym typeface="Lora Bold"/>
                        </a:rPr>
                        <a:t>SES</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562655">
                <a:tc>
                  <a:txBody>
                    <a:bodyPr anchor="t" rtlCol="false"/>
                    <a:lstStyle/>
                    <a:p>
                      <a:pPr algn="just">
                        <a:lnSpc>
                          <a:spcPts val="2251"/>
                        </a:lnSpc>
                        <a:defRPr/>
                      </a:pPr>
                      <a:r>
                        <a:rPr lang="en-US" sz="1876">
                          <a:solidFill>
                            <a:srgbClr val="000000"/>
                          </a:solidFill>
                          <a:latin typeface="Lora"/>
                          <a:ea typeface="Lora"/>
                          <a:cs typeface="Lora"/>
                          <a:sym typeface="Lora"/>
                        </a:rPr>
                        <a:t>Swiggy</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251"/>
                        </a:lnSpc>
                        <a:defRPr/>
                      </a:pPr>
                      <a:r>
                        <a:rPr lang="en-US" sz="1876">
                          <a:solidFill>
                            <a:srgbClr val="000000"/>
                          </a:solidFill>
                          <a:latin typeface="Lora"/>
                          <a:ea typeface="Lora"/>
                          <a:cs typeface="Lora"/>
                          <a:sym typeface="Lora"/>
                        </a:rPr>
                        <a:t>1.31</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251"/>
                        </a:lnSpc>
                        <a:defRPr/>
                      </a:pPr>
                      <a:r>
                        <a:rPr lang="en-US" sz="1876">
                          <a:solidFill>
                            <a:srgbClr val="000000"/>
                          </a:solidFill>
                          <a:latin typeface="Lora"/>
                          <a:ea typeface="Lora"/>
                          <a:cs typeface="Lora"/>
                          <a:sym typeface="Lora"/>
                        </a:rPr>
                        <a:t>0.85</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251"/>
                        </a:lnSpc>
                        <a:defRPr/>
                      </a:pPr>
                      <a:r>
                        <a:rPr lang="en-US" sz="1876">
                          <a:solidFill>
                            <a:srgbClr val="000000"/>
                          </a:solidFill>
                          <a:latin typeface="Lora"/>
                          <a:ea typeface="Lora"/>
                          <a:cs typeface="Lora"/>
                          <a:sym typeface="Lora"/>
                        </a:rPr>
                        <a:t>1.03</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251"/>
                        </a:lnSpc>
                        <a:defRPr/>
                      </a:pPr>
                      <a:r>
                        <a:rPr lang="en-US" sz="1876">
                          <a:solidFill>
                            <a:srgbClr val="000000"/>
                          </a:solidFill>
                          <a:latin typeface="Lora"/>
                          <a:ea typeface="Lora"/>
                          <a:cs typeface="Lora"/>
                          <a:sym typeface="Lora"/>
                        </a:rPr>
                        <a:t>1.16</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562655">
                <a:tc>
                  <a:txBody>
                    <a:bodyPr anchor="t" rtlCol="false"/>
                    <a:lstStyle/>
                    <a:p>
                      <a:pPr algn="just">
                        <a:lnSpc>
                          <a:spcPts val="2251"/>
                        </a:lnSpc>
                        <a:defRPr/>
                      </a:pPr>
                      <a:r>
                        <a:rPr lang="en-US" sz="1876">
                          <a:solidFill>
                            <a:srgbClr val="000000"/>
                          </a:solidFill>
                          <a:latin typeface="Lora"/>
                          <a:ea typeface="Lora"/>
                          <a:cs typeface="Lora"/>
                          <a:sym typeface="Lora"/>
                        </a:rPr>
                        <a:t>Zomato</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251"/>
                        </a:lnSpc>
                        <a:defRPr/>
                      </a:pPr>
                      <a:r>
                        <a:rPr lang="en-US" sz="1876">
                          <a:solidFill>
                            <a:srgbClr val="000000"/>
                          </a:solidFill>
                          <a:latin typeface="Lora"/>
                          <a:ea typeface="Lora"/>
                          <a:cs typeface="Lora"/>
                          <a:sym typeface="Lora"/>
                        </a:rPr>
                        <a:t>2.06</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251"/>
                        </a:lnSpc>
                        <a:defRPr/>
                      </a:pPr>
                      <a:r>
                        <a:rPr lang="en-US" sz="1876">
                          <a:solidFill>
                            <a:srgbClr val="000000"/>
                          </a:solidFill>
                          <a:latin typeface="Lora"/>
                          <a:ea typeface="Lora"/>
                          <a:cs typeface="Lora"/>
                          <a:sym typeface="Lora"/>
                        </a:rPr>
                        <a:t>1.21</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251"/>
                        </a:lnSpc>
                        <a:defRPr/>
                      </a:pPr>
                      <a:r>
                        <a:rPr lang="en-US" sz="1876">
                          <a:solidFill>
                            <a:srgbClr val="000000"/>
                          </a:solidFill>
                          <a:latin typeface="Lora"/>
                          <a:ea typeface="Lora"/>
                          <a:cs typeface="Lora"/>
                          <a:sym typeface="Lora"/>
                        </a:rPr>
                        <a:t>1.18</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251"/>
                        </a:lnSpc>
                        <a:defRPr/>
                      </a:pPr>
                      <a:r>
                        <a:rPr lang="en-US" sz="1876">
                          <a:solidFill>
                            <a:srgbClr val="000000"/>
                          </a:solidFill>
                          <a:latin typeface="Lora"/>
                          <a:ea typeface="Lora"/>
                          <a:cs typeface="Lora"/>
                          <a:sym typeface="Lora"/>
                        </a:rPr>
                        <a:t>1.23</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562655">
                <a:tc>
                  <a:txBody>
                    <a:bodyPr anchor="t" rtlCol="false"/>
                    <a:lstStyle/>
                    <a:p>
                      <a:pPr algn="just">
                        <a:lnSpc>
                          <a:spcPts val="2251"/>
                        </a:lnSpc>
                        <a:defRPr/>
                      </a:pPr>
                      <a:r>
                        <a:rPr lang="en-US" sz="1876">
                          <a:solidFill>
                            <a:srgbClr val="000000"/>
                          </a:solidFill>
                          <a:latin typeface="Lora"/>
                          <a:ea typeface="Lora"/>
                          <a:cs typeface="Lora"/>
                          <a:sym typeface="Lora"/>
                        </a:rPr>
                        <a:t>Myntra</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251"/>
                        </a:lnSpc>
                        <a:defRPr/>
                      </a:pPr>
                      <a:r>
                        <a:rPr lang="en-US" sz="1876">
                          <a:solidFill>
                            <a:srgbClr val="000000"/>
                          </a:solidFill>
                          <a:latin typeface="Lora"/>
                          <a:ea typeface="Lora"/>
                          <a:cs typeface="Lora"/>
                          <a:sym typeface="Lora"/>
                        </a:rPr>
                        <a:t>7.94</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251"/>
                        </a:lnSpc>
                        <a:defRPr/>
                      </a:pPr>
                      <a:r>
                        <a:rPr lang="en-US" sz="1876">
                          <a:solidFill>
                            <a:srgbClr val="000000"/>
                          </a:solidFill>
                          <a:latin typeface="Lora"/>
                          <a:ea typeface="Lora"/>
                          <a:cs typeface="Lora"/>
                          <a:sym typeface="Lora"/>
                        </a:rPr>
                        <a:t>5.73</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251"/>
                        </a:lnSpc>
                        <a:defRPr/>
                      </a:pPr>
                      <a:r>
                        <a:rPr lang="en-US" sz="1876">
                          <a:solidFill>
                            <a:srgbClr val="000000"/>
                          </a:solidFill>
                          <a:latin typeface="Lora"/>
                          <a:ea typeface="Lora"/>
                          <a:cs typeface="Lora"/>
                          <a:sym typeface="Lora"/>
                        </a:rPr>
                        <a:t>6.65</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251"/>
                        </a:lnSpc>
                        <a:defRPr/>
                      </a:pPr>
                      <a:r>
                        <a:rPr lang="en-US" sz="1876">
                          <a:solidFill>
                            <a:srgbClr val="000000"/>
                          </a:solidFill>
                          <a:latin typeface="Lora"/>
                          <a:ea typeface="Lora"/>
                          <a:cs typeface="Lora"/>
                          <a:sym typeface="Lora"/>
                        </a:rPr>
                        <a:t>7.06</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562655">
                <a:tc>
                  <a:txBody>
                    <a:bodyPr anchor="t" rtlCol="false"/>
                    <a:lstStyle/>
                    <a:p>
                      <a:pPr algn="just">
                        <a:lnSpc>
                          <a:spcPts val="2251"/>
                        </a:lnSpc>
                        <a:defRPr/>
                      </a:pPr>
                      <a:r>
                        <a:rPr lang="en-US" sz="1876">
                          <a:solidFill>
                            <a:srgbClr val="000000"/>
                          </a:solidFill>
                          <a:latin typeface="Lora"/>
                          <a:ea typeface="Lora"/>
                          <a:cs typeface="Lora"/>
                          <a:sym typeface="Lora"/>
                        </a:rPr>
                        <a:t>Paytm</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251"/>
                        </a:lnSpc>
                        <a:defRPr/>
                      </a:pPr>
                      <a:r>
                        <a:rPr lang="en-US" sz="1876">
                          <a:solidFill>
                            <a:srgbClr val="000000"/>
                          </a:solidFill>
                          <a:latin typeface="Lora"/>
                          <a:ea typeface="Lora"/>
                          <a:cs typeface="Lora"/>
                          <a:sym typeface="Lora"/>
                        </a:rPr>
                        <a:t>5.04</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251"/>
                        </a:lnSpc>
                        <a:defRPr/>
                      </a:pPr>
                      <a:r>
                        <a:rPr lang="en-US" sz="1876">
                          <a:solidFill>
                            <a:srgbClr val="000000"/>
                          </a:solidFill>
                          <a:latin typeface="Lora"/>
                          <a:ea typeface="Lora"/>
                          <a:cs typeface="Lora"/>
                          <a:sym typeface="Lora"/>
                        </a:rPr>
                        <a:t>6.13</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251"/>
                        </a:lnSpc>
                        <a:defRPr/>
                      </a:pPr>
                      <a:r>
                        <a:rPr lang="en-US" sz="1876">
                          <a:solidFill>
                            <a:srgbClr val="000000"/>
                          </a:solidFill>
                          <a:latin typeface="Lora"/>
                          <a:ea typeface="Lora"/>
                          <a:cs typeface="Lora"/>
                          <a:sym typeface="Lora"/>
                        </a:rPr>
                        <a:t>5.35</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251"/>
                        </a:lnSpc>
                        <a:defRPr/>
                      </a:pPr>
                      <a:r>
                        <a:rPr lang="en-US" sz="1876">
                          <a:solidFill>
                            <a:srgbClr val="000000"/>
                          </a:solidFill>
                          <a:latin typeface="Lora"/>
                          <a:ea typeface="Lora"/>
                          <a:cs typeface="Lora"/>
                          <a:sym typeface="Lora"/>
                        </a:rPr>
                        <a:t>4.77</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562655">
                <a:tc>
                  <a:txBody>
                    <a:bodyPr anchor="t" rtlCol="false"/>
                    <a:lstStyle/>
                    <a:p>
                      <a:pPr algn="just">
                        <a:lnSpc>
                          <a:spcPts val="2251"/>
                        </a:lnSpc>
                        <a:defRPr/>
                      </a:pPr>
                      <a:r>
                        <a:rPr lang="en-US" sz="1876">
                          <a:solidFill>
                            <a:srgbClr val="000000"/>
                          </a:solidFill>
                          <a:latin typeface="Lora"/>
                          <a:ea typeface="Lora"/>
                          <a:cs typeface="Lora"/>
                          <a:sym typeface="Lora"/>
                        </a:rPr>
                        <a:t>PhonePe</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251"/>
                        </a:lnSpc>
                        <a:defRPr/>
                      </a:pPr>
                      <a:r>
                        <a:rPr lang="en-US" sz="1876">
                          <a:solidFill>
                            <a:srgbClr val="000000"/>
                          </a:solidFill>
                          <a:latin typeface="Lora"/>
                          <a:ea typeface="Lora"/>
                          <a:cs typeface="Lora"/>
                          <a:sym typeface="Lora"/>
                        </a:rPr>
                        <a:t>5.04</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251"/>
                        </a:lnSpc>
                        <a:defRPr/>
                      </a:pPr>
                      <a:r>
                        <a:rPr lang="en-US" sz="1876">
                          <a:solidFill>
                            <a:srgbClr val="000000"/>
                          </a:solidFill>
                          <a:latin typeface="Lora"/>
                          <a:ea typeface="Lora"/>
                          <a:cs typeface="Lora"/>
                          <a:sym typeface="Lora"/>
                        </a:rPr>
                        <a:t>5.97</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251"/>
                        </a:lnSpc>
                        <a:defRPr/>
                      </a:pPr>
                      <a:r>
                        <a:rPr lang="en-US" sz="1876">
                          <a:solidFill>
                            <a:srgbClr val="000000"/>
                          </a:solidFill>
                          <a:latin typeface="Lora"/>
                          <a:ea typeface="Lora"/>
                          <a:cs typeface="Lora"/>
                          <a:sym typeface="Lora"/>
                        </a:rPr>
                        <a:t>4.89</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251"/>
                        </a:lnSpc>
                        <a:defRPr/>
                      </a:pPr>
                      <a:r>
                        <a:rPr lang="en-US" sz="1876">
                          <a:solidFill>
                            <a:srgbClr val="000000"/>
                          </a:solidFill>
                          <a:latin typeface="Lora"/>
                          <a:ea typeface="Lora"/>
                          <a:cs typeface="Lora"/>
                          <a:sym typeface="Lora"/>
                        </a:rPr>
                        <a:t>5.34</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562655">
                <a:tc>
                  <a:txBody>
                    <a:bodyPr anchor="t" rtlCol="false"/>
                    <a:lstStyle/>
                    <a:p>
                      <a:pPr algn="just">
                        <a:lnSpc>
                          <a:spcPts val="2251"/>
                        </a:lnSpc>
                        <a:defRPr/>
                      </a:pPr>
                      <a:r>
                        <a:rPr lang="en-US" sz="1876">
                          <a:solidFill>
                            <a:srgbClr val="000000"/>
                          </a:solidFill>
                          <a:latin typeface="Lora"/>
                          <a:ea typeface="Lora"/>
                          <a:cs typeface="Lora"/>
                          <a:sym typeface="Lora"/>
                        </a:rPr>
                        <a:t>All apps</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251"/>
                        </a:lnSpc>
                        <a:defRPr/>
                      </a:pPr>
                      <a:r>
                        <a:rPr lang="en-US" sz="1876">
                          <a:solidFill>
                            <a:srgbClr val="000000"/>
                          </a:solidFill>
                          <a:latin typeface="Lora"/>
                          <a:ea typeface="Lora"/>
                          <a:cs typeface="Lora"/>
                          <a:sym typeface="Lora"/>
                        </a:rPr>
                        <a:t>2.65</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251"/>
                        </a:lnSpc>
                        <a:defRPr/>
                      </a:pPr>
                      <a:r>
                        <a:rPr lang="en-US" sz="1876">
                          <a:solidFill>
                            <a:srgbClr val="000000"/>
                          </a:solidFill>
                          <a:latin typeface="Lora"/>
                          <a:ea typeface="Lora"/>
                          <a:cs typeface="Lora"/>
                          <a:sym typeface="Lora"/>
                        </a:rPr>
                        <a:t>2.68</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251"/>
                        </a:lnSpc>
                        <a:defRPr/>
                      </a:pPr>
                      <a:r>
                        <a:rPr lang="en-US" sz="1876">
                          <a:solidFill>
                            <a:srgbClr val="000000"/>
                          </a:solidFill>
                          <a:latin typeface="Lora"/>
                          <a:ea typeface="Lora"/>
                          <a:cs typeface="Lora"/>
                          <a:sym typeface="Lora"/>
                        </a:rPr>
                        <a:t>2.75</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2251"/>
                        </a:lnSpc>
                        <a:defRPr/>
                      </a:pPr>
                      <a:r>
                        <a:rPr lang="en-US" sz="1876">
                          <a:solidFill>
                            <a:srgbClr val="000000"/>
                          </a:solidFill>
                          <a:latin typeface="Lora"/>
                          <a:ea typeface="Lora"/>
                          <a:cs typeface="Lora"/>
                          <a:sym typeface="Lora"/>
                        </a:rPr>
                        <a:t>3.05</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bl>
          </a:graphicData>
        </a:graphic>
      </p:graphicFrame>
      <p:sp>
        <p:nvSpPr>
          <p:cNvPr name="TextBox 6" id="6"/>
          <p:cNvSpPr txBox="true"/>
          <p:nvPr/>
        </p:nvSpPr>
        <p:spPr>
          <a:xfrm rot="0">
            <a:off x="11045371" y="1028700"/>
            <a:ext cx="6405944" cy="266700"/>
          </a:xfrm>
          <a:prstGeom prst="rect">
            <a:avLst/>
          </a:prstGeom>
        </p:spPr>
        <p:txBody>
          <a:bodyPr anchor="t" rtlCol="false" tIns="0" lIns="0" bIns="0" rIns="0">
            <a:spAutoFit/>
          </a:bodyPr>
          <a:lstStyle/>
          <a:p>
            <a:pPr algn="l">
              <a:lnSpc>
                <a:spcPts val="2161"/>
              </a:lnSpc>
            </a:pPr>
            <a:r>
              <a:rPr lang="en-US" sz="1801">
                <a:solidFill>
                  <a:srgbClr val="000000"/>
                </a:solidFill>
                <a:latin typeface="Lora"/>
                <a:ea typeface="Lora"/>
                <a:cs typeface="Lora"/>
                <a:sym typeface="Lora"/>
              </a:rPr>
              <a:t>Test error (MAE, points) for share of 1-2 star reviews</a:t>
            </a:r>
          </a:p>
        </p:txBody>
      </p:sp>
      <p:sp>
        <p:nvSpPr>
          <p:cNvPr name="TextBox 7" id="7"/>
          <p:cNvSpPr txBox="true"/>
          <p:nvPr/>
        </p:nvSpPr>
        <p:spPr>
          <a:xfrm rot="0">
            <a:off x="1175852" y="6830920"/>
            <a:ext cx="15891110" cy="2447925"/>
          </a:xfrm>
          <a:prstGeom prst="rect">
            <a:avLst/>
          </a:prstGeom>
        </p:spPr>
        <p:txBody>
          <a:bodyPr anchor="t" rtlCol="false" tIns="0" lIns="0" bIns="0" rIns="0">
            <a:spAutoFit/>
          </a:bodyPr>
          <a:lstStyle/>
          <a:p>
            <a:pPr algn="l">
              <a:lnSpc>
                <a:spcPts val="2431"/>
              </a:lnSpc>
            </a:pPr>
            <a:r>
              <a:rPr lang="en-US" b="true" sz="2026">
                <a:solidFill>
                  <a:srgbClr val="000000"/>
                </a:solidFill>
                <a:latin typeface="Lora Bold"/>
                <a:ea typeface="Lora Bold"/>
                <a:cs typeface="Lora Bold"/>
                <a:sym typeface="Lora Bold"/>
              </a:rPr>
              <a:t>Evaluation: </a:t>
            </a:r>
            <a:r>
              <a:rPr lang="en-US" sz="2026">
                <a:solidFill>
                  <a:srgbClr val="000000"/>
                </a:solidFill>
                <a:latin typeface="Lora"/>
                <a:ea typeface="Lora"/>
                <a:cs typeface="Lora"/>
                <a:sym typeface="Lora"/>
              </a:rPr>
              <a:t>SES beats the naive forecast in 19 of 24 series. Error is 1.2 to 7.1 points. The mean of all history is worst in 18 of 24 because it ignores the July change.</a:t>
            </a:r>
          </a:p>
          <a:p>
            <a:pPr algn="l">
              <a:lnSpc>
                <a:spcPts val="2431"/>
              </a:lnSpc>
            </a:pPr>
          </a:p>
          <a:p>
            <a:pPr algn="l">
              <a:lnSpc>
                <a:spcPts val="2431"/>
              </a:lnSpc>
            </a:pPr>
            <a:r>
              <a:rPr lang="en-US" b="true" sz="2026">
                <a:solidFill>
                  <a:srgbClr val="000000"/>
                </a:solidFill>
                <a:latin typeface="Lora Bold"/>
                <a:ea typeface="Lora Bold"/>
                <a:cs typeface="Lora Bold"/>
                <a:sym typeface="Lora Bold"/>
              </a:rPr>
              <a:t>Interpretation: </a:t>
            </a:r>
            <a:r>
              <a:rPr lang="en-US" sz="2026">
                <a:solidFill>
                  <a:srgbClr val="000000"/>
                </a:solidFill>
                <a:latin typeface="Lora"/>
                <a:ea typeface="Lora"/>
                <a:cs typeface="Lora"/>
                <a:sym typeface="Lora"/>
              </a:rPr>
              <a:t>The series steps down once in July (77.9% to 71.1% pooled) and is then flat; no app has a significant trend after that. Next 4 weeks: Swiggy 93%, Zomato 89%, Myntra 58%, Paytm 59%, PhonePe 38%.</a:t>
            </a:r>
          </a:p>
          <a:p>
            <a:pPr algn="l">
              <a:lnSpc>
                <a:spcPts val="2431"/>
              </a:lnSpc>
            </a:pPr>
          </a:p>
          <a:p>
            <a:pPr algn="l">
              <a:lnSpc>
                <a:spcPts val="2431"/>
              </a:lnSpc>
            </a:pPr>
            <a:r>
              <a:rPr lang="en-US" b="true" sz="2026">
                <a:solidFill>
                  <a:srgbClr val="000000"/>
                </a:solidFill>
                <a:latin typeface="Lora Bold"/>
                <a:ea typeface="Lora Bold"/>
                <a:cs typeface="Lora Bold"/>
                <a:sym typeface="Lora Bold"/>
              </a:rPr>
              <a:t>Limits: </a:t>
            </a:r>
            <a:r>
              <a:rPr lang="en-US" sz="2026">
                <a:solidFill>
                  <a:srgbClr val="000000"/>
                </a:solidFill>
                <a:latin typeface="Lora"/>
                <a:ea typeface="Lora"/>
                <a:cs typeface="Lora"/>
                <a:sym typeface="Lora"/>
              </a:rPr>
              <a:t>Only 21 weeks; the forecast is a level, not a trend. 1 of 523 app-issue-weeks was flagged as a spike, which is what chance alone would give.</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7FCFA"/>
        </a:solidFill>
      </p:bgPr>
    </p:bg>
    <p:spTree>
      <p:nvGrpSpPr>
        <p:cNvPr id="1" name=""/>
        <p:cNvGrpSpPr/>
        <p:nvPr/>
      </p:nvGrpSpPr>
      <p:grpSpPr>
        <a:xfrm>
          <a:off x="0" y="0"/>
          <a:ext cx="0" cy="0"/>
          <a:chOff x="0" y="0"/>
          <a:chExt cx="0" cy="0"/>
        </a:xfrm>
      </p:grpSpPr>
      <p:sp>
        <p:nvSpPr>
          <p:cNvPr name="TextBox 2" id="2"/>
          <p:cNvSpPr txBox="true"/>
          <p:nvPr/>
        </p:nvSpPr>
        <p:spPr>
          <a:xfrm rot="0">
            <a:off x="1120940" y="828142"/>
            <a:ext cx="16055835" cy="752475"/>
          </a:xfrm>
          <a:prstGeom prst="rect">
            <a:avLst/>
          </a:prstGeom>
        </p:spPr>
        <p:txBody>
          <a:bodyPr anchor="t" rtlCol="false" tIns="0" lIns="0" bIns="0" rIns="0">
            <a:spAutoFit/>
          </a:bodyPr>
          <a:lstStyle/>
          <a:p>
            <a:pPr algn="l">
              <a:lnSpc>
                <a:spcPts val="5944"/>
              </a:lnSpc>
            </a:pPr>
            <a:r>
              <a:rPr lang="en-US" b="true" sz="4953">
                <a:solidFill>
                  <a:srgbClr val="000000"/>
                </a:solidFill>
                <a:latin typeface="Lora Bold"/>
                <a:ea typeface="Lora Bold"/>
                <a:cs typeface="Lora Bold"/>
                <a:sym typeface="Lora Bold"/>
              </a:rPr>
              <a:t>Interactive Dashboard</a:t>
            </a:r>
          </a:p>
        </p:txBody>
      </p:sp>
      <p:sp>
        <p:nvSpPr>
          <p:cNvPr name="TextBox 3" id="3"/>
          <p:cNvSpPr txBox="true"/>
          <p:nvPr/>
        </p:nvSpPr>
        <p:spPr>
          <a:xfrm rot="0">
            <a:off x="16673322" y="9173994"/>
            <a:ext cx="777992" cy="342900"/>
          </a:xfrm>
          <a:prstGeom prst="rect">
            <a:avLst/>
          </a:prstGeom>
        </p:spPr>
        <p:txBody>
          <a:bodyPr anchor="t" rtlCol="false" tIns="0" lIns="0" bIns="0" rIns="0">
            <a:spAutoFit/>
          </a:bodyPr>
          <a:lstStyle/>
          <a:p>
            <a:pPr algn="l">
              <a:lnSpc>
                <a:spcPts val="2702"/>
              </a:lnSpc>
            </a:pPr>
            <a:r>
              <a:rPr lang="en-US" sz="2251">
                <a:solidFill>
                  <a:srgbClr val="000000"/>
                </a:solidFill>
                <a:latin typeface="Lora"/>
                <a:ea typeface="Lora"/>
                <a:cs typeface="Lora"/>
                <a:sym typeface="Lora"/>
              </a:rPr>
              <a:t>14</a:t>
            </a:r>
          </a:p>
        </p:txBody>
      </p:sp>
      <p:grpSp>
        <p:nvGrpSpPr>
          <p:cNvPr name="Group 4" id="4"/>
          <p:cNvGrpSpPr/>
          <p:nvPr/>
        </p:nvGrpSpPr>
        <p:grpSpPr>
          <a:xfrm rot="0">
            <a:off x="1077258" y="2189131"/>
            <a:ext cx="8250336" cy="5161817"/>
            <a:chOff x="0" y="0"/>
            <a:chExt cx="11000448" cy="6882422"/>
          </a:xfrm>
        </p:grpSpPr>
        <p:sp>
          <p:nvSpPr>
            <p:cNvPr name="Freeform 5" id="5" descr="dashboard_weekly_trends.png"/>
            <p:cNvSpPr/>
            <p:nvPr/>
          </p:nvSpPr>
          <p:spPr>
            <a:xfrm flipH="false" flipV="false" rot="0">
              <a:off x="0" y="0"/>
              <a:ext cx="11000486" cy="6882384"/>
            </a:xfrm>
            <a:custGeom>
              <a:avLst/>
              <a:gdLst/>
              <a:ahLst/>
              <a:cxnLst/>
              <a:rect r="r" b="b" t="t" l="l"/>
              <a:pathLst>
                <a:path h="6882384" w="11000486">
                  <a:moveTo>
                    <a:pt x="0" y="0"/>
                  </a:moveTo>
                  <a:lnTo>
                    <a:pt x="11000486" y="0"/>
                  </a:lnTo>
                  <a:lnTo>
                    <a:pt x="11000486" y="6882384"/>
                  </a:lnTo>
                  <a:lnTo>
                    <a:pt x="0" y="6882384"/>
                  </a:lnTo>
                  <a:lnTo>
                    <a:pt x="0" y="0"/>
                  </a:lnTo>
                  <a:close/>
                </a:path>
              </a:pathLst>
            </a:custGeom>
            <a:blipFill>
              <a:blip r:embed="rId2"/>
              <a:stretch>
                <a:fillRect l="-51" t="0" r="-51" b="0"/>
              </a:stretch>
            </a:blipFill>
          </p:spPr>
        </p:sp>
      </p:grpSp>
      <p:grpSp>
        <p:nvGrpSpPr>
          <p:cNvPr name="Group 6" id="6"/>
          <p:cNvGrpSpPr/>
          <p:nvPr/>
        </p:nvGrpSpPr>
        <p:grpSpPr>
          <a:xfrm rot="0">
            <a:off x="9532925" y="2189131"/>
            <a:ext cx="7701267" cy="4818650"/>
            <a:chOff x="0" y="0"/>
            <a:chExt cx="10268356" cy="6424866"/>
          </a:xfrm>
        </p:grpSpPr>
        <p:sp>
          <p:nvSpPr>
            <p:cNvPr name="Freeform 7" id="7" descr="dashboard_forecast.png"/>
            <p:cNvSpPr/>
            <p:nvPr/>
          </p:nvSpPr>
          <p:spPr>
            <a:xfrm flipH="false" flipV="false" rot="0">
              <a:off x="0" y="0"/>
              <a:ext cx="10268331" cy="6424930"/>
            </a:xfrm>
            <a:custGeom>
              <a:avLst/>
              <a:gdLst/>
              <a:ahLst/>
              <a:cxnLst/>
              <a:rect r="r" b="b" t="t" l="l"/>
              <a:pathLst>
                <a:path h="6424930" w="10268331">
                  <a:moveTo>
                    <a:pt x="0" y="0"/>
                  </a:moveTo>
                  <a:lnTo>
                    <a:pt x="10268331" y="0"/>
                  </a:lnTo>
                  <a:lnTo>
                    <a:pt x="10268331" y="6424930"/>
                  </a:lnTo>
                  <a:lnTo>
                    <a:pt x="0" y="6424930"/>
                  </a:lnTo>
                  <a:lnTo>
                    <a:pt x="0" y="0"/>
                  </a:lnTo>
                  <a:close/>
                </a:path>
              </a:pathLst>
            </a:custGeom>
            <a:blipFill>
              <a:blip r:embed="rId3"/>
              <a:stretch>
                <a:fillRect l="-55" t="0" r="-55" b="0"/>
              </a:stretch>
            </a:blipFill>
          </p:spPr>
        </p:sp>
      </p:grpSp>
      <p:sp>
        <p:nvSpPr>
          <p:cNvPr name="TextBox 8" id="8"/>
          <p:cNvSpPr txBox="true"/>
          <p:nvPr/>
        </p:nvSpPr>
        <p:spPr>
          <a:xfrm rot="0">
            <a:off x="1171208" y="7951022"/>
            <a:ext cx="15891110" cy="981075"/>
          </a:xfrm>
          <a:prstGeom prst="rect">
            <a:avLst/>
          </a:prstGeom>
        </p:spPr>
        <p:txBody>
          <a:bodyPr anchor="t" rtlCol="false" tIns="0" lIns="0" bIns="0" rIns="0">
            <a:spAutoFit/>
          </a:bodyPr>
          <a:lstStyle/>
          <a:p>
            <a:pPr algn="l">
              <a:lnSpc>
                <a:spcPts val="2612"/>
              </a:lnSpc>
            </a:pPr>
            <a:r>
              <a:rPr lang="en-US" b="true" sz="2176">
                <a:solidFill>
                  <a:srgbClr val="000000"/>
                </a:solidFill>
                <a:latin typeface="Lora Bold"/>
                <a:ea typeface="Lora Bold"/>
                <a:cs typeface="Lora Bold"/>
                <a:sym typeface="Lora Bold"/>
              </a:rPr>
              <a:t>Tool: </a:t>
            </a:r>
            <a:r>
              <a:rPr lang="en-US" sz="2176">
                <a:solidFill>
                  <a:srgbClr val="000000"/>
                </a:solidFill>
                <a:latin typeface="Lora"/>
                <a:ea typeface="Lora"/>
                <a:cs typeface="Lora"/>
                <a:sym typeface="Lora"/>
              </a:rPr>
              <a:t>Streamlit + Plotly. Run with: streamlit run dashboard/app.py</a:t>
            </a:r>
          </a:p>
          <a:p>
            <a:pPr algn="l">
              <a:lnSpc>
                <a:spcPts val="2612"/>
              </a:lnSpc>
            </a:pPr>
            <a:r>
              <a:rPr lang="en-US" b="true" sz="2176">
                <a:solidFill>
                  <a:srgbClr val="000000"/>
                </a:solidFill>
                <a:latin typeface="Lora Bold"/>
                <a:ea typeface="Lora Bold"/>
                <a:cs typeface="Lora Bold"/>
                <a:sym typeface="Lora Bold"/>
              </a:rPr>
              <a:t>Filters: </a:t>
            </a:r>
            <a:r>
              <a:rPr lang="en-US" sz="2176">
                <a:solidFill>
                  <a:srgbClr val="000000"/>
                </a:solidFill>
                <a:latin typeface="Lora"/>
                <a:ea typeface="Lora"/>
                <a:cs typeface="Lora"/>
                <a:sym typeface="Lora"/>
              </a:rPr>
              <a:t>App, period and metric. Every chart updates; hovering shows exact values.</a:t>
            </a:r>
          </a:p>
          <a:p>
            <a:pPr algn="l">
              <a:lnSpc>
                <a:spcPts val="2612"/>
              </a:lnSpc>
            </a:pPr>
            <a:r>
              <a:rPr lang="en-US" b="true" sz="2176">
                <a:solidFill>
                  <a:srgbClr val="000000"/>
                </a:solidFill>
                <a:latin typeface="Lora Bold"/>
                <a:ea typeface="Lora Bold"/>
                <a:cs typeface="Lora Bold"/>
                <a:sym typeface="Lora Bold"/>
              </a:rPr>
              <a:t>Tabs: </a:t>
            </a:r>
            <a:r>
              <a:rPr lang="en-US" sz="2176">
                <a:solidFill>
                  <a:srgbClr val="000000"/>
                </a:solidFill>
                <a:latin typeface="Lora"/>
                <a:ea typeface="Lora"/>
                <a:cs typeface="Lora"/>
                <a:sym typeface="Lora"/>
              </a:rPr>
              <a:t>Overview, Weekly trends, Forecast with 80% band and model accuracy, Sentiment and issues, Key findings.</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F7FCFA"/>
        </a:solidFill>
      </p:bgPr>
    </p:bg>
    <p:spTree>
      <p:nvGrpSpPr>
        <p:cNvPr id="1" name=""/>
        <p:cNvGrpSpPr/>
        <p:nvPr/>
      </p:nvGrpSpPr>
      <p:grpSpPr>
        <a:xfrm>
          <a:off x="0" y="0"/>
          <a:ext cx="0" cy="0"/>
          <a:chOff x="0" y="0"/>
          <a:chExt cx="0" cy="0"/>
        </a:xfrm>
      </p:grpSpPr>
      <p:sp>
        <p:nvSpPr>
          <p:cNvPr name="TextBox 2" id="2"/>
          <p:cNvSpPr txBox="true"/>
          <p:nvPr/>
        </p:nvSpPr>
        <p:spPr>
          <a:xfrm rot="0">
            <a:off x="1120940" y="1488938"/>
            <a:ext cx="16055835" cy="752475"/>
          </a:xfrm>
          <a:prstGeom prst="rect">
            <a:avLst/>
          </a:prstGeom>
        </p:spPr>
        <p:txBody>
          <a:bodyPr anchor="t" rtlCol="false" tIns="0" lIns="0" bIns="0" rIns="0">
            <a:spAutoFit/>
          </a:bodyPr>
          <a:lstStyle/>
          <a:p>
            <a:pPr algn="l">
              <a:lnSpc>
                <a:spcPts val="5944"/>
              </a:lnSpc>
            </a:pPr>
            <a:r>
              <a:rPr lang="en-US" b="true" sz="4953">
                <a:solidFill>
                  <a:srgbClr val="000000"/>
                </a:solidFill>
                <a:latin typeface="Lora Bold"/>
                <a:ea typeface="Lora Bold"/>
                <a:cs typeface="Lora Bold"/>
                <a:sym typeface="Lora Bold"/>
              </a:rPr>
              <a:t>Combined Business Insights and Recommendations</a:t>
            </a:r>
          </a:p>
        </p:txBody>
      </p:sp>
      <p:sp>
        <p:nvSpPr>
          <p:cNvPr name="TextBox 3" id="3"/>
          <p:cNvSpPr txBox="true"/>
          <p:nvPr/>
        </p:nvSpPr>
        <p:spPr>
          <a:xfrm rot="0">
            <a:off x="16673322" y="9173994"/>
            <a:ext cx="777992" cy="342900"/>
          </a:xfrm>
          <a:prstGeom prst="rect">
            <a:avLst/>
          </a:prstGeom>
        </p:spPr>
        <p:txBody>
          <a:bodyPr anchor="t" rtlCol="false" tIns="0" lIns="0" bIns="0" rIns="0">
            <a:spAutoFit/>
          </a:bodyPr>
          <a:lstStyle/>
          <a:p>
            <a:pPr algn="l">
              <a:lnSpc>
                <a:spcPts val="2702"/>
              </a:lnSpc>
            </a:pPr>
            <a:r>
              <a:rPr lang="en-US" sz="2251">
                <a:solidFill>
                  <a:srgbClr val="000000"/>
                </a:solidFill>
                <a:latin typeface="Lora"/>
                <a:ea typeface="Lora"/>
                <a:cs typeface="Lora"/>
                <a:sym typeface="Lora"/>
              </a:rPr>
              <a:t>15</a:t>
            </a:r>
          </a:p>
        </p:txBody>
      </p:sp>
      <p:sp>
        <p:nvSpPr>
          <p:cNvPr name="TextBox 4" id="4"/>
          <p:cNvSpPr txBox="true"/>
          <p:nvPr/>
        </p:nvSpPr>
        <p:spPr>
          <a:xfrm rot="0">
            <a:off x="1285665" y="3111494"/>
            <a:ext cx="15891110" cy="4953000"/>
          </a:xfrm>
          <a:prstGeom prst="rect">
            <a:avLst/>
          </a:prstGeom>
        </p:spPr>
        <p:txBody>
          <a:bodyPr anchor="t" rtlCol="false" tIns="0" lIns="0" bIns="0" rIns="0">
            <a:spAutoFit/>
          </a:bodyPr>
          <a:lstStyle/>
          <a:p>
            <a:pPr algn="l">
              <a:lnSpc>
                <a:spcPts val="3062"/>
              </a:lnSpc>
            </a:pPr>
            <a:r>
              <a:rPr lang="en-US" b="true" sz="2551">
                <a:solidFill>
                  <a:srgbClr val="000000"/>
                </a:solidFill>
                <a:latin typeface="Lora Bold"/>
                <a:ea typeface="Lora Bold"/>
                <a:cs typeface="Lora Bold"/>
                <a:sym typeface="Lora Bold"/>
              </a:rPr>
              <a:t>What the methods say together: </a:t>
            </a:r>
            <a:r>
              <a:rPr lang="en-US" sz="2551">
                <a:solidFill>
                  <a:srgbClr val="000000"/>
                </a:solidFill>
                <a:latin typeface="Lora"/>
                <a:ea typeface="Lora"/>
                <a:cs typeface="Lora"/>
                <a:sym typeface="Lora"/>
              </a:rPr>
              <a:t>Text mining shows what the problems are, time-series shows when they move, and the classifier finds which reviews carry them. Weekly negative sentiment moves with the weekly share of 1-2 star reviews (correlation 0.82). Each app's issue mix stays the same week after week.</a:t>
            </a:r>
          </a:p>
          <a:p>
            <a:pPr algn="l">
              <a:lnSpc>
                <a:spcPts val="3062"/>
              </a:lnSpc>
            </a:pPr>
          </a:p>
          <a:p>
            <a:pPr algn="l">
              <a:lnSpc>
                <a:spcPts val="3062"/>
              </a:lnSpc>
            </a:pPr>
            <a:r>
              <a:rPr lang="en-US" b="true" sz="2551">
                <a:solidFill>
                  <a:srgbClr val="000000"/>
                </a:solidFill>
                <a:latin typeface="Lora Bold"/>
                <a:ea typeface="Lora Bold"/>
                <a:cs typeface="Lora Bold"/>
                <a:sym typeface="Lora Bold"/>
              </a:rPr>
              <a:t>Swiggy and Zomato: </a:t>
            </a:r>
            <a:r>
              <a:rPr lang="en-US" sz="2551">
                <a:solidFill>
                  <a:srgbClr val="000000"/>
                </a:solidFill>
                <a:latin typeface="Lora"/>
                <a:ea typeface="Lora"/>
                <a:cs typeface="Lora"/>
                <a:sym typeface="Lora"/>
              </a:rPr>
              <a:t>Fix customer support first (48% and 45% of reviews, 1.19 stars), then delivery delay (about 29%).</a:t>
            </a:r>
          </a:p>
          <a:p>
            <a:pPr algn="l">
              <a:lnSpc>
                <a:spcPts val="3062"/>
              </a:lnSpc>
            </a:pPr>
          </a:p>
          <a:p>
            <a:pPr algn="l">
              <a:lnSpc>
                <a:spcPts val="3062"/>
              </a:lnSpc>
            </a:pPr>
            <a:r>
              <a:rPr lang="en-US" b="true" sz="2551">
                <a:solidFill>
                  <a:srgbClr val="000000"/>
                </a:solidFill>
                <a:latin typeface="Lora Bold"/>
                <a:ea typeface="Lora Bold"/>
                <a:cs typeface="Lora Bold"/>
                <a:sym typeface="Lora Bold"/>
              </a:rPr>
              <a:t>Myntra: </a:t>
            </a:r>
            <a:r>
              <a:rPr lang="en-US" sz="2551">
                <a:solidFill>
                  <a:srgbClr val="000000"/>
                </a:solidFill>
                <a:latin typeface="Lora"/>
                <a:ea typeface="Lora"/>
                <a:cs typeface="Lora"/>
                <a:sym typeface="Lora"/>
              </a:rPr>
              <a:t>Review the cancellation and return process (40% of reviews).</a:t>
            </a:r>
          </a:p>
          <a:p>
            <a:pPr algn="l">
              <a:lnSpc>
                <a:spcPts val="3062"/>
              </a:lnSpc>
            </a:pPr>
          </a:p>
          <a:p>
            <a:pPr algn="l">
              <a:lnSpc>
                <a:spcPts val="3062"/>
              </a:lnSpc>
            </a:pPr>
            <a:r>
              <a:rPr lang="en-US" b="true" sz="2551">
                <a:solidFill>
                  <a:srgbClr val="000000"/>
                </a:solidFill>
                <a:latin typeface="Lora Bold"/>
                <a:ea typeface="Lora Bold"/>
                <a:cs typeface="Lora Bold"/>
                <a:sym typeface="Lora Bold"/>
              </a:rPr>
              <a:t>Paytm: </a:t>
            </a:r>
            <a:r>
              <a:rPr lang="en-US" sz="2551">
                <a:solidFill>
                  <a:srgbClr val="000000"/>
                </a:solidFill>
                <a:latin typeface="Lora"/>
                <a:ea typeface="Lora"/>
                <a:cs typeface="Lora"/>
                <a:sym typeface="Lora"/>
              </a:rPr>
              <a:t>Look into crashes and stability (17%); the only major issue that did not fall after July.</a:t>
            </a:r>
          </a:p>
          <a:p>
            <a:pPr algn="l">
              <a:lnSpc>
                <a:spcPts val="3062"/>
              </a:lnSpc>
            </a:pPr>
          </a:p>
          <a:p>
            <a:pPr algn="l">
              <a:lnSpc>
                <a:spcPts val="3062"/>
              </a:lnSpc>
            </a:pPr>
            <a:r>
              <a:rPr lang="en-US" b="true" sz="2551">
                <a:solidFill>
                  <a:srgbClr val="000000"/>
                </a:solidFill>
                <a:latin typeface="Lora Bold"/>
                <a:ea typeface="Lora Bold"/>
                <a:cs typeface="Lora Bold"/>
                <a:sym typeface="Lora Bold"/>
              </a:rPr>
              <a:t>All apps: </a:t>
            </a:r>
            <a:r>
              <a:rPr lang="en-US" sz="2551">
                <a:solidFill>
                  <a:srgbClr val="000000"/>
                </a:solidFill>
                <a:latin typeface="Lora"/>
                <a:ea typeface="Lora"/>
                <a:cs typeface="Lora"/>
                <a:sym typeface="Lora"/>
              </a:rPr>
              <a:t>Treat Order Quality complaints as high priority: few (6.6%) but worst rated (1.13 stars).</a:t>
            </a:r>
          </a:p>
          <a:p>
            <a:pPr algn="l">
              <a:lnSpc>
                <a:spcPts val="3062"/>
              </a:lnSpc>
            </a:pP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F7FCFA"/>
        </a:solidFill>
      </p:bgPr>
    </p:bg>
    <p:spTree>
      <p:nvGrpSpPr>
        <p:cNvPr id="1" name=""/>
        <p:cNvGrpSpPr/>
        <p:nvPr/>
      </p:nvGrpSpPr>
      <p:grpSpPr>
        <a:xfrm>
          <a:off x="0" y="0"/>
          <a:ext cx="0" cy="0"/>
          <a:chOff x="0" y="0"/>
          <a:chExt cx="0" cy="0"/>
        </a:xfrm>
      </p:grpSpPr>
      <p:sp>
        <p:nvSpPr>
          <p:cNvPr name="TextBox 2" id="2"/>
          <p:cNvSpPr txBox="true"/>
          <p:nvPr/>
        </p:nvSpPr>
        <p:spPr>
          <a:xfrm rot="0">
            <a:off x="1120940" y="828142"/>
            <a:ext cx="16055835" cy="752475"/>
          </a:xfrm>
          <a:prstGeom prst="rect">
            <a:avLst/>
          </a:prstGeom>
        </p:spPr>
        <p:txBody>
          <a:bodyPr anchor="t" rtlCol="false" tIns="0" lIns="0" bIns="0" rIns="0">
            <a:spAutoFit/>
          </a:bodyPr>
          <a:lstStyle/>
          <a:p>
            <a:pPr algn="l">
              <a:lnSpc>
                <a:spcPts val="5944"/>
              </a:lnSpc>
            </a:pPr>
            <a:r>
              <a:rPr lang="en-US" b="true" sz="4953">
                <a:solidFill>
                  <a:srgbClr val="000000"/>
                </a:solidFill>
                <a:latin typeface="Lora Bold"/>
                <a:ea typeface="Lora Bold"/>
                <a:cs typeface="Lora Bold"/>
                <a:sym typeface="Lora Bold"/>
              </a:rPr>
              <a:t>Project Tracking and Progress</a:t>
            </a:r>
          </a:p>
        </p:txBody>
      </p:sp>
      <p:sp>
        <p:nvSpPr>
          <p:cNvPr name="TextBox 3" id="3"/>
          <p:cNvSpPr txBox="true"/>
          <p:nvPr/>
        </p:nvSpPr>
        <p:spPr>
          <a:xfrm rot="0">
            <a:off x="16673322" y="9173994"/>
            <a:ext cx="777992" cy="342900"/>
          </a:xfrm>
          <a:prstGeom prst="rect">
            <a:avLst/>
          </a:prstGeom>
        </p:spPr>
        <p:txBody>
          <a:bodyPr anchor="t" rtlCol="false" tIns="0" lIns="0" bIns="0" rIns="0">
            <a:spAutoFit/>
          </a:bodyPr>
          <a:lstStyle/>
          <a:p>
            <a:pPr algn="l">
              <a:lnSpc>
                <a:spcPts val="2702"/>
              </a:lnSpc>
            </a:pPr>
            <a:r>
              <a:rPr lang="en-US" sz="2251">
                <a:solidFill>
                  <a:srgbClr val="000000"/>
                </a:solidFill>
                <a:latin typeface="Lora"/>
                <a:ea typeface="Lora"/>
                <a:cs typeface="Lora"/>
                <a:sym typeface="Lora"/>
              </a:rPr>
              <a:t>16</a:t>
            </a:r>
          </a:p>
        </p:txBody>
      </p:sp>
      <p:sp>
        <p:nvSpPr>
          <p:cNvPr name="TextBox 4" id="4"/>
          <p:cNvSpPr txBox="true"/>
          <p:nvPr/>
        </p:nvSpPr>
        <p:spPr>
          <a:xfrm rot="0">
            <a:off x="1175852" y="2379259"/>
            <a:ext cx="15891110" cy="742950"/>
          </a:xfrm>
          <a:prstGeom prst="rect">
            <a:avLst/>
          </a:prstGeom>
        </p:spPr>
        <p:txBody>
          <a:bodyPr anchor="t" rtlCol="false" tIns="0" lIns="0" bIns="0" rIns="0">
            <a:spAutoFit/>
          </a:bodyPr>
          <a:lstStyle/>
          <a:p>
            <a:pPr algn="l">
              <a:lnSpc>
                <a:spcPts val="2972"/>
              </a:lnSpc>
            </a:pPr>
            <a:r>
              <a:rPr lang="en-US" b="true" sz="2476">
                <a:solidFill>
                  <a:srgbClr val="000000"/>
                </a:solidFill>
                <a:latin typeface="Lora Bold"/>
                <a:ea typeface="Lora Bold"/>
                <a:cs typeface="Lora Bold"/>
                <a:sym typeface="Lora Bold"/>
              </a:rPr>
              <a:t>Tool and board link: </a:t>
            </a:r>
            <a:r>
              <a:rPr lang="en-US" sz="2476">
                <a:solidFill>
                  <a:srgbClr val="000000"/>
                </a:solidFill>
                <a:latin typeface="Lora"/>
                <a:ea typeface="Lora"/>
                <a:cs typeface="Lora"/>
                <a:sym typeface="Lora"/>
              </a:rPr>
              <a:t>https://github.com/Adithya-Monish-Kumar-K/ba-capstone-app-reviews</a:t>
            </a:r>
          </a:p>
          <a:p>
            <a:pPr algn="l">
              <a:lnSpc>
                <a:spcPts val="2972"/>
              </a:lnSpc>
            </a:pPr>
            <a:r>
              <a:rPr lang="en-US" b="true" sz="2476">
                <a:solidFill>
                  <a:srgbClr val="000000"/>
                </a:solidFill>
                <a:latin typeface="Lora Bold"/>
                <a:ea typeface="Lora Bold"/>
                <a:cs typeface="Lora Bold"/>
                <a:sym typeface="Lora Bold"/>
              </a:rPr>
              <a:t>Stages: </a:t>
            </a:r>
            <a:r>
              <a:rPr lang="en-US" sz="2476">
                <a:solidFill>
                  <a:srgbClr val="000000"/>
                </a:solidFill>
                <a:latin typeface="Lora"/>
                <a:ea typeface="Lora"/>
                <a:cs typeface="Lora"/>
                <a:sym typeface="Lora"/>
              </a:rPr>
              <a:t>To Do, In Progress, Review/Testing, Completed</a:t>
            </a:r>
          </a:p>
        </p:txBody>
      </p:sp>
      <p:graphicFrame>
        <p:nvGraphicFramePr>
          <p:cNvPr name="Table 5" id="5"/>
          <p:cNvGraphicFramePr>
            <a:graphicFrameLocks noGrp="true"/>
          </p:cNvGraphicFramePr>
          <p:nvPr/>
        </p:nvGraphicFramePr>
        <p:xfrm>
          <a:off x="1084411" y="3774849"/>
          <a:ext cx="16014511" cy="5056719"/>
        </p:xfrm>
        <a:graphic>
          <a:graphicData uri="http://schemas.openxmlformats.org/drawingml/2006/table">
            <a:tbl>
              <a:tblPr/>
              <a:tblGrid>
                <a:gridCol w="3969409"/>
                <a:gridCol w="1642513"/>
                <a:gridCol w="3011276"/>
                <a:gridCol w="1642513"/>
                <a:gridCol w="5748800"/>
              </a:tblGrid>
              <a:tr h="662802">
                <a:tc>
                  <a:txBody>
                    <a:bodyPr anchor="t" rtlCol="false"/>
                    <a:lstStyle/>
                    <a:p>
                      <a:pPr algn="ctr">
                        <a:lnSpc>
                          <a:spcPts val="2251"/>
                        </a:lnSpc>
                        <a:defRPr/>
                      </a:pPr>
                      <a:r>
                        <a:rPr lang="en-US" b="true" sz="1876">
                          <a:solidFill>
                            <a:srgbClr val="000000"/>
                          </a:solidFill>
                          <a:latin typeface="Lora Bold"/>
                          <a:ea typeface="Lora Bold"/>
                          <a:cs typeface="Lora Bold"/>
                          <a:sym typeface="Lora Bold"/>
                        </a:rPr>
                        <a:t>Task</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BCFCE"/>
                    </a:solidFill>
                  </a:tcPr>
                </a:tc>
                <a:tc>
                  <a:txBody>
                    <a:bodyPr anchor="t" rtlCol="false"/>
                    <a:lstStyle/>
                    <a:p>
                      <a:pPr algn="ctr">
                        <a:lnSpc>
                          <a:spcPts val="2251"/>
                        </a:lnSpc>
                        <a:defRPr/>
                      </a:pPr>
                      <a:r>
                        <a:rPr lang="en-US" b="true" sz="1876">
                          <a:solidFill>
                            <a:srgbClr val="000000"/>
                          </a:solidFill>
                          <a:latin typeface="Lora Bold"/>
                          <a:ea typeface="Lora Bold"/>
                          <a:cs typeface="Lora Bold"/>
                          <a:sym typeface="Lora Bold"/>
                        </a:rPr>
                        <a:t>Issues</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BCFCE"/>
                    </a:solidFill>
                  </a:tcPr>
                </a:tc>
                <a:tc>
                  <a:txBody>
                    <a:bodyPr anchor="t" rtlCol="false"/>
                    <a:lstStyle/>
                    <a:p>
                      <a:pPr algn="ctr">
                        <a:lnSpc>
                          <a:spcPts val="2251"/>
                        </a:lnSpc>
                        <a:defRPr/>
                      </a:pPr>
                      <a:r>
                        <a:rPr lang="en-US" sz="1876" b="true">
                          <a:solidFill>
                            <a:srgbClr val="000000"/>
                          </a:solidFill>
                          <a:latin typeface="Lora Bold"/>
                          <a:ea typeface="Lora Bold"/>
                          <a:cs typeface="Lora Bold"/>
                          <a:sym typeface="Lora Bold"/>
                        </a:rPr>
                        <a:t>Member</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BCFCE"/>
                    </a:solidFill>
                  </a:tcPr>
                </a:tc>
                <a:tc>
                  <a:txBody>
                    <a:bodyPr anchor="t" rtlCol="false"/>
                    <a:lstStyle/>
                    <a:p>
                      <a:pPr algn="ctr">
                        <a:lnSpc>
                          <a:spcPts val="2251"/>
                        </a:lnSpc>
                        <a:defRPr/>
                      </a:pPr>
                      <a:r>
                        <a:rPr lang="en-US" b="true" sz="1876">
                          <a:solidFill>
                            <a:srgbClr val="000000"/>
                          </a:solidFill>
                          <a:latin typeface="Lora Bold"/>
                          <a:ea typeface="Lora Bold"/>
                          <a:cs typeface="Lora Bold"/>
                          <a:sym typeface="Lora Bold"/>
                        </a:rPr>
                        <a:t>Status</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BCFCE"/>
                    </a:solidFill>
                  </a:tcPr>
                </a:tc>
                <a:tc>
                  <a:txBody>
                    <a:bodyPr anchor="t" rtlCol="false"/>
                    <a:lstStyle/>
                    <a:p>
                      <a:pPr algn="ctr">
                        <a:lnSpc>
                          <a:spcPts val="2251"/>
                        </a:lnSpc>
                        <a:defRPr/>
                      </a:pPr>
                      <a:r>
                        <a:rPr lang="en-US" b="true" sz="1876">
                          <a:solidFill>
                            <a:srgbClr val="000000"/>
                          </a:solidFill>
                          <a:latin typeface="Lora Bold"/>
                          <a:ea typeface="Lora Bold"/>
                          <a:cs typeface="Lora Bold"/>
                          <a:sym typeface="Lora Bold"/>
                        </a:rPr>
                        <a:t>Evidence</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BCFCE"/>
                    </a:solidFill>
                  </a:tcPr>
                </a:tc>
              </a:tr>
              <a:tr h="848524">
                <a:tc>
                  <a:txBody>
                    <a:bodyPr anchor="t" rtlCol="false"/>
                    <a:lstStyle/>
                    <a:p>
                      <a:pPr algn="l">
                        <a:lnSpc>
                          <a:spcPts val="2251"/>
                        </a:lnSpc>
                        <a:defRPr/>
                      </a:pPr>
                      <a:r>
                        <a:rPr lang="en-US" sz="1876">
                          <a:solidFill>
                            <a:srgbClr val="000000"/>
                          </a:solidFill>
                          <a:latin typeface="Lora"/>
                          <a:ea typeface="Lora"/>
                          <a:cs typeface="Lora"/>
                          <a:sym typeface="Lora"/>
                        </a:rPr>
                        <a:t>Data collection and cleaning</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251"/>
                        </a:lnSpc>
                        <a:defRPr/>
                      </a:pPr>
                      <a:r>
                        <a:rPr lang="en-US" sz="1876">
                          <a:solidFill>
                            <a:srgbClr val="000000"/>
                          </a:solidFill>
                          <a:latin typeface="Lora"/>
                          <a:ea typeface="Lora"/>
                          <a:cs typeface="Lora"/>
                          <a:sym typeface="Lora"/>
                        </a:rPr>
                        <a:t>Stage 1-2</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251"/>
                        </a:lnSpc>
                        <a:defRPr/>
                      </a:pPr>
                      <a:r>
                        <a:rPr lang="en-US" sz="1876">
                          <a:solidFill>
                            <a:srgbClr val="000000"/>
                          </a:solidFill>
                          <a:latin typeface="Lora"/>
                          <a:ea typeface="Lora"/>
                          <a:cs typeface="Lora"/>
                          <a:sym typeface="Lora"/>
                        </a:rPr>
                        <a:t>Aditya </a:t>
                      </a:r>
                      <a:r>
                        <a:rPr lang="en-US" sz="1876">
                          <a:solidFill>
                            <a:srgbClr val="000000"/>
                          </a:solidFill>
                          <a:latin typeface="Lora"/>
                          <a:ea typeface="Lora"/>
                          <a:cs typeface="Lora"/>
                          <a:sym typeface="Lora"/>
                        </a:rPr>
                        <a:t>Monish Kumar K</a:t>
                      </a:r>
                      <a:endParaRPr lang="en-US" sz="1100"/>
                    </a:p>
                    <a:p>
                      <a:pPr algn="l">
                        <a:lnSpc>
                          <a:spcPts val="2251"/>
                        </a:lnSpc>
                      </a:pPr>
                      <a:r>
                        <a:rPr lang="en-US" sz="1876">
                          <a:solidFill>
                            <a:srgbClr val="000000"/>
                          </a:solidFill>
                          <a:latin typeface="Lora"/>
                          <a:ea typeface="Lora"/>
                          <a:cs typeface="Lora"/>
                          <a:sym typeface="Lora"/>
                        </a:rPr>
                        <a:t>CB.SC.U4CSE23103</a:t>
                      </a:r>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251"/>
                        </a:lnSpc>
                        <a:defRPr/>
                      </a:pPr>
                      <a:r>
                        <a:rPr lang="en-US" sz="1876">
                          <a:solidFill>
                            <a:srgbClr val="000000"/>
                          </a:solidFill>
                          <a:latin typeface="Lora"/>
                          <a:ea typeface="Lora"/>
                          <a:cs typeface="Lora"/>
                          <a:sym typeface="Lora"/>
                        </a:rPr>
                        <a:t>Completed</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251"/>
                        </a:lnSpc>
                        <a:defRPr/>
                      </a:pPr>
                      <a:r>
                        <a:rPr lang="en-US" sz="1876">
                          <a:solidFill>
                            <a:srgbClr val="000000"/>
                          </a:solidFill>
                          <a:latin typeface="Lora"/>
                          <a:ea typeface="Lora"/>
                          <a:cs typeface="Lora"/>
                          <a:sym typeface="Lora"/>
                        </a:rPr>
                        <a:t>scripts/01-02, DATA_SOURCES.md</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848524">
                <a:tc>
                  <a:txBody>
                    <a:bodyPr anchor="t" rtlCol="false"/>
                    <a:lstStyle/>
                    <a:p>
                      <a:pPr algn="l">
                        <a:lnSpc>
                          <a:spcPts val="2251"/>
                        </a:lnSpc>
                        <a:defRPr/>
                      </a:pPr>
                      <a:r>
                        <a:rPr lang="en-US" sz="1876">
                          <a:solidFill>
                            <a:srgbClr val="000000"/>
                          </a:solidFill>
                          <a:latin typeface="Lora"/>
                          <a:ea typeface="Lora"/>
                          <a:cs typeface="Lora"/>
                          <a:sym typeface="Lora"/>
                        </a:rPr>
                        <a:t>Text mining</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251"/>
                        </a:lnSpc>
                        <a:defRPr/>
                      </a:pPr>
                      <a:r>
                        <a:rPr lang="en-US" sz="1876">
                          <a:solidFill>
                            <a:srgbClr val="000000"/>
                          </a:solidFill>
                          <a:latin typeface="Lora"/>
                          <a:ea typeface="Lora"/>
                          <a:cs typeface="Lora"/>
                          <a:sym typeface="Lora"/>
                        </a:rPr>
                        <a:t>#101-#103</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251"/>
                        </a:lnSpc>
                        <a:defRPr/>
                      </a:pPr>
                      <a:r>
                        <a:rPr lang="en-US" sz="1876">
                          <a:solidFill>
                            <a:srgbClr val="000000"/>
                          </a:solidFill>
                          <a:latin typeface="Lora"/>
                          <a:ea typeface="Lora"/>
                          <a:cs typeface="Lora"/>
                          <a:sym typeface="Lora"/>
                        </a:rPr>
                        <a:t>R</a:t>
                      </a:r>
                      <a:r>
                        <a:rPr lang="en-US" sz="1876">
                          <a:solidFill>
                            <a:srgbClr val="000000"/>
                          </a:solidFill>
                          <a:latin typeface="Lora"/>
                          <a:ea typeface="Lora"/>
                          <a:cs typeface="Lora"/>
                          <a:sym typeface="Lora"/>
                        </a:rPr>
                        <a:t>egella Krishna Saketh</a:t>
                      </a:r>
                      <a:endParaRPr lang="en-US" sz="1100"/>
                    </a:p>
                    <a:p>
                      <a:pPr algn="l">
                        <a:lnSpc>
                          <a:spcPts val="2251"/>
                        </a:lnSpc>
                      </a:pPr>
                      <a:r>
                        <a:rPr lang="en-US" sz="1876">
                          <a:solidFill>
                            <a:srgbClr val="000000"/>
                          </a:solidFill>
                          <a:latin typeface="Lora"/>
                          <a:ea typeface="Lora"/>
                          <a:cs typeface="Lora"/>
                          <a:sym typeface="Lora"/>
                        </a:rPr>
                        <a:t>CB.SC.U4CSE23649</a:t>
                      </a:r>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251"/>
                        </a:lnSpc>
                        <a:defRPr/>
                      </a:pPr>
                      <a:r>
                        <a:rPr lang="en-US" sz="1876">
                          <a:solidFill>
                            <a:srgbClr val="000000"/>
                          </a:solidFill>
                          <a:latin typeface="Lora"/>
                          <a:ea typeface="Lora"/>
                          <a:cs typeface="Lora"/>
                          <a:sym typeface="Lora"/>
                        </a:rPr>
                        <a:t>Completed</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251"/>
                        </a:lnSpc>
                        <a:defRPr/>
                      </a:pPr>
                      <a:r>
                        <a:rPr lang="en-US" sz="1876">
                          <a:solidFill>
                            <a:srgbClr val="000000"/>
                          </a:solidFill>
                          <a:latin typeface="Lora"/>
                          <a:ea typeface="Lora"/>
                          <a:cs typeface="Lora"/>
                          <a:sym typeface="Lora"/>
                        </a:rPr>
                        <a:t>scripts/03-04, TEXT_MINING.md</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848524">
                <a:tc>
                  <a:txBody>
                    <a:bodyPr anchor="t" rtlCol="false"/>
                    <a:lstStyle/>
                    <a:p>
                      <a:pPr algn="l">
                        <a:lnSpc>
                          <a:spcPts val="2251"/>
                        </a:lnSpc>
                        <a:defRPr/>
                      </a:pPr>
                      <a:r>
                        <a:rPr lang="en-US" sz="1876">
                          <a:solidFill>
                            <a:srgbClr val="000000"/>
                          </a:solidFill>
                          <a:latin typeface="Lora"/>
                          <a:ea typeface="Lora"/>
                          <a:cs typeface="Lora"/>
                          <a:sym typeface="Lora"/>
                        </a:rPr>
                        <a:t>Exploratory data analysis</a:t>
                      </a:r>
                      <a:endParaRPr lang="en-US" sz="1100"/>
                    </a:p>
                    <a:p>
                      <a:pPr algn="l">
                        <a:lnSpc>
                          <a:spcPts val="2251"/>
                        </a:lnSpc>
                      </a:pPr>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251"/>
                        </a:lnSpc>
                        <a:defRPr/>
                      </a:pPr>
                      <a:r>
                        <a:rPr lang="en-US" sz="1876">
                          <a:solidFill>
                            <a:srgbClr val="000000"/>
                          </a:solidFill>
                          <a:latin typeface="Lora"/>
                          <a:ea typeface="Lora"/>
                          <a:cs typeface="Lora"/>
                          <a:sym typeface="Lora"/>
                        </a:rPr>
                        <a:t>#104-#106</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251"/>
                        </a:lnSpc>
                        <a:defRPr/>
                      </a:pPr>
                      <a:r>
                        <a:rPr lang="en-US" sz="1876">
                          <a:solidFill>
                            <a:srgbClr val="000000"/>
                          </a:solidFill>
                          <a:latin typeface="Lora"/>
                          <a:ea typeface="Lora"/>
                          <a:cs typeface="Lora"/>
                          <a:sym typeface="Lora"/>
                        </a:rPr>
                        <a:t>Akshay</a:t>
                      </a:r>
                      <a:r>
                        <a:rPr lang="en-US" sz="1876">
                          <a:solidFill>
                            <a:srgbClr val="000000"/>
                          </a:solidFill>
                          <a:latin typeface="Lora"/>
                          <a:ea typeface="Lora"/>
                          <a:cs typeface="Lora"/>
                          <a:sym typeface="Lora"/>
                        </a:rPr>
                        <a:t> KS</a:t>
                      </a:r>
                      <a:endParaRPr lang="en-US" sz="1100"/>
                    </a:p>
                    <a:p>
                      <a:pPr algn="l">
                        <a:lnSpc>
                          <a:spcPts val="2251"/>
                        </a:lnSpc>
                      </a:pPr>
                      <a:r>
                        <a:rPr lang="en-US" sz="1876">
                          <a:solidFill>
                            <a:srgbClr val="000000"/>
                          </a:solidFill>
                          <a:latin typeface="Lora"/>
                          <a:ea typeface="Lora"/>
                          <a:cs typeface="Lora"/>
                          <a:sym typeface="Lora"/>
                        </a:rPr>
                        <a:t>CB.SC.U4CSE23104</a:t>
                      </a:r>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251"/>
                        </a:lnSpc>
                        <a:defRPr/>
                      </a:pPr>
                      <a:r>
                        <a:rPr lang="en-US" sz="1876">
                          <a:solidFill>
                            <a:srgbClr val="000000"/>
                          </a:solidFill>
                          <a:latin typeface="Lora"/>
                          <a:ea typeface="Lora"/>
                          <a:cs typeface="Lora"/>
                          <a:sym typeface="Lora"/>
                        </a:rPr>
                        <a:t>Completed</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251"/>
                        </a:lnSpc>
                        <a:defRPr/>
                      </a:pPr>
                      <a:r>
                        <a:rPr lang="en-US" sz="1876">
                          <a:solidFill>
                            <a:srgbClr val="000000"/>
                          </a:solidFill>
                          <a:latin typeface="Lora"/>
                          <a:ea typeface="Lora"/>
                          <a:cs typeface="Lora"/>
                          <a:sym typeface="Lora"/>
                        </a:rPr>
                        <a:t>scripts/05_eda.py, EDA.md</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848524">
                <a:tc>
                  <a:txBody>
                    <a:bodyPr anchor="t" rtlCol="false"/>
                    <a:lstStyle/>
                    <a:p>
                      <a:pPr algn="l">
                        <a:lnSpc>
                          <a:spcPts val="2251"/>
                        </a:lnSpc>
                        <a:defRPr/>
                      </a:pPr>
                      <a:r>
                        <a:rPr lang="en-US" sz="1876">
                          <a:solidFill>
                            <a:srgbClr val="000000"/>
                          </a:solidFill>
                          <a:latin typeface="Lora"/>
                          <a:ea typeface="Lora"/>
                          <a:cs typeface="Lora"/>
                          <a:sym typeface="Lora"/>
                        </a:rPr>
                        <a:t>Feature engineering and p</a:t>
                      </a:r>
                      <a:r>
                        <a:rPr lang="en-US" sz="1876">
                          <a:solidFill>
                            <a:srgbClr val="000000"/>
                          </a:solidFill>
                          <a:latin typeface="Lora"/>
                          <a:ea typeface="Lora"/>
                          <a:cs typeface="Lora"/>
                          <a:sym typeface="Lora"/>
                        </a:rPr>
                        <a:t>redictive model</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251"/>
                        </a:lnSpc>
                        <a:defRPr/>
                      </a:pPr>
                      <a:r>
                        <a:rPr lang="en-US" sz="1876">
                          <a:solidFill>
                            <a:srgbClr val="000000"/>
                          </a:solidFill>
                          <a:latin typeface="Lora"/>
                          <a:ea typeface="Lora"/>
                          <a:cs typeface="Lora"/>
                          <a:sym typeface="Lora"/>
                        </a:rPr>
                        <a:t>#107-#110</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251"/>
                        </a:lnSpc>
                        <a:defRPr/>
                      </a:pPr>
                      <a:r>
                        <a:rPr lang="en-US" sz="1876">
                          <a:solidFill>
                            <a:srgbClr val="000000"/>
                          </a:solidFill>
                          <a:latin typeface="Lora"/>
                          <a:ea typeface="Lora"/>
                          <a:cs typeface="Lora"/>
                          <a:sym typeface="Lora"/>
                        </a:rPr>
                        <a:t>Harshini Vennela </a:t>
                      </a:r>
                      <a:endParaRPr lang="en-US" sz="1100"/>
                    </a:p>
                    <a:p>
                      <a:pPr algn="l">
                        <a:lnSpc>
                          <a:spcPts val="2251"/>
                        </a:lnSpc>
                      </a:pPr>
                      <a:r>
                        <a:rPr lang="en-US" sz="1876">
                          <a:solidFill>
                            <a:srgbClr val="000000"/>
                          </a:solidFill>
                          <a:latin typeface="Lora"/>
                          <a:ea typeface="Lora"/>
                          <a:cs typeface="Lora"/>
                          <a:sym typeface="Lora"/>
                        </a:rPr>
                        <a:t>CB.SC.U4CSE23455</a:t>
                      </a:r>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251"/>
                        </a:lnSpc>
                        <a:defRPr/>
                      </a:pPr>
                      <a:r>
                        <a:rPr lang="en-US" sz="1876">
                          <a:solidFill>
                            <a:srgbClr val="000000"/>
                          </a:solidFill>
                          <a:latin typeface="Lora"/>
                          <a:ea typeface="Lora"/>
                          <a:cs typeface="Lora"/>
                          <a:sym typeface="Lora"/>
                        </a:rPr>
                        <a:t>Completed</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251"/>
                        </a:lnSpc>
                        <a:defRPr/>
                      </a:pPr>
                      <a:r>
                        <a:rPr lang="en-US" sz="1876">
                          <a:solidFill>
                            <a:srgbClr val="000000"/>
                          </a:solidFill>
                          <a:latin typeface="Lora"/>
                          <a:ea typeface="Lora"/>
                          <a:cs typeface="Lora"/>
                          <a:sym typeface="Lora"/>
                        </a:rPr>
                        <a:t>scripts/05-12, MODEL_EVALUATION.md</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999820">
                <a:tc>
                  <a:txBody>
                    <a:bodyPr anchor="t" rtlCol="false"/>
                    <a:lstStyle/>
                    <a:p>
                      <a:pPr algn="l">
                        <a:lnSpc>
                          <a:spcPts val="2251"/>
                        </a:lnSpc>
                        <a:defRPr/>
                      </a:pPr>
                      <a:r>
                        <a:rPr lang="en-US" sz="1876">
                          <a:solidFill>
                            <a:srgbClr val="000000"/>
                          </a:solidFill>
                          <a:latin typeface="Lora"/>
                          <a:ea typeface="Lora"/>
                          <a:cs typeface="Lora"/>
                          <a:sym typeface="Lora"/>
                        </a:rPr>
                        <a:t>Time-series forecasting, Interactive dashboard, report</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251"/>
                        </a:lnSpc>
                        <a:defRPr/>
                      </a:pPr>
                      <a:r>
                        <a:rPr lang="en-US" sz="1876">
                          <a:solidFill>
                            <a:srgbClr val="000000"/>
                          </a:solidFill>
                          <a:latin typeface="Lora"/>
                          <a:ea typeface="Lora"/>
                          <a:cs typeface="Lora"/>
                          <a:sym typeface="Lora"/>
                        </a:rPr>
                        <a:t>#111-#114</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251"/>
                        </a:lnSpc>
                        <a:defRPr/>
                      </a:pPr>
                      <a:r>
                        <a:rPr lang="en-US" sz="1876">
                          <a:solidFill>
                            <a:srgbClr val="000000"/>
                          </a:solidFill>
                          <a:latin typeface="Lora"/>
                          <a:ea typeface="Lora"/>
                          <a:cs typeface="Lora"/>
                          <a:sym typeface="Lora"/>
                        </a:rPr>
                        <a:t>Ka</a:t>
                      </a:r>
                      <a:r>
                        <a:rPr lang="en-US" sz="1876">
                          <a:solidFill>
                            <a:srgbClr val="000000"/>
                          </a:solidFill>
                          <a:latin typeface="Lora"/>
                          <a:ea typeface="Lora"/>
                          <a:cs typeface="Lora"/>
                          <a:sym typeface="Lora"/>
                        </a:rPr>
                        <a:t>nishka D</a:t>
                      </a:r>
                      <a:endParaRPr lang="en-US" sz="1100"/>
                    </a:p>
                    <a:p>
                      <a:pPr algn="l">
                        <a:lnSpc>
                          <a:spcPts val="2251"/>
                        </a:lnSpc>
                      </a:pPr>
                      <a:r>
                        <a:rPr lang="en-US" sz="1876">
                          <a:solidFill>
                            <a:srgbClr val="000000"/>
                          </a:solidFill>
                          <a:latin typeface="Lora"/>
                          <a:ea typeface="Lora"/>
                          <a:cs typeface="Lora"/>
                          <a:sym typeface="Lora"/>
                        </a:rPr>
                        <a:t>CB.SC.U4CSE23155</a:t>
                      </a:r>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251"/>
                        </a:lnSpc>
                        <a:defRPr/>
                      </a:pPr>
                      <a:r>
                        <a:rPr lang="en-US" sz="1876">
                          <a:solidFill>
                            <a:srgbClr val="000000"/>
                          </a:solidFill>
                          <a:latin typeface="Lora"/>
                          <a:ea typeface="Lora"/>
                          <a:cs typeface="Lora"/>
                          <a:sym typeface="Lora"/>
                        </a:rPr>
                        <a:t>Completed</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251"/>
                        </a:lnSpc>
                        <a:defRPr/>
                      </a:pPr>
                      <a:r>
                        <a:rPr lang="en-US" sz="1876">
                          <a:solidFill>
                            <a:srgbClr val="000000"/>
                          </a:solidFill>
                          <a:latin typeface="Lora"/>
                          <a:ea typeface="Lora"/>
                          <a:cs typeface="Lora"/>
                          <a:sym typeface="Lora"/>
                        </a:rPr>
                        <a:t>scripts/13, TIME_SERIES.md, dashboard/, docs/, REPORT.md </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bl>
          </a:graphicData>
        </a:graphic>
      </p:graphicFrame>
    </p:spTree>
  </p:cSld>
  <p:clrMapOvr>
    <a:masterClrMapping/>
  </p:clrMapOvr>
</p:sld>
</file>

<file path=ppt/slides/slide17.xml><?xml version="1.0" encoding="utf-8"?>
<p:sld xmlns:p="http://schemas.openxmlformats.org/presentationml/2006/main" xmlns:a="http://schemas.openxmlformats.org/drawingml/2006/main">
  <p:cSld>
    <p:bg>
      <p:bgPr>
        <a:solidFill>
          <a:srgbClr val="F7FCFA"/>
        </a:solidFill>
      </p:bgPr>
    </p:bg>
    <p:spTree>
      <p:nvGrpSpPr>
        <p:cNvPr id="1" name=""/>
        <p:cNvGrpSpPr/>
        <p:nvPr/>
      </p:nvGrpSpPr>
      <p:grpSpPr>
        <a:xfrm>
          <a:off x="0" y="0"/>
          <a:ext cx="0" cy="0"/>
          <a:chOff x="0" y="0"/>
          <a:chExt cx="0" cy="0"/>
        </a:xfrm>
      </p:grpSpPr>
      <p:sp>
        <p:nvSpPr>
          <p:cNvPr name="TextBox 2" id="2"/>
          <p:cNvSpPr txBox="true"/>
          <p:nvPr/>
        </p:nvSpPr>
        <p:spPr>
          <a:xfrm rot="0">
            <a:off x="2536031" y="1214438"/>
            <a:ext cx="13215938" cy="7858125"/>
          </a:xfrm>
          <a:prstGeom prst="rect">
            <a:avLst/>
          </a:prstGeom>
        </p:spPr>
        <p:txBody>
          <a:bodyPr anchor="t" rtlCol="false" tIns="0" lIns="0" bIns="0" rIns="0">
            <a:spAutoFit/>
          </a:bodyPr>
          <a:lstStyle/>
          <a:p>
            <a:pPr algn="l">
              <a:lnSpc>
                <a:spcPts val="4919"/>
              </a:lnSpc>
              <a:spcBef>
                <a:spcPct val="0"/>
              </a:spcBef>
            </a:pPr>
            <a:r>
              <a:rPr lang="en-US" b="true" sz="4099">
                <a:solidFill>
                  <a:srgbClr val="000000"/>
                </a:solidFill>
                <a:latin typeface="Lora Bold"/>
                <a:ea typeface="Lora Bold"/>
                <a:cs typeface="Lora Bold"/>
                <a:sym typeface="Lora Bold"/>
              </a:rPr>
              <a:t>References</a:t>
            </a:r>
          </a:p>
          <a:p>
            <a:pPr algn="l">
              <a:lnSpc>
                <a:spcPts val="2879"/>
              </a:lnSpc>
              <a:spcBef>
                <a:spcPct val="0"/>
              </a:spcBef>
            </a:pPr>
          </a:p>
          <a:p>
            <a:pPr algn="l">
              <a:lnSpc>
                <a:spcPts val="2879"/>
              </a:lnSpc>
              <a:spcBef>
                <a:spcPct val="0"/>
              </a:spcBef>
            </a:pPr>
            <a:r>
              <a:rPr lang="en-US" sz="2400">
                <a:solidFill>
                  <a:srgbClr val="000000"/>
                </a:solidFill>
                <a:latin typeface="Lora"/>
                <a:ea typeface="Lora"/>
                <a:cs typeface="Lora"/>
                <a:sym typeface="Lora"/>
              </a:rPr>
              <a:t>[1] D. Pagano and W. Maalej, "User feedback in the AppStore: An empirical study," IEEE International Requirements Engineering Conference (RE), 2013.</a:t>
            </a:r>
          </a:p>
          <a:p>
            <a:pPr algn="l">
              <a:lnSpc>
                <a:spcPts val="2879"/>
              </a:lnSpc>
              <a:spcBef>
                <a:spcPct val="0"/>
              </a:spcBef>
            </a:pPr>
          </a:p>
          <a:p>
            <a:pPr algn="l">
              <a:lnSpc>
                <a:spcPts val="2879"/>
              </a:lnSpc>
              <a:spcBef>
                <a:spcPct val="0"/>
              </a:spcBef>
            </a:pPr>
            <a:r>
              <a:rPr lang="en-US" sz="2400">
                <a:solidFill>
                  <a:srgbClr val="000000"/>
                </a:solidFill>
                <a:latin typeface="Lora"/>
                <a:ea typeface="Lora"/>
                <a:cs typeface="Lora"/>
                <a:sym typeface="Lora"/>
              </a:rPr>
              <a:t>[2] N. Chen, J. Lin, S. C. H. Hoi, X. Xiao and B. Zhang, "AR-Miner: Mining informative reviews for developers from mobile app marketplace," International Conference on Software Engineering (ICSE), 2014.</a:t>
            </a:r>
          </a:p>
          <a:p>
            <a:pPr algn="l">
              <a:lnSpc>
                <a:spcPts val="2879"/>
              </a:lnSpc>
              <a:spcBef>
                <a:spcPct val="0"/>
              </a:spcBef>
            </a:pPr>
          </a:p>
          <a:p>
            <a:pPr algn="l">
              <a:lnSpc>
                <a:spcPts val="2879"/>
              </a:lnSpc>
              <a:spcBef>
                <a:spcPct val="0"/>
              </a:spcBef>
            </a:pPr>
            <a:r>
              <a:rPr lang="en-US" sz="2400">
                <a:solidFill>
                  <a:srgbClr val="000000"/>
                </a:solidFill>
                <a:latin typeface="Lora"/>
                <a:ea typeface="Lora"/>
                <a:cs typeface="Lora"/>
                <a:sym typeface="Lora"/>
              </a:rPr>
              <a:t>[3] E. Guzman and W. Maalej, "How do users like this feature? A fine grained sentiment analysis of app reviews," IEEE International Requirements Engineering Conference (RE), 2014.</a:t>
            </a:r>
          </a:p>
          <a:p>
            <a:pPr algn="l">
              <a:lnSpc>
                <a:spcPts val="2879"/>
              </a:lnSpc>
              <a:spcBef>
                <a:spcPct val="0"/>
              </a:spcBef>
            </a:pPr>
          </a:p>
          <a:p>
            <a:pPr algn="l">
              <a:lnSpc>
                <a:spcPts val="2879"/>
              </a:lnSpc>
              <a:spcBef>
                <a:spcPct val="0"/>
              </a:spcBef>
            </a:pPr>
            <a:r>
              <a:rPr lang="en-US" sz="2400">
                <a:solidFill>
                  <a:srgbClr val="000000"/>
                </a:solidFill>
                <a:latin typeface="Lora"/>
                <a:ea typeface="Lora"/>
                <a:cs typeface="Lora"/>
                <a:sym typeface="Lora"/>
              </a:rPr>
              <a:t>[4] W. Maalej and H. Nabil, "Bug report, feature request, or simply praise? On automatically classifying app reviews," IEEE International Requirements Engineering Conference (RE), 2015.</a:t>
            </a:r>
          </a:p>
          <a:p>
            <a:pPr algn="l">
              <a:lnSpc>
                <a:spcPts val="2879"/>
              </a:lnSpc>
              <a:spcBef>
                <a:spcPct val="0"/>
              </a:spcBef>
            </a:pPr>
          </a:p>
          <a:p>
            <a:pPr algn="l">
              <a:lnSpc>
                <a:spcPts val="2879"/>
              </a:lnSpc>
              <a:spcBef>
                <a:spcPct val="0"/>
              </a:spcBef>
            </a:pPr>
            <a:r>
              <a:rPr lang="en-US" sz="2400">
                <a:solidFill>
                  <a:srgbClr val="000000"/>
                </a:solidFill>
                <a:latin typeface="Lora"/>
                <a:ea typeface="Lora"/>
                <a:cs typeface="Lora"/>
                <a:sym typeface="Lora"/>
              </a:rPr>
              <a:t>[5] C. J. Hutto and E. Gilbert, "VADER: A parsimonious rule-based model for sentiment analysis of social media text," International AAAI Conference on Weblogs and Social Media (ICWSM), 2014.</a:t>
            </a:r>
          </a:p>
          <a:p>
            <a:pPr algn="l">
              <a:lnSpc>
                <a:spcPts val="2879"/>
              </a:lnSpc>
              <a:spcBef>
                <a:spcPct val="0"/>
              </a:spcBef>
            </a:pPr>
          </a:p>
          <a:p>
            <a:pPr algn="l">
              <a:lnSpc>
                <a:spcPts val="2879"/>
              </a:lnSpc>
              <a:spcBef>
                <a:spcPct val="0"/>
              </a:spcBef>
            </a:pPr>
            <a:r>
              <a:rPr lang="en-US" sz="2400">
                <a:solidFill>
                  <a:srgbClr val="000000"/>
                </a:solidFill>
                <a:latin typeface="Lora"/>
                <a:ea typeface="Lora"/>
                <a:cs typeface="Lora"/>
                <a:sym typeface="Lora"/>
              </a:rPr>
              <a:t>[6] R. J. Hyndman and G. Athanasopoulos, Forecasting: Principles and Practice, 3rd edition, OTexts, 2021.</a:t>
            </a:r>
          </a:p>
        </p:txBody>
      </p:sp>
      <p:sp>
        <p:nvSpPr>
          <p:cNvPr name="TextBox 3" id="3"/>
          <p:cNvSpPr txBox="true"/>
          <p:nvPr/>
        </p:nvSpPr>
        <p:spPr>
          <a:xfrm rot="0">
            <a:off x="16673322" y="9173994"/>
            <a:ext cx="777992" cy="342900"/>
          </a:xfrm>
          <a:prstGeom prst="rect">
            <a:avLst/>
          </a:prstGeom>
        </p:spPr>
        <p:txBody>
          <a:bodyPr anchor="t" rtlCol="false" tIns="0" lIns="0" bIns="0" rIns="0">
            <a:spAutoFit/>
          </a:bodyPr>
          <a:lstStyle/>
          <a:p>
            <a:pPr algn="l">
              <a:lnSpc>
                <a:spcPts val="2702"/>
              </a:lnSpc>
            </a:pPr>
            <a:r>
              <a:rPr lang="en-US" sz="2251">
                <a:solidFill>
                  <a:srgbClr val="000000"/>
                </a:solidFill>
                <a:latin typeface="Lora"/>
                <a:ea typeface="Lora"/>
                <a:cs typeface="Lora"/>
                <a:sym typeface="Lora"/>
              </a:rP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DAHW-2EAO50</dc:identifier>
  <dcterms:modified xsi:type="dcterms:W3CDTF">2011-08-01T06:04:30Z</dcterms:modified>
  <cp:revision>1</cp:revision>
  <dc:title>Review_Presentation.key</dc:title>
</cp:coreProperties>
</file>