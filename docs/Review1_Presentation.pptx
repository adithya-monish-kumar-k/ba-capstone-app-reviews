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Myntra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1★</c:v>
                  </c:pt>
                  <c:pt idx="1">
                    <c:v>2★</c:v>
                  </c:pt>
                  <c:pt idx="2">
                    <c:v>3★</c:v>
                  </c:pt>
                  <c:pt idx="3">
                    <c:v>4★</c:v>
                  </c:pt>
                  <c:pt idx="4">
                    <c:v>5★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1626</c:v>
                </c:pt>
                <c:pt idx="1">
                  <c:v>91</c:v>
                </c:pt>
                <c:pt idx="2">
                  <c:v>77</c:v>
                </c:pt>
                <c:pt idx="3">
                  <c:v>116</c:v>
                </c:pt>
                <c:pt idx="4">
                  <c:v>1088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Paytm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1★</c:v>
                  </c:pt>
                  <c:pt idx="1">
                    <c:v>2★</c:v>
                  </c:pt>
                  <c:pt idx="2">
                    <c:v>3★</c:v>
                  </c:pt>
                  <c:pt idx="3">
                    <c:v>4★</c:v>
                  </c:pt>
                  <c:pt idx="4">
                    <c:v>5★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1935</c:v>
                </c:pt>
                <c:pt idx="1">
                  <c:v>195</c:v>
                </c:pt>
                <c:pt idx="2">
                  <c:v>152</c:v>
                </c:pt>
                <c:pt idx="3">
                  <c:v>176</c:v>
                </c:pt>
                <c:pt idx="4">
                  <c:v>540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PhonePe</c:v>
                </c:pt>
              </c:strCache>
            </c:strRef>
          </c:tx>
          <c:spPr>
            <a:solidFill>
              <a:srgbClr val="6FB8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1★</c:v>
                  </c:pt>
                  <c:pt idx="1">
                    <c:v>2★</c:v>
                  </c:pt>
                  <c:pt idx="2">
                    <c:v>3★</c:v>
                  </c:pt>
                  <c:pt idx="3">
                    <c:v>4★</c:v>
                  </c:pt>
                  <c:pt idx="4">
                    <c:v>5★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1583</c:v>
                </c:pt>
                <c:pt idx="1">
                  <c:v>205</c:v>
                </c:pt>
                <c:pt idx="2">
                  <c:v>196</c:v>
                </c:pt>
                <c:pt idx="3">
                  <c:v>258</c:v>
                </c:pt>
                <c:pt idx="4">
                  <c:v>753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Swiggy</c:v>
                </c:pt>
              </c:strCache>
            </c:strRef>
          </c:tx>
          <c:spPr>
            <a:solidFill>
              <a:srgbClr val="F2A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1★</c:v>
                  </c:pt>
                  <c:pt idx="1">
                    <c:v>2★</c:v>
                  </c:pt>
                  <c:pt idx="2">
                    <c:v>3★</c:v>
                  </c:pt>
                  <c:pt idx="3">
                    <c:v>4★</c:v>
                  </c:pt>
                  <c:pt idx="4">
                    <c:v>5★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2714</c:v>
                </c:pt>
                <c:pt idx="1">
                  <c:v>112</c:v>
                </c:pt>
                <c:pt idx="2">
                  <c:v>65</c:v>
                </c:pt>
                <c:pt idx="3">
                  <c:v>44</c:v>
                </c:pt>
                <c:pt idx="4">
                  <c:v>65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Zomato</c:v>
                </c:pt>
              </c:strCache>
            </c:strRef>
          </c:tx>
          <c:spPr>
            <a:solidFill>
              <a:srgbClr val="0E2A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1★</c:v>
                  </c:pt>
                  <c:pt idx="1">
                    <c:v>2★</c:v>
                  </c:pt>
                  <c:pt idx="2">
                    <c:v>3★</c:v>
                  </c:pt>
                  <c:pt idx="3">
                    <c:v>4★</c:v>
                  </c:pt>
                  <c:pt idx="4">
                    <c:v>5★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2508</c:v>
                </c:pt>
                <c:pt idx="1">
                  <c:v>139</c:v>
                </c:pt>
                <c:pt idx="2">
                  <c:v>89</c:v>
                </c:pt>
                <c:pt idx="3">
                  <c:v>79</c:v>
                </c:pt>
                <c:pt idx="4">
                  <c:v>182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2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959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B9599"/>
                    </a:solidFill>
                    <a:latin typeface="Arial"/>
                  </a:rPr>
                  <a:t>Number of reviews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2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5525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reviews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customer support</c:v>
                  </c:pt>
                  <c:pt idx="1">
                    <c:v>payment</c:v>
                  </c:pt>
                  <c:pt idx="2">
                    <c:v>bug glitch</c:v>
                  </c:pt>
                  <c:pt idx="3">
                    <c:v>ui ux</c:v>
                  </c:pt>
                  <c:pt idx="4">
                    <c:v>login auth</c:v>
                  </c:pt>
                  <c:pt idx="5">
                    <c:v>delivery order</c:v>
                  </c:pt>
                  <c:pt idx="6">
                    <c:v>performance slow</c:v>
                  </c:pt>
                  <c:pt idx="7">
                    <c:v>crash</c:v>
                  </c:pt>
                  <c:pt idx="8">
                    <c:v>ads spam</c:v>
                  </c:pt>
                  <c:pt idx="9">
                    <c:v>notifications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26.1</c:v>
                </c:pt>
                <c:pt idx="1">
                  <c:v>16.3</c:v>
                </c:pt>
                <c:pt idx="2">
                  <c:v>6.3</c:v>
                </c:pt>
                <c:pt idx="3">
                  <c:v>3.2</c:v>
                </c:pt>
                <c:pt idx="4">
                  <c:v>3</c:v>
                </c:pt>
                <c:pt idx="5">
                  <c:v>2.8</c:v>
                </c:pt>
                <c:pt idx="6">
                  <c:v>2</c:v>
                </c:pt>
                <c:pt idx="7">
                  <c:v>1.5</c:v>
                </c:pt>
                <c:pt idx="8">
                  <c:v>1.4</c:v>
                </c:pt>
                <c:pt idx="9">
                  <c:v>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E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2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2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PhonePe</c:v>
                  </c:pt>
                  <c:pt idx="1">
                    <c:v>Paytm</c:v>
                  </c:pt>
                  <c:pt idx="2">
                    <c:v>Swiggy</c:v>
                  </c:pt>
                  <c:pt idx="3">
                    <c:v>Myntra</c:v>
                  </c:pt>
                  <c:pt idx="4">
                    <c:v>Zomato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-0.949</c:v>
                </c:pt>
                <c:pt idx="1">
                  <c:v>-0.938</c:v>
                </c:pt>
                <c:pt idx="2">
                  <c:v>-0.875</c:v>
                </c:pt>
                <c:pt idx="3">
                  <c:v>-0.802</c:v>
                </c:pt>
                <c:pt idx="4">
                  <c:v>-0.213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B9CBD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  <c:min val="-1.1"/>
        </c:scaling>
        <c:delete val="0"/>
        <c:axPos val="b"/>
        <c:majorGridlines>
          <c:spPr>
            <a:ln w="12700" cap="flat">
              <a:solidFill>
                <a:srgbClr val="2440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CBD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2A38"/>
        </a:solidFill>
        <a:ln>
          <a:noFill/>
        </a:ln>
        <a:effectLst/>
      </c:spPr>
    </c:plotArea>
    <c:plotVisOnly val="1"/>
    <c:dispBlanksAs val="span"/>
  </c:chart>
  <c:spPr>
    <a:solidFill>
      <a:srgbClr val="0E2A3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worst</c:v>
                  </c:pt>
                  <c:pt idx="1">
                    <c:v>bad</c:v>
                  </c:pt>
                  <c:pt idx="2">
                    <c:v>useless</c:v>
                  </c:pt>
                  <c:pt idx="3">
                    <c:v>disappointed</c:v>
                  </c:pt>
                  <c:pt idx="4">
                    <c:v>pathetic</c:v>
                  </c:pt>
                  <c:pt idx="5">
                    <c:v>fraud</c:v>
                  </c:pt>
                  <c:pt idx="6">
                    <c:v>disappointing</c:v>
                  </c:pt>
                  <c:pt idx="7">
                    <c:v>customer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6.755</c:v>
                </c:pt>
                <c:pt idx="1">
                  <c:v>3.752</c:v>
                </c:pt>
                <c:pt idx="2">
                  <c:v>3.424</c:v>
                </c:pt>
                <c:pt idx="3">
                  <c:v>3.382</c:v>
                </c:pt>
                <c:pt idx="4">
                  <c:v>3.356</c:v>
                </c:pt>
                <c:pt idx="5">
                  <c:v>3.176</c:v>
                </c:pt>
                <c:pt idx="6">
                  <c:v>3.13</c:v>
                </c:pt>
                <c:pt idx="7">
                  <c:v>3.05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E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552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2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REVIEW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Update Impact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Failure Detection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B9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user-reported issues in Play Store reviews, tracking them against app updates, and predicting which reviews signal real trouble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49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14,988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52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F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ANALYZED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5349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5852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F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STUDIED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5349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2018–2026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5852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F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COVERED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drop before anyone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exactly why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teams usually learn an update hurt the user experience only after the star rating has already fallen — visible to every future customer on the listing page.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mines review text directly for the issue behind the rating — crashes, login failures, payment errors, support complaints — and tests whether that signal moves ahead of the rating itself.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4F6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rating today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1856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4.50 ★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2606040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4F6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rating today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784080" y="2770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4.56 ★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0" y="3520440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4F6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rating today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3685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4.60 ★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4434840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4F6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rating today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45994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4.66 ★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5349240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4F6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5440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rating today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784080" y="5513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4.43 ★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live-scraped dataset,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downloaded 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via google-play-scraper — calls Google's own internal Play Store endpoint directly. No HTML scraping, no login, no anti-bot friction.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API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Swiggy, Zomato, Myntra, Paytm, PhonePe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METHOD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MOST_RELEVANT (paginated)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content, thumbs_up, version, date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VOLUME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178308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4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178308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37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0939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pulled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92240" y="2532888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4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2532888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2587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8437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dedupe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92240" y="3282696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4F6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3282696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593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text removed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92240" y="4032504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4F6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0" y="4032504"/>
            <a:ext cx="4842443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29400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14,988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4343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removed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9194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14,988 reviews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468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DATASET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THE NEXT SLIDE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sample is complaint-heavy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on purpose, and disclosed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MOST_RELEVANT sort was needed to reach back into review history — but Play Store users upvote complaints far more than praise. The result: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4.43 – 4.66 ★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public rating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these 5 apps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33375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74.1%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1–2★ in our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sample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33375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 in our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sample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532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i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from here on should be read as “among reviews other users found notable enough to upvote,” never as “among all users.”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distribution, by app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64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people actually complain about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keyword tagging across all 14,988 reviews — transparent, auditable rules rather than a black-box model.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FINDING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issue mentions rise,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fall — in the same month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514600"/>
          <a:ext cx="110642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free text into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model-ready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50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245059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features from review text — unigrams + bigrams, stopwords removed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19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33192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to 50 components, capturing 26.2% of variance — the dimensionality-reduction step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Structural features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418795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issue-category flags, review length, thumbs-up count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E457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56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62 features → 1 target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505663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is_problematic: 1 if rating ≤ 2★, else 0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flag a problematic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from its text alone?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651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88.4%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24688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2651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0.945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24688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2651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(PROBLEMATIC CLASS)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800→62 engineered features, 80/20 stratified split, class-balanced. Random Forest scored within 1pt on every metric — logistic regression is preferred for its interpretability.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words push a review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“problematic”?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514600"/>
          <a:ext cx="11064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6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5420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Issue-mentions lead ratings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26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apps show strong negative correlation — a rising complaint rate this month is an early warning for next month's rating.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21608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7F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84048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not just bugs, drives the sharpest drops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2452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“customer_support” is the top co-occurring issue in every app's worst rating months — more than crashes or payment failures alone.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020056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5138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alone triages reviews at 88%+ accuracy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52297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enough to auto-route high-confidence problematic reviews to the right team by which issue flag fired.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2: from findings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forecasts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6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next month's issue-mention rate and rating per app, using the monthly trend table built 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6F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implemented — extend with topic modelling (LDA) for a finer-grained issue taxonomy.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6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2A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5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Tableau: app-selector parameter, dual-axis trend chart, drill-down into flagged reviews.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9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Update Impact &amp; Failure Detection  ·  Capstone Review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2026-09-20T12:06:36Z</dcterms:created>
  <dcterms:modified xsi:type="dcterms:W3CDTF">2026-09-20T12:06:36Z</dcterms:modified>
</cp:coreProperties>
</file>