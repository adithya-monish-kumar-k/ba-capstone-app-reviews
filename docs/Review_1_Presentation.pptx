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6793b8a7-60ba-bef5-5501-ed04c7379a80}">
          <p14:sldIdLst>
            <p14:sldId id="256"/>
          </p14:sldIdLst>
        </p14:section>
        <p14:section name="Problem Statement and Research Gap" id="{94136dc8-246a-6287-d368-9f67e182bb9c}">
          <p14:sldIdLst>
            <p14:sldId id="257"/>
            <p14:sldId id="258"/>
          </p14:sldIdLst>
        </p14:section>
        <p14:section name="Dataset Description" id="{85efe6b1-7487-0cf2-715e-78a323dd4b6e}">
          <p14:sldIdLst>
            <p14:sldId id="259"/>
            <p14:sldId id="260"/>
            <p14:sldId id="261"/>
          </p14:sldIdLst>
        </p14:section>
        <p14:section name="Data Cleaning and Preprocessing" id="{e1e61972-6582-6d39-6d03-fce88c70516a}">
          <p14:sldIdLst>
            <p14:sldId id="262"/>
            <p14:sldId id="263"/>
          </p14:sldIdLst>
        </p14:section>
        <p14:section name="Exploratory Analysis and Visualization" id="{687bf704-ea73-6c76-a3be-b1fcaa906d79}">
          <p14:sldIdLst>
            <p14:sldId id="264"/>
            <p14:sldId id="265"/>
            <p14:sldId id="266"/>
            <p14:sldId id="267"/>
          </p14:sldIdLst>
        </p14:section>
        <p14:section name="Feature Engineering or Dimensionality Reduction" id="{94fb782a-377f-590b-81ae-0e9bb91a4463}">
          <p14:sldIdLst>
            <p14:sldId id="268"/>
            <p14:sldId id="269"/>
          </p14:sldIdLst>
        </p14:section>
        <p14:section name="Predictive Model Development" id="{8771cbc1-4848-44e8-59f8-e36842f8a4dd}">
          <p14:sldIdLst>
            <p14:sldId id="270"/>
          </p14:sldIdLst>
        </p14:section>
        <p14:section name="Model Evaluation and Result Interpretation" id="{f8ef704e-0358-81ce-e281-2e6c327e1876}">
          <p14:sldIdLst>
            <p14:sldId id="271"/>
            <p14:sldId id="272"/>
            <p14:sldId id="273"/>
            <p14:sldId id="274"/>
          </p14:sldIdLst>
        </p14:section>
        <p14:section name="Project Tracking and Progress" id="{7c72caa0-e051-27e3-d21d-008b41402959}">
          <p14:sldIdLst>
            <p14:sldId id="275"/>
          </p14:sldIdLst>
        </p14:section>
        <p14:section name="Individual Contributions and Next Steps" id="{ea6ed859-cbaa-afa0-7fa7-8baae5c049e8}">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C43"/>
                </a:solidFill>
                <a:latin typeface="+mn-lt"/>
              </a:defRPr>
            </a:pPr>
            <a:r>
              <a:rPr sz="1400" b="0" i="0" u="none" strike="noStrike">
                <a:solidFill>
                  <a:srgbClr val="132C43"/>
                </a:solidFill>
                <a:latin typeface="+mn-lt"/>
              </a:rPr>
              <a:t>Prediction target</a:t>
            </a:r>
          </a:p>
        </c:rich>
      </c:tx>
      <c:layout/>
      <c:overlay val="0"/>
    </c:title>
    <c:autoTitleDeleted val="0"/>
    <c:plotArea>
      <c:layout/>
      <c:doughnutChart>
        <c:varyColors val="1"/>
        <c:ser>
          <c:idx val="0"/>
          <c:order val="0"/>
          <c:tx>
            <c:strRef>
              <c:f>Sheet1!$B$1</c:f>
              <c:strCache>
                <c:ptCount val="1"/>
                <c:pt idx="0">
                  <c:v>Target</c:v>
                </c:pt>
              </c:strCache>
            </c:strRef>
          </c:tx>
          <c:spPr>
            <a:solidFill>
              <a:schemeClr val="accent1"/>
            </a:solidFill>
            <a:ln w="9525" cap="flat">
              <a:solidFill>
                <a:srgbClr val="F9F9F9"/>
              </a:solidFill>
              <a:prstDash val="solid"/>
              <a:round/>
            </a:ln>
            <a:effectLst/>
          </c:spPr>
          <c:dPt>
            <c:idx val="0"/>
            <c:bubble3D val="0"/>
            <c:spPr>
              <a:solidFill>
                <a:srgbClr val="C93A39"/>
              </a:solidFill>
              <a:effectLst/>
            </c:spPr>
          </c:dPt>
          <c:dPt>
            <c:idx val="1"/>
            <c:bubble3D val="0"/>
            <c:spPr>
              <a:solidFill>
                <a:srgbClr val="2A78D6"/>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Problematic (1-2 stars)</c:v>
                </c:pt>
                <c:pt idx="1">
                  <c:v>Not problematic (3-5 stars)</c:v>
                </c:pt>
              </c:strCache>
            </c:strRef>
          </c:cat>
          <c:val>
            <c:numRef>
              <c:f>Sheet1!$B$2:$B$3</c:f>
              <c:numCache>
                <c:ptCount val="2"/>
                <c:pt idx="0">
                  <c:v>221581</c:v>
                </c:pt>
                <c:pt idx="1">
                  <c:v>916406</c:v>
                </c:pt>
              </c:numCache>
            </c:numRef>
          </c:val>
        </c:ser>
        <c:firstSliceAng val="0"/>
        <c:holeSize val="58"/>
      </c:doughnutChart>
      <c:spPr>
        <a:noFill/>
        <a:ln>
          <a:noFill/>
        </a:ln>
        <a:effectLst/>
      </c:spPr>
    </c:plotArea>
    <c:legend>
      <c:legendPos val="b"/>
      <c:overlay val="0"/>
      <c:txPr>
        <a:bodyPr/>
        <a:lstStyle/>
        <a:p>
          <a:pPr>
            <a:defRPr sz="1200">
              <a:solidFill>
                <a:srgbClr val="1F2D3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we collected every Play Store review of 11 Indian consumer apps ourselves (1.14 million after cleaning) and built a pipeline from raw reviews to a classifier that flags problem reviews. Review 1 covers Units 1 and 2: data, cleaning, EDA, features, model and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apps like Flipkart, Blinkit and Zomato receive hundreds to over a thousand reviews a day. A team cannot read them all, so failed payments, late deliveries, refund problems and bad updates are noticed late. Research gap: published review mining treats reviews as one fixed set with generic labels, rarely follows complaints over time, and rarely checks how the collection method biases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work: Pagano and Maalej showed reviews contain bug reports and feature requests; AR-Miner filters and groups reviews by topic; Guzman and Maalej combine features with sentiment; Maalej and Nabil classify reviews; VADER scores short informal text. Our approach combines collection, issue tagging, sentiment, EDA with bias checks, and a classifier in one pipeline. The objective is a quick view for a product or support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our own: collected with the google-play-scraper package, sorted newest first, every English review from India between 1 April and 20 September 2026. Because we collect everything since one date, every app has exactly the same window, so apps and weeks can be compared directly. No Kaggle, UCI or GitHub dataset was used, as the rubric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variables: the app, the star rating, the review text, helpful votes, the app version the reviewer had, and the date. From the text we derive length, nine issue flags and VADER sentiment scores. The prediction target is whether the rating is 1 or 2 stars, which is the minority class at 19.5%.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sample from the tagged dataset. Notice the last row: a user gave 5 stars to a complaint, which is why the target is a noisy proxy. Limitations to remember: reviews are very short, written reviews are harsher than the public rating, positive reviews are missing from the feed for two weeks, and app version is missing for 13.4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values: only app_version is missing, 13.4 percent, and we keep those rows because the version is not a model feature and the text is still valid. Duplicates: none by review ID. Outliers: thumbs_up and review length are heavy-tailed; the large values are real, so we keep them and use medians, log scale and rank-based tests. We also caught a bug in our own first language rule: it counted emojis as non-Latin and wrongly removed about 76,000 short English reviews like good with a thumbs-up. We changed it to judge letters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and scaling: the review text becomes TF-IDF numbers, the nine issue categories become 0 or 1 columns, and the 15 structural features are standardised so that upvotes, which reach 11 thousand, do not swamp a 0 or 1 flag. Before and after: 1.20 million rows become 1.14 million, and the columns go from 9 raw to 11 after cleaning to 29 after tagging and sentiment. The screenshot is the executed notebook cell that does the cleaning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1. Amazon and Swiggy are far harsher than every other app, 54 and 35 percent of their reviews are one or two stars, against 10 to 24 percent for the rest. The right panel shows written reviews are below each app's public rating because the public rating also counts star-only ratings. Business meaning: the differences between apps are real and lasting, so compare apps with each other and never quote absolute satisfaction.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each domain the apps are ranked from the most to the least negative, with each app's top two issues beside the bar. Swiggy is the weakest food app, with support and delivery delay as its top issues. Amazon is the weakest shopping app, led by support and cancellations and returns. In payments, Google Pay and Paytm lead with crash and stability. Blinkit and Zomato are a near-tie and swap order if the late-April feed gap is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late delivery is not an app failure. Using the issue tags, most complaints that name an issue are about the service. This is why we describe the classifier as finding dissatisfied users. The tags are keyword rules, not human labels, and over half of the low-star reviews have no tag, so treat the shares as lower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3, the collection artefact. Positive reviews, the short ones like good and nice, disappear from the feed for two weeks for five apps, while negative reviews barely change. Negative reviews did not rise, so users did not get angrier, and a scraper failure would remove all reviews alike, so the cause is on the Play Store side. Share-based metrics are fragile; counts of negatives per day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review is turned into 215 numbers. Nine issue flags come from keyword rules, four sentiment scores from VADER, two simple numbers are the length and the upvotes, and 200 text components come from TF-IDF on 20,000 words and phrases reduced by Truncated SVD. The structural features are standardised.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method. A 1.1 million by 20,000 sparse matrix is slow and noisy for a Random Forest, so SVD gives a small dense matrix. We keep stop words so that not good is not read as good. Issue flags and sentiment add meaning single words miss, and the length is kept because complaints are much longer than praise. Effect: 100 times fewer text columns while keeping 62.7 percent of the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is binary classification: is a review rated one or two stars. We compare a majority-class baseline with two models: Logistic Regression, a fast interpretable linear model, and Random Forest, which learns non-linear interactions and gives feature importance. Using one linear and one tree model shows two kinds of error. The data is split 80 20, stratified, and we add an out-of-time test: train on April to August and test on 1 to 20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 227,598 held-out reviews. Because only 19.5 percent of reviews are problems, a model that never flags anything scores 80.5 percent accuracy but finds nothing, so we lead with PR-AUC. Both models reach a PR-AUC of 0.87 against 0.195 for random guessing, and find 86 to 87 percent of the complaints. Logistic Regression is more precise; Random Forest has the higher recall and PR-AUC. R squared, MAE, MSE and RMSE are regression metrics and do not apply to this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precision-recall curves sit far above the dashed 19.5 percent base rate. At 80 percent recall the precision is 0.85 for Random Forest and 0.84 for Logistic Regression; at 90 percent recall both are 0.58, about three times the base rate. The two curves almost overlap, so the models rank reviews alike and the difference is mainly where the 0.5 threshold falls on each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Strengths: PR-AUC of 0.87 is more than four times the base rate, the models find about 86 to 87 percent of complaints, they hold on later weeks, and the intervals are narrow. Limitations: the target is the star rating, so the model predicts a low rating, not a confirmed failure; some users give one star with praise text. Most reviews are one to three words so the model mostly reads sentiment, and payment apps are hardest.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team can do with this. One: triage reviews automatically; about three in four flagged reviews are real complaints. Two: route by cause, because 91 percent of tagged complaints are about service. Three: each app has its own first fix. Four: track counts of negative reviews per day, not percentages, because of the feed gap. Five: choose the model by cost; payment apps need a human to check the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track the work on a GitHub Projects board with the five required stages: Backlog, To Do, In Progress, Review or Testing, and Completed. All 15 tasks are Completed, each with an assignee, a due date and a linked pull request as evidence. The table groups the tasks by owner, and the screenshot is the board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Aditya built the scraper, ran the full collection and the cleaning, and wrote the dataset documentation. Saketh and Akshay built the EDA script, charts and statistical tests. Harshini and Kanishka built the features, trained and evaluated the two classifiers and produced the evaluation charts. Review 1 work is complete. For Review 2 the plan is text mining and time-series forecasting, an interactive dashboard, and combined recommendations with the final report, all rebuilt on the 1.14 million-review dataset. Each member should be ready to explain their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640080" y="6446520"/>
            <a:ext cx="7315200" cy="256032"/>
          </a:xfrm>
          <a:prstGeom prst="rect">
            <a:avLst/>
          </a:prstGeom>
          <a:noFill/>
          <a:ln/>
        </p:spPr>
        <p:txBody>
          <a:bodyPr wrap="square" lIns="0" tIns="0" rIns="0" bIns="0" rtlCol="0" anchor="ctr"/>
          <a:lstStyle/>
          <a:p>
            <a:pPr indent="0" marL="0">
              <a:buNone/>
            </a:pPr>
            <a:r>
              <a:rPr lang="en-US" sz="1000" dirty="0">
                <a:solidFill>
                  <a:schemeClr val="accent6"/>
                </a:solidFill>
              </a:rPr>
              <a:t>Team 10  |  23CSE452 Business Analytics  |  Review 1</a:t>
            </a:r>
            <a:endParaRPr lang="en-US" sz="1000" dirty="0"/>
          </a:p>
        </p:txBody>
      </p:sp>
      <p:sp>
        <p:nvSpPr>
          <p:cNvPr id="3" name="Text 1"/>
          <p:cNvSpPr/>
          <p:nvPr>
            <p:ph idx="101" type="body" hasCustomPrompt="1"/>
          </p:nvPr>
        </p:nvSpPr>
        <p:spPr>
          <a:xfrm>
            <a:off x="640080" y="292608"/>
            <a:ext cx="10881360" cy="274320"/>
          </a:xfrm>
          <a:prstGeom prst="rect">
            <a:avLst/>
          </a:prstGeom>
          <a:noFill/>
          <a:ln/>
        </p:spPr>
        <p:txBody>
          <a:bodyPr wrap="square" rtlCol="0"/>
          <a:lstStyle>
            <a:lvl1pPr algn="l" indent="0" marL="0">
              <a:buNone/>
              <a:defRPr lang="en-US" sz="1100" b="1" spc="200" kern="0" dirty="0">
                <a:solidFill>
                  <a:schemeClr val="accent6"/>
                </a:solidFill>
              </a:defRPr>
            </a:lvl1pPr>
          </a:lstStyle>
          <a:p>
            <a:pPr algn="l" indent="0" marL="0">
              <a:buNone/>
            </a:pPr>
            <a:endParaRPr lang="en-US" sz="1100" dirty="0"/>
          </a:p>
        </p:txBody>
      </p:sp>
      <p:sp>
        <p:nvSpPr>
          <p:cNvPr id="4" name="Text 1"/>
          <p:cNvSpPr/>
          <p:nvPr>
            <p:ph idx="102" type="title" hasCustomPrompt="1"/>
          </p:nvPr>
        </p:nvSpPr>
        <p:spPr>
          <a:xfrm>
            <a:off x="640080" y="566928"/>
            <a:ext cx="1088136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txBox="1"/>
          <p:nvPr/>
        </p:nvSpPr>
        <p:spPr>
          <a:xfrm>
            <a:off x="731520" y="6446520"/>
            <a:ext cx="7315200" cy="256032"/>
          </a:xfrm>
          <a:prstGeom prst="rect">
            <a:avLst/>
          </a:prstGeom>
          <a:noFill/>
          <a:ln/>
        </p:spPr>
        <p:txBody>
          <a:bodyPr wrap="square" lIns="0" tIns="0" rIns="0" bIns="0" rtlCol="0" anchor="ctr"/>
          <a:lstStyle/>
          <a:p>
            <a:pPr indent="0" marL="0">
              <a:buNone/>
            </a:pPr>
            <a:r>
              <a:rPr lang="en-US" sz="1000" dirty="0">
                <a:solidFill>
                  <a:schemeClr val="bg2"/>
                </a:solidFill>
              </a:rPr>
              <a:t>Team 10  |  23CSE452 Business Analytics  |  Review 1</a:t>
            </a:r>
            <a:endParaRPr lang="en-US" sz="1000" dirty="0"/>
          </a:p>
        </p:txBody>
      </p:sp>
      <p:sp>
        <p:nvSpPr>
          <p:cNvPr id="3" name="Text 1"/>
          <p:cNvSpPr/>
          <p:nvPr>
            <p:ph idx="101" type="body" hasCustomPrompt="1"/>
          </p:nvPr>
        </p:nvSpPr>
        <p:spPr>
          <a:xfrm>
            <a:off x="731520" y="502920"/>
            <a:ext cx="10698480" cy="320040"/>
          </a:xfrm>
          <a:prstGeom prst="rect">
            <a:avLst/>
          </a:prstGeom>
          <a:noFill/>
          <a:ln/>
        </p:spPr>
        <p:txBody>
          <a:bodyPr wrap="square" rtlCol="0"/>
          <a:lstStyle>
            <a:lvl1pPr algn="l" indent="0" marL="0">
              <a:buNone/>
              <a:defRPr lang="en-US" sz="1300" b="1" spc="200" kern="0" dirty="0">
                <a:solidFill>
                  <a:schemeClr val="bg2"/>
                </a:solidFill>
              </a:defRPr>
            </a:lvl1pPr>
          </a:lstStyle>
          <a:p>
            <a:pPr algn="l" indent="0" marL="0">
              <a:buNone/>
            </a:pPr>
            <a:endParaRPr lang="en-US" sz="1300" dirty="0"/>
          </a:p>
        </p:txBody>
      </p:sp>
      <p:sp>
        <p:nvSpPr>
          <p:cNvPr id="4" name="Text 1"/>
          <p:cNvSpPr/>
          <p:nvPr>
            <p:ph idx="102" type="title" hasCustomPrompt="1"/>
          </p:nvPr>
        </p:nvSpPr>
        <p:spPr>
          <a:xfrm>
            <a:off x="731520" y="1005840"/>
            <a:ext cx="1069848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731520" y="502920"/>
            <a:ext cx="10698480" cy="320040"/>
          </a:xfrm>
          <a:prstGeom prst="rect">
            <a:avLst/>
          </a:prstGeom>
          <a:noFill/>
          <a:ln/>
        </p:spPr>
        <p:txBody>
          <a:bodyPr wrap="square" lIns="0" tIns="0" rIns="0" bIns="0" rtlCol="0" anchor="t"/>
          <a:lstStyle/>
          <a:p>
            <a:pPr algn="l" indent="0" marL="0">
              <a:buNone/>
            </a:pPr>
            <a:r>
              <a:rPr lang="en-US" sz="1300" b="1" spc="200" kern="0" dirty="0">
                <a:solidFill>
                  <a:schemeClr val="bg2"/>
                </a:solidFill>
              </a:rPr>
              <a:t>REVIEW 1  |  23CSE452 BUSINESS ANALYTICS  |  DATA ANALYSIS AND PREDICTIVE MODELLING</a:t>
            </a:r>
            <a:endParaRPr lang="en-US" sz="1300" dirty="0"/>
          </a:p>
        </p:txBody>
      </p:sp>
      <p:sp>
        <p:nvSpPr>
          <p:cNvPr id="3" name="Text 1"/>
          <p:cNvSpPr/>
          <p:nvPr>
            <p:ph idx="102" type="title" hasCustomPrompt="1"/>
          </p:nvPr>
        </p:nvSpPr>
        <p:spPr>
          <a:xfrm>
            <a:off x="731520" y="1005840"/>
            <a:ext cx="10698480" cy="1463040"/>
          </a:xfrm>
          <a:prstGeom prst="rect">
            <a:avLst/>
          </a:prstGeom>
          <a:noFill/>
          <a:ln/>
        </p:spPr>
        <p:txBody>
          <a:bodyPr wrap="square" lIns="0" tIns="0" rIns="0" bIns="0" rtlCol="0" anchor="t"/>
          <a:lstStyle/>
          <a:p>
            <a:pPr algn="l" indent="0" marL="0">
              <a:buNone/>
            </a:pPr>
            <a:r>
              <a:rPr lang="en-US" sz="4000" b="1" dirty="0">
                <a:solidFill>
                  <a:schemeClr val="bg1"/>
                </a:solidFill>
              </a:rPr>
              <a:t>Mobile App Update Impact and Failure Detection</a:t>
            </a:r>
            <a:endParaRPr lang="en-US" sz="4000" dirty="0"/>
          </a:p>
        </p:txBody>
      </p:sp>
      <p:sp>
        <p:nvSpPr>
          <p:cNvPr id="5" name="Text 2"/>
          <p:cNvSpPr txBox="1"/>
          <p:nvPr/>
        </p:nvSpPr>
        <p:spPr>
          <a:xfrm>
            <a:off x="731520" y="2331720"/>
            <a:ext cx="10698480" cy="365760"/>
          </a:xfrm>
          <a:prstGeom prst="rect">
            <a:avLst/>
          </a:prstGeom>
          <a:noFill/>
          <a:ln/>
        </p:spPr>
        <p:txBody>
          <a:bodyPr wrap="square" lIns="0" tIns="0" rIns="0" bIns="0" rtlCol="0" anchor="ctr"/>
          <a:lstStyle/>
          <a:p>
            <a:pPr indent="0" marL="0">
              <a:buNone/>
            </a:pPr>
            <a:r>
              <a:rPr lang="en-US" sz="1800" dirty="0">
                <a:solidFill>
                  <a:schemeClr val="bg2"/>
                </a:solidFill>
              </a:rPr>
              <a:t>1,137,987 Play Store reviews  |  11 apps  |  3 domains  |  collected by us, 1 April to 20 September 2026</a:t>
            </a:r>
            <a:endParaRPr lang="en-US" sz="1800" dirty="0"/>
          </a:p>
        </p:txBody>
      </p:sp>
      <p:sp>
        <p:nvSpPr>
          <p:cNvPr id="6" name="Text 3"/>
          <p:cNvSpPr txBox="1"/>
          <p:nvPr/>
        </p:nvSpPr>
        <p:spPr>
          <a:xfrm>
            <a:off x="731520" y="3246120"/>
            <a:ext cx="5486400" cy="365760"/>
          </a:xfrm>
          <a:prstGeom prst="rect">
            <a:avLst/>
          </a:prstGeom>
          <a:noFill/>
          <a:ln/>
        </p:spPr>
        <p:txBody>
          <a:bodyPr wrap="square" lIns="0" tIns="0" rIns="0" bIns="0" rtlCol="0" anchor="ctr"/>
          <a:lstStyle/>
          <a:p>
            <a:pPr indent="0" marL="0">
              <a:buNone/>
            </a:pPr>
            <a:r>
              <a:rPr lang="en-US" sz="1800" b="1" dirty="0">
                <a:solidFill>
                  <a:schemeClr val="bg1"/>
                </a:solidFill>
              </a:rPr>
              <a:t>Team number: 10</a:t>
            </a:r>
            <a:endParaRPr lang="en-US" sz="1800" dirty="0"/>
          </a:p>
        </p:txBody>
      </p:sp>
      <p:sp>
        <p:nvSpPr>
          <p:cNvPr id="7" name="Text 4"/>
          <p:cNvSpPr txBox="1"/>
          <p:nvPr/>
        </p:nvSpPr>
        <p:spPr>
          <a:xfrm>
            <a:off x="731520" y="3840480"/>
            <a:ext cx="3840480" cy="365760"/>
          </a:xfrm>
          <a:prstGeom prst="rect">
            <a:avLst/>
          </a:prstGeom>
          <a:noFill/>
          <a:ln/>
        </p:spPr>
        <p:txBody>
          <a:bodyPr wrap="square" lIns="0" tIns="0" rIns="0" bIns="0" rtlCol="0" anchor="ctr"/>
          <a:lstStyle/>
          <a:p>
            <a:pPr indent="0" marL="0">
              <a:buNone/>
            </a:pPr>
            <a:r>
              <a:rPr lang="en-US" sz="1800" dirty="0">
                <a:solidFill>
                  <a:schemeClr val="bg1"/>
                </a:solidFill>
              </a:rPr>
              <a:t>Aditya Monish Kumar K</a:t>
            </a:r>
            <a:endParaRPr lang="en-US" sz="1800" dirty="0"/>
          </a:p>
        </p:txBody>
      </p:sp>
      <p:sp>
        <p:nvSpPr>
          <p:cNvPr id="8" name="Text 5"/>
          <p:cNvSpPr txBox="1"/>
          <p:nvPr/>
        </p:nvSpPr>
        <p:spPr>
          <a:xfrm>
            <a:off x="4572000" y="3840480"/>
            <a:ext cx="2926080" cy="365760"/>
          </a:xfrm>
          <a:prstGeom prst="rect">
            <a:avLst/>
          </a:prstGeom>
          <a:noFill/>
          <a:ln/>
        </p:spPr>
        <p:txBody>
          <a:bodyPr wrap="square" lIns="0" tIns="0" rIns="0" bIns="0" rtlCol="0" anchor="ctr"/>
          <a:lstStyle/>
          <a:p>
            <a:pPr indent="0" marL="0">
              <a:buNone/>
            </a:pPr>
            <a:r>
              <a:rPr lang="en-US" sz="1800" dirty="0">
                <a:solidFill>
                  <a:schemeClr val="bg2"/>
                </a:solidFill>
              </a:rPr>
              <a:t>CB.SC.U4CSE23103</a:t>
            </a:r>
            <a:endParaRPr lang="en-US" sz="1800" dirty="0"/>
          </a:p>
        </p:txBody>
      </p:sp>
      <p:sp>
        <p:nvSpPr>
          <p:cNvPr id="9" name="Text 6"/>
          <p:cNvSpPr txBox="1"/>
          <p:nvPr/>
        </p:nvSpPr>
        <p:spPr>
          <a:xfrm>
            <a:off x="731520" y="4297680"/>
            <a:ext cx="3840480" cy="365760"/>
          </a:xfrm>
          <a:prstGeom prst="rect">
            <a:avLst/>
          </a:prstGeom>
          <a:noFill/>
          <a:ln/>
        </p:spPr>
        <p:txBody>
          <a:bodyPr wrap="square" lIns="0" tIns="0" rIns="0" bIns="0" rtlCol="0" anchor="ctr"/>
          <a:lstStyle/>
          <a:p>
            <a:pPr indent="0" marL="0">
              <a:buNone/>
            </a:pPr>
            <a:r>
              <a:rPr lang="en-US" sz="1800" dirty="0">
                <a:solidFill>
                  <a:schemeClr val="bg1"/>
                </a:solidFill>
              </a:rPr>
              <a:t>Regella Krishna Saketh</a:t>
            </a:r>
            <a:endParaRPr lang="en-US" sz="1800" dirty="0"/>
          </a:p>
        </p:txBody>
      </p:sp>
      <p:sp>
        <p:nvSpPr>
          <p:cNvPr id="10" name="Text 7"/>
          <p:cNvSpPr txBox="1"/>
          <p:nvPr/>
        </p:nvSpPr>
        <p:spPr>
          <a:xfrm>
            <a:off x="4572000" y="4297680"/>
            <a:ext cx="2926080" cy="365760"/>
          </a:xfrm>
          <a:prstGeom prst="rect">
            <a:avLst/>
          </a:prstGeom>
          <a:noFill/>
          <a:ln/>
        </p:spPr>
        <p:txBody>
          <a:bodyPr wrap="square" lIns="0" tIns="0" rIns="0" bIns="0" rtlCol="0" anchor="ctr"/>
          <a:lstStyle/>
          <a:p>
            <a:pPr indent="0" marL="0">
              <a:buNone/>
            </a:pPr>
            <a:r>
              <a:rPr lang="en-US" sz="1800" dirty="0">
                <a:solidFill>
                  <a:schemeClr val="bg2"/>
                </a:solidFill>
              </a:rPr>
              <a:t>CB.SC.U4CSE23649</a:t>
            </a:r>
            <a:endParaRPr lang="en-US" sz="1800" dirty="0"/>
          </a:p>
        </p:txBody>
      </p:sp>
      <p:sp>
        <p:nvSpPr>
          <p:cNvPr id="11" name="Text 8"/>
          <p:cNvSpPr txBox="1"/>
          <p:nvPr/>
        </p:nvSpPr>
        <p:spPr>
          <a:xfrm>
            <a:off x="731520" y="4754880"/>
            <a:ext cx="3840480" cy="365760"/>
          </a:xfrm>
          <a:prstGeom prst="rect">
            <a:avLst/>
          </a:prstGeom>
          <a:noFill/>
          <a:ln/>
        </p:spPr>
        <p:txBody>
          <a:bodyPr wrap="square" lIns="0" tIns="0" rIns="0" bIns="0" rtlCol="0" anchor="ctr"/>
          <a:lstStyle/>
          <a:p>
            <a:pPr indent="0" marL="0">
              <a:buNone/>
            </a:pPr>
            <a:r>
              <a:rPr lang="en-US" sz="1800" dirty="0">
                <a:solidFill>
                  <a:schemeClr val="bg1"/>
                </a:solidFill>
              </a:rPr>
              <a:t>Akshay KS</a:t>
            </a:r>
            <a:endParaRPr lang="en-US" sz="1800" dirty="0"/>
          </a:p>
        </p:txBody>
      </p:sp>
      <p:sp>
        <p:nvSpPr>
          <p:cNvPr id="12" name="Text 9"/>
          <p:cNvSpPr txBox="1"/>
          <p:nvPr/>
        </p:nvSpPr>
        <p:spPr>
          <a:xfrm>
            <a:off x="4572000" y="4754880"/>
            <a:ext cx="2926080" cy="365760"/>
          </a:xfrm>
          <a:prstGeom prst="rect">
            <a:avLst/>
          </a:prstGeom>
          <a:noFill/>
          <a:ln/>
        </p:spPr>
        <p:txBody>
          <a:bodyPr wrap="square" lIns="0" tIns="0" rIns="0" bIns="0" rtlCol="0" anchor="ctr"/>
          <a:lstStyle/>
          <a:p>
            <a:pPr indent="0" marL="0">
              <a:buNone/>
            </a:pPr>
            <a:r>
              <a:rPr lang="en-US" sz="1800" dirty="0">
                <a:solidFill>
                  <a:schemeClr val="bg2"/>
                </a:solidFill>
              </a:rPr>
              <a:t>CB.SC.U4CSE23104</a:t>
            </a:r>
            <a:endParaRPr lang="en-US" sz="1800" dirty="0"/>
          </a:p>
        </p:txBody>
      </p:sp>
      <p:sp>
        <p:nvSpPr>
          <p:cNvPr id="13" name="Text 10"/>
          <p:cNvSpPr txBox="1"/>
          <p:nvPr/>
        </p:nvSpPr>
        <p:spPr>
          <a:xfrm>
            <a:off x="731520" y="5212080"/>
            <a:ext cx="3840480" cy="365760"/>
          </a:xfrm>
          <a:prstGeom prst="rect">
            <a:avLst/>
          </a:prstGeom>
          <a:noFill/>
          <a:ln/>
        </p:spPr>
        <p:txBody>
          <a:bodyPr wrap="square" lIns="0" tIns="0" rIns="0" bIns="0" rtlCol="0" anchor="ctr"/>
          <a:lstStyle/>
          <a:p>
            <a:pPr indent="0" marL="0">
              <a:buNone/>
            </a:pPr>
            <a:r>
              <a:rPr lang="en-US" sz="1800" dirty="0">
                <a:solidFill>
                  <a:schemeClr val="bg1"/>
                </a:solidFill>
              </a:rPr>
              <a:t>Harshini Vennela</a:t>
            </a:r>
            <a:endParaRPr lang="en-US" sz="1800" dirty="0"/>
          </a:p>
        </p:txBody>
      </p:sp>
      <p:sp>
        <p:nvSpPr>
          <p:cNvPr id="14" name="Text 11"/>
          <p:cNvSpPr txBox="1"/>
          <p:nvPr/>
        </p:nvSpPr>
        <p:spPr>
          <a:xfrm>
            <a:off x="4572000" y="5212080"/>
            <a:ext cx="2926080" cy="365760"/>
          </a:xfrm>
          <a:prstGeom prst="rect">
            <a:avLst/>
          </a:prstGeom>
          <a:noFill/>
          <a:ln/>
        </p:spPr>
        <p:txBody>
          <a:bodyPr wrap="square" lIns="0" tIns="0" rIns="0" bIns="0" rtlCol="0" anchor="ctr"/>
          <a:lstStyle/>
          <a:p>
            <a:pPr indent="0" marL="0">
              <a:buNone/>
            </a:pPr>
            <a:r>
              <a:rPr lang="en-US" sz="1800" dirty="0">
                <a:solidFill>
                  <a:schemeClr val="bg2"/>
                </a:solidFill>
              </a:rPr>
              <a:t>CB.SC.U4CSE23455</a:t>
            </a:r>
            <a:endParaRPr lang="en-US" sz="1800" dirty="0"/>
          </a:p>
        </p:txBody>
      </p:sp>
      <p:sp>
        <p:nvSpPr>
          <p:cNvPr id="15" name="Text 12"/>
          <p:cNvSpPr txBox="1"/>
          <p:nvPr/>
        </p:nvSpPr>
        <p:spPr>
          <a:xfrm>
            <a:off x="731520" y="5669280"/>
            <a:ext cx="3840480" cy="365760"/>
          </a:xfrm>
          <a:prstGeom prst="rect">
            <a:avLst/>
          </a:prstGeom>
          <a:noFill/>
          <a:ln/>
        </p:spPr>
        <p:txBody>
          <a:bodyPr wrap="square" lIns="0" tIns="0" rIns="0" bIns="0" rtlCol="0" anchor="ctr"/>
          <a:lstStyle/>
          <a:p>
            <a:pPr indent="0" marL="0">
              <a:buNone/>
            </a:pPr>
            <a:r>
              <a:rPr lang="en-US" sz="1800" dirty="0">
                <a:solidFill>
                  <a:schemeClr val="bg1"/>
                </a:solidFill>
              </a:rPr>
              <a:t>Kanishka D</a:t>
            </a:r>
            <a:endParaRPr lang="en-US" sz="1800" dirty="0"/>
          </a:p>
        </p:txBody>
      </p:sp>
      <p:sp>
        <p:nvSpPr>
          <p:cNvPr id="16" name="Text 13"/>
          <p:cNvSpPr txBox="1"/>
          <p:nvPr/>
        </p:nvSpPr>
        <p:spPr>
          <a:xfrm>
            <a:off x="4572000" y="5669280"/>
            <a:ext cx="2926080" cy="365760"/>
          </a:xfrm>
          <a:prstGeom prst="rect">
            <a:avLst/>
          </a:prstGeom>
          <a:noFill/>
          <a:ln/>
        </p:spPr>
        <p:txBody>
          <a:bodyPr wrap="square" lIns="0" tIns="0" rIns="0" bIns="0" rtlCol="0" anchor="ctr"/>
          <a:lstStyle/>
          <a:p>
            <a:pPr indent="0" marL="0">
              <a:buNone/>
            </a:pPr>
            <a:r>
              <a:rPr lang="en-US" sz="1800" dirty="0">
                <a:solidFill>
                  <a:schemeClr val="bg2"/>
                </a:solidFill>
              </a:rPr>
              <a:t>CB.SC.U4CSE23155</a:t>
            </a:r>
            <a:endParaRPr lang="en-US" sz="1800" dirty="0"/>
          </a:p>
        </p:txBody>
      </p:sp>
      <p:sp>
        <p:nvSpPr>
          <p:cNvPr id="17" name="Text 14"/>
          <p:cNvSpPr txBox="1"/>
          <p:nvPr/>
        </p:nvSpPr>
        <p:spPr>
          <a:xfrm>
            <a:off x="8412480" y="5897880"/>
            <a:ext cx="3017520" cy="320040"/>
          </a:xfrm>
          <a:prstGeom prst="rect">
            <a:avLst/>
          </a:prstGeom>
          <a:noFill/>
          <a:ln/>
        </p:spPr>
        <p:txBody>
          <a:bodyPr wrap="square" lIns="0" tIns="0" rIns="0" bIns="0" rtlCol="0" anchor="ctr"/>
          <a:lstStyle/>
          <a:p>
            <a:pPr algn="r" indent="0" marL="0">
              <a:buNone/>
            </a:pPr>
            <a:r>
              <a:rPr lang="en-US" sz="1200" dirty="0">
                <a:solidFill>
                  <a:schemeClr val="bg2"/>
                </a:solidFill>
              </a:rPr>
              <a:t>Review 1 presentation: 20 marks</a:t>
            </a:r>
            <a:endParaRPr lang="en-US" sz="12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1  |  PROBLEM STATEMENT AND RESEARCH GAP (1 OF 2)</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Problem Statement and Research Gap</a:t>
            </a:r>
            <a:endParaRPr lang="en-US" sz="2800" dirty="0"/>
          </a:p>
        </p:txBody>
      </p:sp>
      <p:sp>
        <p:nvSpPr>
          <p:cNvPr id="5" name="problem card"/>
          <p:cNvSpPr/>
          <p:nvPr/>
        </p:nvSpPr>
        <p:spPr>
          <a:xfrm>
            <a:off x="640080" y="1417320"/>
            <a:ext cx="6949440" cy="2331720"/>
          </a:xfrm>
          <a:prstGeom prst="roundRect">
            <a:avLst>
              <a:gd name="adj" fmla="val 3137"/>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868680" y="1554480"/>
            <a:ext cx="6492240" cy="320040"/>
          </a:xfrm>
          <a:prstGeom prst="rect">
            <a:avLst/>
          </a:prstGeom>
          <a:noFill/>
          <a:ln/>
        </p:spPr>
        <p:txBody>
          <a:bodyPr wrap="square" lIns="0" tIns="0" rIns="0" bIns="0" rtlCol="0" anchor="ctr"/>
          <a:lstStyle/>
          <a:p>
            <a:pPr indent="0" marL="0">
              <a:buNone/>
            </a:pPr>
            <a:r>
              <a:rPr lang="en-US" sz="1600" b="1" dirty="0">
                <a:solidFill>
                  <a:schemeClr val="tx2"/>
                </a:solidFill>
              </a:rPr>
              <a:t>Problem statement</a:t>
            </a:r>
            <a:endParaRPr lang="en-US" sz="1600" dirty="0"/>
          </a:p>
        </p:txBody>
      </p:sp>
      <p:sp>
        <p:nvSpPr>
          <p:cNvPr id="7" name="Text 4"/>
          <p:cNvSpPr txBox="1"/>
          <p:nvPr/>
        </p:nvSpPr>
        <p:spPr>
          <a:xfrm>
            <a:off x="868680" y="1920240"/>
            <a:ext cx="6492240" cy="1783080"/>
          </a:xfrm>
          <a:prstGeom prst="rect">
            <a:avLst/>
          </a:prstGeom>
          <a:noFill/>
          <a:ln/>
        </p:spPr>
        <p:txBody>
          <a:bodyPr wrap="square" lIns="0" tIns="0" rIns="0" bIns="0" rtlCol="0" anchor="t"/>
          <a:lstStyle/>
          <a:p>
            <a:pPr indent="0" marL="0">
              <a:spcAft>
                <a:spcPts val="800"/>
              </a:spcAft>
              <a:buNone/>
            </a:pPr>
            <a:r>
              <a:rPr lang="en-US" sz="1600" dirty="0">
                <a:solidFill>
                  <a:srgbClr val="000000"/>
                </a:solidFill>
              </a:rPr>
              <a:t>Indian consumer apps get hundreds to over a thousand Play Store reviews every day. Many report real problems: a failed payment, a late delivery, a refund that never came, an app that crashes after an update.</a:t>
            </a:r>
            <a:endParaRPr lang="en-US" sz="1600" dirty="0"/>
          </a:p>
          <a:p>
            <a:pPr indent="0" marL="0">
              <a:spcAft>
                <a:spcPts val="800"/>
              </a:spcAft>
              <a:buNone/>
            </a:pPr>
            <a:r>
              <a:rPr lang="en-US" sz="1600" dirty="0">
                <a:solidFill>
                  <a:srgbClr val="000000"/>
                </a:solidFill>
              </a:rPr>
              <a:t>A product team cannot read them all. Problems are noticed late, and it is hard to say which problem is biggest or whether things are getting better or worse.</a:t>
            </a:r>
            <a:endParaRPr lang="en-US" sz="1600" dirty="0"/>
          </a:p>
        </p:txBody>
      </p:sp>
      <p:sp>
        <p:nvSpPr>
          <p:cNvPr id="8" name="Text 5"/>
          <p:cNvSpPr txBox="1"/>
          <p:nvPr/>
        </p:nvSpPr>
        <p:spPr>
          <a:xfrm>
            <a:off x="8001000" y="1325880"/>
            <a:ext cx="356616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1,539</a:t>
            </a:r>
            <a:endParaRPr lang="en-US" sz="4000" dirty="0"/>
          </a:p>
        </p:txBody>
      </p:sp>
      <p:sp>
        <p:nvSpPr>
          <p:cNvPr id="9" name="Text 6"/>
          <p:cNvSpPr txBox="1"/>
          <p:nvPr/>
        </p:nvSpPr>
        <p:spPr>
          <a:xfrm>
            <a:off x="8001000" y="2039112"/>
            <a:ext cx="3566160" cy="502920"/>
          </a:xfrm>
          <a:prstGeom prst="rect">
            <a:avLst/>
          </a:prstGeom>
          <a:noFill/>
          <a:ln/>
        </p:spPr>
        <p:txBody>
          <a:bodyPr wrap="square" lIns="0" tIns="0" rIns="0" bIns="0" rtlCol="0" anchor="t"/>
          <a:lstStyle/>
          <a:p>
            <a:pPr indent="0" marL="0">
              <a:buNone/>
            </a:pPr>
            <a:r>
              <a:rPr lang="en-US" sz="1200" dirty="0">
                <a:solidFill>
                  <a:schemeClr val="accent6"/>
                </a:solidFill>
              </a:rPr>
              <a:t>reviews per day at the busiest app (Flipkart); 117 at the smallest</a:t>
            </a:r>
            <a:endParaRPr lang="en-US" sz="1200" dirty="0"/>
          </a:p>
        </p:txBody>
      </p:sp>
      <p:sp>
        <p:nvSpPr>
          <p:cNvPr id="10" name="Text 7"/>
          <p:cNvSpPr txBox="1"/>
          <p:nvPr/>
        </p:nvSpPr>
        <p:spPr>
          <a:xfrm>
            <a:off x="8001000" y="2606040"/>
            <a:ext cx="3566160" cy="68580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11 apps</a:t>
            </a:r>
            <a:endParaRPr lang="en-US" sz="4000" dirty="0"/>
          </a:p>
        </p:txBody>
      </p:sp>
      <p:sp>
        <p:nvSpPr>
          <p:cNvPr id="11" name="Text 8"/>
          <p:cNvSpPr txBox="1"/>
          <p:nvPr/>
        </p:nvSpPr>
        <p:spPr>
          <a:xfrm>
            <a:off x="8001000" y="3319272"/>
            <a:ext cx="3566160" cy="502920"/>
          </a:xfrm>
          <a:prstGeom prst="rect">
            <a:avLst/>
          </a:prstGeom>
          <a:noFill/>
          <a:ln/>
        </p:spPr>
        <p:txBody>
          <a:bodyPr wrap="square" lIns="0" tIns="0" rIns="0" bIns="0" rtlCol="0" anchor="t"/>
          <a:lstStyle/>
          <a:p>
            <a:pPr indent="0" marL="0">
              <a:buNone/>
            </a:pPr>
            <a:r>
              <a:rPr lang="en-US" sz="1200" dirty="0">
                <a:solidFill>
                  <a:schemeClr val="accent6"/>
                </a:solidFill>
              </a:rPr>
              <a:t>in 3 domains: food and grocery, shopping, payments</a:t>
            </a:r>
            <a:endParaRPr lang="en-US" sz="1200" dirty="0"/>
          </a:p>
        </p:txBody>
      </p:sp>
      <p:sp>
        <p:nvSpPr>
          <p:cNvPr id="12" name="gap card"/>
          <p:cNvSpPr/>
          <p:nvPr/>
        </p:nvSpPr>
        <p:spPr>
          <a:xfrm>
            <a:off x="640080" y="3977640"/>
            <a:ext cx="10908792" cy="2240280"/>
          </a:xfrm>
          <a:prstGeom prst="roundRect">
            <a:avLst>
              <a:gd name="adj" fmla="val 326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Text 10"/>
          <p:cNvSpPr txBox="1"/>
          <p:nvPr/>
        </p:nvSpPr>
        <p:spPr>
          <a:xfrm>
            <a:off x="868680" y="4114800"/>
            <a:ext cx="4572000" cy="320040"/>
          </a:xfrm>
          <a:prstGeom prst="rect">
            <a:avLst/>
          </a:prstGeom>
          <a:noFill/>
          <a:ln/>
        </p:spPr>
        <p:txBody>
          <a:bodyPr wrap="square" lIns="0" tIns="0" rIns="0" bIns="0" rtlCol="0" anchor="ctr"/>
          <a:lstStyle/>
          <a:p>
            <a:pPr indent="0" marL="0">
              <a:buNone/>
            </a:pPr>
            <a:r>
              <a:rPr lang="en-US" sz="1600" b="1" dirty="0">
                <a:solidFill>
                  <a:schemeClr val="tx2"/>
                </a:solidFill>
              </a:rPr>
              <a:t>Research gap</a:t>
            </a:r>
            <a:endParaRPr lang="en-US" sz="1600" dirty="0"/>
          </a:p>
        </p:txBody>
      </p:sp>
      <p:sp>
        <p:nvSpPr>
          <p:cNvPr id="14" name="Shape 11"/>
          <p:cNvSpPr/>
          <p:nvPr/>
        </p:nvSpPr>
        <p:spPr>
          <a:xfrm>
            <a:off x="868680" y="4553712"/>
            <a:ext cx="329184" cy="329184"/>
          </a:xfrm>
          <a:prstGeom prst="ellipse">
            <a:avLst/>
          </a:prstGeom>
          <a:solidFill>
            <a:schemeClr val="accent2"/>
          </a:solidFill>
          <a:ln w="12700">
            <a:solidFill>
              <a:schemeClr val="accent2"/>
            </a:solidFill>
            <a:prstDash val="solid"/>
          </a:ln>
        </p:spPr>
      </p:sp>
      <p:sp>
        <p:nvSpPr>
          <p:cNvPr id="15" name="Text 12"/>
          <p:cNvSpPr txBox="1"/>
          <p:nvPr/>
        </p:nvSpPr>
        <p:spPr>
          <a:xfrm>
            <a:off x="868680" y="455371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6" name="Text 13"/>
          <p:cNvSpPr txBox="1"/>
          <p:nvPr/>
        </p:nvSpPr>
        <p:spPr>
          <a:xfrm>
            <a:off x="1325880" y="4526280"/>
            <a:ext cx="4754880" cy="777240"/>
          </a:xfrm>
          <a:prstGeom prst="rect">
            <a:avLst/>
          </a:prstGeom>
          <a:noFill/>
          <a:ln/>
        </p:spPr>
        <p:txBody>
          <a:bodyPr wrap="square" lIns="0" tIns="0" rIns="0" bIns="0" rtlCol="0" anchor="t"/>
          <a:lstStyle/>
          <a:p>
            <a:pPr indent="0" marL="0">
              <a:buNone/>
            </a:pPr>
            <a:r>
              <a:rPr lang="en-US" sz="1500" b="1" dirty="0">
                <a:solidFill>
                  <a:srgbClr val="000000"/>
                </a:solidFill>
              </a:rPr>
              <a:t>Fixed set, no time view. </a:t>
            </a:r>
            <a:pPr indent="0" marL="0">
              <a:buNone/>
            </a:pPr>
            <a:r>
              <a:rPr lang="en-US" sz="1500" dirty="0">
                <a:solidFill>
                  <a:srgbClr val="000000"/>
                </a:solidFill>
              </a:rPr>
              <a:t>Reviews are studied as one fixed set; complaints are not followed over time.</a:t>
            </a:r>
            <a:endParaRPr lang="en-US" sz="1500" dirty="0"/>
          </a:p>
        </p:txBody>
      </p:sp>
      <p:sp>
        <p:nvSpPr>
          <p:cNvPr id="17" name="Shape 14"/>
          <p:cNvSpPr/>
          <p:nvPr/>
        </p:nvSpPr>
        <p:spPr>
          <a:xfrm>
            <a:off x="6263640" y="4553712"/>
            <a:ext cx="329184" cy="329184"/>
          </a:xfrm>
          <a:prstGeom prst="ellipse">
            <a:avLst/>
          </a:prstGeom>
          <a:solidFill>
            <a:schemeClr val="accent2"/>
          </a:solidFill>
          <a:ln w="12700">
            <a:solidFill>
              <a:schemeClr val="accent2"/>
            </a:solidFill>
            <a:prstDash val="solid"/>
          </a:ln>
        </p:spPr>
      </p:sp>
      <p:sp>
        <p:nvSpPr>
          <p:cNvPr id="18" name="Text 15"/>
          <p:cNvSpPr txBox="1"/>
          <p:nvPr/>
        </p:nvSpPr>
        <p:spPr>
          <a:xfrm>
            <a:off x="6263640" y="455371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6"/>
          <p:cNvSpPr txBox="1"/>
          <p:nvPr/>
        </p:nvSpPr>
        <p:spPr>
          <a:xfrm>
            <a:off x="6720840" y="4526280"/>
            <a:ext cx="4754880" cy="777240"/>
          </a:xfrm>
          <a:prstGeom prst="rect">
            <a:avLst/>
          </a:prstGeom>
          <a:noFill/>
          <a:ln/>
        </p:spPr>
        <p:txBody>
          <a:bodyPr wrap="square" lIns="0" tIns="0" rIns="0" bIns="0" rtlCol="0" anchor="t"/>
          <a:lstStyle/>
          <a:p>
            <a:pPr indent="0" marL="0">
              <a:buNone/>
            </a:pPr>
            <a:r>
              <a:rPr lang="en-US" sz="1500" b="1" dirty="0">
                <a:solidFill>
                  <a:srgbClr val="000000"/>
                </a:solidFill>
              </a:rPr>
              <a:t>Generic labels. </a:t>
            </a:r>
            <a:pPr indent="0" marL="0">
              <a:buNone/>
            </a:pPr>
            <a:r>
              <a:rPr lang="en-US" sz="1500" dirty="0">
                <a:solidFill>
                  <a:srgbClr val="000000"/>
                </a:solidFill>
              </a:rPr>
              <a:t>"Bug" and "feature request" do not match Indian delivery, shopping and payment problems (refunds, delivery delay, OTP, cancellation).</a:t>
            </a:r>
            <a:endParaRPr lang="en-US" sz="1500" dirty="0"/>
          </a:p>
        </p:txBody>
      </p:sp>
      <p:sp>
        <p:nvSpPr>
          <p:cNvPr id="20" name="Shape 17"/>
          <p:cNvSpPr/>
          <p:nvPr/>
        </p:nvSpPr>
        <p:spPr>
          <a:xfrm>
            <a:off x="868680" y="5376672"/>
            <a:ext cx="329184" cy="329184"/>
          </a:xfrm>
          <a:prstGeom prst="ellipse">
            <a:avLst/>
          </a:prstGeom>
          <a:solidFill>
            <a:schemeClr val="accent2"/>
          </a:solidFill>
          <a:ln w="12700">
            <a:solidFill>
              <a:schemeClr val="accent2"/>
            </a:solidFill>
            <a:prstDash val="solid"/>
          </a:ln>
        </p:spPr>
      </p:sp>
      <p:sp>
        <p:nvSpPr>
          <p:cNvPr id="21" name="Text 18"/>
          <p:cNvSpPr txBox="1"/>
          <p:nvPr/>
        </p:nvSpPr>
        <p:spPr>
          <a:xfrm>
            <a:off x="868680" y="537667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Text 19"/>
          <p:cNvSpPr txBox="1"/>
          <p:nvPr/>
        </p:nvSpPr>
        <p:spPr>
          <a:xfrm>
            <a:off x="1325880" y="5349240"/>
            <a:ext cx="4754880" cy="777240"/>
          </a:xfrm>
          <a:prstGeom prst="rect">
            <a:avLst/>
          </a:prstGeom>
          <a:noFill/>
          <a:ln/>
        </p:spPr>
        <p:txBody>
          <a:bodyPr wrap="square" lIns="0" tIns="0" rIns="0" bIns="0" rtlCol="0" anchor="t"/>
          <a:lstStyle/>
          <a:p>
            <a:pPr indent="0" marL="0">
              <a:buNone/>
            </a:pPr>
            <a:r>
              <a:rPr lang="en-US" sz="1500" b="1" dirty="0">
                <a:solidFill>
                  <a:srgbClr val="000000"/>
                </a:solidFill>
              </a:rPr>
              <a:t>Tasks done alone. </a:t>
            </a:r>
            <a:pPr indent="0" marL="0">
              <a:buNone/>
            </a:pPr>
            <a:r>
              <a:rPr lang="en-US" sz="1500" dirty="0">
                <a:solidFill>
                  <a:srgbClr val="000000"/>
                </a:solidFill>
              </a:rPr>
              <a:t>Only classification or only sentiment; the results are not combined into something a manager can use.</a:t>
            </a:r>
            <a:endParaRPr lang="en-US" sz="1500" dirty="0"/>
          </a:p>
        </p:txBody>
      </p:sp>
      <p:sp>
        <p:nvSpPr>
          <p:cNvPr id="23" name="Shape 20"/>
          <p:cNvSpPr/>
          <p:nvPr/>
        </p:nvSpPr>
        <p:spPr>
          <a:xfrm>
            <a:off x="6263640" y="5376672"/>
            <a:ext cx="329184" cy="329184"/>
          </a:xfrm>
          <a:prstGeom prst="ellipse">
            <a:avLst/>
          </a:prstGeom>
          <a:solidFill>
            <a:schemeClr val="accent2"/>
          </a:solidFill>
          <a:ln w="12700">
            <a:solidFill>
              <a:schemeClr val="accent2"/>
            </a:solidFill>
            <a:prstDash val="solid"/>
          </a:ln>
        </p:spPr>
      </p:sp>
      <p:sp>
        <p:nvSpPr>
          <p:cNvPr id="24" name="Text 21"/>
          <p:cNvSpPr txBox="1"/>
          <p:nvPr/>
        </p:nvSpPr>
        <p:spPr>
          <a:xfrm>
            <a:off x="6263640" y="537667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5" name="Text 22"/>
          <p:cNvSpPr txBox="1"/>
          <p:nvPr/>
        </p:nvSpPr>
        <p:spPr>
          <a:xfrm>
            <a:off x="6720840" y="5349240"/>
            <a:ext cx="4754880" cy="777240"/>
          </a:xfrm>
          <a:prstGeom prst="rect">
            <a:avLst/>
          </a:prstGeom>
          <a:noFill/>
          <a:ln/>
        </p:spPr>
        <p:txBody>
          <a:bodyPr wrap="square" lIns="0" tIns="0" rIns="0" bIns="0" rtlCol="0" anchor="t"/>
          <a:lstStyle/>
          <a:p>
            <a:pPr indent="0" marL="0">
              <a:buNone/>
            </a:pPr>
            <a:r>
              <a:rPr lang="en-US" sz="1500" b="1" dirty="0">
                <a:solidFill>
                  <a:srgbClr val="000000"/>
                </a:solidFill>
              </a:rPr>
              <a:t>Collection bias unchecked. </a:t>
            </a:r>
            <a:pPr indent="0" marL="0">
              <a:buNone/>
            </a:pPr>
            <a:r>
              <a:rPr lang="en-US" sz="1500" dirty="0">
                <a:solidFill>
                  <a:srgbClr val="000000"/>
                </a:solidFill>
              </a:rPr>
              <a:t>How reviews are collected can bias results, and this is rarely tested.</a:t>
            </a:r>
            <a:endParaRPr lang="en-US" sz="15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1  |  PROBLEM STATEMENT AND RESEARCH GAP (2 OF 2)</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Existing Methods, Proposed Approach and Objective</a:t>
            </a:r>
            <a:endParaRPr lang="en-US" sz="2800" dirty="0"/>
          </a:p>
        </p:txBody>
      </p:sp>
      <p:sp>
        <p:nvSpPr>
          <p:cNvPr id="5" name="methods card"/>
          <p:cNvSpPr/>
          <p:nvPr/>
        </p:nvSpPr>
        <p:spPr>
          <a:xfrm>
            <a:off x="640080" y="1417320"/>
            <a:ext cx="5760720" cy="2971800"/>
          </a:xfrm>
          <a:prstGeom prst="roundRect">
            <a:avLst>
              <a:gd name="adj" fmla="val 2462"/>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868680" y="1536192"/>
            <a:ext cx="5303520" cy="320040"/>
          </a:xfrm>
          <a:prstGeom prst="rect">
            <a:avLst/>
          </a:prstGeom>
          <a:noFill/>
          <a:ln/>
        </p:spPr>
        <p:txBody>
          <a:bodyPr wrap="square" lIns="0" tIns="0" rIns="0" bIns="0" rtlCol="0" anchor="ctr"/>
          <a:lstStyle/>
          <a:p>
            <a:pPr indent="0" marL="0">
              <a:buNone/>
            </a:pPr>
            <a:r>
              <a:rPr lang="en-US" sz="1600" b="1" dirty="0">
                <a:solidFill>
                  <a:schemeClr val="tx2"/>
                </a:solidFill>
              </a:rPr>
              <a:t>Existing methods</a:t>
            </a:r>
            <a:endParaRPr lang="en-US" sz="1600" dirty="0"/>
          </a:p>
        </p:txBody>
      </p:sp>
      <p:sp>
        <p:nvSpPr>
          <p:cNvPr id="7" name="Text 4"/>
          <p:cNvSpPr txBox="1"/>
          <p:nvPr/>
        </p:nvSpPr>
        <p:spPr>
          <a:xfrm>
            <a:off x="868680" y="1920240"/>
            <a:ext cx="5303520" cy="2377440"/>
          </a:xfrm>
          <a:prstGeom prst="rect">
            <a:avLst/>
          </a:prstGeom>
          <a:noFill/>
          <a:ln/>
        </p:spPr>
        <p:txBody>
          <a:bodyPr wrap="square" lIns="0" tIns="0" rIns="0" bIns="0" rtlCol="0" anchor="t"/>
          <a:lstStyle/>
          <a:p>
            <a:pPr marL="177800" indent="-177800">
              <a:spcAft>
                <a:spcPts val="400"/>
              </a:spcAft>
              <a:buSzPct val="100000"/>
              <a:buChar char="•"/>
            </a:pPr>
            <a:r>
              <a:rPr lang="en-US" sz="1400" b="1" dirty="0">
                <a:solidFill>
                  <a:srgbClr val="000000"/>
                </a:solidFill>
              </a:rPr>
              <a:t>Pagano &amp; Maalej (2013): </a:t>
            </a:r>
            <a:pPr indent="0" marL="0">
              <a:spcAft>
                <a:spcPts val="400"/>
              </a:spcAft>
              <a:buNone/>
            </a:pPr>
            <a:r>
              <a:rPr lang="en-US" sz="1400" dirty="0">
                <a:solidFill>
                  <a:srgbClr val="000000"/>
                </a:solidFill>
              </a:rPr>
              <a:t>over 1M App Store reviews contain bug reports and feature requests.</a:t>
            </a:r>
            <a:endParaRPr lang="en-US" sz="1400" dirty="0"/>
          </a:p>
          <a:p>
            <a:pPr marL="177800" indent="-177800">
              <a:spcAft>
                <a:spcPts val="400"/>
              </a:spcAft>
              <a:buSzPct val="100000"/>
              <a:buChar char="•"/>
            </a:pPr>
            <a:r>
              <a:rPr lang="en-US" sz="1400" b="1" dirty="0">
                <a:solidFill>
                  <a:srgbClr val="000000"/>
                </a:solidFill>
              </a:rPr>
              <a:t>Chen et al. (2014), AR-Miner: </a:t>
            </a:r>
            <a:pPr indent="0" marL="0">
              <a:spcAft>
                <a:spcPts val="400"/>
              </a:spcAft>
              <a:buNone/>
            </a:pPr>
            <a:r>
              <a:rPr lang="en-US" sz="1400" dirty="0">
                <a:solidFill>
                  <a:srgbClr val="000000"/>
                </a:solidFill>
              </a:rPr>
              <a:t>drops uninformative reviews, groups the rest by topic.</a:t>
            </a:r>
            <a:endParaRPr lang="en-US" sz="1400" dirty="0"/>
          </a:p>
          <a:p>
            <a:pPr marL="177800" indent="-177800">
              <a:spcAft>
                <a:spcPts val="400"/>
              </a:spcAft>
              <a:buSzPct val="100000"/>
              <a:buChar char="•"/>
            </a:pPr>
            <a:r>
              <a:rPr lang="en-US" sz="1400" b="1" dirty="0">
                <a:solidFill>
                  <a:srgbClr val="000000"/>
                </a:solidFill>
              </a:rPr>
              <a:t>Guzman &amp; Maalej (2014): </a:t>
            </a:r>
            <a:pPr indent="0" marL="0">
              <a:spcAft>
                <a:spcPts val="400"/>
              </a:spcAft>
              <a:buNone/>
            </a:pPr>
            <a:r>
              <a:rPr lang="en-US" sz="1400" dirty="0">
                <a:solidFill>
                  <a:srgbClr val="000000"/>
                </a:solidFill>
              </a:rPr>
              <a:t>feature extraction plus sentiment for each app feature.</a:t>
            </a:r>
            <a:endParaRPr lang="en-US" sz="1400" dirty="0"/>
          </a:p>
          <a:p>
            <a:pPr marL="177800" indent="-177800">
              <a:spcAft>
                <a:spcPts val="400"/>
              </a:spcAft>
              <a:buSzPct val="100000"/>
              <a:buChar char="•"/>
            </a:pPr>
            <a:r>
              <a:rPr lang="en-US" sz="1400" b="1" dirty="0">
                <a:solidFill>
                  <a:srgbClr val="000000"/>
                </a:solidFill>
              </a:rPr>
              <a:t>Maalej &amp; Nabil (2015): </a:t>
            </a:r>
            <a:pPr indent="0" marL="0">
              <a:spcAft>
                <a:spcPts val="400"/>
              </a:spcAft>
              <a:buNone/>
            </a:pPr>
            <a:r>
              <a:rPr lang="en-US" sz="1400" dirty="0">
                <a:solidFill>
                  <a:srgbClr val="000000"/>
                </a:solidFill>
              </a:rPr>
              <a:t>classifiers for bug, feature request, experience, rating.</a:t>
            </a:r>
            <a:endParaRPr lang="en-US" sz="1400" dirty="0"/>
          </a:p>
          <a:p>
            <a:pPr marL="177800" indent="-177800">
              <a:spcAft>
                <a:spcPts val="400"/>
              </a:spcAft>
              <a:buSzPct val="100000"/>
              <a:buChar char="•"/>
            </a:pPr>
            <a:r>
              <a:rPr lang="en-US" sz="1400" b="1" dirty="0">
                <a:solidFill>
                  <a:srgbClr val="000000"/>
                </a:solidFill>
              </a:rPr>
              <a:t>Hutto &amp; Gilbert (2014), VADER: </a:t>
            </a:r>
            <a:pPr indent="0" marL="0">
              <a:spcAft>
                <a:spcPts val="400"/>
              </a:spcAft>
              <a:buNone/>
            </a:pPr>
            <a:r>
              <a:rPr lang="en-US" sz="1400" dirty="0">
                <a:solidFill>
                  <a:srgbClr val="000000"/>
                </a:solidFill>
              </a:rPr>
              <a:t>rule-based sentiment for short informal text.</a:t>
            </a:r>
            <a:endParaRPr lang="en-US" sz="1400" dirty="0"/>
          </a:p>
        </p:txBody>
      </p:sp>
      <p:sp>
        <p:nvSpPr>
          <p:cNvPr id="8" name="objective card"/>
          <p:cNvSpPr/>
          <p:nvPr/>
        </p:nvSpPr>
        <p:spPr>
          <a:xfrm>
            <a:off x="6629400" y="1417320"/>
            <a:ext cx="4919472" cy="2926080"/>
          </a:xfrm>
          <a:prstGeom prst="roundRect">
            <a:avLst>
              <a:gd name="adj" fmla="val 25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Text 6"/>
          <p:cNvSpPr txBox="1"/>
          <p:nvPr/>
        </p:nvSpPr>
        <p:spPr>
          <a:xfrm>
            <a:off x="6858000" y="1536192"/>
            <a:ext cx="4480560" cy="320040"/>
          </a:xfrm>
          <a:prstGeom prst="rect">
            <a:avLst/>
          </a:prstGeom>
          <a:noFill/>
          <a:ln/>
        </p:spPr>
        <p:txBody>
          <a:bodyPr wrap="square" lIns="0" tIns="0" rIns="0" bIns="0" rtlCol="0" anchor="ctr"/>
          <a:lstStyle/>
          <a:p>
            <a:pPr indent="0" marL="0">
              <a:buNone/>
            </a:pPr>
            <a:r>
              <a:rPr lang="en-US" sz="1600" b="1" dirty="0">
                <a:solidFill>
                  <a:schemeClr val="tx2"/>
                </a:solidFill>
              </a:rPr>
              <a:t>Business objective</a:t>
            </a:r>
            <a:endParaRPr lang="en-US" sz="1600" dirty="0"/>
          </a:p>
        </p:txBody>
      </p:sp>
      <p:sp>
        <p:nvSpPr>
          <p:cNvPr id="10" name="Text 7"/>
          <p:cNvSpPr txBox="1"/>
          <p:nvPr/>
        </p:nvSpPr>
        <p:spPr>
          <a:xfrm>
            <a:off x="6858000" y="1920240"/>
            <a:ext cx="4480560" cy="237744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rPr>
              <a:t>Which problems hurt users most, in each app.</a:t>
            </a:r>
            <a:endParaRPr lang="en-US" sz="1600" dirty="0"/>
          </a:p>
          <a:p>
            <a:pPr marL="177800" indent="-177800">
              <a:spcAft>
                <a:spcPts val="800"/>
              </a:spcAft>
              <a:buSzPct val="100000"/>
              <a:buChar char="•"/>
            </a:pPr>
            <a:r>
              <a:rPr lang="en-US" sz="1600" dirty="0">
                <a:solidFill>
                  <a:srgbClr val="000000"/>
                </a:solidFill>
              </a:rPr>
              <a:t>Which new reviews need attention first.</a:t>
            </a:r>
            <a:endParaRPr lang="en-US" sz="1600" dirty="0"/>
          </a:p>
          <a:p>
            <a:pPr marL="177800" indent="-177800">
              <a:spcAft>
                <a:spcPts val="800"/>
              </a:spcAft>
              <a:buSzPct val="100000"/>
              <a:buChar char="•"/>
            </a:pPr>
            <a:r>
              <a:rPr lang="en-US" sz="1600" dirty="0">
                <a:solidFill>
                  <a:srgbClr val="000000"/>
                </a:solidFill>
              </a:rPr>
              <a:t>Whether a new app version made things worse.</a:t>
            </a:r>
            <a:endParaRPr lang="en-US" sz="1600" dirty="0"/>
          </a:p>
          <a:p>
            <a:pPr marL="177800" indent="-177800">
              <a:spcAft>
                <a:spcPts val="800"/>
              </a:spcAft>
              <a:buSzPct val="100000"/>
              <a:buChar char="•"/>
            </a:pPr>
            <a:r>
              <a:rPr lang="en-US" sz="1600" dirty="0">
                <a:solidFill>
                  <a:srgbClr val="000000"/>
                </a:solidFill>
              </a:rPr>
              <a:t>Whether this week's number of negative reviews is normal or unusual.</a:t>
            </a:r>
            <a:endParaRPr lang="en-US" sz="1600" dirty="0"/>
          </a:p>
        </p:txBody>
      </p:sp>
      <p:sp>
        <p:nvSpPr>
          <p:cNvPr id="11" name="Text 8"/>
          <p:cNvSpPr txBox="1"/>
          <p:nvPr/>
        </p:nvSpPr>
        <p:spPr>
          <a:xfrm>
            <a:off x="640080" y="4526280"/>
            <a:ext cx="10881360" cy="320040"/>
          </a:xfrm>
          <a:prstGeom prst="rect">
            <a:avLst/>
          </a:prstGeom>
          <a:noFill/>
          <a:ln/>
        </p:spPr>
        <p:txBody>
          <a:bodyPr wrap="square" lIns="0" tIns="0" rIns="0" bIns="0" rtlCol="0" anchor="ctr"/>
          <a:lstStyle/>
          <a:p>
            <a:pPr indent="0" marL="0">
              <a:buNone/>
            </a:pPr>
            <a:r>
              <a:rPr lang="en-US" sz="1600" b="1" dirty="0">
                <a:solidFill>
                  <a:schemeClr val="tx2"/>
                </a:solidFill>
              </a:rPr>
              <a:t>Proposed approach: one pipeline from raw reviews to a problem-review classifier</a:t>
            </a:r>
            <a:endParaRPr lang="en-US" sz="1600" dirty="0"/>
          </a:p>
        </p:txBody>
      </p:sp>
      <p:sp>
        <p:nvSpPr>
          <p:cNvPr id="12" name="step 1"/>
          <p:cNvSpPr/>
          <p:nvPr/>
        </p:nvSpPr>
        <p:spPr>
          <a:xfrm>
            <a:off x="640080" y="4937760"/>
            <a:ext cx="1691640" cy="118872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3" name="Shape 10"/>
          <p:cNvSpPr/>
          <p:nvPr/>
        </p:nvSpPr>
        <p:spPr>
          <a:xfrm>
            <a:off x="749808" y="5047488"/>
            <a:ext cx="310896" cy="310896"/>
          </a:xfrm>
          <a:prstGeom prst="ellipse">
            <a:avLst/>
          </a:prstGeom>
          <a:solidFill>
            <a:schemeClr val="accent1"/>
          </a:solidFill>
          <a:ln w="12700">
            <a:solidFill>
              <a:schemeClr val="accent1"/>
            </a:solidFill>
            <a:prstDash val="solid"/>
          </a:ln>
        </p:spPr>
      </p:sp>
      <p:sp>
        <p:nvSpPr>
          <p:cNvPr id="14" name="Text 11"/>
          <p:cNvSpPr txBox="1"/>
          <p:nvPr/>
        </p:nvSpPr>
        <p:spPr>
          <a:xfrm>
            <a:off x="749808" y="5047488"/>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5" name="Text 12"/>
          <p:cNvSpPr txBox="1"/>
          <p:nvPr/>
        </p:nvSpPr>
        <p:spPr>
          <a:xfrm>
            <a:off x="1115568" y="5047488"/>
            <a:ext cx="1143000" cy="310896"/>
          </a:xfrm>
          <a:prstGeom prst="rect">
            <a:avLst/>
          </a:prstGeom>
          <a:noFill/>
          <a:ln/>
        </p:spPr>
        <p:txBody>
          <a:bodyPr wrap="square" lIns="0" tIns="0" rIns="0" bIns="0" rtlCol="0" anchor="ctr"/>
          <a:lstStyle/>
          <a:p>
            <a:pPr indent="0" marL="0">
              <a:buNone/>
            </a:pPr>
            <a:r>
              <a:rPr lang="en-US" sz="1300" b="1" dirty="0">
                <a:solidFill>
                  <a:schemeClr val="tx2"/>
                </a:solidFill>
              </a:rPr>
              <a:t>Collect</a:t>
            </a:r>
            <a:endParaRPr lang="en-US" sz="1300" dirty="0"/>
          </a:p>
        </p:txBody>
      </p:sp>
      <p:sp>
        <p:nvSpPr>
          <p:cNvPr id="16" name="Text 13"/>
          <p:cNvSpPr txBox="1"/>
          <p:nvPr/>
        </p:nvSpPr>
        <p:spPr>
          <a:xfrm>
            <a:off x="749808" y="5440680"/>
            <a:ext cx="1472184" cy="594360"/>
          </a:xfrm>
          <a:prstGeom prst="rect">
            <a:avLst/>
          </a:prstGeom>
          <a:noFill/>
          <a:ln/>
        </p:spPr>
        <p:txBody>
          <a:bodyPr wrap="square" lIns="0" tIns="0" rIns="0" bIns="0" rtlCol="0" anchor="t"/>
          <a:lstStyle/>
          <a:p>
            <a:pPr indent="0" marL="0">
              <a:buNone/>
            </a:pPr>
            <a:r>
              <a:rPr lang="en-US" sz="1200" dirty="0">
                <a:solidFill>
                  <a:schemeClr val="accent6"/>
                </a:solidFill>
              </a:rPr>
              <a:t>1.20M reviews, 11 apps</a:t>
            </a:r>
            <a:endParaRPr lang="en-US" sz="1200" dirty="0"/>
          </a:p>
        </p:txBody>
      </p:sp>
      <p:sp>
        <p:nvSpPr>
          <p:cNvPr id="17" name="step 2"/>
          <p:cNvSpPr/>
          <p:nvPr/>
        </p:nvSpPr>
        <p:spPr>
          <a:xfrm>
            <a:off x="2483510" y="4937760"/>
            <a:ext cx="1691640" cy="118872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8" name="Shape 15"/>
          <p:cNvSpPr/>
          <p:nvPr/>
        </p:nvSpPr>
        <p:spPr>
          <a:xfrm>
            <a:off x="2593238" y="5047488"/>
            <a:ext cx="310896" cy="310896"/>
          </a:xfrm>
          <a:prstGeom prst="ellipse">
            <a:avLst/>
          </a:prstGeom>
          <a:solidFill>
            <a:schemeClr val="accent1"/>
          </a:solidFill>
          <a:ln w="12700">
            <a:solidFill>
              <a:schemeClr val="accent1"/>
            </a:solidFill>
            <a:prstDash val="solid"/>
          </a:ln>
        </p:spPr>
      </p:sp>
      <p:sp>
        <p:nvSpPr>
          <p:cNvPr id="19" name="Text 16"/>
          <p:cNvSpPr txBox="1"/>
          <p:nvPr/>
        </p:nvSpPr>
        <p:spPr>
          <a:xfrm>
            <a:off x="2593238" y="5047488"/>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7"/>
          <p:cNvSpPr txBox="1"/>
          <p:nvPr/>
        </p:nvSpPr>
        <p:spPr>
          <a:xfrm>
            <a:off x="2958998" y="5047488"/>
            <a:ext cx="1143000" cy="310896"/>
          </a:xfrm>
          <a:prstGeom prst="rect">
            <a:avLst/>
          </a:prstGeom>
          <a:noFill/>
          <a:ln/>
        </p:spPr>
        <p:txBody>
          <a:bodyPr wrap="square" lIns="0" tIns="0" rIns="0" bIns="0" rtlCol="0" anchor="ctr"/>
          <a:lstStyle/>
          <a:p>
            <a:pPr indent="0" marL="0">
              <a:buNone/>
            </a:pPr>
            <a:r>
              <a:rPr lang="en-US" sz="1300" b="1" dirty="0">
                <a:solidFill>
                  <a:schemeClr val="tx2"/>
                </a:solidFill>
              </a:rPr>
              <a:t>Clean</a:t>
            </a:r>
            <a:endParaRPr lang="en-US" sz="1300" dirty="0"/>
          </a:p>
        </p:txBody>
      </p:sp>
      <p:sp>
        <p:nvSpPr>
          <p:cNvPr id="21" name="Text 18"/>
          <p:cNvSpPr txBox="1"/>
          <p:nvPr/>
        </p:nvSpPr>
        <p:spPr>
          <a:xfrm>
            <a:off x="2593238" y="5440680"/>
            <a:ext cx="1472184" cy="594360"/>
          </a:xfrm>
          <a:prstGeom prst="rect">
            <a:avLst/>
          </a:prstGeom>
          <a:noFill/>
          <a:ln/>
        </p:spPr>
        <p:txBody>
          <a:bodyPr wrap="square" lIns="0" tIns="0" rIns="0" bIns="0" rtlCol="0" anchor="t"/>
          <a:lstStyle/>
          <a:p>
            <a:pPr indent="0" marL="0">
              <a:buNone/>
            </a:pPr>
            <a:r>
              <a:rPr lang="en-US" sz="1200" dirty="0">
                <a:solidFill>
                  <a:schemeClr val="accent6"/>
                </a:solidFill>
              </a:rPr>
              <a:t>1.14M reviews kept</a:t>
            </a:r>
            <a:endParaRPr lang="en-US" sz="1200" dirty="0"/>
          </a:p>
        </p:txBody>
      </p:sp>
      <p:sp>
        <p:nvSpPr>
          <p:cNvPr id="22" name="step 3"/>
          <p:cNvSpPr/>
          <p:nvPr/>
        </p:nvSpPr>
        <p:spPr>
          <a:xfrm>
            <a:off x="4326941" y="4937760"/>
            <a:ext cx="1691640" cy="118872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3" name="Shape 20"/>
          <p:cNvSpPr/>
          <p:nvPr/>
        </p:nvSpPr>
        <p:spPr>
          <a:xfrm>
            <a:off x="4436669" y="5047488"/>
            <a:ext cx="310896" cy="310896"/>
          </a:xfrm>
          <a:prstGeom prst="ellipse">
            <a:avLst/>
          </a:prstGeom>
          <a:solidFill>
            <a:schemeClr val="accent1"/>
          </a:solidFill>
          <a:ln w="12700">
            <a:solidFill>
              <a:schemeClr val="accent1"/>
            </a:solidFill>
            <a:prstDash val="solid"/>
          </a:ln>
        </p:spPr>
      </p:sp>
      <p:sp>
        <p:nvSpPr>
          <p:cNvPr id="24" name="Text 21"/>
          <p:cNvSpPr txBox="1"/>
          <p:nvPr/>
        </p:nvSpPr>
        <p:spPr>
          <a:xfrm>
            <a:off x="4436669" y="5047488"/>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5" name="Text 22"/>
          <p:cNvSpPr txBox="1"/>
          <p:nvPr/>
        </p:nvSpPr>
        <p:spPr>
          <a:xfrm>
            <a:off x="4802429" y="5047488"/>
            <a:ext cx="1143000" cy="310896"/>
          </a:xfrm>
          <a:prstGeom prst="rect">
            <a:avLst/>
          </a:prstGeom>
          <a:noFill/>
          <a:ln/>
        </p:spPr>
        <p:txBody>
          <a:bodyPr wrap="square" lIns="0" tIns="0" rIns="0" bIns="0" rtlCol="0" anchor="ctr"/>
          <a:lstStyle/>
          <a:p>
            <a:pPr indent="0" marL="0">
              <a:buNone/>
            </a:pPr>
            <a:r>
              <a:rPr lang="en-US" sz="1300" b="1" dirty="0">
                <a:solidFill>
                  <a:schemeClr val="tx2"/>
                </a:solidFill>
              </a:rPr>
              <a:t>Tag + sentiment</a:t>
            </a:r>
            <a:endParaRPr lang="en-US" sz="1300" dirty="0"/>
          </a:p>
        </p:txBody>
      </p:sp>
      <p:sp>
        <p:nvSpPr>
          <p:cNvPr id="26" name="Text 23"/>
          <p:cNvSpPr txBox="1"/>
          <p:nvPr/>
        </p:nvSpPr>
        <p:spPr>
          <a:xfrm>
            <a:off x="4436669" y="5440680"/>
            <a:ext cx="1472184" cy="594360"/>
          </a:xfrm>
          <a:prstGeom prst="rect">
            <a:avLst/>
          </a:prstGeom>
          <a:noFill/>
          <a:ln/>
        </p:spPr>
        <p:txBody>
          <a:bodyPr wrap="square" lIns="0" tIns="0" rIns="0" bIns="0" rtlCol="0" anchor="t"/>
          <a:lstStyle/>
          <a:p>
            <a:pPr indent="0" marL="0">
              <a:buNone/>
            </a:pPr>
            <a:r>
              <a:rPr lang="en-US" sz="1200" dirty="0">
                <a:solidFill>
                  <a:schemeClr val="accent6"/>
                </a:solidFill>
              </a:rPr>
              <a:t>9 issues, VADER</a:t>
            </a:r>
            <a:endParaRPr lang="en-US" sz="1200" dirty="0"/>
          </a:p>
        </p:txBody>
      </p:sp>
      <p:sp>
        <p:nvSpPr>
          <p:cNvPr id="27" name="step 4"/>
          <p:cNvSpPr/>
          <p:nvPr/>
        </p:nvSpPr>
        <p:spPr>
          <a:xfrm>
            <a:off x="6170371" y="4937760"/>
            <a:ext cx="1691640" cy="118872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8" name="Shape 25"/>
          <p:cNvSpPr/>
          <p:nvPr/>
        </p:nvSpPr>
        <p:spPr>
          <a:xfrm>
            <a:off x="6280099" y="5047488"/>
            <a:ext cx="310896" cy="310896"/>
          </a:xfrm>
          <a:prstGeom prst="ellipse">
            <a:avLst/>
          </a:prstGeom>
          <a:solidFill>
            <a:schemeClr val="accent1"/>
          </a:solidFill>
          <a:ln w="12700">
            <a:solidFill>
              <a:schemeClr val="accent1"/>
            </a:solidFill>
            <a:prstDash val="solid"/>
          </a:ln>
        </p:spPr>
      </p:sp>
      <p:sp>
        <p:nvSpPr>
          <p:cNvPr id="29" name="Text 26"/>
          <p:cNvSpPr txBox="1"/>
          <p:nvPr/>
        </p:nvSpPr>
        <p:spPr>
          <a:xfrm>
            <a:off x="6280099" y="5047488"/>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0" name="Text 27"/>
          <p:cNvSpPr txBox="1"/>
          <p:nvPr/>
        </p:nvSpPr>
        <p:spPr>
          <a:xfrm>
            <a:off x="6645859" y="5047488"/>
            <a:ext cx="1143000" cy="310896"/>
          </a:xfrm>
          <a:prstGeom prst="rect">
            <a:avLst/>
          </a:prstGeom>
          <a:noFill/>
          <a:ln/>
        </p:spPr>
        <p:txBody>
          <a:bodyPr wrap="square" lIns="0" tIns="0" rIns="0" bIns="0" rtlCol="0" anchor="ctr"/>
          <a:lstStyle/>
          <a:p>
            <a:pPr indent="0" marL="0">
              <a:buNone/>
            </a:pPr>
            <a:r>
              <a:rPr lang="en-US" sz="1300" b="1" dirty="0">
                <a:solidFill>
                  <a:schemeClr val="tx2"/>
                </a:solidFill>
              </a:rPr>
              <a:t>Explore</a:t>
            </a:r>
            <a:endParaRPr lang="en-US" sz="1300" dirty="0"/>
          </a:p>
        </p:txBody>
      </p:sp>
      <p:sp>
        <p:nvSpPr>
          <p:cNvPr id="31" name="Text 28"/>
          <p:cNvSpPr txBox="1"/>
          <p:nvPr/>
        </p:nvSpPr>
        <p:spPr>
          <a:xfrm>
            <a:off x="6280099" y="5440680"/>
            <a:ext cx="1472184" cy="594360"/>
          </a:xfrm>
          <a:prstGeom prst="rect">
            <a:avLst/>
          </a:prstGeom>
          <a:noFill/>
          <a:ln/>
        </p:spPr>
        <p:txBody>
          <a:bodyPr wrap="square" lIns="0" tIns="0" rIns="0" bIns="0" rtlCol="0" anchor="t"/>
          <a:lstStyle/>
          <a:p>
            <a:pPr indent="0" marL="0">
              <a:buNone/>
            </a:pPr>
            <a:r>
              <a:rPr lang="en-US" sz="1200" dirty="0">
                <a:solidFill>
                  <a:schemeClr val="accent6"/>
                </a:solidFill>
              </a:rPr>
              <a:t>app, issue, bias checks</a:t>
            </a:r>
            <a:endParaRPr lang="en-US" sz="1200" dirty="0"/>
          </a:p>
        </p:txBody>
      </p:sp>
      <p:sp>
        <p:nvSpPr>
          <p:cNvPr id="32" name="step 5"/>
          <p:cNvSpPr/>
          <p:nvPr/>
        </p:nvSpPr>
        <p:spPr>
          <a:xfrm>
            <a:off x="8013802" y="4937760"/>
            <a:ext cx="1691640" cy="118872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3" name="Shape 30"/>
          <p:cNvSpPr/>
          <p:nvPr/>
        </p:nvSpPr>
        <p:spPr>
          <a:xfrm>
            <a:off x="8123530" y="5047488"/>
            <a:ext cx="310896" cy="310896"/>
          </a:xfrm>
          <a:prstGeom prst="ellipse">
            <a:avLst/>
          </a:prstGeom>
          <a:solidFill>
            <a:schemeClr val="accent1"/>
          </a:solidFill>
          <a:ln w="12700">
            <a:solidFill>
              <a:schemeClr val="accent1"/>
            </a:solidFill>
            <a:prstDash val="solid"/>
          </a:ln>
        </p:spPr>
      </p:sp>
      <p:sp>
        <p:nvSpPr>
          <p:cNvPr id="34" name="Text 31"/>
          <p:cNvSpPr txBox="1"/>
          <p:nvPr/>
        </p:nvSpPr>
        <p:spPr>
          <a:xfrm>
            <a:off x="8123530" y="5047488"/>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35" name="Text 32"/>
          <p:cNvSpPr txBox="1"/>
          <p:nvPr/>
        </p:nvSpPr>
        <p:spPr>
          <a:xfrm>
            <a:off x="8489290" y="5047488"/>
            <a:ext cx="1143000" cy="310896"/>
          </a:xfrm>
          <a:prstGeom prst="rect">
            <a:avLst/>
          </a:prstGeom>
          <a:noFill/>
          <a:ln/>
        </p:spPr>
        <p:txBody>
          <a:bodyPr wrap="square" lIns="0" tIns="0" rIns="0" bIns="0" rtlCol="0" anchor="ctr"/>
          <a:lstStyle/>
          <a:p>
            <a:pPr indent="0" marL="0">
              <a:buNone/>
            </a:pPr>
            <a:r>
              <a:rPr lang="en-US" sz="1300" b="1" dirty="0">
                <a:solidFill>
                  <a:schemeClr val="tx2"/>
                </a:solidFill>
              </a:rPr>
              <a:t>Features</a:t>
            </a:r>
            <a:endParaRPr lang="en-US" sz="1300" dirty="0"/>
          </a:p>
        </p:txBody>
      </p:sp>
      <p:sp>
        <p:nvSpPr>
          <p:cNvPr id="36" name="Text 33"/>
          <p:cNvSpPr txBox="1"/>
          <p:nvPr/>
        </p:nvSpPr>
        <p:spPr>
          <a:xfrm>
            <a:off x="8123530" y="5440680"/>
            <a:ext cx="1472184" cy="594360"/>
          </a:xfrm>
          <a:prstGeom prst="rect">
            <a:avLst/>
          </a:prstGeom>
          <a:noFill/>
          <a:ln/>
        </p:spPr>
        <p:txBody>
          <a:bodyPr wrap="square" lIns="0" tIns="0" rIns="0" bIns="0" rtlCol="0" anchor="t"/>
          <a:lstStyle/>
          <a:p>
            <a:pPr indent="0" marL="0">
              <a:buNone/>
            </a:pPr>
            <a:r>
              <a:rPr lang="en-US" sz="1200" dirty="0">
                <a:solidFill>
                  <a:schemeClr val="accent6"/>
                </a:solidFill>
              </a:rPr>
              <a:t>TF-IDF, SVD + 15</a:t>
            </a:r>
            <a:endParaRPr lang="en-US" sz="1200" dirty="0"/>
          </a:p>
        </p:txBody>
      </p:sp>
      <p:sp>
        <p:nvSpPr>
          <p:cNvPr id="37" name="step 6"/>
          <p:cNvSpPr/>
          <p:nvPr/>
        </p:nvSpPr>
        <p:spPr>
          <a:xfrm>
            <a:off x="9857232" y="4937760"/>
            <a:ext cx="1691640" cy="1188720"/>
          </a:xfrm>
          <a:prstGeom prst="roundRect">
            <a:avLst>
              <a:gd name="adj" fmla="val 615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8" name="Shape 35"/>
          <p:cNvSpPr/>
          <p:nvPr/>
        </p:nvSpPr>
        <p:spPr>
          <a:xfrm>
            <a:off x="9966960" y="5047488"/>
            <a:ext cx="310896" cy="310896"/>
          </a:xfrm>
          <a:prstGeom prst="ellipse">
            <a:avLst/>
          </a:prstGeom>
          <a:solidFill>
            <a:schemeClr val="accent1"/>
          </a:solidFill>
          <a:ln w="12700">
            <a:solidFill>
              <a:schemeClr val="accent1"/>
            </a:solidFill>
            <a:prstDash val="solid"/>
          </a:ln>
        </p:spPr>
      </p:sp>
      <p:sp>
        <p:nvSpPr>
          <p:cNvPr id="39" name="Text 36"/>
          <p:cNvSpPr txBox="1"/>
          <p:nvPr/>
        </p:nvSpPr>
        <p:spPr>
          <a:xfrm>
            <a:off x="9966960" y="5047488"/>
            <a:ext cx="310896" cy="310896"/>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40" name="Text 37"/>
          <p:cNvSpPr txBox="1"/>
          <p:nvPr/>
        </p:nvSpPr>
        <p:spPr>
          <a:xfrm>
            <a:off x="10332720" y="5047488"/>
            <a:ext cx="1143000" cy="310896"/>
          </a:xfrm>
          <a:prstGeom prst="rect">
            <a:avLst/>
          </a:prstGeom>
          <a:noFill/>
          <a:ln/>
        </p:spPr>
        <p:txBody>
          <a:bodyPr wrap="square" lIns="0" tIns="0" rIns="0" bIns="0" rtlCol="0" anchor="ctr"/>
          <a:lstStyle/>
          <a:p>
            <a:pPr indent="0" marL="0">
              <a:buNone/>
            </a:pPr>
            <a:r>
              <a:rPr lang="en-US" sz="1300" b="1" dirty="0">
                <a:solidFill>
                  <a:schemeClr val="tx2"/>
                </a:solidFill>
              </a:rPr>
              <a:t>Classify</a:t>
            </a:r>
            <a:endParaRPr lang="en-US" sz="1300" dirty="0"/>
          </a:p>
        </p:txBody>
      </p:sp>
      <p:sp>
        <p:nvSpPr>
          <p:cNvPr id="41" name="Text 38"/>
          <p:cNvSpPr txBox="1"/>
          <p:nvPr/>
        </p:nvSpPr>
        <p:spPr>
          <a:xfrm>
            <a:off x="9966960" y="5440680"/>
            <a:ext cx="1472184" cy="594360"/>
          </a:xfrm>
          <a:prstGeom prst="rect">
            <a:avLst/>
          </a:prstGeom>
          <a:noFill/>
          <a:ln/>
        </p:spPr>
        <p:txBody>
          <a:bodyPr wrap="square" lIns="0" tIns="0" rIns="0" bIns="0" rtlCol="0" anchor="t"/>
          <a:lstStyle/>
          <a:p>
            <a:pPr indent="0" marL="0">
              <a:buNone/>
            </a:pPr>
            <a:r>
              <a:rPr lang="en-US" sz="1200" dirty="0">
                <a:solidFill>
                  <a:schemeClr val="accent6"/>
                </a:solidFill>
              </a:rPr>
              <a:t>Logistic Regression, Random Forest</a:t>
            </a:r>
            <a:endParaRPr lang="en-US" sz="12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2  |  DATASET DESCRIPTION (1 OF 3)</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Dataset: Source and Collection Method</a:t>
            </a:r>
            <a:endParaRPr lang="en-US" sz="2800" dirty="0"/>
          </a:p>
        </p:txBody>
      </p:sp>
      <p:sp>
        <p:nvSpPr>
          <p:cNvPr id="5" name="method card"/>
          <p:cNvSpPr/>
          <p:nvPr/>
        </p:nvSpPr>
        <p:spPr>
          <a:xfrm>
            <a:off x="640080" y="1417320"/>
            <a:ext cx="6400800" cy="4754880"/>
          </a:xfrm>
          <a:prstGeom prst="roundRect">
            <a:avLst>
              <a:gd name="adj" fmla="val 1538"/>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868680" y="1554480"/>
            <a:ext cx="5943600" cy="320040"/>
          </a:xfrm>
          <a:prstGeom prst="rect">
            <a:avLst/>
          </a:prstGeom>
          <a:noFill/>
          <a:ln/>
        </p:spPr>
        <p:txBody>
          <a:bodyPr wrap="square" lIns="0" tIns="0" rIns="0" bIns="0" rtlCol="0" anchor="ctr"/>
          <a:lstStyle/>
          <a:p>
            <a:pPr indent="0" marL="0">
              <a:buNone/>
            </a:pPr>
            <a:r>
              <a:rPr lang="en-US" sz="1600" b="1" dirty="0">
                <a:solidFill>
                  <a:schemeClr val="tx2"/>
                </a:solidFill>
              </a:rPr>
              <a:t>How we collected it</a:t>
            </a:r>
            <a:endParaRPr lang="en-US" sz="1600" dirty="0"/>
          </a:p>
        </p:txBody>
      </p:sp>
      <p:sp>
        <p:nvSpPr>
          <p:cNvPr id="7" name="Text 4"/>
          <p:cNvSpPr txBox="1"/>
          <p:nvPr/>
        </p:nvSpPr>
        <p:spPr>
          <a:xfrm>
            <a:off x="868680" y="1920240"/>
            <a:ext cx="5943600" cy="4206240"/>
          </a:xfrm>
          <a:prstGeom prst="rect">
            <a:avLst/>
          </a:prstGeom>
          <a:noFill/>
          <a:ln/>
        </p:spPr>
        <p:txBody>
          <a:bodyPr wrap="square" lIns="0" tIns="0" rIns="0" bIns="0" rtlCol="0" anchor="t"/>
          <a:lstStyle/>
          <a:p>
            <a:pPr indent="0" marL="0">
              <a:spcAft>
                <a:spcPts val="600"/>
              </a:spcAft>
              <a:buNone/>
            </a:pPr>
            <a:r>
              <a:rPr lang="en-US" sz="1450" b="1" dirty="0">
                <a:solidFill>
                  <a:srgbClr val="000000"/>
                </a:solidFill>
              </a:rPr>
              <a:t>Source: </a:t>
            </a:r>
            <a:pPr indent="0" marL="0">
              <a:spcAft>
                <a:spcPts val="600"/>
              </a:spcAft>
              <a:buNone/>
            </a:pPr>
            <a:r>
              <a:rPr lang="en-US" sz="1450" dirty="0">
                <a:solidFill>
                  <a:srgbClr val="000000"/>
                </a:solidFill>
              </a:rPr>
              <a:t>Google Play Store, through the google-play-scraper package. No login.</a:t>
            </a:r>
            <a:endParaRPr lang="en-US" sz="1450" dirty="0"/>
          </a:p>
          <a:p>
            <a:pPr indent="0" marL="0">
              <a:spcAft>
                <a:spcPts val="600"/>
              </a:spcAft>
              <a:buNone/>
            </a:pPr>
            <a:r>
              <a:rPr lang="en-US" sz="1450" b="1" dirty="0">
                <a:solidFill>
                  <a:srgbClr val="000000"/>
                </a:solidFill>
              </a:rPr>
              <a:t>Own collection: </a:t>
            </a:r>
            <a:pPr indent="0" marL="0">
              <a:spcAft>
                <a:spcPts val="600"/>
              </a:spcAft>
              <a:buNone/>
            </a:pPr>
            <a:r>
              <a:rPr lang="en-US" sz="1450" dirty="0">
                <a:solidFill>
                  <a:srgbClr val="000000"/>
                </a:solidFill>
              </a:rPr>
              <a:t>no Kaggle, UCI or GitHub dataset was used.</a:t>
            </a:r>
            <a:endParaRPr lang="en-US" sz="1450" dirty="0"/>
          </a:p>
          <a:p>
            <a:pPr indent="0" marL="0">
              <a:spcAft>
                <a:spcPts val="600"/>
              </a:spcAft>
              <a:buNone/>
            </a:pPr>
            <a:r>
              <a:rPr lang="en-US" sz="1450" b="1" dirty="0">
                <a:solidFill>
                  <a:srgbClr val="000000"/>
                </a:solidFill>
              </a:rPr>
              <a:t>Settings: </a:t>
            </a:r>
            <a:pPr indent="0" marL="0">
              <a:spcAft>
                <a:spcPts val="600"/>
              </a:spcAft>
              <a:buNone/>
            </a:pPr>
            <a:r>
              <a:rPr lang="en-US" sz="1450" dirty="0">
                <a:solidFill>
                  <a:srgbClr val="000000"/>
                </a:solidFill>
              </a:rPr>
              <a:t>language English, country India, sort order NEWEST, 200 reviews per page.</a:t>
            </a:r>
            <a:endParaRPr lang="en-US" sz="1450" dirty="0"/>
          </a:p>
          <a:p>
            <a:pPr indent="0" marL="0">
              <a:spcAft>
                <a:spcPts val="600"/>
              </a:spcAft>
              <a:buNone/>
            </a:pPr>
            <a:r>
              <a:rPr lang="en-US" sz="1450" b="1" dirty="0">
                <a:solidFill>
                  <a:srgbClr val="000000"/>
                </a:solidFill>
              </a:rPr>
              <a:t>Window: </a:t>
            </a:r>
            <a:pPr indent="0" marL="0">
              <a:spcAft>
                <a:spcPts val="600"/>
              </a:spcAft>
              <a:buNone/>
            </a:pPr>
            <a:r>
              <a:rPr lang="en-US" sz="1450" dirty="0">
                <a:solidFill>
                  <a:srgbClr val="000000"/>
                </a:solidFill>
              </a:rPr>
              <a:t>every review from 1 April to 20 September 2026, the same for all 11 apps (173 days).</a:t>
            </a:r>
            <a:endParaRPr lang="en-US" sz="1450" dirty="0"/>
          </a:p>
          <a:p>
            <a:pPr indent="0" marL="0">
              <a:spcAft>
                <a:spcPts val="600"/>
              </a:spcAft>
              <a:buNone/>
            </a:pPr>
            <a:r>
              <a:rPr lang="en-US" sz="1450" b="1" dirty="0">
                <a:solidFill>
                  <a:srgbClr val="000000"/>
                </a:solidFill>
              </a:rPr>
              <a:t>Apps: </a:t>
            </a:r>
            <a:pPr indent="0" marL="0">
              <a:spcAft>
                <a:spcPts val="600"/>
              </a:spcAft>
              <a:buNone/>
            </a:pPr>
            <a:r>
              <a:rPr lang="en-US" sz="1450" dirty="0">
                <a:solidFill>
                  <a:srgbClr val="000000"/>
                </a:solidFill>
              </a:rPr>
              <a:t>Food &amp; Grocery: Swiggy, Zomato, Blinkit, Domino's. Shopping: Myntra, Flipkart, Amazon, Meesho. Payments: Paytm, PhonePe, Google Pay.</a:t>
            </a:r>
            <a:endParaRPr lang="en-US" sz="1450" dirty="0"/>
          </a:p>
          <a:p>
            <a:pPr indent="0" marL="0">
              <a:spcAft>
                <a:spcPts val="600"/>
              </a:spcAft>
              <a:buNone/>
            </a:pPr>
            <a:r>
              <a:rPr lang="en-US" sz="1450" b="1" dirty="0">
                <a:solidFill>
                  <a:srgbClr val="000000"/>
                </a:solidFill>
              </a:rPr>
              <a:t>Why NEWEST: </a:t>
            </a:r>
            <a:pPr indent="0" marL="0">
              <a:spcAft>
                <a:spcPts val="600"/>
              </a:spcAft>
              <a:buNone/>
            </a:pPr>
            <a:r>
              <a:rPr lang="en-US" sz="1450" dirty="0">
                <a:solidFill>
                  <a:srgbClr val="000000"/>
                </a:solidFill>
              </a:rPr>
              <a:t>MOST_RELEVANT ran out of reviews (Swiggy at 11,200) and mixed years back to 2018; NEWEST has no ceiling.</a:t>
            </a:r>
            <a:endParaRPr lang="en-US" sz="1450" dirty="0"/>
          </a:p>
          <a:p>
            <a:pPr indent="0" marL="0">
              <a:spcAft>
                <a:spcPts val="600"/>
              </a:spcAft>
              <a:buNone/>
            </a:pPr>
            <a:r>
              <a:rPr lang="en-US" sz="1450" b="1" dirty="0">
                <a:solidFill>
                  <a:srgbClr val="000000"/>
                </a:solidFill>
              </a:rPr>
              <a:t>Documentation: </a:t>
            </a:r>
            <a:pPr indent="0" marL="0">
              <a:spcAft>
                <a:spcPts val="600"/>
              </a:spcAft>
              <a:buNone/>
            </a:pPr>
            <a:r>
              <a:rPr lang="en-US" sz="1450" dirty="0">
                <a:solidFill>
                  <a:srgbClr val="000000"/>
                </a:solidFill>
              </a:rPr>
              <a:t>DATA_SOURCES.md; one gzipped CSV per app in data/raw, data/clean and data/tagged.</a:t>
            </a:r>
            <a:endParaRPr lang="en-US" sz="1450" dirty="0"/>
          </a:p>
        </p:txBody>
      </p:sp>
      <p:sp>
        <p:nvSpPr>
          <p:cNvPr id="8" name="Text 5"/>
          <p:cNvSpPr txBox="1"/>
          <p:nvPr/>
        </p:nvSpPr>
        <p:spPr>
          <a:xfrm>
            <a:off x="7498080" y="1325880"/>
            <a:ext cx="192024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1,202,729</a:t>
            </a:r>
            <a:endParaRPr lang="en-US" sz="3000" dirty="0"/>
          </a:p>
        </p:txBody>
      </p:sp>
      <p:sp>
        <p:nvSpPr>
          <p:cNvPr id="9" name="Text 6"/>
          <p:cNvSpPr txBox="1"/>
          <p:nvPr/>
        </p:nvSpPr>
        <p:spPr>
          <a:xfrm>
            <a:off x="7498080" y="2039112"/>
            <a:ext cx="1920240" cy="502920"/>
          </a:xfrm>
          <a:prstGeom prst="rect">
            <a:avLst/>
          </a:prstGeom>
          <a:noFill/>
          <a:ln/>
        </p:spPr>
        <p:txBody>
          <a:bodyPr wrap="square" lIns="0" tIns="0" rIns="0" bIns="0" rtlCol="0" anchor="t"/>
          <a:lstStyle/>
          <a:p>
            <a:pPr indent="0" marL="0">
              <a:buNone/>
            </a:pPr>
            <a:r>
              <a:rPr lang="en-US" sz="1200" dirty="0">
                <a:solidFill>
                  <a:schemeClr val="accent6"/>
                </a:solidFill>
              </a:rPr>
              <a:t>raw reviews</a:t>
            </a:r>
            <a:endParaRPr lang="en-US" sz="1200" dirty="0"/>
          </a:p>
        </p:txBody>
      </p:sp>
      <p:sp>
        <p:nvSpPr>
          <p:cNvPr id="10" name="Text 7"/>
          <p:cNvSpPr txBox="1"/>
          <p:nvPr/>
        </p:nvSpPr>
        <p:spPr>
          <a:xfrm>
            <a:off x="9646920" y="1325880"/>
            <a:ext cx="1920240" cy="685800"/>
          </a:xfrm>
          <a:prstGeom prst="rect">
            <a:avLst/>
          </a:prstGeom>
          <a:noFill/>
          <a:ln/>
        </p:spPr>
        <p:txBody>
          <a:bodyPr wrap="square" lIns="0" tIns="0" rIns="0" bIns="0" rtlCol="0" anchor="b"/>
          <a:lstStyle/>
          <a:p>
            <a:pPr indent="0" marL="0">
              <a:buNone/>
            </a:pPr>
            <a:r>
              <a:rPr lang="en-US" sz="3000" b="1" dirty="0">
                <a:solidFill>
                  <a:schemeClr val="accent2"/>
                </a:solidFill>
                <a:latin typeface="Cambria" pitchFamily="34" charset="0"/>
                <a:ea typeface="Cambria" pitchFamily="34" charset="-122"/>
                <a:cs typeface="Cambria" pitchFamily="34" charset="-120"/>
              </a:rPr>
              <a:t>1,137,987</a:t>
            </a:r>
            <a:endParaRPr lang="en-US" sz="3000" dirty="0"/>
          </a:p>
        </p:txBody>
      </p:sp>
      <p:sp>
        <p:nvSpPr>
          <p:cNvPr id="11" name="Text 8"/>
          <p:cNvSpPr txBox="1"/>
          <p:nvPr/>
        </p:nvSpPr>
        <p:spPr>
          <a:xfrm>
            <a:off x="9646920" y="2039112"/>
            <a:ext cx="1920240" cy="502920"/>
          </a:xfrm>
          <a:prstGeom prst="rect">
            <a:avLst/>
          </a:prstGeom>
          <a:noFill/>
          <a:ln/>
        </p:spPr>
        <p:txBody>
          <a:bodyPr wrap="square" lIns="0" tIns="0" rIns="0" bIns="0" rtlCol="0" anchor="t"/>
          <a:lstStyle/>
          <a:p>
            <a:pPr indent="0" marL="0">
              <a:buNone/>
            </a:pPr>
            <a:r>
              <a:rPr lang="en-US" sz="1200" dirty="0">
                <a:solidFill>
                  <a:schemeClr val="accent6"/>
                </a:solidFill>
              </a:rPr>
              <a:t>after cleaning</a:t>
            </a:r>
            <a:endParaRPr lang="en-US" sz="1200" dirty="0"/>
          </a:p>
        </p:txBody>
      </p:sp>
      <p:sp>
        <p:nvSpPr>
          <p:cNvPr id="12" name="Text 9"/>
          <p:cNvSpPr txBox="1"/>
          <p:nvPr/>
        </p:nvSpPr>
        <p:spPr>
          <a:xfrm>
            <a:off x="7498080" y="3017520"/>
            <a:ext cx="1920240" cy="685800"/>
          </a:xfrm>
          <a:prstGeom prst="rect">
            <a:avLst/>
          </a:prstGeom>
          <a:noFill/>
          <a:ln/>
        </p:spPr>
        <p:txBody>
          <a:bodyPr wrap="square" lIns="0" tIns="0" rIns="0" bIns="0" rtlCol="0" anchor="b"/>
          <a:lstStyle/>
          <a:p>
            <a:pPr indent="0" marL="0">
              <a:buNone/>
            </a:pPr>
            <a:r>
              <a:rPr lang="en-US" sz="3600" b="1" dirty="0">
                <a:solidFill>
                  <a:schemeClr val="accent3"/>
                </a:solidFill>
                <a:latin typeface="Cambria" pitchFamily="34" charset="0"/>
                <a:ea typeface="Cambria" pitchFamily="34" charset="-122"/>
                <a:cs typeface="Cambria" pitchFamily="34" charset="-120"/>
              </a:rPr>
              <a:t>11</a:t>
            </a:r>
            <a:endParaRPr lang="en-US" sz="3600" dirty="0"/>
          </a:p>
        </p:txBody>
      </p:sp>
      <p:sp>
        <p:nvSpPr>
          <p:cNvPr id="13" name="Text 10"/>
          <p:cNvSpPr txBox="1"/>
          <p:nvPr/>
        </p:nvSpPr>
        <p:spPr>
          <a:xfrm>
            <a:off x="7498080" y="3730752"/>
            <a:ext cx="1920240" cy="502920"/>
          </a:xfrm>
          <a:prstGeom prst="rect">
            <a:avLst/>
          </a:prstGeom>
          <a:noFill/>
          <a:ln/>
        </p:spPr>
        <p:txBody>
          <a:bodyPr wrap="square" lIns="0" tIns="0" rIns="0" bIns="0" rtlCol="0" anchor="t"/>
          <a:lstStyle/>
          <a:p>
            <a:pPr indent="0" marL="0">
              <a:buNone/>
            </a:pPr>
            <a:r>
              <a:rPr lang="en-US" sz="1200" dirty="0">
                <a:solidFill>
                  <a:schemeClr val="accent6"/>
                </a:solidFill>
              </a:rPr>
              <a:t>apps in 3 domains</a:t>
            </a:r>
            <a:endParaRPr lang="en-US" sz="1200" dirty="0"/>
          </a:p>
        </p:txBody>
      </p:sp>
      <p:sp>
        <p:nvSpPr>
          <p:cNvPr id="14" name="Text 11"/>
          <p:cNvSpPr txBox="1"/>
          <p:nvPr/>
        </p:nvSpPr>
        <p:spPr>
          <a:xfrm>
            <a:off x="9646920" y="3017520"/>
            <a:ext cx="1920240" cy="685800"/>
          </a:xfrm>
          <a:prstGeom prst="rect">
            <a:avLst/>
          </a:prstGeom>
          <a:noFill/>
          <a:ln/>
        </p:spPr>
        <p:txBody>
          <a:bodyPr wrap="square" lIns="0" tIns="0" rIns="0" bIns="0" rtlCol="0" anchor="b"/>
          <a:lstStyle/>
          <a:p>
            <a:pPr indent="0" marL="0">
              <a:buNone/>
            </a:pPr>
            <a:r>
              <a:rPr lang="en-US" sz="3600" b="1" dirty="0">
                <a:solidFill>
                  <a:schemeClr val="accent6"/>
                </a:solidFill>
                <a:latin typeface="Cambria" pitchFamily="34" charset="0"/>
                <a:ea typeface="Cambria" pitchFamily="34" charset="-122"/>
                <a:cs typeface="Cambria" pitchFamily="34" charset="-120"/>
              </a:rPr>
              <a:t>29</a:t>
            </a:r>
            <a:endParaRPr lang="en-US" sz="3600" dirty="0"/>
          </a:p>
        </p:txBody>
      </p:sp>
      <p:sp>
        <p:nvSpPr>
          <p:cNvPr id="15" name="Text 12"/>
          <p:cNvSpPr txBox="1"/>
          <p:nvPr/>
        </p:nvSpPr>
        <p:spPr>
          <a:xfrm>
            <a:off x="9646920" y="3730752"/>
            <a:ext cx="1920240" cy="502920"/>
          </a:xfrm>
          <a:prstGeom prst="rect">
            <a:avLst/>
          </a:prstGeom>
          <a:noFill/>
          <a:ln/>
        </p:spPr>
        <p:txBody>
          <a:bodyPr wrap="square" lIns="0" tIns="0" rIns="0" bIns="0" rtlCol="0" anchor="t"/>
          <a:lstStyle/>
          <a:p>
            <a:pPr indent="0" marL="0">
              <a:buNone/>
            </a:pPr>
            <a:r>
              <a:rPr lang="en-US" sz="1200" dirty="0">
                <a:solidFill>
                  <a:schemeClr val="accent6"/>
                </a:solidFill>
              </a:rPr>
              <a:t>columns after tagging and sentiment</a:t>
            </a:r>
            <a:endParaRPr lang="en-US" sz="1200" dirty="0"/>
          </a:p>
        </p:txBody>
      </p:sp>
      <p:sp>
        <p:nvSpPr>
          <p:cNvPr id="16" name="target card"/>
          <p:cNvSpPr/>
          <p:nvPr/>
        </p:nvSpPr>
        <p:spPr>
          <a:xfrm>
            <a:off x="7498080" y="4709160"/>
            <a:ext cx="4050792" cy="146304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7" name="Text 14"/>
          <p:cNvSpPr txBox="1"/>
          <p:nvPr/>
        </p:nvSpPr>
        <p:spPr>
          <a:xfrm>
            <a:off x="7680960" y="4800600"/>
            <a:ext cx="3657600" cy="274320"/>
          </a:xfrm>
          <a:prstGeom prst="rect">
            <a:avLst/>
          </a:prstGeom>
          <a:noFill/>
          <a:ln/>
        </p:spPr>
        <p:txBody>
          <a:bodyPr wrap="square" lIns="0" tIns="0" rIns="0" bIns="0" rtlCol="0" anchor="ctr"/>
          <a:lstStyle/>
          <a:p>
            <a:pPr indent="0" marL="0">
              <a:buNone/>
            </a:pPr>
            <a:r>
              <a:rPr lang="en-US" sz="1400" b="1" dirty="0">
                <a:solidFill>
                  <a:schemeClr val="tx2"/>
                </a:solidFill>
              </a:rPr>
              <a:t>Prediction target</a:t>
            </a:r>
            <a:endParaRPr lang="en-US" sz="1400" dirty="0"/>
          </a:p>
        </p:txBody>
      </p:sp>
      <p:sp>
        <p:nvSpPr>
          <p:cNvPr id="18" name="Text 15"/>
          <p:cNvSpPr txBox="1"/>
          <p:nvPr/>
        </p:nvSpPr>
        <p:spPr>
          <a:xfrm>
            <a:off x="7680960" y="5120640"/>
            <a:ext cx="3703320" cy="1005840"/>
          </a:xfrm>
          <a:prstGeom prst="rect">
            <a:avLst/>
          </a:prstGeom>
          <a:noFill/>
          <a:ln/>
        </p:spPr>
        <p:txBody>
          <a:bodyPr wrap="square" lIns="0" tIns="0" rIns="0" bIns="0" rtlCol="0" anchor="t"/>
          <a:lstStyle/>
          <a:p>
            <a:pPr indent="0" marL="0">
              <a:spcAft>
                <a:spcPts val="600"/>
              </a:spcAft>
              <a:buNone/>
            </a:pPr>
            <a:r>
              <a:rPr lang="en-US" sz="1600" dirty="0">
                <a:solidFill>
                  <a:srgbClr val="000000"/>
                </a:solidFill>
              </a:rPr>
              <a:t>is_problematic = 1 if the rating is 1 or 2 stars: 221,581 reviews (19.5%).</a:t>
            </a:r>
            <a:endParaRPr lang="en-US" sz="16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2  |  DATASET DESCRIPTION (2 OF 3)</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Dataset: Key Variables and Target</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7040880" cy="914400"/>
        </p:xfrm>
        <a:graphic>
          <a:graphicData uri="http://schemas.openxmlformats.org/drawingml/2006/table">
            <a:tbl>
              <a:tblPr/>
              <a:tblGrid>
                <a:gridCol w="2651760"/>
                <a:gridCol w="1371600"/>
                <a:gridCol w="3017520"/>
              </a:tblGrid>
              <a:tr h="420624">
                <a:tc>
                  <a:txBody>
                    <a:bodyPr/>
                    <a:lstStyle/>
                    <a:p>
                      <a:pPr algn="l" indent="0" marL="0">
                        <a:buNone/>
                      </a:pPr>
                      <a:r>
                        <a:rPr lang="en-US" sz="1300" b="1" dirty="0">
                          <a:solidFill>
                            <a:schemeClr val="bg1"/>
                          </a:solidFill>
                        </a:rPr>
                        <a:t>Variable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Type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Meaning</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r>
              <a:tr h="420624">
                <a:tc>
                  <a:txBody>
                    <a:bodyPr/>
                    <a:lstStyle/>
                    <a:p>
                      <a:pPr algn="l" indent="0" marL="0">
                        <a:buNone/>
                      </a:pPr>
                      <a:r>
                        <a:rPr lang="en-US" sz="1300" dirty="0">
                          <a:solidFill>
                            <a:schemeClr val="tx1"/>
                          </a:solidFill>
                        </a:rPr>
                        <a:t>app_name, domain</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Category</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One of the 11 apps; its domain</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20624">
                <a:tc>
                  <a:txBody>
                    <a:bodyPr/>
                    <a:lstStyle/>
                    <a:p>
                      <a:pPr algn="l" indent="0" marL="0">
                        <a:buNone/>
                      </a:pPr>
                      <a:r>
                        <a:rPr lang="en-US" sz="1300" dirty="0">
                          <a:solidFill>
                            <a:schemeClr val="tx1"/>
                          </a:solidFill>
                        </a:rPr>
                        <a:t>score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Integer 1 to 5</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Star rating given by the user</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420624">
                <a:tc>
                  <a:txBody>
                    <a:bodyPr/>
                    <a:lstStyle/>
                    <a:p>
                      <a:pPr algn="l" indent="0" marL="0">
                        <a:buNone/>
                      </a:pPr>
                      <a:r>
                        <a:rPr lang="en-US" sz="1300" dirty="0">
                          <a:solidFill>
                            <a:schemeClr val="tx1"/>
                          </a:solidFill>
                        </a:rPr>
                        <a:t>content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Text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The review text (the comment)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20624">
                <a:tc>
                  <a:txBody>
                    <a:bodyPr/>
                    <a:lstStyle/>
                    <a:p>
                      <a:pPr algn="l" indent="0" marL="0">
                        <a:buNone/>
                      </a:pPr>
                      <a:r>
                        <a:rPr lang="en-US" sz="1300" dirty="0">
                          <a:solidFill>
                            <a:schemeClr val="tx1"/>
                          </a:solidFill>
                        </a:rPr>
                        <a:t>thumbs_up</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Integer</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Users who found the review helpful</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420624">
                <a:tc>
                  <a:txBody>
                    <a:bodyPr/>
                    <a:lstStyle/>
                    <a:p>
                      <a:pPr algn="l" indent="0" marL="0">
                        <a:buNone/>
                      </a:pPr>
                      <a:r>
                        <a:rPr lang="en-US" sz="1300" dirty="0">
                          <a:solidFill>
                            <a:schemeClr val="tx1"/>
                          </a:solidFill>
                        </a:rPr>
                        <a:t>app_version</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Text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App version on the reviewer's phone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20624">
                <a:tc>
                  <a:txBody>
                    <a:bodyPr/>
                    <a:lstStyle/>
                    <a:p>
                      <a:pPr algn="l" indent="0" marL="0">
                        <a:buNone/>
                      </a:pPr>
                      <a:r>
                        <a:rPr lang="en-US" sz="1300" dirty="0">
                          <a:solidFill>
                            <a:schemeClr val="tx1"/>
                          </a:solidFill>
                        </a:rPr>
                        <a:t>review_date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Date and time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When the review was posted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420624">
                <a:tc>
                  <a:txBody>
                    <a:bodyPr/>
                    <a:lstStyle/>
                    <a:p>
                      <a:pPr algn="l" indent="0" marL="0">
                        <a:buNone/>
                      </a:pPr>
                      <a:r>
                        <a:rPr lang="en-US" sz="1300" dirty="0">
                          <a:solidFill>
                            <a:schemeClr val="tx1"/>
                          </a:solidFill>
                        </a:rPr>
                        <a:t>review_length</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Integer</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Number of words in the review</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20624">
                <a:tc>
                  <a:txBody>
                    <a:bodyPr/>
                    <a:lstStyle/>
                    <a:p>
                      <a:pPr algn="l" indent="0" marL="0">
                        <a:buNone/>
                      </a:pPr>
                      <a:r>
                        <a:rPr lang="en-US" sz="1300" dirty="0">
                          <a:solidFill>
                            <a:schemeClr val="tx1"/>
                          </a:solidFill>
                        </a:rPr>
                        <a:t>issue_* (9 columns)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0 or 1</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Review mentions that issue category</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420624">
                <a:tc>
                  <a:txBody>
                    <a:bodyPr/>
                    <a:lstStyle/>
                    <a:p>
                      <a:pPr algn="l" indent="0" marL="0">
                        <a:buNone/>
                      </a:pPr>
                      <a:r>
                        <a:rPr lang="en-US" sz="1300" dirty="0">
                          <a:solidFill>
                            <a:schemeClr val="tx1"/>
                          </a:solidFill>
                        </a:rPr>
                        <a:t>sentiment_neg, neu, pos, compound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Number</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VADER scores, compound from -1 to +1</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bl>
          </a:graphicData>
        </a:graphic>
      </p:graphicFrame>
      <p:graphicFrame>
        <p:nvGraphicFramePr>
          <p:cNvPr id="6" name="Chart 0" descr=""/>
          <p:cNvGraphicFramePr/>
          <p:nvPr/>
        </p:nvGraphicFramePr>
        <p:xfrm>
          <a:off x="8001000" y="1371600"/>
          <a:ext cx="3566160" cy="3017520"/>
        </p:xfrm>
        <a:graphic xmlns:a="http://schemas.openxmlformats.org/drawingml/2006/main">
          <a:graphicData uri="http://schemas.openxmlformats.org/drawingml/2006/chart">
            <c:chart xmlns:c="http://schemas.openxmlformats.org/drawingml/2006/chart" r:id="rId1"/>
          </a:graphicData>
        </a:graphic>
      </p:graphicFrame>
      <p:sp>
        <p:nvSpPr>
          <p:cNvPr id="7" name="Text 2"/>
          <p:cNvSpPr txBox="1"/>
          <p:nvPr/>
        </p:nvSpPr>
        <p:spPr>
          <a:xfrm>
            <a:off x="8001000" y="4526280"/>
            <a:ext cx="3566160" cy="173736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Target: </a:t>
            </a:r>
            <a:pPr indent="0" marL="0">
              <a:spcAft>
                <a:spcPts val="600"/>
              </a:spcAft>
              <a:buNone/>
            </a:pPr>
            <a:r>
              <a:rPr lang="en-US" sz="1500" dirty="0">
                <a:solidFill>
                  <a:srgbClr val="000000"/>
                </a:solidFill>
              </a:rPr>
              <a:t>is_problematic = 1 when score is 1 or 2.</a:t>
            </a:r>
            <a:endParaRPr lang="en-US" sz="1500" dirty="0"/>
          </a:p>
          <a:p>
            <a:pPr indent="0" marL="0">
              <a:spcAft>
                <a:spcPts val="600"/>
              </a:spcAft>
              <a:buNone/>
            </a:pPr>
            <a:r>
              <a:rPr lang="en-US" sz="1500" b="1" dirty="0">
                <a:solidFill>
                  <a:srgbClr val="000000"/>
                </a:solidFill>
              </a:rPr>
              <a:t>Counts: </a:t>
            </a:r>
            <a:pPr indent="0" marL="0">
              <a:spcAft>
                <a:spcPts val="600"/>
              </a:spcAft>
              <a:buNone/>
            </a:pPr>
            <a:r>
              <a:rPr lang="en-US" sz="1500" dirty="0">
                <a:solidFill>
                  <a:srgbClr val="000000"/>
                </a:solidFill>
              </a:rPr>
              <a:t>221,581 problematic (19.5%) and 916,406 not (80.5%).</a:t>
            </a:r>
            <a:endParaRPr lang="en-US" sz="1500" dirty="0"/>
          </a:p>
          <a:p>
            <a:pPr indent="0" marL="0">
              <a:spcAft>
                <a:spcPts val="600"/>
              </a:spcAft>
              <a:buNone/>
            </a:pPr>
            <a:r>
              <a:rPr lang="en-US" sz="1500" b="1" dirty="0">
                <a:solidFill>
                  <a:srgbClr val="000000"/>
                </a:solidFill>
              </a:rPr>
              <a:t>Consequence: </a:t>
            </a:r>
            <a:pPr indent="0" marL="0">
              <a:spcAft>
                <a:spcPts val="600"/>
              </a:spcAft>
              <a:buNone/>
            </a:pPr>
            <a:r>
              <a:rPr lang="en-US" sz="1500" dirty="0">
                <a:solidFill>
                  <a:srgbClr val="000000"/>
                </a:solidFill>
              </a:rPr>
              <a:t>always saying "not problematic" is already 80.5% accurate, so accuracy alone is not enough.</a:t>
            </a:r>
            <a:endParaRPr lang="en-US" sz="15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2  |  DATASET DESCRIPTION (3 OF 3)</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Dataset: Data Sample, Period and Limitations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0908792" cy="914400"/>
        </p:xfrm>
        <a:graphic>
          <a:graphicData uri="http://schemas.openxmlformats.org/drawingml/2006/table">
            <a:tbl>
              <a:tblPr/>
              <a:tblGrid>
                <a:gridCol w="1097280"/>
                <a:gridCol w="640080"/>
                <a:gridCol w="5029200"/>
                <a:gridCol w="1371600"/>
                <a:gridCol w="1554480"/>
                <a:gridCol w="1216152"/>
              </a:tblGrid>
              <a:tr h="457200">
                <a:tc>
                  <a:txBody>
                    <a:bodyPr/>
                    <a:lstStyle/>
                    <a:p>
                      <a:pPr algn="l" indent="0" marL="0">
                        <a:buNone/>
                      </a:pPr>
                      <a:r>
                        <a:rPr lang="en-US" sz="1300" b="1" dirty="0">
                          <a:solidFill>
                            <a:schemeClr val="bg1"/>
                          </a:solidFill>
                        </a:rPr>
                        <a:t>App</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Stars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Review text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Date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Issue tag</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Sentiment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r>
              <a:tr h="457200">
                <a:tc>
                  <a:txBody>
                    <a:bodyPr/>
                    <a:lstStyle/>
                    <a:p>
                      <a:pPr algn="l" indent="0" marL="0">
                        <a:buNone/>
                      </a:pPr>
                      <a:r>
                        <a:rPr lang="en-US" sz="1300" dirty="0">
                          <a:solidFill>
                            <a:schemeClr val="tx1"/>
                          </a:solidFill>
                        </a:rPr>
                        <a:t>Swiggy</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...assigning multiple orders for single delivery partner at the end all the orders are getting delayed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2026-05-02</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delivery_delay</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Negative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57200">
                <a:tc>
                  <a:txBody>
                    <a:bodyPr/>
                    <a:lstStyle/>
                    <a:p>
                      <a:pPr algn="l" indent="0" marL="0">
                        <a:buNone/>
                      </a:pPr>
                      <a:r>
                        <a:rPr lang="en-US" sz="1300" dirty="0">
                          <a:solidFill>
                            <a:schemeClr val="tx1"/>
                          </a:solidFill>
                        </a:rPr>
                        <a:t>Amazon</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i return my Order product... but didn't get any Refund even After waiting for 20 Days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2026-07-14</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payment_refund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Neutral</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457200">
                <a:tc>
                  <a:txBody>
                    <a:bodyPr/>
                    <a:lstStyle/>
                    <a:p>
                      <a:pPr algn="l" indent="0" marL="0">
                        <a:buNone/>
                      </a:pPr>
                      <a:r>
                        <a:rPr lang="en-US" sz="1300" dirty="0">
                          <a:solidFill>
                            <a:schemeClr val="tx1"/>
                          </a:solidFill>
                        </a:rPr>
                        <a:t>Flipkart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nice app</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2026-08-20</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none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Positive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57200">
                <a:tc>
                  <a:txBody>
                    <a:bodyPr/>
                    <a:lstStyle/>
                    <a:p>
                      <a:pPr algn="l" indent="0" marL="0">
                        <a:buNone/>
                      </a:pPr>
                      <a:r>
                        <a:rPr lang="en-US" sz="1300" dirty="0">
                          <a:solidFill>
                            <a:schemeClr val="tx1"/>
                          </a:solidFill>
                        </a:rPr>
                        <a:t>PhonePe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Yes my phone pe app not working</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2026-05-20</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none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Positive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bl>
          </a:graphicData>
        </a:graphic>
      </p:graphicFrame>
      <p:sp>
        <p:nvSpPr>
          <p:cNvPr id="6" name="Text 2"/>
          <p:cNvSpPr txBox="1"/>
          <p:nvPr/>
        </p:nvSpPr>
        <p:spPr>
          <a:xfrm>
            <a:off x="640080" y="3886200"/>
            <a:ext cx="7315200" cy="320040"/>
          </a:xfrm>
          <a:prstGeom prst="rect">
            <a:avLst/>
          </a:prstGeom>
          <a:noFill/>
          <a:ln/>
        </p:spPr>
        <p:txBody>
          <a:bodyPr wrap="square" lIns="0" tIns="0" rIns="0" bIns="0" rtlCol="0" anchor="ctr"/>
          <a:lstStyle/>
          <a:p>
            <a:pPr indent="0" marL="0">
              <a:buNone/>
            </a:pPr>
            <a:r>
              <a:rPr lang="en-US" sz="1600" b="1" dirty="0">
                <a:solidFill>
                  <a:schemeClr val="tx2"/>
                </a:solidFill>
              </a:rPr>
              <a:t>Collection period and limitations</a:t>
            </a:r>
            <a:endParaRPr lang="en-US" sz="1600" dirty="0"/>
          </a:p>
        </p:txBody>
      </p:sp>
      <p:sp>
        <p:nvSpPr>
          <p:cNvPr id="7" name="limit 1"/>
          <p:cNvSpPr/>
          <p:nvPr/>
        </p:nvSpPr>
        <p:spPr>
          <a:xfrm>
            <a:off x="640080" y="4297680"/>
            <a:ext cx="2633472" cy="1920240"/>
          </a:xfrm>
          <a:prstGeom prst="roundRect">
            <a:avLst>
              <a:gd name="adj" fmla="val 381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777240" y="4407408"/>
            <a:ext cx="2359152" cy="457200"/>
          </a:xfrm>
          <a:prstGeom prst="rect">
            <a:avLst/>
          </a:prstGeom>
          <a:noFill/>
          <a:ln/>
        </p:spPr>
        <p:txBody>
          <a:bodyPr wrap="square" lIns="0" tIns="0" rIns="0" bIns="0" rtlCol="0" anchor="t"/>
          <a:lstStyle/>
          <a:p>
            <a:pPr indent="0" marL="0">
              <a:buNone/>
            </a:pPr>
            <a:r>
              <a:rPr lang="en-US" sz="1400" b="1" dirty="0">
                <a:solidFill>
                  <a:schemeClr val="tx2"/>
                </a:solidFill>
              </a:rPr>
              <a:t>Very short reviews</a:t>
            </a:r>
            <a:endParaRPr lang="en-US" sz="1400" dirty="0"/>
          </a:p>
        </p:txBody>
      </p:sp>
      <p:sp>
        <p:nvSpPr>
          <p:cNvPr id="9" name="Text 5"/>
          <p:cNvSpPr txBox="1"/>
          <p:nvPr/>
        </p:nvSpPr>
        <p:spPr>
          <a:xfrm>
            <a:off x="777240" y="4892040"/>
            <a:ext cx="2359152" cy="1280160"/>
          </a:xfrm>
          <a:prstGeom prst="rect">
            <a:avLst/>
          </a:prstGeom>
          <a:noFill/>
          <a:ln/>
        </p:spPr>
        <p:txBody>
          <a:bodyPr wrap="square" lIns="0" tIns="0" rIns="0" bIns="0" rtlCol="0" anchor="t"/>
          <a:lstStyle/>
          <a:p>
            <a:pPr indent="0" marL="0">
              <a:buNone/>
            </a:pPr>
            <a:r>
              <a:rPr lang="en-US" sz="1400" dirty="0">
                <a:solidFill>
                  <a:schemeClr val="tx1"/>
                </a:solidFill>
              </a:rPr>
              <a:t>Median 2 words; 66% have 3 words or fewer ("good", "nice app").</a:t>
            </a:r>
            <a:endParaRPr lang="en-US" sz="1400" dirty="0"/>
          </a:p>
        </p:txBody>
      </p:sp>
      <p:sp>
        <p:nvSpPr>
          <p:cNvPr id="10" name="limit 2"/>
          <p:cNvSpPr/>
          <p:nvPr/>
        </p:nvSpPr>
        <p:spPr>
          <a:xfrm>
            <a:off x="3401568" y="4297680"/>
            <a:ext cx="2633472" cy="1920240"/>
          </a:xfrm>
          <a:prstGeom prst="roundRect">
            <a:avLst>
              <a:gd name="adj" fmla="val 381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Text 7"/>
          <p:cNvSpPr txBox="1"/>
          <p:nvPr/>
        </p:nvSpPr>
        <p:spPr>
          <a:xfrm>
            <a:off x="3538728" y="4407408"/>
            <a:ext cx="2359152" cy="457200"/>
          </a:xfrm>
          <a:prstGeom prst="rect">
            <a:avLst/>
          </a:prstGeom>
          <a:noFill/>
          <a:ln/>
        </p:spPr>
        <p:txBody>
          <a:bodyPr wrap="square" lIns="0" tIns="0" rIns="0" bIns="0" rtlCol="0" anchor="t"/>
          <a:lstStyle/>
          <a:p>
            <a:pPr indent="0" marL="0">
              <a:buNone/>
            </a:pPr>
            <a:r>
              <a:rPr lang="en-US" sz="1400" b="1" dirty="0">
                <a:solidFill>
                  <a:schemeClr val="tx2"/>
                </a:solidFill>
              </a:rPr>
              <a:t>Harsher than public rating</a:t>
            </a:r>
            <a:endParaRPr lang="en-US" sz="1400" dirty="0"/>
          </a:p>
        </p:txBody>
      </p:sp>
      <p:sp>
        <p:nvSpPr>
          <p:cNvPr id="12" name="Text 8"/>
          <p:cNvSpPr txBox="1"/>
          <p:nvPr/>
        </p:nvSpPr>
        <p:spPr>
          <a:xfrm>
            <a:off x="3538728" y="4892040"/>
            <a:ext cx="2359152" cy="1280160"/>
          </a:xfrm>
          <a:prstGeom prst="rect">
            <a:avLst/>
          </a:prstGeom>
          <a:noFill/>
          <a:ln/>
        </p:spPr>
        <p:txBody>
          <a:bodyPr wrap="square" lIns="0" tIns="0" rIns="0" bIns="0" rtlCol="0" anchor="t"/>
          <a:lstStyle/>
          <a:p>
            <a:pPr indent="0" marL="0">
              <a:buNone/>
            </a:pPr>
            <a:r>
              <a:rPr lang="en-US" sz="1400" dirty="0">
                <a:solidFill>
                  <a:schemeClr val="tx1"/>
                </a:solidFill>
              </a:rPr>
              <a:t>Written reviews sit 0.0 to 1.4 stars below each app's Play Store rating.</a:t>
            </a:r>
            <a:endParaRPr lang="en-US" sz="1400" dirty="0"/>
          </a:p>
        </p:txBody>
      </p:sp>
      <p:sp>
        <p:nvSpPr>
          <p:cNvPr id="13" name="limit 3"/>
          <p:cNvSpPr/>
          <p:nvPr/>
        </p:nvSpPr>
        <p:spPr>
          <a:xfrm>
            <a:off x="6163056" y="4297680"/>
            <a:ext cx="2633472" cy="1920240"/>
          </a:xfrm>
          <a:prstGeom prst="roundRect">
            <a:avLst>
              <a:gd name="adj" fmla="val 381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4" name="Text 10"/>
          <p:cNvSpPr txBox="1"/>
          <p:nvPr/>
        </p:nvSpPr>
        <p:spPr>
          <a:xfrm>
            <a:off x="6300216" y="4407408"/>
            <a:ext cx="2359152" cy="457200"/>
          </a:xfrm>
          <a:prstGeom prst="rect">
            <a:avLst/>
          </a:prstGeom>
          <a:noFill/>
          <a:ln/>
        </p:spPr>
        <p:txBody>
          <a:bodyPr wrap="square" lIns="0" tIns="0" rIns="0" bIns="0" rtlCol="0" anchor="t"/>
          <a:lstStyle/>
          <a:p>
            <a:pPr indent="0" marL="0">
              <a:buNone/>
            </a:pPr>
            <a:r>
              <a:rPr lang="en-US" sz="1400" b="1" dirty="0">
                <a:solidFill>
                  <a:schemeClr val="tx2"/>
                </a:solidFill>
              </a:rPr>
              <a:t>Late-April feed gap</a:t>
            </a:r>
            <a:endParaRPr lang="en-US" sz="1400" dirty="0"/>
          </a:p>
        </p:txBody>
      </p:sp>
      <p:sp>
        <p:nvSpPr>
          <p:cNvPr id="15" name="Text 11"/>
          <p:cNvSpPr txBox="1"/>
          <p:nvPr/>
        </p:nvSpPr>
        <p:spPr>
          <a:xfrm>
            <a:off x="6300216" y="4892040"/>
            <a:ext cx="2359152" cy="1280160"/>
          </a:xfrm>
          <a:prstGeom prst="rect">
            <a:avLst/>
          </a:prstGeom>
          <a:noFill/>
          <a:ln/>
        </p:spPr>
        <p:txBody>
          <a:bodyPr wrap="square" lIns="0" tIns="0" rIns="0" bIns="0" rtlCol="0" anchor="t"/>
          <a:lstStyle/>
          <a:p>
            <a:pPr indent="0" marL="0">
              <a:buNone/>
            </a:pPr>
            <a:r>
              <a:rPr lang="en-US" sz="1400" dirty="0">
                <a:solidFill>
                  <a:schemeClr val="tx1"/>
                </a:solidFill>
              </a:rPr>
              <a:t>21 Apr to 5 May: positive reviews drop 59 to 90% for 5 apps. Rows kept and flagged.</a:t>
            </a:r>
            <a:endParaRPr lang="en-US" sz="1400" dirty="0"/>
          </a:p>
        </p:txBody>
      </p:sp>
      <p:sp>
        <p:nvSpPr>
          <p:cNvPr id="16" name="limit 4"/>
          <p:cNvSpPr/>
          <p:nvPr/>
        </p:nvSpPr>
        <p:spPr>
          <a:xfrm>
            <a:off x="8924544" y="4297680"/>
            <a:ext cx="2633472" cy="1920240"/>
          </a:xfrm>
          <a:prstGeom prst="roundRect">
            <a:avLst>
              <a:gd name="adj" fmla="val 381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7" name="Text 13"/>
          <p:cNvSpPr txBox="1"/>
          <p:nvPr/>
        </p:nvSpPr>
        <p:spPr>
          <a:xfrm>
            <a:off x="9061704" y="4407408"/>
            <a:ext cx="2359152" cy="457200"/>
          </a:xfrm>
          <a:prstGeom prst="rect">
            <a:avLst/>
          </a:prstGeom>
          <a:noFill/>
          <a:ln/>
        </p:spPr>
        <p:txBody>
          <a:bodyPr wrap="square" lIns="0" tIns="0" rIns="0" bIns="0" rtlCol="0" anchor="t"/>
          <a:lstStyle/>
          <a:p>
            <a:pPr indent="0" marL="0">
              <a:buNone/>
            </a:pPr>
            <a:r>
              <a:rPr lang="en-US" sz="1400" b="1" dirty="0">
                <a:solidFill>
                  <a:schemeClr val="tx2"/>
                </a:solidFill>
              </a:rPr>
              <a:t>Missing values</a:t>
            </a:r>
            <a:endParaRPr lang="en-US" sz="1400" dirty="0"/>
          </a:p>
        </p:txBody>
      </p:sp>
      <p:sp>
        <p:nvSpPr>
          <p:cNvPr id="18" name="Text 14"/>
          <p:cNvSpPr txBox="1"/>
          <p:nvPr/>
        </p:nvSpPr>
        <p:spPr>
          <a:xfrm>
            <a:off x="9061704" y="4892040"/>
            <a:ext cx="2359152" cy="1280160"/>
          </a:xfrm>
          <a:prstGeom prst="rect">
            <a:avLst/>
          </a:prstGeom>
          <a:noFill/>
          <a:ln/>
        </p:spPr>
        <p:txBody>
          <a:bodyPr wrap="square" lIns="0" tIns="0" rIns="0" bIns="0" rtlCol="0" anchor="t"/>
          <a:lstStyle/>
          <a:p>
            <a:pPr indent="0" marL="0">
              <a:buNone/>
            </a:pPr>
            <a:r>
              <a:rPr lang="en-US" sz="1400" dirty="0">
                <a:solidFill>
                  <a:schemeClr val="tx1"/>
                </a:solidFill>
              </a:rPr>
              <a:t>app_version empty for 13.4%; Zomato has no reviews 23 to 25 July (source gap).</a:t>
            </a:r>
            <a:endParaRPr lang="en-US" sz="14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3  |  DATA CLEANING AND PREPROCESSING (1 OF 2)</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Cleaning: Missing Values, Duplicates and Outliers</a:t>
            </a:r>
            <a:endParaRPr lang="en-US" sz="2800" dirty="0"/>
          </a:p>
        </p:txBody>
      </p:sp>
      <p:sp>
        <p:nvSpPr>
          <p:cNvPr id="5" name="missing card"/>
          <p:cNvSpPr/>
          <p:nvPr/>
        </p:nvSpPr>
        <p:spPr>
          <a:xfrm>
            <a:off x="640080" y="1417320"/>
            <a:ext cx="5303520" cy="2103120"/>
          </a:xfrm>
          <a:prstGeom prst="roundRect">
            <a:avLst>
              <a:gd name="adj" fmla="val 3478"/>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868680" y="1536192"/>
            <a:ext cx="4846320" cy="320040"/>
          </a:xfrm>
          <a:prstGeom prst="rect">
            <a:avLst/>
          </a:prstGeom>
          <a:noFill/>
          <a:ln/>
        </p:spPr>
        <p:txBody>
          <a:bodyPr wrap="square" lIns="0" tIns="0" rIns="0" bIns="0" rtlCol="0" anchor="ctr"/>
          <a:lstStyle/>
          <a:p>
            <a:pPr indent="0" marL="0">
              <a:buNone/>
            </a:pPr>
            <a:r>
              <a:rPr lang="en-US" sz="1600" b="1" dirty="0">
                <a:solidFill>
                  <a:schemeClr val="tx2"/>
                </a:solidFill>
              </a:rPr>
              <a:t>Missing values</a:t>
            </a:r>
            <a:endParaRPr lang="en-US" sz="1600" dirty="0"/>
          </a:p>
        </p:txBody>
      </p:sp>
      <p:sp>
        <p:nvSpPr>
          <p:cNvPr id="7" name="Text 4"/>
          <p:cNvSpPr txBox="1"/>
          <p:nvPr/>
        </p:nvSpPr>
        <p:spPr>
          <a:xfrm>
            <a:off x="868680" y="1920240"/>
            <a:ext cx="4846320" cy="155448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app_version: </a:t>
            </a:r>
            <a:pPr indent="0" marL="0">
              <a:spcAft>
                <a:spcPts val="600"/>
              </a:spcAft>
              <a:buNone/>
            </a:pPr>
            <a:r>
              <a:rPr lang="en-US" sz="1500" dirty="0">
                <a:solidFill>
                  <a:srgbClr val="000000"/>
                </a:solidFill>
              </a:rPr>
              <a:t>empty in 152,017 rows (13.4%). Kept: it is not a model feature and the text is still valid.</a:t>
            </a:r>
            <a:endParaRPr lang="en-US" sz="1500" dirty="0"/>
          </a:p>
          <a:p>
            <a:pPr indent="0" marL="0">
              <a:spcAft>
                <a:spcPts val="600"/>
              </a:spcAft>
              <a:buNone/>
            </a:pPr>
            <a:r>
              <a:rPr lang="en-US" sz="1500" b="1" dirty="0">
                <a:solidFill>
                  <a:srgbClr val="000000"/>
                </a:solidFill>
              </a:rPr>
              <a:t>content: </a:t>
            </a:r>
            <a:pPr indent="0" marL="0">
              <a:spcAft>
                <a:spcPts val="600"/>
              </a:spcAft>
              <a:buNone/>
            </a:pPr>
            <a:r>
              <a:rPr lang="en-US" sz="1500" dirty="0">
                <a:solidFill>
                  <a:srgbClr val="000000"/>
                </a:solidFill>
              </a:rPr>
              <a:t>3 empty texts set to "" (then removed by the short-text rule).</a:t>
            </a:r>
            <a:endParaRPr lang="en-US" sz="1500" dirty="0"/>
          </a:p>
          <a:p>
            <a:pPr indent="0" marL="0">
              <a:spcAft>
                <a:spcPts val="600"/>
              </a:spcAft>
              <a:buNone/>
            </a:pPr>
            <a:r>
              <a:rPr lang="en-US" sz="1500" b="1" dirty="0">
                <a:solidFill>
                  <a:srgbClr val="000000"/>
                </a:solidFill>
              </a:rPr>
              <a:t>All other columns: </a:t>
            </a:r>
            <a:pPr indent="0" marL="0">
              <a:spcAft>
                <a:spcPts val="600"/>
              </a:spcAft>
              <a:buNone/>
            </a:pPr>
            <a:r>
              <a:rPr lang="en-US" sz="1500" dirty="0">
                <a:solidFill>
                  <a:srgbClr val="000000"/>
                </a:solidFill>
              </a:rPr>
              <a:t>no missing values.</a:t>
            </a:r>
            <a:endParaRPr lang="en-US" sz="1500" dirty="0"/>
          </a:p>
        </p:txBody>
      </p:sp>
      <p:sp>
        <p:nvSpPr>
          <p:cNvPr id="8" name="dup card"/>
          <p:cNvSpPr/>
          <p:nvPr/>
        </p:nvSpPr>
        <p:spPr>
          <a:xfrm>
            <a:off x="6172200" y="1417320"/>
            <a:ext cx="5376672" cy="2103120"/>
          </a:xfrm>
          <a:prstGeom prst="roundRect">
            <a:avLst>
              <a:gd name="adj" fmla="val 3478"/>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Text 6"/>
          <p:cNvSpPr txBox="1"/>
          <p:nvPr/>
        </p:nvSpPr>
        <p:spPr>
          <a:xfrm>
            <a:off x="6400800" y="1536192"/>
            <a:ext cx="4937760" cy="320040"/>
          </a:xfrm>
          <a:prstGeom prst="rect">
            <a:avLst/>
          </a:prstGeom>
          <a:noFill/>
          <a:ln/>
        </p:spPr>
        <p:txBody>
          <a:bodyPr wrap="square" lIns="0" tIns="0" rIns="0" bIns="0" rtlCol="0" anchor="ctr"/>
          <a:lstStyle/>
          <a:p>
            <a:pPr indent="0" marL="0">
              <a:buNone/>
            </a:pPr>
            <a:r>
              <a:rPr lang="en-US" sz="1600" b="1" dirty="0">
                <a:solidFill>
                  <a:schemeClr val="tx2"/>
                </a:solidFill>
              </a:rPr>
              <a:t>Duplicates</a:t>
            </a:r>
            <a:endParaRPr lang="en-US" sz="1600" dirty="0"/>
          </a:p>
        </p:txBody>
      </p:sp>
      <p:sp>
        <p:nvSpPr>
          <p:cNvPr id="10" name="Text 7"/>
          <p:cNvSpPr txBox="1"/>
          <p:nvPr/>
        </p:nvSpPr>
        <p:spPr>
          <a:xfrm>
            <a:off x="6400800" y="1920240"/>
            <a:ext cx="4937760" cy="1554480"/>
          </a:xfrm>
          <a:prstGeom prst="rect">
            <a:avLst/>
          </a:prstGeom>
          <a:noFill/>
          <a:ln/>
        </p:spPr>
        <p:txBody>
          <a:bodyPr wrap="square" lIns="0" tIns="0" rIns="0" bIns="0" rtlCol="0" anchor="t"/>
          <a:lstStyle/>
          <a:p>
            <a:pPr indent="0" marL="0">
              <a:spcAft>
                <a:spcPts val="600"/>
              </a:spcAft>
              <a:buNone/>
            </a:pPr>
            <a:r>
              <a:rPr lang="en-US" sz="1500" b="1" dirty="0">
                <a:solidFill>
                  <a:srgbClr val="000000"/>
                </a:solidFill>
              </a:rPr>
              <a:t>By review_id: </a:t>
            </a:r>
            <a:pPr indent="0" marL="0">
              <a:spcAft>
                <a:spcPts val="600"/>
              </a:spcAft>
              <a:buNone/>
            </a:pPr>
            <a:r>
              <a:rPr lang="en-US" sz="1500" dirty="0">
                <a:solidFill>
                  <a:srgbClr val="000000"/>
                </a:solidFill>
              </a:rPr>
              <a:t>0 duplicates.</a:t>
            </a:r>
            <a:endParaRPr lang="en-US" sz="1500" dirty="0"/>
          </a:p>
          <a:p>
            <a:pPr indent="0" marL="0">
              <a:spcAft>
                <a:spcPts val="600"/>
              </a:spcAft>
              <a:buNone/>
            </a:pPr>
            <a:r>
              <a:rPr lang="en-US" sz="1500" b="1" dirty="0">
                <a:solidFill>
                  <a:srgbClr val="000000"/>
                </a:solidFill>
              </a:rPr>
              <a:t>Repeated text: </a:t>
            </a:r>
            <a:pPr indent="0" marL="0">
              <a:spcAft>
                <a:spcPts val="600"/>
              </a:spcAft>
              <a:buNone/>
            </a:pPr>
            <a:r>
              <a:rPr lang="en-US" sz="1500" dirty="0">
                <a:solidFill>
                  <a:srgbClr val="000000"/>
                </a:solidFill>
              </a:rPr>
              <a:t>62% of reviews share their text with another ("good" appears 196,940 times). These are real users, so they are kept.</a:t>
            </a:r>
            <a:endParaRPr lang="en-US" sz="1500" dirty="0"/>
          </a:p>
        </p:txBody>
      </p:sp>
      <p:sp>
        <p:nvSpPr>
          <p:cNvPr id="11" name="Text 8"/>
          <p:cNvSpPr txBox="1"/>
          <p:nvPr/>
        </p:nvSpPr>
        <p:spPr>
          <a:xfrm>
            <a:off x="640080" y="3703320"/>
            <a:ext cx="7315200" cy="320040"/>
          </a:xfrm>
          <a:prstGeom prst="rect">
            <a:avLst/>
          </a:prstGeom>
          <a:noFill/>
          <a:ln/>
        </p:spPr>
        <p:txBody>
          <a:bodyPr wrap="square" lIns="0" tIns="0" rIns="0" bIns="0" rtlCol="0" anchor="ctr"/>
          <a:lstStyle/>
          <a:p>
            <a:pPr indent="0" marL="0">
              <a:buNone/>
            </a:pPr>
            <a:r>
              <a:rPr lang="en-US" sz="1600" b="1" dirty="0">
                <a:solidFill>
                  <a:schemeClr val="tx2"/>
                </a:solidFill>
              </a:rPr>
              <a:t>Outliers (Tukey 1.5 x IQR fences)</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114800"/>
          <a:ext cx="10908792" cy="914400"/>
        </p:xfrm>
        <a:graphic>
          <a:graphicData uri="http://schemas.openxmlformats.org/drawingml/2006/table">
            <a:tbl>
              <a:tblPr/>
              <a:tblGrid>
                <a:gridCol w="2103120"/>
                <a:gridCol w="3291840"/>
                <a:gridCol w="1097280"/>
                <a:gridCol w="4416552"/>
              </a:tblGrid>
              <a:tr h="457200">
                <a:tc>
                  <a:txBody>
                    <a:bodyPr/>
                    <a:lstStyle/>
                    <a:p>
                      <a:pPr algn="l" indent="0" marL="0">
                        <a:buNone/>
                      </a:pPr>
                      <a:r>
                        <a:rPr lang="en-US" sz="1300" b="1" dirty="0">
                          <a:solidFill>
                            <a:schemeClr val="bg1"/>
                          </a:solidFill>
                        </a:rPr>
                        <a:t>Field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Outside fences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Maximum</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Decision</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r>
              <a:tr h="457200">
                <a:tc>
                  <a:txBody>
                    <a:bodyPr/>
                    <a:lstStyle/>
                    <a:p>
                      <a:pPr algn="l" indent="0" marL="0">
                        <a:buNone/>
                      </a:pPr>
                      <a:r>
                        <a:rPr lang="en-US" sz="1300" dirty="0">
                          <a:solidFill>
                            <a:schemeClr val="tx1"/>
                          </a:solidFill>
                        </a:rPr>
                        <a:t>thumbs_up</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72,945 (6.4%); 93.6% have no vote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11,165</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Keep: real, heavily upvoted reviews. Use log scale, medians, rank tests.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57200">
                <a:tc>
                  <a:txBody>
                    <a:bodyPr/>
                    <a:lstStyle/>
                    <a:p>
                      <a:pPr algn="l" indent="0" marL="0">
                        <a:buNone/>
                      </a:pPr>
                      <a:r>
                        <a:rPr lang="en-US" sz="1300" dirty="0">
                          <a:solidFill>
                            <a:schemeClr val="tx1"/>
                          </a:solidFill>
                        </a:rPr>
                        <a:t>review_length (words)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167,193 (14.7%); fence is only 11 words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167</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Keep: long reviews are the informative ones.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bl>
          </a:graphicData>
        </a:graphic>
      </p:graphicFrame>
      <p:sp>
        <p:nvSpPr>
          <p:cNvPr id="13" name="bug card"/>
          <p:cNvSpPr/>
          <p:nvPr/>
        </p:nvSpPr>
        <p:spPr>
          <a:xfrm>
            <a:off x="640080" y="5623560"/>
            <a:ext cx="10908792" cy="658368"/>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4" name="Text 10"/>
          <p:cNvSpPr txBox="1"/>
          <p:nvPr/>
        </p:nvSpPr>
        <p:spPr>
          <a:xfrm>
            <a:off x="868680" y="5650992"/>
            <a:ext cx="10424160" cy="603504"/>
          </a:xfrm>
          <a:prstGeom prst="rect">
            <a:avLst/>
          </a:prstGeom>
          <a:noFill/>
          <a:ln/>
        </p:spPr>
        <p:txBody>
          <a:bodyPr wrap="square" lIns="0" tIns="0" rIns="0" bIns="0" rtlCol="0" anchor="ctr"/>
          <a:lstStyle/>
          <a:p>
            <a:pPr indent="0" marL="0">
              <a:buNone/>
            </a:pPr>
            <a:r>
              <a:rPr lang="en-US" sz="1300" b="1" dirty="0">
                <a:solidFill>
                  <a:schemeClr val="accent2"/>
                </a:solidFill>
              </a:rPr>
              <a:t>A check that caught a bug: </a:t>
            </a:r>
            <a:pPr indent="0" marL="0">
              <a:buNone/>
            </a:pPr>
            <a:r>
              <a:rPr lang="en-US" sz="1300" dirty="0">
                <a:solidFill>
                  <a:schemeClr val="tx1"/>
                </a:solidFill>
              </a:rPr>
              <a:t>our first language rule counted emojis and wrongly removed about 76,000 short English reviews ("good" with a thumbs-up emoji). It now judges letters only.</a:t>
            </a:r>
            <a:endParaRPr lang="en-US" sz="13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3  |  DATA CLEANING AND PREPROCESSING (2 OF 2)</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Cleaning: Encoding, Scaling and Notebook Evidence</a:t>
            </a:r>
            <a:endParaRPr lang="en-US" sz="2800" dirty="0"/>
          </a:p>
        </p:txBody>
      </p:sp>
      <p:sp>
        <p:nvSpPr>
          <p:cNvPr id="5" name="encoding card"/>
          <p:cNvSpPr/>
          <p:nvPr/>
        </p:nvSpPr>
        <p:spPr>
          <a:xfrm>
            <a:off x="640080" y="1417320"/>
            <a:ext cx="5760720" cy="4800600"/>
          </a:xfrm>
          <a:prstGeom prst="roundRect">
            <a:avLst>
              <a:gd name="adj" fmla="val 152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868680" y="1554480"/>
            <a:ext cx="5303520" cy="320040"/>
          </a:xfrm>
          <a:prstGeom prst="rect">
            <a:avLst/>
          </a:prstGeom>
          <a:noFill/>
          <a:ln/>
        </p:spPr>
        <p:txBody>
          <a:bodyPr wrap="square" lIns="0" tIns="0" rIns="0" bIns="0" rtlCol="0" anchor="ctr"/>
          <a:lstStyle/>
          <a:p>
            <a:pPr indent="0" marL="0">
              <a:buNone/>
            </a:pPr>
            <a:r>
              <a:rPr lang="en-US" sz="1600" b="1" dirty="0">
                <a:solidFill>
                  <a:schemeClr val="tx2"/>
                </a:solidFill>
              </a:rPr>
              <a:t>Encoding and scaling</a:t>
            </a:r>
            <a:endParaRPr lang="en-US" sz="1600" dirty="0"/>
          </a:p>
        </p:txBody>
      </p:sp>
      <p:sp>
        <p:nvSpPr>
          <p:cNvPr id="7" name="Text 4"/>
          <p:cNvSpPr txBox="1"/>
          <p:nvPr/>
        </p:nvSpPr>
        <p:spPr>
          <a:xfrm>
            <a:off x="868680" y="1920240"/>
            <a:ext cx="5303520" cy="2194560"/>
          </a:xfrm>
          <a:prstGeom prst="rect">
            <a:avLst/>
          </a:prstGeom>
          <a:noFill/>
          <a:ln/>
        </p:spPr>
        <p:txBody>
          <a:bodyPr wrap="square" lIns="0" tIns="0" rIns="0" bIns="0" rtlCol="0" anchor="t"/>
          <a:lstStyle/>
          <a:p>
            <a:pPr indent="0" marL="0">
              <a:spcAft>
                <a:spcPts val="700"/>
              </a:spcAft>
              <a:buNone/>
            </a:pPr>
            <a:r>
              <a:rPr lang="en-US" sz="1600" b="1" dirty="0">
                <a:solidFill>
                  <a:srgbClr val="000000"/>
                </a:solidFill>
              </a:rPr>
              <a:t>Text: </a:t>
            </a:r>
            <a:pPr indent="0" marL="0">
              <a:spcAft>
                <a:spcPts val="700"/>
              </a:spcAft>
              <a:buNone/>
            </a:pPr>
            <a:r>
              <a:rPr lang="en-US" sz="1600" dirty="0">
                <a:solidFill>
                  <a:srgbClr val="000000"/>
                </a:solidFill>
              </a:rPr>
              <a:t>turned into numbers with TF-IDF (next section).</a:t>
            </a:r>
            <a:endParaRPr lang="en-US" sz="1600" dirty="0"/>
          </a:p>
          <a:p>
            <a:pPr indent="0" marL="0">
              <a:spcAft>
                <a:spcPts val="700"/>
              </a:spcAft>
              <a:buNone/>
            </a:pPr>
            <a:r>
              <a:rPr lang="en-US" sz="1600" b="1" dirty="0">
                <a:solidFill>
                  <a:srgbClr val="000000"/>
                </a:solidFill>
              </a:rPr>
              <a:t>Issue categories: </a:t>
            </a:r>
            <a:pPr indent="0" marL="0">
              <a:spcAft>
                <a:spcPts val="700"/>
              </a:spcAft>
              <a:buNone/>
            </a:pPr>
            <a:r>
              <a:rPr lang="en-US" sz="1600" dirty="0">
                <a:solidFill>
                  <a:srgbClr val="000000"/>
                </a:solidFill>
              </a:rPr>
              <a:t>9 columns of 0 or 1.</a:t>
            </a:r>
            <a:endParaRPr lang="en-US" sz="1600" dirty="0"/>
          </a:p>
          <a:p>
            <a:pPr indent="0" marL="0">
              <a:spcAft>
                <a:spcPts val="700"/>
              </a:spcAft>
              <a:buNone/>
            </a:pPr>
            <a:r>
              <a:rPr lang="en-US" sz="1600" b="1" dirty="0">
                <a:solidFill>
                  <a:srgbClr val="000000"/>
                </a:solidFill>
              </a:rPr>
              <a:t>Structural features: </a:t>
            </a:r>
            <a:pPr indent="0" marL="0">
              <a:spcAft>
                <a:spcPts val="700"/>
              </a:spcAft>
              <a:buNone/>
            </a:pPr>
            <a:r>
              <a:rPr lang="en-US" sz="1600" dirty="0">
                <a:solidFill>
                  <a:srgbClr val="000000"/>
                </a:solidFill>
              </a:rPr>
              <a:t>15 columns (9 flags, 4 sentiment scores, length, upvotes) scaled with StandardScaler: mean 0, spread 1.</a:t>
            </a:r>
            <a:endParaRPr lang="en-US" sz="1600" dirty="0"/>
          </a:p>
          <a:p>
            <a:pPr indent="0" marL="0">
              <a:spcAft>
                <a:spcPts val="700"/>
              </a:spcAft>
              <a:buNone/>
            </a:pPr>
            <a:r>
              <a:rPr lang="en-US" sz="1600" b="1" dirty="0">
                <a:solidFill>
                  <a:srgbClr val="000000"/>
                </a:solidFill>
              </a:rPr>
              <a:t>Derived fields: </a:t>
            </a:r>
            <a:pPr indent="0" marL="0">
              <a:spcAft>
                <a:spcPts val="700"/>
              </a:spcAft>
              <a:buNone/>
            </a:pPr>
            <a:r>
              <a:rPr lang="en-US" sz="1600" dirty="0">
                <a:solidFill>
                  <a:srgbClr val="000000"/>
                </a:solidFill>
              </a:rPr>
              <a:t>month and review_length (words).</a:t>
            </a:r>
            <a:endParaRPr lang="en-US" sz="1600" dirty="0"/>
          </a:p>
        </p:txBody>
      </p:sp>
      <p:sp>
        <p:nvSpPr>
          <p:cNvPr id="8" name="Text 5"/>
          <p:cNvSpPr txBox="1"/>
          <p:nvPr/>
        </p:nvSpPr>
        <p:spPr>
          <a:xfrm>
            <a:off x="868680" y="4160520"/>
            <a:ext cx="5303520" cy="320040"/>
          </a:xfrm>
          <a:prstGeom prst="rect">
            <a:avLst/>
          </a:prstGeom>
          <a:noFill/>
          <a:ln/>
        </p:spPr>
        <p:txBody>
          <a:bodyPr wrap="square" lIns="0" tIns="0" rIns="0" bIns="0" rtlCol="0" anchor="ctr"/>
          <a:lstStyle/>
          <a:p>
            <a:pPr indent="0" marL="0">
              <a:buNone/>
            </a:pPr>
            <a:r>
              <a:rPr lang="en-US" sz="1600" b="1" dirty="0">
                <a:solidFill>
                  <a:schemeClr val="tx2"/>
                </a:solidFill>
              </a:rPr>
              <a:t>Before and after</a:t>
            </a:r>
            <a:endParaRPr lang="en-US" sz="1600" dirty="0"/>
          </a:p>
        </p:txBody>
      </p:sp>
      <p:sp>
        <p:nvSpPr>
          <p:cNvPr id="9" name="Text 6"/>
          <p:cNvSpPr txBox="1"/>
          <p:nvPr/>
        </p:nvSpPr>
        <p:spPr>
          <a:xfrm>
            <a:off x="868680" y="4434840"/>
            <a:ext cx="2560320" cy="685800"/>
          </a:xfrm>
          <a:prstGeom prst="rect">
            <a:avLst/>
          </a:prstGeom>
          <a:noFill/>
          <a:ln/>
        </p:spPr>
        <p:txBody>
          <a:bodyPr wrap="square" lIns="0" tIns="0" rIns="0" bIns="0" rtlCol="0" anchor="b"/>
          <a:lstStyle/>
          <a:p>
            <a:pPr indent="0" marL="0">
              <a:buNone/>
            </a:pPr>
            <a:r>
              <a:rPr lang="en-US" sz="2400" b="1" dirty="0">
                <a:solidFill>
                  <a:schemeClr val="accent1"/>
                </a:solidFill>
                <a:latin typeface="Cambria" pitchFamily="34" charset="0"/>
                <a:ea typeface="Cambria" pitchFamily="34" charset="-122"/>
                <a:cs typeface="Cambria" pitchFamily="34" charset="-120"/>
              </a:rPr>
              <a:t>1.20M to 1.14M</a:t>
            </a:r>
            <a:endParaRPr lang="en-US" sz="2400" dirty="0"/>
          </a:p>
        </p:txBody>
      </p:sp>
      <p:sp>
        <p:nvSpPr>
          <p:cNvPr id="10" name="Text 7"/>
          <p:cNvSpPr txBox="1"/>
          <p:nvPr/>
        </p:nvSpPr>
        <p:spPr>
          <a:xfrm>
            <a:off x="868680" y="5148072"/>
            <a:ext cx="2560320" cy="502920"/>
          </a:xfrm>
          <a:prstGeom prst="rect">
            <a:avLst/>
          </a:prstGeom>
          <a:noFill/>
          <a:ln/>
        </p:spPr>
        <p:txBody>
          <a:bodyPr wrap="square" lIns="0" tIns="0" rIns="0" bIns="0" rtlCol="0" anchor="t"/>
          <a:lstStyle/>
          <a:p>
            <a:pPr indent="0" marL="0">
              <a:buNone/>
            </a:pPr>
            <a:r>
              <a:rPr lang="en-US" sz="1200" dirty="0">
                <a:solidFill>
                  <a:schemeClr val="accent6"/>
                </a:solidFill>
              </a:rPr>
              <a:t>rows: raw to cleaned</a:t>
            </a:r>
            <a:endParaRPr lang="en-US" sz="1200" dirty="0"/>
          </a:p>
        </p:txBody>
      </p:sp>
      <p:sp>
        <p:nvSpPr>
          <p:cNvPr id="11" name="Text 8"/>
          <p:cNvSpPr txBox="1"/>
          <p:nvPr/>
        </p:nvSpPr>
        <p:spPr>
          <a:xfrm>
            <a:off x="3611880" y="4434840"/>
            <a:ext cx="2651760" cy="685800"/>
          </a:xfrm>
          <a:prstGeom prst="rect">
            <a:avLst/>
          </a:prstGeom>
          <a:noFill/>
          <a:ln/>
        </p:spPr>
        <p:txBody>
          <a:bodyPr wrap="square" lIns="0" tIns="0" rIns="0" bIns="0" rtlCol="0" anchor="b"/>
          <a:lstStyle/>
          <a:p>
            <a:pPr indent="0" marL="0">
              <a:buNone/>
            </a:pPr>
            <a:r>
              <a:rPr lang="en-US" sz="2400" b="1" dirty="0">
                <a:solidFill>
                  <a:schemeClr val="accent2"/>
                </a:solidFill>
                <a:latin typeface="Cambria" pitchFamily="34" charset="0"/>
                <a:ea typeface="Cambria" pitchFamily="34" charset="-122"/>
                <a:cs typeface="Cambria" pitchFamily="34" charset="-120"/>
              </a:rPr>
              <a:t>9 to 11 to 29</a:t>
            </a:r>
            <a:endParaRPr lang="en-US" sz="2400" dirty="0"/>
          </a:p>
        </p:txBody>
      </p:sp>
      <p:sp>
        <p:nvSpPr>
          <p:cNvPr id="12" name="Text 9"/>
          <p:cNvSpPr txBox="1"/>
          <p:nvPr/>
        </p:nvSpPr>
        <p:spPr>
          <a:xfrm>
            <a:off x="3611880" y="5148072"/>
            <a:ext cx="2651760" cy="502920"/>
          </a:xfrm>
          <a:prstGeom prst="rect">
            <a:avLst/>
          </a:prstGeom>
          <a:noFill/>
          <a:ln/>
        </p:spPr>
        <p:txBody>
          <a:bodyPr wrap="square" lIns="0" tIns="0" rIns="0" bIns="0" rtlCol="0" anchor="t"/>
          <a:lstStyle/>
          <a:p>
            <a:pPr indent="0" marL="0">
              <a:buNone/>
            </a:pPr>
            <a:r>
              <a:rPr lang="en-US" sz="1200" dirty="0">
                <a:solidFill>
                  <a:schemeClr val="accent6"/>
                </a:solidFill>
              </a:rPr>
              <a:t>columns: raw, cleaned, tagged</a:t>
            </a:r>
            <a:endParaRPr lang="en-US" sz="1200" dirty="0"/>
          </a:p>
        </p:txBody>
      </p:sp>
      <p:sp>
        <p:nvSpPr>
          <p:cNvPr id="13" name="Text 10"/>
          <p:cNvSpPr txBox="1"/>
          <p:nvPr/>
        </p:nvSpPr>
        <p:spPr>
          <a:xfrm>
            <a:off x="868680" y="5486400"/>
            <a:ext cx="5303520" cy="685800"/>
          </a:xfrm>
          <a:prstGeom prst="rect">
            <a:avLst/>
          </a:prstGeom>
          <a:noFill/>
          <a:ln/>
        </p:spPr>
        <p:txBody>
          <a:bodyPr wrap="square" lIns="0" tIns="0" rIns="0" bIns="0" rtlCol="0" anchor="t"/>
          <a:lstStyle/>
          <a:p>
            <a:pPr indent="0" marL="0">
              <a:buNone/>
            </a:pPr>
            <a:r>
              <a:rPr lang="en-US" sz="1300" b="1" dirty="0">
                <a:solidFill>
                  <a:srgbClr val="000000"/>
                </a:solidFill>
              </a:rPr>
              <a:t>Removed: </a:t>
            </a:r>
            <a:pPr indent="0" marL="0">
              <a:buNone/>
            </a:pPr>
            <a:r>
              <a:rPr lang="en-US" sz="1300" dirty="0">
                <a:solidFill>
                  <a:srgbClr val="000000"/>
                </a:solidFill>
              </a:rPr>
              <a:t>64,742 rows (5.4%): 47,533 empty or under 3 characters, 7,420 with no letters, 9,789 non-English.</a:t>
            </a:r>
            <a:endParaRPr lang="en-US" sz="1300" dirty="0"/>
          </a:p>
        </p:txBody>
      </p:sp>
      <p:pic>
        <p:nvPicPr>
          <p:cNvPr id="14" name="Notebook evidence screenshot" descr="Notebook evidence screenshot">    </p:cNvPr>
          <p:cNvPicPr>
            <a:picLocks noChangeAspect="1"/>
          </p:cNvPicPr>
          <p:nvPr/>
        </p:nvPicPr>
        <p:blipFill>
          <a:blip r:embed="rId1"/>
          <a:stretch>
            <a:fillRect/>
          </a:stretch>
        </p:blipFill>
        <p:spPr>
          <a:xfrm>
            <a:off x="6629400" y="1442583"/>
            <a:ext cx="4919472" cy="4384313"/>
          </a:xfrm>
          <a:prstGeom prst="rect">
            <a:avLst/>
          </a:prstGeom>
        </p:spPr>
      </p:pic>
      <p:sp>
        <p:nvSpPr>
          <p:cNvPr id="15" name="Text 11"/>
          <p:cNvSpPr txBox="1"/>
          <p:nvPr/>
        </p:nvSpPr>
        <p:spPr>
          <a:xfrm>
            <a:off x="6629400" y="5897880"/>
            <a:ext cx="4919472" cy="320040"/>
          </a:xfrm>
          <a:prstGeom prst="rect">
            <a:avLst/>
          </a:prstGeom>
          <a:noFill/>
          <a:ln/>
        </p:spPr>
        <p:txBody>
          <a:bodyPr wrap="square" lIns="0" tIns="0" rIns="0" bIns="0" rtlCol="0" anchor="ctr"/>
          <a:lstStyle/>
          <a:p>
            <a:pPr algn="ctr" indent="0" marL="0">
              <a:buNone/>
            </a:pPr>
            <a:r>
              <a:rPr lang="en-US" sz="1100" dirty="0">
                <a:solidFill>
                  <a:schemeClr val="accent6"/>
                </a:solidFill>
              </a:rPr>
              <a:t>Evidence: executed cell in notebooks/Review_1_Analysis.ipynb, Section 3</a:t>
            </a:r>
            <a:endParaRPr lang="en-US" sz="11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4  |  EXPLORATORY ANALYSIS AND VISUALIZATION (1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Exploratory Analysis (1/4): Apps Differ Widely</a:t>
            </a:r>
            <a:endParaRPr lang="en-US" sz="2800" dirty="0"/>
          </a:p>
        </p:txBody>
      </p:sp>
      <p:pic>
        <p:nvPicPr>
          <p:cNvPr id="5" name="Rating mix by app and written vs public rating" descr="Rating mix by app and written vs public rating">    </p:cNvPr>
          <p:cNvPicPr>
            <a:picLocks noChangeAspect="1"/>
          </p:cNvPicPr>
          <p:nvPr/>
        </p:nvPicPr>
        <p:blipFill>
          <a:blip r:embed="rId1"/>
          <a:stretch>
            <a:fillRect/>
          </a:stretch>
        </p:blipFill>
        <p:spPr>
          <a:xfrm>
            <a:off x="640080" y="1819351"/>
            <a:ext cx="7452360" cy="3676498"/>
          </a:xfrm>
          <a:prstGeom prst="rect">
            <a:avLst/>
          </a:prstGeom>
        </p:spPr>
      </p:pic>
      <p:sp>
        <p:nvSpPr>
          <p:cNvPr id="6" name="Text 2"/>
          <p:cNvSpPr txBox="1"/>
          <p:nvPr/>
        </p:nvSpPr>
        <p:spPr>
          <a:xfrm>
            <a:off x="640080" y="5605577"/>
            <a:ext cx="7452360" cy="274320"/>
          </a:xfrm>
          <a:prstGeom prst="rect">
            <a:avLst/>
          </a:prstGeom>
          <a:noFill/>
          <a:ln/>
        </p:spPr>
        <p:txBody>
          <a:bodyPr wrap="square" lIns="0" tIns="0" rIns="0" bIns="0" rtlCol="0" anchor="ctr"/>
          <a:lstStyle/>
          <a:p>
            <a:pPr indent="0" marL="0">
              <a:buNone/>
            </a:pPr>
            <a:r>
              <a:rPr lang="en-US" sz="1100" dirty="0">
                <a:solidFill>
                  <a:schemeClr val="accent6"/>
                </a:solidFill>
              </a:rPr>
              <a:t>EDA chart 02: rating mix per app, and written reviews against each app's public Play Store rating.</a:t>
            </a:r>
            <a:endParaRPr lang="en-US" sz="1100" dirty="0"/>
          </a:p>
        </p:txBody>
      </p:sp>
      <p:sp>
        <p:nvSpPr>
          <p:cNvPr id="7" name="findings card"/>
          <p:cNvSpPr/>
          <p:nvPr/>
        </p:nvSpPr>
        <p:spPr>
          <a:xfrm>
            <a:off x="8275320" y="1371600"/>
            <a:ext cx="3273552" cy="4846320"/>
          </a:xfrm>
          <a:prstGeom prst="roundRect">
            <a:avLst>
              <a:gd name="adj" fmla="val 22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8458200" y="1481328"/>
            <a:ext cx="2926080" cy="274320"/>
          </a:xfrm>
          <a:prstGeom prst="rect">
            <a:avLst/>
          </a:prstGeom>
          <a:noFill/>
          <a:ln/>
        </p:spPr>
        <p:txBody>
          <a:bodyPr wrap="square" lIns="0" tIns="0" rIns="0" bIns="0" rtlCol="0" anchor="ctr"/>
          <a:lstStyle/>
          <a:p>
            <a:pPr indent="0" marL="0">
              <a:buNone/>
            </a:pPr>
            <a:r>
              <a:rPr lang="en-US" sz="1400" b="1" dirty="0">
                <a:solidFill>
                  <a:schemeClr val="accent1"/>
                </a:solidFill>
              </a:rPr>
              <a:t>Finding</a:t>
            </a:r>
            <a:endParaRPr lang="en-US" sz="1400" dirty="0"/>
          </a:p>
        </p:txBody>
      </p:sp>
      <p:sp>
        <p:nvSpPr>
          <p:cNvPr id="9" name="Text 5"/>
          <p:cNvSpPr txBox="1"/>
          <p:nvPr/>
        </p:nvSpPr>
        <p:spPr>
          <a:xfrm>
            <a:off x="8458200" y="1801368"/>
            <a:ext cx="2926080" cy="2514600"/>
          </a:xfrm>
          <a:prstGeom prst="rect">
            <a:avLst/>
          </a:prstGeom>
          <a:noFill/>
          <a:ln/>
        </p:spPr>
        <p:txBody>
          <a:bodyPr wrap="square" lIns="0" tIns="0" rIns="0" bIns="0" rtlCol="0" anchor="t"/>
          <a:lstStyle/>
          <a:p>
            <a:pPr indent="0" marL="0">
              <a:buNone/>
            </a:pPr>
            <a:r>
              <a:rPr lang="en-US" sz="1400" dirty="0">
                <a:solidFill>
                  <a:schemeClr val="tx1"/>
                </a:solidFill>
              </a:rPr>
              <a:t>Amazon (54%) and Swiggy (35%) rate 1-2 stars far more often than the other nine apps (10 to 24%). 67% of all reviews are 5 stars and 17% are 1 star. Written reviews sit 0.0 to 1.4 stars below the public rating (Amazon 2.74 vs 4.18).</a:t>
            </a:r>
            <a:endParaRPr lang="en-US" sz="1400" dirty="0"/>
          </a:p>
        </p:txBody>
      </p:sp>
      <p:sp>
        <p:nvSpPr>
          <p:cNvPr id="10" name="Text 6"/>
          <p:cNvSpPr txBox="1"/>
          <p:nvPr/>
        </p:nvSpPr>
        <p:spPr>
          <a:xfrm>
            <a:off x="8458200" y="4370832"/>
            <a:ext cx="2926080" cy="274320"/>
          </a:xfrm>
          <a:prstGeom prst="rect">
            <a:avLst/>
          </a:prstGeom>
          <a:noFill/>
          <a:ln/>
        </p:spPr>
        <p:txBody>
          <a:bodyPr wrap="square" lIns="0" tIns="0" rIns="0" bIns="0" rtlCol="0" anchor="ctr"/>
          <a:lstStyle/>
          <a:p>
            <a:pPr indent="0" marL="0">
              <a:buNone/>
            </a:pPr>
            <a:r>
              <a:rPr lang="en-US" sz="1400" b="1" dirty="0">
                <a:solidFill>
                  <a:schemeClr val="accent2"/>
                </a:solidFill>
              </a:rPr>
              <a:t>Business significance</a:t>
            </a:r>
            <a:endParaRPr lang="en-US" sz="1400" dirty="0"/>
          </a:p>
        </p:txBody>
      </p:sp>
      <p:sp>
        <p:nvSpPr>
          <p:cNvPr id="11" name="Text 7"/>
          <p:cNvSpPr txBox="1"/>
          <p:nvPr/>
        </p:nvSpPr>
        <p:spPr>
          <a:xfrm>
            <a:off x="8458200" y="4681728"/>
            <a:ext cx="2926080" cy="1481328"/>
          </a:xfrm>
          <a:prstGeom prst="rect">
            <a:avLst/>
          </a:prstGeom>
          <a:noFill/>
          <a:ln/>
        </p:spPr>
        <p:txBody>
          <a:bodyPr wrap="square" lIns="0" tIns="0" rIns="0" bIns="0" rtlCol="0" anchor="t"/>
          <a:lstStyle/>
          <a:p>
            <a:pPr indent="0" marL="0">
              <a:buNone/>
            </a:pPr>
            <a:r>
              <a:rPr lang="en-US" sz="1350" dirty="0">
                <a:solidFill>
                  <a:schemeClr val="tx1"/>
                </a:solidFill>
              </a:rPr>
              <a:t>The gaps between apps are large and lasting, so they reflect real service differences. Compare apps with each other; do not quote absolute satisfaction.</a:t>
            </a:r>
            <a:endParaRPr lang="en-US" sz="135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4  |  EXPLORATORY ANALYSIS AND VISUALIZATION (2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Exploratory Analysis (2/4): Best and Worst App in Each Domain</a:t>
            </a:r>
            <a:endParaRPr lang="en-US" sz="2800" dirty="0"/>
          </a:p>
        </p:txBody>
      </p:sp>
      <p:pic>
        <p:nvPicPr>
          <p:cNvPr id="5" name="Within-domain ranking of apps with top two issues" descr="Within-domain ranking of apps with top two issues">    </p:cNvPr>
          <p:cNvPicPr>
            <a:picLocks noChangeAspect="1"/>
          </p:cNvPicPr>
          <p:nvPr/>
        </p:nvPicPr>
        <p:blipFill>
          <a:blip r:embed="rId1"/>
          <a:stretch>
            <a:fillRect/>
          </a:stretch>
        </p:blipFill>
        <p:spPr>
          <a:xfrm>
            <a:off x="640080" y="1421892"/>
            <a:ext cx="7452360" cy="4471416"/>
          </a:xfrm>
          <a:prstGeom prst="rect">
            <a:avLst/>
          </a:prstGeom>
        </p:spPr>
      </p:pic>
      <p:sp>
        <p:nvSpPr>
          <p:cNvPr id="6" name="Text 2"/>
          <p:cNvSpPr txBox="1"/>
          <p:nvPr/>
        </p:nvSpPr>
        <p:spPr>
          <a:xfrm>
            <a:off x="640080" y="6003036"/>
            <a:ext cx="7452360" cy="274320"/>
          </a:xfrm>
          <a:prstGeom prst="rect">
            <a:avLst/>
          </a:prstGeom>
          <a:noFill/>
          <a:ln/>
        </p:spPr>
        <p:txBody>
          <a:bodyPr wrap="square" lIns="0" tIns="0" rIns="0" bIns="0" rtlCol="0" anchor="ctr"/>
          <a:lstStyle/>
          <a:p>
            <a:pPr indent="0" marL="0">
              <a:buNone/>
            </a:pPr>
            <a:r>
              <a:rPr lang="en-US" sz="1100" dirty="0">
                <a:solidFill>
                  <a:schemeClr val="accent6"/>
                </a:solidFill>
              </a:rPr>
              <a:t>EDA chart 14: apps ranked inside their domain, with each app's two most frequent issue tags.</a:t>
            </a:r>
            <a:endParaRPr lang="en-US" sz="1100" dirty="0"/>
          </a:p>
        </p:txBody>
      </p:sp>
      <p:sp>
        <p:nvSpPr>
          <p:cNvPr id="7" name="findings card"/>
          <p:cNvSpPr/>
          <p:nvPr/>
        </p:nvSpPr>
        <p:spPr>
          <a:xfrm>
            <a:off x="8275320" y="1371600"/>
            <a:ext cx="3273552" cy="4846320"/>
          </a:xfrm>
          <a:prstGeom prst="roundRect">
            <a:avLst>
              <a:gd name="adj" fmla="val 22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8458200" y="1481328"/>
            <a:ext cx="2926080" cy="274320"/>
          </a:xfrm>
          <a:prstGeom prst="rect">
            <a:avLst/>
          </a:prstGeom>
          <a:noFill/>
          <a:ln/>
        </p:spPr>
        <p:txBody>
          <a:bodyPr wrap="square" lIns="0" tIns="0" rIns="0" bIns="0" rtlCol="0" anchor="ctr"/>
          <a:lstStyle/>
          <a:p>
            <a:pPr indent="0" marL="0">
              <a:buNone/>
            </a:pPr>
            <a:r>
              <a:rPr lang="en-US" sz="1400" b="1" dirty="0">
                <a:solidFill>
                  <a:schemeClr val="accent1"/>
                </a:solidFill>
              </a:rPr>
              <a:t>Finding</a:t>
            </a:r>
            <a:endParaRPr lang="en-US" sz="1400" dirty="0"/>
          </a:p>
        </p:txBody>
      </p:sp>
      <p:sp>
        <p:nvSpPr>
          <p:cNvPr id="9" name="Text 5"/>
          <p:cNvSpPr txBox="1"/>
          <p:nvPr/>
        </p:nvSpPr>
        <p:spPr>
          <a:xfrm>
            <a:off x="8458200" y="1801368"/>
            <a:ext cx="2926080" cy="2514600"/>
          </a:xfrm>
          <a:prstGeom prst="rect">
            <a:avLst/>
          </a:prstGeom>
          <a:noFill/>
          <a:ln/>
        </p:spPr>
        <p:txBody>
          <a:bodyPr wrap="square" lIns="0" tIns="0" rIns="0" bIns="0" rtlCol="0" anchor="t"/>
          <a:lstStyle/>
          <a:p>
            <a:pPr indent="0" marL="0">
              <a:buNone/>
            </a:pPr>
            <a:r>
              <a:rPr lang="en-US" sz="1400" dirty="0">
                <a:solidFill>
                  <a:schemeClr val="tx1"/>
                </a:solidFill>
              </a:rPr>
              <a:t>Food: Swiggy 35.0% vs Zomato 18.8%. Shopping: Amazon 54.4% vs Myntra 10.3%. Payments: Google Pay 23.2% vs PhonePe 9.8%. Swiggy has about twice Zomato's support and delivery complaints; the weaker payment apps lead with crashes.</a:t>
            </a:r>
            <a:endParaRPr lang="en-US" sz="1400" dirty="0"/>
          </a:p>
        </p:txBody>
      </p:sp>
      <p:sp>
        <p:nvSpPr>
          <p:cNvPr id="10" name="Text 6"/>
          <p:cNvSpPr txBox="1"/>
          <p:nvPr/>
        </p:nvSpPr>
        <p:spPr>
          <a:xfrm>
            <a:off x="8458200" y="4370832"/>
            <a:ext cx="2926080" cy="274320"/>
          </a:xfrm>
          <a:prstGeom prst="rect">
            <a:avLst/>
          </a:prstGeom>
          <a:noFill/>
          <a:ln/>
        </p:spPr>
        <p:txBody>
          <a:bodyPr wrap="square" lIns="0" tIns="0" rIns="0" bIns="0" rtlCol="0" anchor="ctr"/>
          <a:lstStyle/>
          <a:p>
            <a:pPr indent="0" marL="0">
              <a:buNone/>
            </a:pPr>
            <a:r>
              <a:rPr lang="en-US" sz="1400" b="1" dirty="0">
                <a:solidFill>
                  <a:schemeClr val="accent2"/>
                </a:solidFill>
              </a:rPr>
              <a:t>Business significance</a:t>
            </a:r>
            <a:endParaRPr lang="en-US" sz="1400" dirty="0"/>
          </a:p>
        </p:txBody>
      </p:sp>
      <p:sp>
        <p:nvSpPr>
          <p:cNvPr id="11" name="Text 7"/>
          <p:cNvSpPr txBox="1"/>
          <p:nvPr/>
        </p:nvSpPr>
        <p:spPr>
          <a:xfrm>
            <a:off x="8458200" y="4681728"/>
            <a:ext cx="2926080" cy="1481328"/>
          </a:xfrm>
          <a:prstGeom prst="rect">
            <a:avLst/>
          </a:prstGeom>
          <a:noFill/>
          <a:ln/>
        </p:spPr>
        <p:txBody>
          <a:bodyPr wrap="square" lIns="0" tIns="0" rIns="0" bIns="0" rtlCol="0" anchor="t"/>
          <a:lstStyle/>
          <a:p>
            <a:pPr indent="0" marL="0">
              <a:buNone/>
            </a:pPr>
            <a:r>
              <a:rPr lang="en-US" sz="1350" dirty="0">
                <a:solidFill>
                  <a:schemeClr val="tx1"/>
                </a:solidFill>
              </a:rPr>
              <a:t>Each team has a different first fix. Blinkit and Zomato are a near-tie. These are written reviews only, not proof of cause.</a:t>
            </a:r>
            <a:endParaRPr lang="en-US" sz="135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4  |  EXPLORATORY ANALYSIS AND VISUALIZATION (3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Exploratory Analysis (3/4): Service Problems, Not App Failures</a:t>
            </a:r>
            <a:endParaRPr lang="en-US" sz="2800" dirty="0"/>
          </a:p>
        </p:txBody>
      </p:sp>
      <p:pic>
        <p:nvPicPr>
          <p:cNvPr id="5" name="What 1-2 star reviews complain about" descr="What 1-2 star reviews complain about">    </p:cNvPr>
          <p:cNvPicPr>
            <a:picLocks noChangeAspect="1"/>
          </p:cNvPicPr>
          <p:nvPr/>
        </p:nvPicPr>
        <p:blipFill>
          <a:blip r:embed="rId1"/>
          <a:stretch>
            <a:fillRect/>
          </a:stretch>
        </p:blipFill>
        <p:spPr>
          <a:xfrm>
            <a:off x="640080" y="1608201"/>
            <a:ext cx="7452360" cy="4098798"/>
          </a:xfrm>
          <a:prstGeom prst="rect">
            <a:avLst/>
          </a:prstGeom>
        </p:spPr>
      </p:pic>
      <p:sp>
        <p:nvSpPr>
          <p:cNvPr id="6" name="Text 2"/>
          <p:cNvSpPr txBox="1"/>
          <p:nvPr/>
        </p:nvSpPr>
        <p:spPr>
          <a:xfrm>
            <a:off x="640080" y="5816727"/>
            <a:ext cx="7452360" cy="274320"/>
          </a:xfrm>
          <a:prstGeom prst="rect">
            <a:avLst/>
          </a:prstGeom>
          <a:noFill/>
          <a:ln/>
        </p:spPr>
        <p:txBody>
          <a:bodyPr wrap="square" lIns="0" tIns="0" rIns="0" bIns="0" rtlCol="0" anchor="ctr"/>
          <a:lstStyle/>
          <a:p>
            <a:pPr indent="0" marL="0">
              <a:buNone/>
            </a:pPr>
            <a:r>
              <a:rPr lang="en-US" sz="1100" dirty="0">
                <a:solidFill>
                  <a:schemeClr val="accent6"/>
                </a:solidFill>
              </a:rPr>
              <a:t>EDA chart 15: what each app's 1-2 star reviews are about, from the keyword issue tags.</a:t>
            </a:r>
            <a:endParaRPr lang="en-US" sz="1100" dirty="0"/>
          </a:p>
        </p:txBody>
      </p:sp>
      <p:sp>
        <p:nvSpPr>
          <p:cNvPr id="7" name="findings card"/>
          <p:cNvSpPr/>
          <p:nvPr/>
        </p:nvSpPr>
        <p:spPr>
          <a:xfrm>
            <a:off x="8275320" y="1371600"/>
            <a:ext cx="3273552" cy="4846320"/>
          </a:xfrm>
          <a:prstGeom prst="roundRect">
            <a:avLst>
              <a:gd name="adj" fmla="val 2235"/>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8458200" y="1481328"/>
            <a:ext cx="2926080" cy="274320"/>
          </a:xfrm>
          <a:prstGeom prst="rect">
            <a:avLst/>
          </a:prstGeom>
          <a:noFill/>
          <a:ln/>
        </p:spPr>
        <p:txBody>
          <a:bodyPr wrap="square" lIns="0" tIns="0" rIns="0" bIns="0" rtlCol="0" anchor="ctr"/>
          <a:lstStyle/>
          <a:p>
            <a:pPr indent="0" marL="0">
              <a:buNone/>
            </a:pPr>
            <a:r>
              <a:rPr lang="en-US" sz="1400" b="1" dirty="0">
                <a:solidFill>
                  <a:schemeClr val="accent1"/>
                </a:solidFill>
              </a:rPr>
              <a:t>Finding</a:t>
            </a:r>
            <a:endParaRPr lang="en-US" sz="1400" dirty="0"/>
          </a:p>
        </p:txBody>
      </p:sp>
      <p:sp>
        <p:nvSpPr>
          <p:cNvPr id="9" name="Text 5"/>
          <p:cNvSpPr txBox="1"/>
          <p:nvPr/>
        </p:nvSpPr>
        <p:spPr>
          <a:xfrm>
            <a:off x="8458200" y="1801368"/>
            <a:ext cx="2926080" cy="2514600"/>
          </a:xfrm>
          <a:prstGeom prst="rect">
            <a:avLst/>
          </a:prstGeom>
          <a:noFill/>
          <a:ln/>
        </p:spPr>
        <p:txBody>
          <a:bodyPr wrap="square" lIns="0" tIns="0" rIns="0" bIns="0" rtlCol="0" anchor="t"/>
          <a:lstStyle/>
          <a:p>
            <a:pPr indent="0" marL="0">
              <a:buNone/>
            </a:pPr>
            <a:r>
              <a:rPr lang="en-US" sz="1400" dirty="0">
                <a:solidFill>
                  <a:schemeClr val="tx1"/>
                </a:solidFill>
              </a:rPr>
              <a:t>Among 1-2 star reviews that name an issue, 91% name a service problem (delivery, order quality, returns, support, pricing) and 7% an app problem (crash, login, UI). Payment apps are the exception: app-only tags are 13% at Paytm and 10% at Google Pay.</a:t>
            </a:r>
            <a:endParaRPr lang="en-US" sz="1400" dirty="0"/>
          </a:p>
        </p:txBody>
      </p:sp>
      <p:sp>
        <p:nvSpPr>
          <p:cNvPr id="10" name="Text 6"/>
          <p:cNvSpPr txBox="1"/>
          <p:nvPr/>
        </p:nvSpPr>
        <p:spPr>
          <a:xfrm>
            <a:off x="8458200" y="4370832"/>
            <a:ext cx="2926080" cy="274320"/>
          </a:xfrm>
          <a:prstGeom prst="rect">
            <a:avLst/>
          </a:prstGeom>
          <a:noFill/>
          <a:ln/>
        </p:spPr>
        <p:txBody>
          <a:bodyPr wrap="square" lIns="0" tIns="0" rIns="0" bIns="0" rtlCol="0" anchor="ctr"/>
          <a:lstStyle/>
          <a:p>
            <a:pPr indent="0" marL="0">
              <a:buNone/>
            </a:pPr>
            <a:r>
              <a:rPr lang="en-US" sz="1400" b="1" dirty="0">
                <a:solidFill>
                  <a:schemeClr val="accent2"/>
                </a:solidFill>
              </a:rPr>
              <a:t>Business significance</a:t>
            </a:r>
            <a:endParaRPr lang="en-US" sz="1400" dirty="0"/>
          </a:p>
        </p:txBody>
      </p:sp>
      <p:sp>
        <p:nvSpPr>
          <p:cNvPr id="11" name="Text 7"/>
          <p:cNvSpPr txBox="1"/>
          <p:nvPr/>
        </p:nvSpPr>
        <p:spPr>
          <a:xfrm>
            <a:off x="8458200" y="4681728"/>
            <a:ext cx="2926080" cy="1481328"/>
          </a:xfrm>
          <a:prstGeom prst="rect">
            <a:avLst/>
          </a:prstGeom>
          <a:noFill/>
          <a:ln/>
        </p:spPr>
        <p:txBody>
          <a:bodyPr wrap="square" lIns="0" tIns="0" rIns="0" bIns="0" rtlCol="0" anchor="t"/>
          <a:lstStyle/>
          <a:p>
            <a:pPr indent="0" marL="0">
              <a:buNone/>
            </a:pPr>
            <a:r>
              <a:rPr lang="en-US" sz="1350" dirty="0">
                <a:solidFill>
                  <a:schemeClr val="tx1"/>
                </a:solidFill>
              </a:rPr>
              <a:t>The classifier finds dissatisfied users, not software failures. Route app complaints to engineering, the rest to operations and support. 54% of 1-2 star reviews carry no tag, so these shares are lower bounds.</a:t>
            </a:r>
            <a:endParaRPr lang="en-US" sz="135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4  |  EXPLORATORY ANALYSIS AND VISUALIZATION (4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Exploratory Analysis (4/4): A Data Gap, Not Angrier Users</a:t>
            </a:r>
            <a:endParaRPr lang="en-US" sz="2800" dirty="0"/>
          </a:p>
        </p:txBody>
      </p:sp>
      <p:pic>
        <p:nvPicPr>
          <p:cNvPr id="5" name="Late-April feed gap" descr="Late-April feed gap">    </p:cNvPr>
          <p:cNvPicPr>
            <a:picLocks noChangeAspect="1"/>
          </p:cNvPicPr>
          <p:nvPr/>
        </p:nvPicPr>
        <p:blipFill>
          <a:blip r:embed="rId1"/>
          <a:stretch>
            <a:fillRect/>
          </a:stretch>
        </p:blipFill>
        <p:spPr>
          <a:xfrm>
            <a:off x="1522476" y="1371600"/>
            <a:ext cx="9144000" cy="3429000"/>
          </a:xfrm>
          <a:prstGeom prst="rect">
            <a:avLst/>
          </a:prstGeom>
        </p:spPr>
      </p:pic>
      <p:sp>
        <p:nvSpPr>
          <p:cNvPr id="6" name="finding card"/>
          <p:cNvSpPr/>
          <p:nvPr/>
        </p:nvSpPr>
        <p:spPr>
          <a:xfrm>
            <a:off x="640080" y="4892040"/>
            <a:ext cx="5349240" cy="13716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significance card"/>
          <p:cNvSpPr/>
          <p:nvPr/>
        </p:nvSpPr>
        <p:spPr>
          <a:xfrm>
            <a:off x="6199632" y="4892040"/>
            <a:ext cx="5349240" cy="1371600"/>
          </a:xfrm>
          <a:prstGeom prst="roundRect">
            <a:avLst>
              <a:gd name="adj" fmla="val 5333"/>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8" name="Text 4"/>
          <p:cNvSpPr txBox="1"/>
          <p:nvPr/>
        </p:nvSpPr>
        <p:spPr>
          <a:xfrm>
            <a:off x="822960" y="4965192"/>
            <a:ext cx="4937760" cy="274320"/>
          </a:xfrm>
          <a:prstGeom prst="rect">
            <a:avLst/>
          </a:prstGeom>
          <a:noFill/>
          <a:ln/>
        </p:spPr>
        <p:txBody>
          <a:bodyPr wrap="square" lIns="0" tIns="0" rIns="0" bIns="0" rtlCol="0" anchor="ctr"/>
          <a:lstStyle/>
          <a:p>
            <a:pPr indent="0" marL="0">
              <a:buNone/>
            </a:pPr>
            <a:r>
              <a:rPr lang="en-US" sz="1400" b="1" dirty="0">
                <a:solidFill>
                  <a:schemeClr val="accent1"/>
                </a:solidFill>
              </a:rPr>
              <a:t>Finding</a:t>
            </a:r>
            <a:endParaRPr lang="en-US" sz="1400" dirty="0"/>
          </a:p>
        </p:txBody>
      </p:sp>
      <p:sp>
        <p:nvSpPr>
          <p:cNvPr id="9" name="Text 5"/>
          <p:cNvSpPr txBox="1"/>
          <p:nvPr/>
        </p:nvSpPr>
        <p:spPr>
          <a:xfrm>
            <a:off x="822960" y="5257800"/>
            <a:ext cx="4983480" cy="960120"/>
          </a:xfrm>
          <a:prstGeom prst="rect">
            <a:avLst/>
          </a:prstGeom>
          <a:noFill/>
          <a:ln/>
        </p:spPr>
        <p:txBody>
          <a:bodyPr wrap="square" lIns="0" tIns="0" rIns="0" bIns="0" rtlCol="0" anchor="t"/>
          <a:lstStyle/>
          <a:p>
            <a:pPr indent="0" marL="0">
              <a:buNone/>
            </a:pPr>
            <a:r>
              <a:rPr lang="en-US" sz="1400" dirty="0">
                <a:solidFill>
                  <a:schemeClr val="tx1"/>
                </a:solidFill>
              </a:rPr>
              <a:t>From 21 April to 5 May positive reviews fall 59 to 90% for Swiggy, Blinkit, Domino's, Flipkart and Amazon, while negative reviews fall only 3 to 37%. Swiggy's weekly share of 1-2 star reviews jumps from about 33% to 87%.</a:t>
            </a:r>
            <a:endParaRPr lang="en-US" sz="1400" dirty="0"/>
          </a:p>
        </p:txBody>
      </p:sp>
      <p:sp>
        <p:nvSpPr>
          <p:cNvPr id="10" name="Text 6"/>
          <p:cNvSpPr txBox="1"/>
          <p:nvPr/>
        </p:nvSpPr>
        <p:spPr>
          <a:xfrm>
            <a:off x="6382512" y="4965192"/>
            <a:ext cx="4937760" cy="274320"/>
          </a:xfrm>
          <a:prstGeom prst="rect">
            <a:avLst/>
          </a:prstGeom>
          <a:noFill/>
          <a:ln/>
        </p:spPr>
        <p:txBody>
          <a:bodyPr wrap="square" lIns="0" tIns="0" rIns="0" bIns="0" rtlCol="0" anchor="ctr"/>
          <a:lstStyle/>
          <a:p>
            <a:pPr indent="0" marL="0">
              <a:buNone/>
            </a:pPr>
            <a:r>
              <a:rPr lang="en-US" sz="1400" b="1" dirty="0">
                <a:solidFill>
                  <a:schemeClr val="accent2"/>
                </a:solidFill>
              </a:rPr>
              <a:t>Business significance</a:t>
            </a:r>
            <a:endParaRPr lang="en-US" sz="1400" dirty="0"/>
          </a:p>
        </p:txBody>
      </p:sp>
      <p:sp>
        <p:nvSpPr>
          <p:cNvPr id="11" name="Text 7"/>
          <p:cNvSpPr txBox="1"/>
          <p:nvPr/>
        </p:nvSpPr>
        <p:spPr>
          <a:xfrm>
            <a:off x="6382512" y="5257800"/>
            <a:ext cx="4983480" cy="960120"/>
          </a:xfrm>
          <a:prstGeom prst="rect">
            <a:avLst/>
          </a:prstGeom>
          <a:noFill/>
          <a:ln/>
        </p:spPr>
        <p:txBody>
          <a:bodyPr wrap="square" lIns="0" tIns="0" rIns="0" bIns="0" rtlCol="0" anchor="t"/>
          <a:lstStyle/>
          <a:p>
            <a:pPr indent="0" marL="0">
              <a:buNone/>
            </a:pPr>
            <a:r>
              <a:rPr lang="en-US" sz="1400" dirty="0">
                <a:solidFill>
                  <a:schemeClr val="tx1"/>
                </a:solidFill>
              </a:rPr>
              <a:t>A '% negative' dashboard would raise a false alarm. Count negative reviews per day instead. We keep and flag these rows, and exclude them from trend comparisons.</a:t>
            </a:r>
            <a:endParaRPr lang="en-US" sz="14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5  |  FEATURE ENGINEERING OR DIMENSIONALITY REDUCTION (1 OF 2)</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Feature Engineering: Method and Features Used</a:t>
            </a:r>
            <a:endParaRPr lang="en-US" sz="2800" dirty="0"/>
          </a:p>
        </p:txBody>
      </p:sp>
      <p:sp>
        <p:nvSpPr>
          <p:cNvPr id="5" name="comment box"/>
          <p:cNvSpPr/>
          <p:nvPr/>
        </p:nvSpPr>
        <p:spPr>
          <a:xfrm>
            <a:off x="640080" y="1463040"/>
            <a:ext cx="2286000" cy="4663440"/>
          </a:xfrm>
          <a:prstGeom prst="roundRect">
            <a:avLst>
              <a:gd name="adj" fmla="val 3200"/>
            </a:avLst>
          </a:prstGeom>
          <a:solidFill>
            <a:schemeClr val="tx2"/>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777240" y="2011680"/>
            <a:ext cx="2011680" cy="45720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Review text</a:t>
            </a:r>
            <a:endParaRPr lang="en-US" sz="2000" dirty="0"/>
          </a:p>
        </p:txBody>
      </p:sp>
      <p:sp>
        <p:nvSpPr>
          <p:cNvPr id="7" name="Text 4"/>
          <p:cNvSpPr txBox="1"/>
          <p:nvPr/>
        </p:nvSpPr>
        <p:spPr>
          <a:xfrm>
            <a:off x="822960" y="2514600"/>
            <a:ext cx="1920240" cy="822960"/>
          </a:xfrm>
          <a:prstGeom prst="rect">
            <a:avLst/>
          </a:prstGeom>
          <a:noFill/>
          <a:ln/>
        </p:spPr>
        <p:txBody>
          <a:bodyPr wrap="square" lIns="0" tIns="0" rIns="0" bIns="0" rtlCol="0" anchor="ctr"/>
          <a:lstStyle/>
          <a:p>
            <a:pPr algn="ctr" indent="0" marL="0">
              <a:buNone/>
            </a:pPr>
            <a:r>
              <a:rPr lang="en-US" sz="1400" dirty="0">
                <a:solidFill>
                  <a:schemeClr val="bg2"/>
                </a:solidFill>
              </a:rPr>
              <a:t>the comment, plus its length and upvotes</a:t>
            </a:r>
            <a:endParaRPr lang="en-US" sz="1400" dirty="0"/>
          </a:p>
        </p:txBody>
      </p:sp>
      <p:sp>
        <p:nvSpPr>
          <p:cNvPr id="8" name="Text 5"/>
          <p:cNvSpPr txBox="1"/>
          <p:nvPr/>
        </p:nvSpPr>
        <p:spPr>
          <a:xfrm>
            <a:off x="822960" y="5120640"/>
            <a:ext cx="1920240" cy="365760"/>
          </a:xfrm>
          <a:prstGeom prst="rect">
            <a:avLst/>
          </a:prstGeom>
          <a:noFill/>
          <a:ln/>
        </p:spPr>
        <p:txBody>
          <a:bodyPr wrap="square" lIns="0" tIns="0" rIns="0" bIns="0" rtlCol="0" anchor="ctr"/>
          <a:lstStyle/>
          <a:p>
            <a:pPr algn="ctr" indent="0" marL="0">
              <a:buNone/>
            </a:pPr>
            <a:r>
              <a:rPr lang="en-US" sz="1400" b="1" dirty="0">
                <a:solidFill>
                  <a:schemeClr val="bg1"/>
                </a:solidFill>
              </a:rPr>
              <a:t>1,137,987 reviews</a:t>
            </a:r>
            <a:endParaRPr lang="en-US" sz="1400" dirty="0"/>
          </a:p>
        </p:txBody>
      </p:sp>
      <p:sp>
        <p:nvSpPr>
          <p:cNvPr id="9" name="branch 1"/>
          <p:cNvSpPr/>
          <p:nvPr/>
        </p:nvSpPr>
        <p:spPr>
          <a:xfrm>
            <a:off x="3657600" y="1463040"/>
            <a:ext cx="5120640" cy="1143000"/>
          </a:xfrm>
          <a:prstGeom prst="roundRect">
            <a:avLst>
              <a:gd name="adj" fmla="val 64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Shape 7"/>
          <p:cNvSpPr/>
          <p:nvPr/>
        </p:nvSpPr>
        <p:spPr>
          <a:xfrm>
            <a:off x="3822192" y="1591056"/>
            <a:ext cx="237744" cy="237744"/>
          </a:xfrm>
          <a:prstGeom prst="ellipse">
            <a:avLst/>
          </a:prstGeom>
          <a:solidFill>
            <a:schemeClr val="accent2"/>
          </a:solidFill>
          <a:ln w="12700">
            <a:solidFill>
              <a:schemeClr val="accent2"/>
            </a:solidFill>
            <a:prstDash val="solid"/>
          </a:ln>
        </p:spPr>
      </p:sp>
      <p:sp>
        <p:nvSpPr>
          <p:cNvPr id="11" name="Text 8"/>
          <p:cNvSpPr txBox="1"/>
          <p:nvPr/>
        </p:nvSpPr>
        <p:spPr>
          <a:xfrm>
            <a:off x="4160520" y="1536192"/>
            <a:ext cx="4480560" cy="347472"/>
          </a:xfrm>
          <a:prstGeom prst="rect">
            <a:avLst/>
          </a:prstGeom>
          <a:noFill/>
          <a:ln/>
        </p:spPr>
        <p:txBody>
          <a:bodyPr wrap="square" lIns="0" tIns="0" rIns="0" bIns="0" rtlCol="0" anchor="ctr"/>
          <a:lstStyle/>
          <a:p>
            <a:pPr indent="0" marL="0">
              <a:buNone/>
            </a:pPr>
            <a:r>
              <a:rPr lang="en-US" sz="1500" b="1" dirty="0">
                <a:solidFill>
                  <a:schemeClr val="tx2"/>
                </a:solidFill>
              </a:rPr>
              <a:t>Issue tags: 9 features</a:t>
            </a:r>
            <a:endParaRPr lang="en-US" sz="1500" dirty="0"/>
          </a:p>
        </p:txBody>
      </p:sp>
      <p:sp>
        <p:nvSpPr>
          <p:cNvPr id="12" name="Text 9"/>
          <p:cNvSpPr txBox="1"/>
          <p:nvPr/>
        </p:nvSpPr>
        <p:spPr>
          <a:xfrm>
            <a:off x="3822192" y="1920240"/>
            <a:ext cx="4846320" cy="640080"/>
          </a:xfrm>
          <a:prstGeom prst="rect">
            <a:avLst/>
          </a:prstGeom>
          <a:noFill/>
          <a:ln/>
        </p:spPr>
        <p:txBody>
          <a:bodyPr wrap="square" lIns="0" tIns="0" rIns="0" bIns="0" rtlCol="0" anchor="t"/>
          <a:lstStyle/>
          <a:p>
            <a:pPr indent="0" marL="0">
              <a:buNone/>
            </a:pPr>
            <a:r>
              <a:rPr lang="en-US" sz="1300" dirty="0">
                <a:solidFill>
                  <a:schemeClr val="tx1"/>
                </a:solidFill>
              </a:rPr>
              <a:t>Keyword rules on the comment: crash, payment and refund, delivery, order quality, cancellation and return, support, login and OTP, pricing and fraud, UI and update. Each is 0 or 1.</a:t>
            </a:r>
            <a:endParaRPr lang="en-US" sz="1300" dirty="0"/>
          </a:p>
        </p:txBody>
      </p:sp>
      <p:sp>
        <p:nvSpPr>
          <p:cNvPr id="13" name="Shape 10"/>
          <p:cNvSpPr/>
          <p:nvPr/>
        </p:nvSpPr>
        <p:spPr>
          <a:xfrm>
            <a:off x="2926080" y="2034540"/>
            <a:ext cx="713232" cy="0"/>
          </a:xfrm>
          <a:prstGeom prst="line">
            <a:avLst/>
          </a:prstGeom>
          <a:noFill/>
          <a:ln w="19050">
            <a:solidFill>
              <a:srgbClr val="48677E"/>
            </a:solidFill>
            <a:prstDash val="solid"/>
            <a:tailEnd type="triangle"/>
          </a:ln>
        </p:spPr>
      </p:sp>
      <p:sp>
        <p:nvSpPr>
          <p:cNvPr id="14" name="Shape 11"/>
          <p:cNvSpPr/>
          <p:nvPr/>
        </p:nvSpPr>
        <p:spPr>
          <a:xfrm>
            <a:off x="8796528" y="2034540"/>
            <a:ext cx="713232" cy="0"/>
          </a:xfrm>
          <a:prstGeom prst="line">
            <a:avLst/>
          </a:prstGeom>
          <a:noFill/>
          <a:ln w="19050">
            <a:solidFill>
              <a:srgbClr val="48677E"/>
            </a:solidFill>
            <a:prstDash val="solid"/>
            <a:tailEnd type="triangle"/>
          </a:ln>
        </p:spPr>
      </p:sp>
      <p:sp>
        <p:nvSpPr>
          <p:cNvPr id="15" name="branch 2"/>
          <p:cNvSpPr/>
          <p:nvPr/>
        </p:nvSpPr>
        <p:spPr>
          <a:xfrm>
            <a:off x="3657600" y="2697480"/>
            <a:ext cx="5120640" cy="1143000"/>
          </a:xfrm>
          <a:prstGeom prst="roundRect">
            <a:avLst>
              <a:gd name="adj" fmla="val 64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Shape 13"/>
          <p:cNvSpPr/>
          <p:nvPr/>
        </p:nvSpPr>
        <p:spPr>
          <a:xfrm>
            <a:off x="3822192" y="2825496"/>
            <a:ext cx="237744" cy="237744"/>
          </a:xfrm>
          <a:prstGeom prst="ellipse">
            <a:avLst/>
          </a:prstGeom>
          <a:solidFill>
            <a:schemeClr val="accent3"/>
          </a:solidFill>
          <a:ln w="12700">
            <a:solidFill>
              <a:schemeClr val="accent3"/>
            </a:solidFill>
            <a:prstDash val="solid"/>
          </a:ln>
        </p:spPr>
      </p:sp>
      <p:sp>
        <p:nvSpPr>
          <p:cNvPr id="17" name="Text 14"/>
          <p:cNvSpPr txBox="1"/>
          <p:nvPr/>
        </p:nvSpPr>
        <p:spPr>
          <a:xfrm>
            <a:off x="4160520" y="2770632"/>
            <a:ext cx="4480560" cy="347472"/>
          </a:xfrm>
          <a:prstGeom prst="rect">
            <a:avLst/>
          </a:prstGeom>
          <a:noFill/>
          <a:ln/>
        </p:spPr>
        <p:txBody>
          <a:bodyPr wrap="square" lIns="0" tIns="0" rIns="0" bIns="0" rtlCol="0" anchor="ctr"/>
          <a:lstStyle/>
          <a:p>
            <a:pPr indent="0" marL="0">
              <a:buNone/>
            </a:pPr>
            <a:r>
              <a:rPr lang="en-US" sz="1500" b="1" dirty="0">
                <a:solidFill>
                  <a:schemeClr val="tx2"/>
                </a:solidFill>
              </a:rPr>
              <a:t>Sentiment: 4 features</a:t>
            </a:r>
            <a:endParaRPr lang="en-US" sz="1500" dirty="0"/>
          </a:p>
        </p:txBody>
      </p:sp>
      <p:sp>
        <p:nvSpPr>
          <p:cNvPr id="18" name="Text 15"/>
          <p:cNvSpPr txBox="1"/>
          <p:nvPr/>
        </p:nvSpPr>
        <p:spPr>
          <a:xfrm>
            <a:off x="3822192" y="3154680"/>
            <a:ext cx="4846320" cy="640080"/>
          </a:xfrm>
          <a:prstGeom prst="rect">
            <a:avLst/>
          </a:prstGeom>
          <a:noFill/>
          <a:ln/>
        </p:spPr>
        <p:txBody>
          <a:bodyPr wrap="square" lIns="0" tIns="0" rIns="0" bIns="0" rtlCol="0" anchor="t"/>
          <a:lstStyle/>
          <a:p>
            <a:pPr indent="0" marL="0">
              <a:buNone/>
            </a:pPr>
            <a:r>
              <a:rPr lang="en-US" sz="1300" dirty="0">
                <a:solidFill>
                  <a:schemeClr val="tx1"/>
                </a:solidFill>
              </a:rPr>
              <a:t>VADER negative, neutral, positive and compound score of the comment.</a:t>
            </a:r>
            <a:endParaRPr lang="en-US" sz="1300" dirty="0"/>
          </a:p>
        </p:txBody>
      </p:sp>
      <p:sp>
        <p:nvSpPr>
          <p:cNvPr id="19" name="Shape 16"/>
          <p:cNvSpPr/>
          <p:nvPr/>
        </p:nvSpPr>
        <p:spPr>
          <a:xfrm>
            <a:off x="2926080" y="3268980"/>
            <a:ext cx="713232" cy="0"/>
          </a:xfrm>
          <a:prstGeom prst="line">
            <a:avLst/>
          </a:prstGeom>
          <a:noFill/>
          <a:ln w="19050">
            <a:solidFill>
              <a:srgbClr val="48677E"/>
            </a:solidFill>
            <a:prstDash val="solid"/>
            <a:tailEnd type="triangle"/>
          </a:ln>
        </p:spPr>
      </p:sp>
      <p:sp>
        <p:nvSpPr>
          <p:cNvPr id="20" name="Shape 17"/>
          <p:cNvSpPr/>
          <p:nvPr/>
        </p:nvSpPr>
        <p:spPr>
          <a:xfrm>
            <a:off x="8796528" y="3268980"/>
            <a:ext cx="713232" cy="0"/>
          </a:xfrm>
          <a:prstGeom prst="line">
            <a:avLst/>
          </a:prstGeom>
          <a:noFill/>
          <a:ln w="19050">
            <a:solidFill>
              <a:srgbClr val="48677E"/>
            </a:solidFill>
            <a:prstDash val="solid"/>
            <a:tailEnd type="triangle"/>
          </a:ln>
        </p:spPr>
      </p:sp>
      <p:sp>
        <p:nvSpPr>
          <p:cNvPr id="21" name="branch 3"/>
          <p:cNvSpPr/>
          <p:nvPr/>
        </p:nvSpPr>
        <p:spPr>
          <a:xfrm>
            <a:off x="3657600" y="3931920"/>
            <a:ext cx="5120640" cy="1143000"/>
          </a:xfrm>
          <a:prstGeom prst="roundRect">
            <a:avLst>
              <a:gd name="adj" fmla="val 6400"/>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2" name="Shape 19"/>
          <p:cNvSpPr/>
          <p:nvPr/>
        </p:nvSpPr>
        <p:spPr>
          <a:xfrm>
            <a:off x="3822192" y="4059936"/>
            <a:ext cx="237744" cy="237744"/>
          </a:xfrm>
          <a:prstGeom prst="ellipse">
            <a:avLst/>
          </a:prstGeom>
          <a:solidFill>
            <a:schemeClr val="accent1"/>
          </a:solidFill>
          <a:ln w="12700">
            <a:solidFill>
              <a:schemeClr val="accent1"/>
            </a:solidFill>
            <a:prstDash val="solid"/>
          </a:ln>
        </p:spPr>
      </p:sp>
      <p:sp>
        <p:nvSpPr>
          <p:cNvPr id="23" name="Text 20"/>
          <p:cNvSpPr txBox="1"/>
          <p:nvPr/>
        </p:nvSpPr>
        <p:spPr>
          <a:xfrm>
            <a:off x="4160520" y="4005072"/>
            <a:ext cx="4480560" cy="347472"/>
          </a:xfrm>
          <a:prstGeom prst="rect">
            <a:avLst/>
          </a:prstGeom>
          <a:noFill/>
          <a:ln/>
        </p:spPr>
        <p:txBody>
          <a:bodyPr wrap="square" lIns="0" tIns="0" rIns="0" bIns="0" rtlCol="0" anchor="ctr"/>
          <a:lstStyle/>
          <a:p>
            <a:pPr indent="0" marL="0">
              <a:buNone/>
            </a:pPr>
            <a:r>
              <a:rPr lang="en-US" sz="1500" b="1" dirty="0">
                <a:solidFill>
                  <a:schemeClr val="tx2"/>
                </a:solidFill>
              </a:rPr>
              <a:t>Text components: 200 features</a:t>
            </a:r>
            <a:endParaRPr lang="en-US" sz="1500" dirty="0"/>
          </a:p>
        </p:txBody>
      </p:sp>
      <p:sp>
        <p:nvSpPr>
          <p:cNvPr id="24" name="Text 21"/>
          <p:cNvSpPr txBox="1"/>
          <p:nvPr/>
        </p:nvSpPr>
        <p:spPr>
          <a:xfrm>
            <a:off x="3822192" y="4389120"/>
            <a:ext cx="4846320" cy="640080"/>
          </a:xfrm>
          <a:prstGeom prst="rect">
            <a:avLst/>
          </a:prstGeom>
          <a:noFill/>
          <a:ln/>
        </p:spPr>
        <p:txBody>
          <a:bodyPr wrap="square" lIns="0" tIns="0" rIns="0" bIns="0" rtlCol="0" anchor="t"/>
          <a:lstStyle/>
          <a:p>
            <a:pPr indent="0" marL="0">
              <a:buNone/>
            </a:pPr>
            <a:r>
              <a:rPr lang="en-US" sz="1300" dirty="0">
                <a:solidFill>
                  <a:schemeClr val="tx1"/>
                </a:solidFill>
              </a:rPr>
              <a:t>TF-IDF on 20,000 words and 2-word phrases, then Truncated SVD reduces them to 200 numbers.</a:t>
            </a:r>
            <a:endParaRPr lang="en-US" sz="1300" dirty="0"/>
          </a:p>
        </p:txBody>
      </p:sp>
      <p:sp>
        <p:nvSpPr>
          <p:cNvPr id="25" name="Shape 22"/>
          <p:cNvSpPr/>
          <p:nvPr/>
        </p:nvSpPr>
        <p:spPr>
          <a:xfrm>
            <a:off x="2926080" y="4503420"/>
            <a:ext cx="713232" cy="0"/>
          </a:xfrm>
          <a:prstGeom prst="line">
            <a:avLst/>
          </a:prstGeom>
          <a:noFill/>
          <a:ln w="19050">
            <a:solidFill>
              <a:srgbClr val="48677E"/>
            </a:solidFill>
            <a:prstDash val="solid"/>
            <a:tailEnd type="triangle"/>
          </a:ln>
        </p:spPr>
      </p:sp>
      <p:sp>
        <p:nvSpPr>
          <p:cNvPr id="26" name="Shape 23"/>
          <p:cNvSpPr/>
          <p:nvPr/>
        </p:nvSpPr>
        <p:spPr>
          <a:xfrm>
            <a:off x="8796528" y="4503420"/>
            <a:ext cx="713232" cy="0"/>
          </a:xfrm>
          <a:prstGeom prst="line">
            <a:avLst/>
          </a:prstGeom>
          <a:noFill/>
          <a:ln w="19050">
            <a:solidFill>
              <a:srgbClr val="48677E"/>
            </a:solidFill>
            <a:prstDash val="solid"/>
            <a:tailEnd type="triangle"/>
          </a:ln>
        </p:spPr>
      </p:sp>
      <p:sp>
        <p:nvSpPr>
          <p:cNvPr id="27" name="branch 4"/>
          <p:cNvSpPr/>
          <p:nvPr/>
        </p:nvSpPr>
        <p:spPr>
          <a:xfrm>
            <a:off x="3657600" y="5166360"/>
            <a:ext cx="5120640" cy="960120"/>
          </a:xfrm>
          <a:prstGeom prst="roundRect">
            <a:avLst>
              <a:gd name="adj" fmla="val 7619"/>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8" name="Shape 25"/>
          <p:cNvSpPr/>
          <p:nvPr/>
        </p:nvSpPr>
        <p:spPr>
          <a:xfrm>
            <a:off x="3822192" y="5294376"/>
            <a:ext cx="237744" cy="237744"/>
          </a:xfrm>
          <a:prstGeom prst="ellipse">
            <a:avLst/>
          </a:prstGeom>
          <a:solidFill>
            <a:schemeClr val="accent6"/>
          </a:solidFill>
          <a:ln w="12700">
            <a:solidFill>
              <a:schemeClr val="accent6"/>
            </a:solidFill>
            <a:prstDash val="solid"/>
          </a:ln>
        </p:spPr>
      </p:sp>
      <p:sp>
        <p:nvSpPr>
          <p:cNvPr id="29" name="Text 26"/>
          <p:cNvSpPr txBox="1"/>
          <p:nvPr/>
        </p:nvSpPr>
        <p:spPr>
          <a:xfrm>
            <a:off x="4160520" y="5239512"/>
            <a:ext cx="4480560" cy="347472"/>
          </a:xfrm>
          <a:prstGeom prst="rect">
            <a:avLst/>
          </a:prstGeom>
          <a:noFill/>
          <a:ln/>
        </p:spPr>
        <p:txBody>
          <a:bodyPr wrap="square" lIns="0" tIns="0" rIns="0" bIns="0" rtlCol="0" anchor="ctr"/>
          <a:lstStyle/>
          <a:p>
            <a:pPr indent="0" marL="0">
              <a:buNone/>
            </a:pPr>
            <a:r>
              <a:rPr lang="en-US" sz="1500" b="1" dirty="0">
                <a:solidFill>
                  <a:schemeClr val="tx2"/>
                </a:solidFill>
              </a:rPr>
              <a:t>Length and upvotes: 2 features</a:t>
            </a:r>
            <a:endParaRPr lang="en-US" sz="1500" dirty="0"/>
          </a:p>
        </p:txBody>
      </p:sp>
      <p:sp>
        <p:nvSpPr>
          <p:cNvPr id="30" name="Text 27"/>
          <p:cNvSpPr txBox="1"/>
          <p:nvPr/>
        </p:nvSpPr>
        <p:spPr>
          <a:xfrm>
            <a:off x="3822192" y="5623560"/>
            <a:ext cx="4846320" cy="457200"/>
          </a:xfrm>
          <a:prstGeom prst="rect">
            <a:avLst/>
          </a:prstGeom>
          <a:noFill/>
          <a:ln/>
        </p:spPr>
        <p:txBody>
          <a:bodyPr wrap="square" lIns="0" tIns="0" rIns="0" bIns="0" rtlCol="0" anchor="t"/>
          <a:lstStyle/>
          <a:p>
            <a:pPr indent="0" marL="0">
              <a:buNone/>
            </a:pPr>
            <a:r>
              <a:rPr lang="en-US" sz="1300" dirty="0">
                <a:solidFill>
                  <a:schemeClr val="tx1"/>
                </a:solidFill>
              </a:rPr>
              <a:t>review_length (words) and thumbs_up.</a:t>
            </a:r>
            <a:endParaRPr lang="en-US" sz="1300" dirty="0"/>
          </a:p>
        </p:txBody>
      </p:sp>
      <p:sp>
        <p:nvSpPr>
          <p:cNvPr id="31" name="Shape 28"/>
          <p:cNvSpPr/>
          <p:nvPr/>
        </p:nvSpPr>
        <p:spPr>
          <a:xfrm>
            <a:off x="2926080" y="5646420"/>
            <a:ext cx="713232" cy="0"/>
          </a:xfrm>
          <a:prstGeom prst="line">
            <a:avLst/>
          </a:prstGeom>
          <a:noFill/>
          <a:ln w="19050">
            <a:solidFill>
              <a:srgbClr val="48677E"/>
            </a:solidFill>
            <a:prstDash val="solid"/>
            <a:tailEnd type="triangle"/>
          </a:ln>
        </p:spPr>
      </p:sp>
      <p:sp>
        <p:nvSpPr>
          <p:cNvPr id="32" name="Shape 29"/>
          <p:cNvSpPr/>
          <p:nvPr/>
        </p:nvSpPr>
        <p:spPr>
          <a:xfrm>
            <a:off x="8796528" y="5646420"/>
            <a:ext cx="713232" cy="0"/>
          </a:xfrm>
          <a:prstGeom prst="line">
            <a:avLst/>
          </a:prstGeom>
          <a:noFill/>
          <a:ln w="19050">
            <a:solidFill>
              <a:srgbClr val="48677E"/>
            </a:solidFill>
            <a:prstDash val="solid"/>
            <a:tailEnd type="triangle"/>
          </a:ln>
        </p:spPr>
      </p:sp>
      <p:sp>
        <p:nvSpPr>
          <p:cNvPr id="33" name="result box"/>
          <p:cNvSpPr/>
          <p:nvPr/>
        </p:nvSpPr>
        <p:spPr>
          <a:xfrm>
            <a:off x="9509760" y="1463040"/>
            <a:ext cx="2039112" cy="4663440"/>
          </a:xfrm>
          <a:prstGeom prst="roundRect">
            <a:avLst>
              <a:gd name="adj" fmla="val 3587"/>
            </a:avLst>
          </a:prstGeom>
          <a:solidFill>
            <a:schemeClr val="accent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34" name="Text 31"/>
          <p:cNvSpPr txBox="1"/>
          <p:nvPr/>
        </p:nvSpPr>
        <p:spPr>
          <a:xfrm>
            <a:off x="9601200" y="2194560"/>
            <a:ext cx="1856232" cy="822960"/>
          </a:xfrm>
          <a:prstGeom prst="rect">
            <a:avLst/>
          </a:prstGeom>
          <a:noFill/>
          <a:ln/>
        </p:spPr>
        <p:txBody>
          <a:bodyPr wrap="square" lIns="0" tIns="0" rIns="0" bIns="0" rtlCol="0" anchor="ctr"/>
          <a:lstStyle/>
          <a:p>
            <a:pPr algn="ctr" indent="0" marL="0">
              <a:buNone/>
            </a:pPr>
            <a:r>
              <a:rPr lang="en-US" sz="5400" b="1" dirty="0">
                <a:solidFill>
                  <a:schemeClr val="bg1"/>
                </a:solidFill>
                <a:latin typeface="Cambria" pitchFamily="34" charset="0"/>
                <a:ea typeface="Cambria" pitchFamily="34" charset="-122"/>
                <a:cs typeface="Cambria" pitchFamily="34" charset="-120"/>
              </a:rPr>
              <a:t>215</a:t>
            </a:r>
            <a:endParaRPr lang="en-US" sz="5400" dirty="0"/>
          </a:p>
        </p:txBody>
      </p:sp>
      <p:sp>
        <p:nvSpPr>
          <p:cNvPr id="35" name="Text 32"/>
          <p:cNvSpPr txBox="1"/>
          <p:nvPr/>
        </p:nvSpPr>
        <p:spPr>
          <a:xfrm>
            <a:off x="9601200" y="3063240"/>
            <a:ext cx="1856232" cy="365760"/>
          </a:xfrm>
          <a:prstGeom prst="rect">
            <a:avLst/>
          </a:prstGeom>
          <a:noFill/>
          <a:ln/>
        </p:spPr>
        <p:txBody>
          <a:bodyPr wrap="square" lIns="0" tIns="0" rIns="0" bIns="0" rtlCol="0" anchor="ctr"/>
          <a:lstStyle/>
          <a:p>
            <a:pPr algn="ctr" indent="0" marL="0">
              <a:buNone/>
            </a:pPr>
            <a:r>
              <a:rPr lang="en-US" sz="1500" dirty="0">
                <a:solidFill>
                  <a:schemeClr val="bg1"/>
                </a:solidFill>
              </a:rPr>
              <a:t>features per review</a:t>
            </a:r>
            <a:endParaRPr lang="en-US" sz="1500" dirty="0"/>
          </a:p>
        </p:txBody>
      </p:sp>
      <p:sp>
        <p:nvSpPr>
          <p:cNvPr id="36" name="Text 33"/>
          <p:cNvSpPr txBox="1"/>
          <p:nvPr/>
        </p:nvSpPr>
        <p:spPr>
          <a:xfrm>
            <a:off x="9646920" y="3931920"/>
            <a:ext cx="1764792" cy="1371600"/>
          </a:xfrm>
          <a:prstGeom prst="rect">
            <a:avLst/>
          </a:prstGeom>
          <a:noFill/>
          <a:ln/>
        </p:spPr>
        <p:txBody>
          <a:bodyPr wrap="square" lIns="0" tIns="0" rIns="0" bIns="0" rtlCol="0" anchor="ctr"/>
          <a:lstStyle/>
          <a:p>
            <a:pPr algn="ctr" indent="0" marL="0">
              <a:buNone/>
            </a:pPr>
            <a:r>
              <a:rPr lang="en-US" sz="1300" dirty="0">
                <a:solidFill>
                  <a:schemeClr val="bg1"/>
                </a:solidFill>
              </a:rPr>
              <a:t>The 15 structural features are scaled with StandardScaler.</a:t>
            </a:r>
            <a:endParaRPr lang="en-US" sz="13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5  |  FEATURE ENGINEERING OR DIMENSIONALITY REDUCTION (2 OF 2)</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Feature Engineering: Justification and Effect</a:t>
            </a:r>
            <a:endParaRPr lang="en-US" sz="2800" dirty="0"/>
          </a:p>
        </p:txBody>
      </p:sp>
      <p:sp>
        <p:nvSpPr>
          <p:cNvPr id="5" name="justification card"/>
          <p:cNvSpPr/>
          <p:nvPr/>
        </p:nvSpPr>
        <p:spPr>
          <a:xfrm>
            <a:off x="640080" y="1417320"/>
            <a:ext cx="6583680" cy="4800600"/>
          </a:xfrm>
          <a:prstGeom prst="roundRect">
            <a:avLst>
              <a:gd name="adj" fmla="val 152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868680" y="1554480"/>
            <a:ext cx="6126480" cy="347472"/>
          </a:xfrm>
          <a:prstGeom prst="rect">
            <a:avLst/>
          </a:prstGeom>
          <a:noFill/>
          <a:ln/>
        </p:spPr>
        <p:txBody>
          <a:bodyPr wrap="square" lIns="0" tIns="0" rIns="0" bIns="0" rtlCol="0" anchor="ctr"/>
          <a:lstStyle/>
          <a:p>
            <a:pPr indent="0" marL="0">
              <a:buNone/>
            </a:pPr>
            <a:r>
              <a:rPr lang="en-US" sz="1800" b="1" dirty="0">
                <a:solidFill>
                  <a:schemeClr val="tx2"/>
                </a:solidFill>
              </a:rPr>
              <a:t>Why this method suits the problem</a:t>
            </a:r>
            <a:endParaRPr lang="en-US" sz="1800" dirty="0"/>
          </a:p>
        </p:txBody>
      </p:sp>
      <p:sp>
        <p:nvSpPr>
          <p:cNvPr id="7" name="Text 4"/>
          <p:cNvSpPr txBox="1"/>
          <p:nvPr/>
        </p:nvSpPr>
        <p:spPr>
          <a:xfrm>
            <a:off x="868680" y="2011680"/>
            <a:ext cx="6126480" cy="4114800"/>
          </a:xfrm>
          <a:prstGeom prst="rect">
            <a:avLst/>
          </a:prstGeom>
          <a:noFill/>
          <a:ln/>
        </p:spPr>
        <p:txBody>
          <a:bodyPr wrap="square" lIns="0" tIns="0" rIns="0" bIns="0" rtlCol="0" anchor="t"/>
          <a:lstStyle/>
          <a:p>
            <a:pPr indent="0" marL="0">
              <a:spcAft>
                <a:spcPts val="1200"/>
              </a:spcAft>
              <a:buNone/>
            </a:pPr>
            <a:r>
              <a:rPr lang="en-US" sz="1600" b="1" dirty="0">
                <a:solidFill>
                  <a:srgbClr val="000000"/>
                </a:solidFill>
              </a:rPr>
              <a:t>Compact text: </a:t>
            </a:r>
            <a:pPr indent="0" marL="0">
              <a:spcAft>
                <a:spcPts val="1200"/>
              </a:spcAft>
              <a:buNone/>
            </a:pPr>
            <a:r>
              <a:rPr lang="en-US" sz="1600" dirty="0">
                <a:solidFill>
                  <a:srgbClr val="000000"/>
                </a:solidFill>
              </a:rPr>
              <a:t>a 1.1 million x 20,000 sparse matrix is slow and noisy for a Random Forest. SVD gives a small dense matrix.</a:t>
            </a:r>
            <a:endParaRPr lang="en-US" sz="1600" dirty="0"/>
          </a:p>
          <a:p>
            <a:pPr indent="0" marL="0">
              <a:spcAft>
                <a:spcPts val="1200"/>
              </a:spcAft>
              <a:buNone/>
            </a:pPr>
            <a:r>
              <a:rPr lang="en-US" sz="1600" b="1" dirty="0">
                <a:solidFill>
                  <a:srgbClr val="000000"/>
                </a:solidFill>
              </a:rPr>
              <a:t>No stop-word list: </a:t>
            </a:r>
            <a:pPr indent="0" marL="0">
              <a:spcAft>
                <a:spcPts val="1200"/>
              </a:spcAft>
              <a:buNone/>
            </a:pPr>
            <a:r>
              <a:rPr lang="en-US" sz="1600" dirty="0">
                <a:solidFill>
                  <a:srgbClr val="000000"/>
                </a:solidFill>
              </a:rPr>
              <a:t>the standard list removes "not", "no" and "never", so "not good" would look like "good". We keep them.</a:t>
            </a:r>
            <a:endParaRPr lang="en-US" sz="1600" dirty="0"/>
          </a:p>
          <a:p>
            <a:pPr indent="0" marL="0">
              <a:spcAft>
                <a:spcPts val="1200"/>
              </a:spcAft>
              <a:buNone/>
            </a:pPr>
            <a:r>
              <a:rPr lang="en-US" sz="1600" b="1" dirty="0">
                <a:solidFill>
                  <a:srgbClr val="000000"/>
                </a:solidFill>
              </a:rPr>
              <a:t>Flags and sentiment: </a:t>
            </a:r>
            <a:pPr indent="0" marL="0">
              <a:spcAft>
                <a:spcPts val="1200"/>
              </a:spcAft>
              <a:buNone/>
            </a:pPr>
            <a:r>
              <a:rPr lang="en-US" sz="1600" dirty="0">
                <a:solidFill>
                  <a:srgbClr val="000000"/>
                </a:solidFill>
              </a:rPr>
              <a:t>add meaning single words miss, such as whether the review is about a refund and how negative it is.</a:t>
            </a:r>
            <a:endParaRPr lang="en-US" sz="1600" dirty="0"/>
          </a:p>
          <a:p>
            <a:pPr indent="0" marL="0">
              <a:spcAft>
                <a:spcPts val="1200"/>
              </a:spcAft>
              <a:buNone/>
            </a:pPr>
            <a:r>
              <a:rPr lang="en-US" sz="1600" b="1" dirty="0">
                <a:solidFill>
                  <a:srgbClr val="000000"/>
                </a:solidFill>
              </a:rPr>
              <a:t>Length kept explicitly: </a:t>
            </a:r>
            <a:pPr indent="0" marL="0">
              <a:spcAft>
                <a:spcPts val="1200"/>
              </a:spcAft>
              <a:buNone/>
            </a:pPr>
            <a:r>
              <a:rPr lang="en-US" sz="1600" dirty="0">
                <a:solidFill>
                  <a:srgbClr val="000000"/>
                </a:solidFill>
              </a:rPr>
              <a:t>complaints are much longer than praise (14 vs 2 words), and a short review gives the text little to work with.</a:t>
            </a:r>
            <a:endParaRPr lang="en-US" sz="1600" dirty="0"/>
          </a:p>
        </p:txBody>
      </p:sp>
      <p:sp>
        <p:nvSpPr>
          <p:cNvPr id="8" name="Text 5"/>
          <p:cNvSpPr txBox="1"/>
          <p:nvPr/>
        </p:nvSpPr>
        <p:spPr>
          <a:xfrm>
            <a:off x="7635240" y="1371600"/>
            <a:ext cx="1828800" cy="685800"/>
          </a:xfrm>
          <a:prstGeom prst="rect">
            <a:avLst/>
          </a:prstGeom>
          <a:noFill/>
          <a:ln/>
        </p:spPr>
        <p:txBody>
          <a:bodyPr wrap="square" lIns="0" tIns="0" rIns="0" bIns="0" rtlCol="0" anchor="b"/>
          <a:lstStyle/>
          <a:p>
            <a:pPr indent="0" marL="0">
              <a:buNone/>
            </a:pPr>
            <a:r>
              <a:rPr lang="en-US" sz="3800" b="1" dirty="0">
                <a:solidFill>
                  <a:schemeClr val="accent6"/>
                </a:solidFill>
                <a:latin typeface="Cambria" pitchFamily="34" charset="0"/>
                <a:ea typeface="Cambria" pitchFamily="34" charset="-122"/>
                <a:cs typeface="Cambria" pitchFamily="34" charset="-120"/>
              </a:rPr>
              <a:t>20,000</a:t>
            </a:r>
            <a:endParaRPr lang="en-US" sz="3800" dirty="0"/>
          </a:p>
        </p:txBody>
      </p:sp>
      <p:sp>
        <p:nvSpPr>
          <p:cNvPr id="9" name="Text 6"/>
          <p:cNvSpPr txBox="1"/>
          <p:nvPr/>
        </p:nvSpPr>
        <p:spPr>
          <a:xfrm>
            <a:off x="7635240" y="2084832"/>
            <a:ext cx="1828800" cy="502920"/>
          </a:xfrm>
          <a:prstGeom prst="rect">
            <a:avLst/>
          </a:prstGeom>
          <a:noFill/>
          <a:ln/>
        </p:spPr>
        <p:txBody>
          <a:bodyPr wrap="square" lIns="0" tIns="0" rIns="0" bIns="0" rtlCol="0" anchor="t"/>
          <a:lstStyle/>
          <a:p>
            <a:pPr indent="0" marL="0">
              <a:buNone/>
            </a:pPr>
            <a:r>
              <a:rPr lang="en-US" sz="1200" dirty="0">
                <a:solidFill>
                  <a:schemeClr val="accent6"/>
                </a:solidFill>
              </a:rPr>
              <a:t>text columns before</a:t>
            </a:r>
            <a:endParaRPr lang="en-US" sz="1200" dirty="0"/>
          </a:p>
        </p:txBody>
      </p:sp>
      <p:sp>
        <p:nvSpPr>
          <p:cNvPr id="10" name="Text 7"/>
          <p:cNvSpPr txBox="1"/>
          <p:nvPr/>
        </p:nvSpPr>
        <p:spPr>
          <a:xfrm>
            <a:off x="9646920" y="1371600"/>
            <a:ext cx="1828800"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200</a:t>
            </a:r>
            <a:endParaRPr lang="en-US" sz="3800" dirty="0"/>
          </a:p>
        </p:txBody>
      </p:sp>
      <p:sp>
        <p:nvSpPr>
          <p:cNvPr id="11" name="Text 8"/>
          <p:cNvSpPr txBox="1"/>
          <p:nvPr/>
        </p:nvSpPr>
        <p:spPr>
          <a:xfrm>
            <a:off x="9646920" y="2084832"/>
            <a:ext cx="1828800" cy="502920"/>
          </a:xfrm>
          <a:prstGeom prst="rect">
            <a:avLst/>
          </a:prstGeom>
          <a:noFill/>
          <a:ln/>
        </p:spPr>
        <p:txBody>
          <a:bodyPr wrap="square" lIns="0" tIns="0" rIns="0" bIns="0" rtlCol="0" anchor="t"/>
          <a:lstStyle/>
          <a:p>
            <a:pPr indent="0" marL="0">
              <a:buNone/>
            </a:pPr>
            <a:r>
              <a:rPr lang="en-US" sz="1200" dirty="0">
                <a:solidFill>
                  <a:schemeClr val="accent6"/>
                </a:solidFill>
              </a:rPr>
              <a:t>after Truncated SVD</a:t>
            </a:r>
            <a:endParaRPr lang="en-US" sz="1200" dirty="0"/>
          </a:p>
        </p:txBody>
      </p:sp>
      <p:sp>
        <p:nvSpPr>
          <p:cNvPr id="12" name="Text 9"/>
          <p:cNvSpPr txBox="1"/>
          <p:nvPr/>
        </p:nvSpPr>
        <p:spPr>
          <a:xfrm>
            <a:off x="7635240" y="2880360"/>
            <a:ext cx="1828800"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100x</a:t>
            </a:r>
            <a:endParaRPr lang="en-US" sz="3800" dirty="0"/>
          </a:p>
        </p:txBody>
      </p:sp>
      <p:sp>
        <p:nvSpPr>
          <p:cNvPr id="13" name="Text 10"/>
          <p:cNvSpPr txBox="1"/>
          <p:nvPr/>
        </p:nvSpPr>
        <p:spPr>
          <a:xfrm>
            <a:off x="7635240" y="3593592"/>
            <a:ext cx="1828800" cy="502920"/>
          </a:xfrm>
          <a:prstGeom prst="rect">
            <a:avLst/>
          </a:prstGeom>
          <a:noFill/>
          <a:ln/>
        </p:spPr>
        <p:txBody>
          <a:bodyPr wrap="square" lIns="0" tIns="0" rIns="0" bIns="0" rtlCol="0" anchor="t"/>
          <a:lstStyle/>
          <a:p>
            <a:pPr indent="0" marL="0">
              <a:buNone/>
            </a:pPr>
            <a:r>
              <a:rPr lang="en-US" sz="1200" dirty="0">
                <a:solidFill>
                  <a:schemeClr val="accent6"/>
                </a:solidFill>
              </a:rPr>
              <a:t>fewer text columns</a:t>
            </a:r>
            <a:endParaRPr lang="en-US" sz="1200" dirty="0"/>
          </a:p>
        </p:txBody>
      </p:sp>
      <p:sp>
        <p:nvSpPr>
          <p:cNvPr id="14" name="Text 11"/>
          <p:cNvSpPr txBox="1"/>
          <p:nvPr/>
        </p:nvSpPr>
        <p:spPr>
          <a:xfrm>
            <a:off x="9646920" y="2880360"/>
            <a:ext cx="1828800" cy="685800"/>
          </a:xfrm>
          <a:prstGeom prst="rect">
            <a:avLst/>
          </a:prstGeom>
          <a:noFill/>
          <a:ln/>
        </p:spPr>
        <p:txBody>
          <a:bodyPr wrap="square" lIns="0" tIns="0" rIns="0" bIns="0" rtlCol="0" anchor="b"/>
          <a:lstStyle/>
          <a:p>
            <a:pPr indent="0" marL="0">
              <a:buNone/>
            </a:pPr>
            <a:r>
              <a:rPr lang="en-US" sz="3800" b="1" dirty="0">
                <a:solidFill>
                  <a:schemeClr val="accent3"/>
                </a:solidFill>
                <a:latin typeface="Cambria" pitchFamily="34" charset="0"/>
                <a:ea typeface="Cambria" pitchFamily="34" charset="-122"/>
                <a:cs typeface="Cambria" pitchFamily="34" charset="-120"/>
              </a:rPr>
              <a:t>62.7%</a:t>
            </a:r>
            <a:endParaRPr lang="en-US" sz="3800" dirty="0"/>
          </a:p>
        </p:txBody>
      </p:sp>
      <p:sp>
        <p:nvSpPr>
          <p:cNvPr id="15" name="Text 12"/>
          <p:cNvSpPr txBox="1"/>
          <p:nvPr/>
        </p:nvSpPr>
        <p:spPr>
          <a:xfrm>
            <a:off x="9646920" y="3593592"/>
            <a:ext cx="1828800" cy="502920"/>
          </a:xfrm>
          <a:prstGeom prst="rect">
            <a:avLst/>
          </a:prstGeom>
          <a:noFill/>
          <a:ln/>
        </p:spPr>
        <p:txBody>
          <a:bodyPr wrap="square" lIns="0" tIns="0" rIns="0" bIns="0" rtlCol="0" anchor="t"/>
          <a:lstStyle/>
          <a:p>
            <a:pPr indent="0" marL="0">
              <a:buNone/>
            </a:pPr>
            <a:r>
              <a:rPr lang="en-US" sz="1200" dirty="0">
                <a:solidFill>
                  <a:schemeClr val="accent6"/>
                </a:solidFill>
              </a:rPr>
              <a:t>of the TF-IDF variance kept</a:t>
            </a:r>
            <a:endParaRPr lang="en-US" sz="1200" dirty="0"/>
          </a:p>
        </p:txBody>
      </p:sp>
      <p:sp>
        <p:nvSpPr>
          <p:cNvPr id="16" name="svd card"/>
          <p:cNvSpPr/>
          <p:nvPr/>
        </p:nvSpPr>
        <p:spPr>
          <a:xfrm>
            <a:off x="7635240" y="4480560"/>
            <a:ext cx="3913632" cy="1737360"/>
          </a:xfrm>
          <a:prstGeom prst="roundRect">
            <a:avLst>
              <a:gd name="adj" fmla="val 421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7" name="Text 14"/>
          <p:cNvSpPr txBox="1"/>
          <p:nvPr/>
        </p:nvSpPr>
        <p:spPr>
          <a:xfrm>
            <a:off x="7818120" y="4572000"/>
            <a:ext cx="3566160" cy="292608"/>
          </a:xfrm>
          <a:prstGeom prst="rect">
            <a:avLst/>
          </a:prstGeom>
          <a:noFill/>
          <a:ln/>
        </p:spPr>
        <p:txBody>
          <a:bodyPr wrap="square" lIns="0" tIns="0" rIns="0" bIns="0" rtlCol="0" anchor="ctr"/>
          <a:lstStyle/>
          <a:p>
            <a:pPr indent="0" marL="0">
              <a:buNone/>
            </a:pPr>
            <a:r>
              <a:rPr lang="en-US" sz="1400" b="1" dirty="0">
                <a:solidFill>
                  <a:schemeClr val="tx2"/>
                </a:solidFill>
              </a:rPr>
              <a:t>Does each group help? (test PR-AUC)</a:t>
            </a:r>
            <a:endParaRPr lang="en-US" sz="1400" dirty="0"/>
          </a:p>
        </p:txBody>
      </p:sp>
      <p:sp>
        <p:nvSpPr>
          <p:cNvPr id="18" name="Text 15"/>
          <p:cNvSpPr txBox="1"/>
          <p:nvPr/>
        </p:nvSpPr>
        <p:spPr>
          <a:xfrm>
            <a:off x="7818120" y="4919472"/>
            <a:ext cx="3566160" cy="12344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rPr>
              <a:t>Text alone: </a:t>
            </a:r>
            <a:pPr indent="0" marL="0">
              <a:spcAft>
                <a:spcPts val="400"/>
              </a:spcAft>
              <a:buNone/>
            </a:pPr>
            <a:r>
              <a:rPr lang="en-US" sz="1400" dirty="0">
                <a:solidFill>
                  <a:srgbClr val="000000"/>
                </a:solidFill>
              </a:rPr>
              <a:t>0.85</a:t>
            </a:r>
            <a:endParaRPr lang="en-US" sz="1400" dirty="0"/>
          </a:p>
          <a:p>
            <a:pPr indent="0" marL="0">
              <a:spcAft>
                <a:spcPts val="400"/>
              </a:spcAft>
              <a:buNone/>
            </a:pPr>
            <a:r>
              <a:rPr lang="en-US" sz="1400" b="1" dirty="0">
                <a:solidFill>
                  <a:srgbClr val="000000"/>
                </a:solidFill>
              </a:rPr>
              <a:t>Sentiment alone: </a:t>
            </a:r>
            <a:pPr indent="0" marL="0">
              <a:spcAft>
                <a:spcPts val="400"/>
              </a:spcAft>
              <a:buNone/>
            </a:pPr>
            <a:r>
              <a:rPr lang="en-US" sz="1400" dirty="0">
                <a:solidFill>
                  <a:srgbClr val="000000"/>
                </a:solidFill>
              </a:rPr>
              <a:t>0.74 to 0.80</a:t>
            </a:r>
            <a:endParaRPr lang="en-US" sz="1400" dirty="0"/>
          </a:p>
          <a:p>
            <a:pPr indent="0" marL="0">
              <a:spcAft>
                <a:spcPts val="400"/>
              </a:spcAft>
              <a:buNone/>
            </a:pPr>
            <a:r>
              <a:rPr lang="en-US" sz="1400" b="1" dirty="0">
                <a:solidFill>
                  <a:srgbClr val="000000"/>
                </a:solidFill>
              </a:rPr>
              <a:t>All 215 features: </a:t>
            </a:r>
            <a:pPr indent="0" marL="0">
              <a:spcAft>
                <a:spcPts val="400"/>
              </a:spcAft>
              <a:buNone/>
            </a:pPr>
            <a:r>
              <a:rPr lang="en-US" sz="1400" dirty="0">
                <a:solidFill>
                  <a:srgbClr val="000000"/>
                </a:solidFill>
              </a:rPr>
              <a:t>0.871 and 0.873</a:t>
            </a:r>
            <a:endParaRPr lang="en-US" sz="14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6  |  PREDICTIVE MODEL DEVELOPMENT</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Model Development: Task, Models and Data Split</a:t>
            </a:r>
            <a:endParaRPr lang="en-US" sz="2800" dirty="0"/>
          </a:p>
        </p:txBody>
      </p:sp>
      <p:sp>
        <p:nvSpPr>
          <p:cNvPr id="5" name="Text 2"/>
          <p:cNvSpPr txBox="1"/>
          <p:nvPr/>
        </p:nvSpPr>
        <p:spPr>
          <a:xfrm>
            <a:off x="640080" y="1371600"/>
            <a:ext cx="10908792" cy="548640"/>
          </a:xfrm>
          <a:prstGeom prst="rect">
            <a:avLst/>
          </a:prstGeom>
          <a:noFill/>
          <a:ln/>
        </p:spPr>
        <p:txBody>
          <a:bodyPr wrap="square" lIns="0" tIns="0" rIns="0" bIns="0" rtlCol="0" anchor="t"/>
          <a:lstStyle/>
          <a:p>
            <a:pPr indent="0" marL="0">
              <a:buNone/>
            </a:pPr>
            <a:r>
              <a:rPr lang="en-US" sz="1600" dirty="0">
                <a:solidFill>
                  <a:schemeClr val="tx1"/>
                </a:solidFill>
              </a:rPr>
              <a:t>Prediction task: binary classification of is_problematic (rated 1 or 2 stars). Regression metrics (R2, MAE, MSE, RMSE) do not apply.</a:t>
            </a:r>
            <a:endParaRPr lang="en-US" sz="1600" dirty="0"/>
          </a:p>
        </p:txBody>
      </p:sp>
      <p:sp>
        <p:nvSpPr>
          <p:cNvPr id="6" name="model 1"/>
          <p:cNvSpPr/>
          <p:nvPr/>
        </p:nvSpPr>
        <p:spPr>
          <a:xfrm>
            <a:off x="640080" y="2057400"/>
            <a:ext cx="3538728" cy="1600200"/>
          </a:xfrm>
          <a:prstGeom prst="roundRect">
            <a:avLst>
              <a:gd name="adj" fmla="val 457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Shape 4"/>
          <p:cNvSpPr/>
          <p:nvPr/>
        </p:nvSpPr>
        <p:spPr>
          <a:xfrm>
            <a:off x="822960" y="2194560"/>
            <a:ext cx="256032" cy="256032"/>
          </a:xfrm>
          <a:prstGeom prst="ellipse">
            <a:avLst/>
          </a:prstGeom>
          <a:solidFill>
            <a:srgbClr val="48677E"/>
          </a:solidFill>
          <a:ln w="12700">
            <a:solidFill>
              <a:srgbClr val="48677E"/>
            </a:solidFill>
            <a:prstDash val="solid"/>
          </a:ln>
        </p:spPr>
      </p:sp>
      <p:sp>
        <p:nvSpPr>
          <p:cNvPr id="8" name="Text 5"/>
          <p:cNvSpPr txBox="1"/>
          <p:nvPr/>
        </p:nvSpPr>
        <p:spPr>
          <a:xfrm>
            <a:off x="1170432" y="2148840"/>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Baseline</a:t>
            </a:r>
            <a:endParaRPr lang="en-US" sz="1700" dirty="0"/>
          </a:p>
        </p:txBody>
      </p:sp>
      <p:sp>
        <p:nvSpPr>
          <p:cNvPr id="9" name="Text 6"/>
          <p:cNvSpPr txBox="1"/>
          <p:nvPr/>
        </p:nvSpPr>
        <p:spPr>
          <a:xfrm>
            <a:off x="822960" y="2606040"/>
            <a:ext cx="3200400" cy="1005840"/>
          </a:xfrm>
          <a:prstGeom prst="rect">
            <a:avLst/>
          </a:prstGeom>
          <a:noFill/>
          <a:ln/>
        </p:spPr>
        <p:txBody>
          <a:bodyPr wrap="square" lIns="0" tIns="0" rIns="0" bIns="0" rtlCol="0" anchor="t"/>
          <a:lstStyle/>
          <a:p>
            <a:pPr indent="0" marL="0">
              <a:buNone/>
            </a:pPr>
            <a:r>
              <a:rPr lang="en-US" sz="1400" dirty="0">
                <a:solidFill>
                  <a:schemeClr val="tx1"/>
                </a:solidFill>
              </a:rPr>
              <a:t>Always predicts "not problematic". Accuracy 80.5% but it finds no complaints.</a:t>
            </a:r>
            <a:endParaRPr lang="en-US" sz="1400" dirty="0"/>
          </a:p>
        </p:txBody>
      </p:sp>
      <p:sp>
        <p:nvSpPr>
          <p:cNvPr id="10" name="model 2"/>
          <p:cNvSpPr/>
          <p:nvPr/>
        </p:nvSpPr>
        <p:spPr>
          <a:xfrm>
            <a:off x="4315968" y="2057400"/>
            <a:ext cx="3538728" cy="1600200"/>
          </a:xfrm>
          <a:prstGeom prst="roundRect">
            <a:avLst>
              <a:gd name="adj" fmla="val 457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Shape 8"/>
          <p:cNvSpPr/>
          <p:nvPr/>
        </p:nvSpPr>
        <p:spPr>
          <a:xfrm>
            <a:off x="4498848" y="2194560"/>
            <a:ext cx="256032" cy="256032"/>
          </a:xfrm>
          <a:prstGeom prst="ellipse">
            <a:avLst/>
          </a:prstGeom>
          <a:solidFill>
            <a:srgbClr val="2A78D6"/>
          </a:solidFill>
          <a:ln w="12700">
            <a:solidFill>
              <a:srgbClr val="2A78D6"/>
            </a:solidFill>
            <a:prstDash val="solid"/>
          </a:ln>
        </p:spPr>
      </p:sp>
      <p:sp>
        <p:nvSpPr>
          <p:cNvPr id="12" name="Text 9"/>
          <p:cNvSpPr txBox="1"/>
          <p:nvPr/>
        </p:nvSpPr>
        <p:spPr>
          <a:xfrm>
            <a:off x="4846320" y="2148840"/>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Logistic Regression</a:t>
            </a:r>
            <a:endParaRPr lang="en-US" sz="1700" dirty="0"/>
          </a:p>
        </p:txBody>
      </p:sp>
      <p:sp>
        <p:nvSpPr>
          <p:cNvPr id="13" name="Text 10"/>
          <p:cNvSpPr txBox="1"/>
          <p:nvPr/>
        </p:nvSpPr>
        <p:spPr>
          <a:xfrm>
            <a:off x="4498848" y="2606040"/>
            <a:ext cx="3200400" cy="1005840"/>
          </a:xfrm>
          <a:prstGeom prst="rect">
            <a:avLst/>
          </a:prstGeom>
          <a:noFill/>
          <a:ln/>
        </p:spPr>
        <p:txBody>
          <a:bodyPr wrap="square" lIns="0" tIns="0" rIns="0" bIns="0" rtlCol="0" anchor="t"/>
          <a:lstStyle/>
          <a:p>
            <a:pPr indent="0" marL="0">
              <a:buNone/>
            </a:pPr>
            <a:r>
              <a:rPr lang="en-US" sz="1400" dirty="0">
                <a:solidFill>
                  <a:schemeClr val="tx1"/>
                </a:solidFill>
              </a:rPr>
              <a:t>A fast, interpretable linear model; the coefficients show the direction of each feature.</a:t>
            </a:r>
            <a:endParaRPr lang="en-US" sz="1400" dirty="0"/>
          </a:p>
        </p:txBody>
      </p:sp>
      <p:sp>
        <p:nvSpPr>
          <p:cNvPr id="14" name="model 3"/>
          <p:cNvSpPr/>
          <p:nvPr/>
        </p:nvSpPr>
        <p:spPr>
          <a:xfrm>
            <a:off x="7991856" y="2057400"/>
            <a:ext cx="3538728" cy="1600200"/>
          </a:xfrm>
          <a:prstGeom prst="roundRect">
            <a:avLst>
              <a:gd name="adj" fmla="val 457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5" name="Shape 12"/>
          <p:cNvSpPr/>
          <p:nvPr/>
        </p:nvSpPr>
        <p:spPr>
          <a:xfrm>
            <a:off x="8174736" y="2194560"/>
            <a:ext cx="256032" cy="256032"/>
          </a:xfrm>
          <a:prstGeom prst="ellipse">
            <a:avLst/>
          </a:prstGeom>
          <a:solidFill>
            <a:srgbClr val="EB6834"/>
          </a:solidFill>
          <a:ln w="12700">
            <a:solidFill>
              <a:srgbClr val="EB6834"/>
            </a:solidFill>
            <a:prstDash val="solid"/>
          </a:ln>
        </p:spPr>
      </p:sp>
      <p:sp>
        <p:nvSpPr>
          <p:cNvPr id="16" name="Text 13"/>
          <p:cNvSpPr txBox="1"/>
          <p:nvPr/>
        </p:nvSpPr>
        <p:spPr>
          <a:xfrm>
            <a:off x="8522208" y="2148840"/>
            <a:ext cx="2834640" cy="365760"/>
          </a:xfrm>
          <a:prstGeom prst="rect">
            <a:avLst/>
          </a:prstGeom>
          <a:noFill/>
          <a:ln/>
        </p:spPr>
        <p:txBody>
          <a:bodyPr wrap="square" lIns="0" tIns="0" rIns="0" bIns="0" rtlCol="0" anchor="ctr"/>
          <a:lstStyle/>
          <a:p>
            <a:pPr indent="0" marL="0">
              <a:buNone/>
            </a:pPr>
            <a:r>
              <a:rPr lang="en-US" sz="1700" b="1" dirty="0">
                <a:solidFill>
                  <a:schemeClr val="tx2"/>
                </a:solidFill>
              </a:rPr>
              <a:t>Random Forest</a:t>
            </a:r>
            <a:endParaRPr lang="en-US" sz="1700" dirty="0"/>
          </a:p>
        </p:txBody>
      </p:sp>
      <p:sp>
        <p:nvSpPr>
          <p:cNvPr id="17" name="Text 14"/>
          <p:cNvSpPr txBox="1"/>
          <p:nvPr/>
        </p:nvSpPr>
        <p:spPr>
          <a:xfrm>
            <a:off x="8174736" y="2606040"/>
            <a:ext cx="3200400" cy="1005840"/>
          </a:xfrm>
          <a:prstGeom prst="rect">
            <a:avLst/>
          </a:prstGeom>
          <a:noFill/>
          <a:ln/>
        </p:spPr>
        <p:txBody>
          <a:bodyPr wrap="square" lIns="0" tIns="0" rIns="0" bIns="0" rtlCol="0" anchor="t"/>
          <a:lstStyle/>
          <a:p>
            <a:pPr indent="0" marL="0">
              <a:buNone/>
            </a:pPr>
            <a:r>
              <a:rPr lang="en-US" sz="1400" dirty="0">
                <a:solidFill>
                  <a:schemeClr val="tx1"/>
                </a:solidFill>
              </a:rPr>
              <a:t>150 trees that learn non-linear patterns and give feature importance.</a:t>
            </a:r>
            <a:endParaRPr lang="en-US" sz="1400" dirty="0"/>
          </a:p>
        </p:txBody>
      </p:sp>
      <p:sp>
        <p:nvSpPr>
          <p:cNvPr id="18" name="Text 15"/>
          <p:cNvSpPr txBox="1"/>
          <p:nvPr/>
        </p:nvSpPr>
        <p:spPr>
          <a:xfrm>
            <a:off x="640080" y="3749040"/>
            <a:ext cx="10908792" cy="868680"/>
          </a:xfrm>
          <a:prstGeom prst="rect">
            <a:avLst/>
          </a:prstGeom>
          <a:noFill/>
          <a:ln/>
        </p:spPr>
        <p:txBody>
          <a:bodyPr wrap="square" lIns="0" tIns="0" rIns="0" bIns="0" rtlCol="0" anchor="t"/>
          <a:lstStyle/>
          <a:p>
            <a:pPr indent="0" marL="0">
              <a:buNone/>
            </a:pPr>
            <a:r>
              <a:rPr lang="en-US" sz="1400" dirty="0">
                <a:solidFill>
                  <a:schemeClr val="tx1"/>
                </a:solidFill>
              </a:rPr>
              <a:t>Both models use class_weight = balanced (only 19.5% of reviews are problems). Settings: Logistic Regression C = 1, max_iter 1000; Random Forest 150 trees, each on 30% of the rows, at least 100 reviews per leaf (9.8 MB). One setting per model was checked on a validation split of the training data, never the test set (C = 1 is best; 25 reviews per leaf adds only 0.004 PR-AUC at 2.8x the size).</a:t>
            </a:r>
            <a:endParaRPr lang="en-US" sz="1400" dirty="0"/>
          </a:p>
        </p:txBody>
      </p:sp>
      <p:sp>
        <p:nvSpPr>
          <p:cNvPr id="19" name="Text 16"/>
          <p:cNvSpPr txBox="1"/>
          <p:nvPr/>
        </p:nvSpPr>
        <p:spPr>
          <a:xfrm>
            <a:off x="640080" y="4663440"/>
            <a:ext cx="2743200" cy="320040"/>
          </a:xfrm>
          <a:prstGeom prst="rect">
            <a:avLst/>
          </a:prstGeom>
          <a:noFill/>
          <a:ln/>
        </p:spPr>
        <p:txBody>
          <a:bodyPr wrap="square" lIns="0" tIns="0" rIns="0" bIns="0" rtlCol="0" anchor="ctr"/>
          <a:lstStyle/>
          <a:p>
            <a:pPr indent="0" marL="0">
              <a:buNone/>
            </a:pPr>
            <a:r>
              <a:rPr lang="en-US" sz="1600" b="1" dirty="0">
                <a:solidFill>
                  <a:schemeClr val="tx2"/>
                </a:solidFill>
              </a:rPr>
              <a:t>Data split</a:t>
            </a:r>
            <a:endParaRPr lang="en-US" sz="1600" dirty="0"/>
          </a:p>
        </p:txBody>
      </p:sp>
      <p:sp>
        <p:nvSpPr>
          <p:cNvPr id="20" name="Text 17"/>
          <p:cNvSpPr txBox="1"/>
          <p:nvPr/>
        </p:nvSpPr>
        <p:spPr>
          <a:xfrm>
            <a:off x="640080" y="5029200"/>
            <a:ext cx="2057400" cy="502920"/>
          </a:xfrm>
          <a:prstGeom prst="rect">
            <a:avLst/>
          </a:prstGeom>
          <a:noFill/>
          <a:ln/>
        </p:spPr>
        <p:txBody>
          <a:bodyPr wrap="square" lIns="0" tIns="0" rIns="0" bIns="0" rtlCol="0" anchor="ctr"/>
          <a:lstStyle/>
          <a:p>
            <a:pPr indent="0" marL="0">
              <a:buNone/>
            </a:pPr>
            <a:r>
              <a:rPr lang="en-US" sz="1200" dirty="0">
                <a:solidFill>
                  <a:schemeClr val="tx1"/>
                </a:solidFill>
              </a:rPr>
              <a:t>Random split (stratified, random state 42)</a:t>
            </a:r>
            <a:endParaRPr lang="en-US" sz="1200" dirty="0"/>
          </a:p>
        </p:txBody>
      </p:sp>
      <p:sp>
        <p:nvSpPr>
          <p:cNvPr id="21" name="Shape 18"/>
          <p:cNvSpPr/>
          <p:nvPr/>
        </p:nvSpPr>
        <p:spPr>
          <a:xfrm>
            <a:off x="2743200" y="5074920"/>
            <a:ext cx="7044538" cy="457200"/>
          </a:xfrm>
          <a:prstGeom prst="roundRect">
            <a:avLst>
              <a:gd name="adj" fmla="val 20000"/>
            </a:avLst>
          </a:prstGeom>
          <a:solidFill>
            <a:srgbClr val="132C43"/>
          </a:solidFill>
          <a:ln w="12700">
            <a:solidFill>
              <a:srgbClr val="132C43"/>
            </a:solidFill>
            <a:prstDash val="solid"/>
          </a:ln>
        </p:spPr>
      </p:sp>
      <p:sp>
        <p:nvSpPr>
          <p:cNvPr id="22" name="Text 19"/>
          <p:cNvSpPr txBox="1"/>
          <p:nvPr/>
        </p:nvSpPr>
        <p:spPr>
          <a:xfrm>
            <a:off x="2743200" y="5074920"/>
            <a:ext cx="7044538" cy="457200"/>
          </a:xfrm>
          <a:prstGeom prst="rect">
            <a:avLst/>
          </a:prstGeom>
          <a:noFill/>
          <a:ln/>
        </p:spPr>
        <p:txBody>
          <a:bodyPr wrap="square" lIns="508" tIns="508" rIns="508" bIns="508" rtlCol="0" anchor="ctr"/>
          <a:lstStyle/>
          <a:p>
            <a:pPr algn="ctr" indent="0" marL="0">
              <a:buNone/>
            </a:pPr>
            <a:r>
              <a:rPr lang="en-US" sz="1400" b="1" dirty="0">
                <a:solidFill>
                  <a:schemeClr val="bg1"/>
                </a:solidFill>
              </a:rPr>
              <a:t>Train 80%: 910,389 reviews</a:t>
            </a:r>
            <a:endParaRPr lang="en-US" sz="1400" dirty="0"/>
          </a:p>
        </p:txBody>
      </p:sp>
      <p:sp>
        <p:nvSpPr>
          <p:cNvPr id="23" name="Shape 20"/>
          <p:cNvSpPr/>
          <p:nvPr/>
        </p:nvSpPr>
        <p:spPr>
          <a:xfrm>
            <a:off x="9824314" y="5074920"/>
            <a:ext cx="1724558" cy="457200"/>
          </a:xfrm>
          <a:prstGeom prst="roundRect">
            <a:avLst>
              <a:gd name="adj" fmla="val 20000"/>
            </a:avLst>
          </a:prstGeom>
          <a:solidFill>
            <a:srgbClr val="EB6834"/>
          </a:solidFill>
          <a:ln w="12700">
            <a:solidFill>
              <a:srgbClr val="EB6834"/>
            </a:solidFill>
            <a:prstDash val="solid"/>
          </a:ln>
        </p:spPr>
      </p:sp>
      <p:sp>
        <p:nvSpPr>
          <p:cNvPr id="24" name="Text 21"/>
          <p:cNvSpPr txBox="1"/>
          <p:nvPr/>
        </p:nvSpPr>
        <p:spPr>
          <a:xfrm>
            <a:off x="9824314" y="5074920"/>
            <a:ext cx="1724558" cy="457200"/>
          </a:xfrm>
          <a:prstGeom prst="rect">
            <a:avLst/>
          </a:prstGeom>
          <a:noFill/>
          <a:ln/>
        </p:spPr>
        <p:txBody>
          <a:bodyPr wrap="square" lIns="508" tIns="508" rIns="508" bIns="508" rtlCol="0" anchor="ctr"/>
          <a:lstStyle/>
          <a:p>
            <a:pPr algn="ctr" indent="0" marL="0">
              <a:buNone/>
            </a:pPr>
            <a:r>
              <a:rPr lang="en-US" sz="1300" b="1" dirty="0">
                <a:solidFill>
                  <a:schemeClr val="bg1"/>
                </a:solidFill>
              </a:rPr>
              <a:t>Test 20%: 227,598</a:t>
            </a:r>
            <a:endParaRPr lang="en-US" sz="1300" dirty="0"/>
          </a:p>
        </p:txBody>
      </p:sp>
      <p:sp>
        <p:nvSpPr>
          <p:cNvPr id="25" name="Text 22"/>
          <p:cNvSpPr txBox="1"/>
          <p:nvPr/>
        </p:nvSpPr>
        <p:spPr>
          <a:xfrm>
            <a:off x="640080" y="5715000"/>
            <a:ext cx="2057400" cy="502920"/>
          </a:xfrm>
          <a:prstGeom prst="rect">
            <a:avLst/>
          </a:prstGeom>
          <a:noFill/>
          <a:ln/>
        </p:spPr>
        <p:txBody>
          <a:bodyPr wrap="square" lIns="0" tIns="0" rIns="0" bIns="0" rtlCol="0" anchor="ctr"/>
          <a:lstStyle/>
          <a:p>
            <a:pPr indent="0" marL="0">
              <a:buNone/>
            </a:pPr>
            <a:r>
              <a:rPr lang="en-US" sz="1200" dirty="0">
                <a:solidFill>
                  <a:schemeClr val="tx1"/>
                </a:solidFill>
              </a:rPr>
              <a:t>Out-of-time test</a:t>
            </a:r>
            <a:endParaRPr lang="en-US" sz="1200" dirty="0"/>
          </a:p>
        </p:txBody>
      </p:sp>
      <p:sp>
        <p:nvSpPr>
          <p:cNvPr id="26" name="Shape 23"/>
          <p:cNvSpPr/>
          <p:nvPr/>
        </p:nvSpPr>
        <p:spPr>
          <a:xfrm>
            <a:off x="2743200" y="5760720"/>
            <a:ext cx="7788765" cy="457200"/>
          </a:xfrm>
          <a:prstGeom prst="roundRect">
            <a:avLst>
              <a:gd name="adj" fmla="val 20000"/>
            </a:avLst>
          </a:prstGeom>
          <a:solidFill>
            <a:srgbClr val="48677E"/>
          </a:solidFill>
          <a:ln w="12700">
            <a:solidFill>
              <a:srgbClr val="48677E"/>
            </a:solidFill>
            <a:prstDash val="solid"/>
          </a:ln>
        </p:spPr>
      </p:sp>
      <p:sp>
        <p:nvSpPr>
          <p:cNvPr id="27" name="Text 24"/>
          <p:cNvSpPr txBox="1"/>
          <p:nvPr/>
        </p:nvSpPr>
        <p:spPr>
          <a:xfrm>
            <a:off x="2743200" y="5760720"/>
            <a:ext cx="7788765" cy="457200"/>
          </a:xfrm>
          <a:prstGeom prst="rect">
            <a:avLst/>
          </a:prstGeom>
          <a:noFill/>
          <a:ln/>
        </p:spPr>
        <p:txBody>
          <a:bodyPr wrap="square" lIns="508" tIns="508" rIns="508" bIns="508" rtlCol="0" anchor="ctr"/>
          <a:lstStyle/>
          <a:p>
            <a:pPr algn="ctr" indent="0" marL="0">
              <a:buNone/>
            </a:pPr>
            <a:r>
              <a:rPr lang="en-US" sz="1400" b="1" dirty="0">
                <a:solidFill>
                  <a:schemeClr val="bg1"/>
                </a:solidFill>
              </a:rPr>
              <a:t>Train April to August: 1,008,932</a:t>
            </a:r>
            <a:endParaRPr lang="en-US" sz="1400" dirty="0"/>
          </a:p>
        </p:txBody>
      </p:sp>
      <p:sp>
        <p:nvSpPr>
          <p:cNvPr id="28" name="Shape 25"/>
          <p:cNvSpPr/>
          <p:nvPr/>
        </p:nvSpPr>
        <p:spPr>
          <a:xfrm>
            <a:off x="10568541" y="5760720"/>
            <a:ext cx="980331" cy="457200"/>
          </a:xfrm>
          <a:prstGeom prst="roundRect">
            <a:avLst>
              <a:gd name="adj" fmla="val 20000"/>
            </a:avLst>
          </a:prstGeom>
          <a:solidFill>
            <a:srgbClr val="EB6834"/>
          </a:solidFill>
          <a:ln w="12700">
            <a:solidFill>
              <a:srgbClr val="EB6834"/>
            </a:solidFill>
            <a:prstDash val="solid"/>
          </a:ln>
        </p:spPr>
      </p:sp>
      <p:sp>
        <p:nvSpPr>
          <p:cNvPr id="29" name="Text 26"/>
          <p:cNvSpPr txBox="1"/>
          <p:nvPr/>
        </p:nvSpPr>
        <p:spPr>
          <a:xfrm>
            <a:off x="10568541" y="5760720"/>
            <a:ext cx="980331" cy="457200"/>
          </a:xfrm>
          <a:prstGeom prst="rect">
            <a:avLst/>
          </a:prstGeom>
          <a:noFill/>
          <a:ln/>
        </p:spPr>
        <p:txBody>
          <a:bodyPr wrap="square" lIns="508" tIns="508" rIns="508" bIns="508" rtlCol="0" anchor="ctr"/>
          <a:lstStyle/>
          <a:p>
            <a:pPr algn="ctr" indent="0" marL="0">
              <a:buNone/>
            </a:pPr>
            <a:r>
              <a:rPr lang="en-US" sz="1200" b="1" dirty="0">
                <a:solidFill>
                  <a:schemeClr val="bg1"/>
                </a:solidFill>
              </a:rPr>
              <a:t>1-20 Sep: 129,055</a:t>
            </a:r>
            <a:endParaRPr lang="en-US" sz="12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7  |  MODEL EVALUATION AND RESULT INTERPRETATION (1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Model Evaluation: Results on the Test Set</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08792" cy="914400"/>
        </p:xfrm>
        <a:graphic>
          <a:graphicData uri="http://schemas.openxmlformats.org/drawingml/2006/table">
            <a:tbl>
              <a:tblPr/>
              <a:tblGrid>
                <a:gridCol w="3383280"/>
                <a:gridCol w="1252728"/>
                <a:gridCol w="1252728"/>
                <a:gridCol w="1252728"/>
                <a:gridCol w="1252728"/>
                <a:gridCol w="1252728"/>
                <a:gridCol w="1280160"/>
              </a:tblGrid>
              <a:tr h="566928">
                <a:tc>
                  <a:txBody>
                    <a:bodyPr/>
                    <a:lstStyle/>
                    <a:p>
                      <a:pPr algn="l" indent="0" marL="0">
                        <a:buNone/>
                      </a:pPr>
                      <a:r>
                        <a:rPr lang="en-US" sz="1600" b="1" dirty="0">
                          <a:solidFill>
                            <a:schemeClr val="bg1"/>
                          </a:solidFill>
                        </a:rPr>
                        <a:t>Model (test set, 227,598 reviews)</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600" b="1" dirty="0">
                          <a:solidFill>
                            <a:schemeClr val="bg1"/>
                          </a:solidFill>
                        </a:rPr>
                        <a:t>Accuracy</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600" b="1" dirty="0">
                          <a:solidFill>
                            <a:schemeClr val="bg1"/>
                          </a:solidFill>
                        </a:rPr>
                        <a:t>Precision</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600" b="1" dirty="0">
                          <a:solidFill>
                            <a:schemeClr val="bg1"/>
                          </a:solidFill>
                        </a:rPr>
                        <a:t>Recall</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600" b="1" dirty="0">
                          <a:solidFill>
                            <a:schemeClr val="bg1"/>
                          </a:solidFill>
                        </a:rPr>
                        <a:t>F1</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600" b="1" dirty="0">
                          <a:solidFill>
                            <a:schemeClr val="bg1"/>
                          </a:solidFill>
                        </a:rPr>
                        <a:t>ROC-AUC</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600" b="1" dirty="0">
                          <a:solidFill>
                            <a:schemeClr val="bg1"/>
                          </a:solidFill>
                        </a:rPr>
                        <a:t>PR-AUC</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r>
              <a:tr h="566928">
                <a:tc>
                  <a:txBody>
                    <a:bodyPr/>
                    <a:lstStyle/>
                    <a:p>
                      <a:pPr algn="l" indent="0" marL="0">
                        <a:buNone/>
                      </a:pPr>
                      <a:r>
                        <a:rPr lang="en-US" sz="1600" dirty="0">
                          <a:solidFill>
                            <a:schemeClr val="tx1"/>
                          </a:solidFill>
                        </a:rPr>
                        <a:t>Majority-class baseline</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0.805</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0.000</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0.000</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0.000</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0.500</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0.195</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566928">
                <a:tc>
                  <a:txBody>
                    <a:bodyPr/>
                    <a:lstStyle/>
                    <a:p>
                      <a:pPr algn="l" indent="0" marL="0">
                        <a:buNone/>
                      </a:pPr>
                      <a:r>
                        <a:rPr lang="en-US" sz="1600" dirty="0">
                          <a:solidFill>
                            <a:schemeClr val="tx1"/>
                          </a:solidFill>
                        </a:rPr>
                        <a:t>Logistic Regression</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600" b="1" dirty="0">
                          <a:solidFill>
                            <a:schemeClr val="accent1"/>
                          </a:solidFill>
                        </a:rPr>
                        <a:t>0.922</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600" b="1" dirty="0">
                          <a:solidFill>
                            <a:schemeClr val="accent1"/>
                          </a:solidFill>
                        </a:rPr>
                        <a:t>0.767</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600" dirty="0">
                          <a:solidFill>
                            <a:schemeClr val="tx1"/>
                          </a:solidFill>
                        </a:rPr>
                        <a:t>0.858</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600" b="1" dirty="0">
                          <a:solidFill>
                            <a:schemeClr val="accent1"/>
                          </a:solidFill>
                        </a:rPr>
                        <a:t>0.810</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600" dirty="0">
                          <a:solidFill>
                            <a:schemeClr val="tx1"/>
                          </a:solidFill>
                        </a:rPr>
                        <a:t>0.940</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600" dirty="0">
                          <a:solidFill>
                            <a:schemeClr val="tx1"/>
                          </a:solidFill>
                        </a:rPr>
                        <a:t>0.871</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566928">
                <a:tc>
                  <a:txBody>
                    <a:bodyPr/>
                    <a:lstStyle/>
                    <a:p>
                      <a:pPr algn="l" indent="0" marL="0">
                        <a:buNone/>
                      </a:pPr>
                      <a:r>
                        <a:rPr lang="en-US" sz="1600" dirty="0">
                          <a:solidFill>
                            <a:schemeClr val="tx1"/>
                          </a:solidFill>
                        </a:rPr>
                        <a:t>Random Forest</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0.914</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0.737</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b="1" dirty="0">
                          <a:solidFill>
                            <a:schemeClr val="accent1"/>
                          </a:solidFill>
                        </a:rPr>
                        <a:t>0.870</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dirty="0">
                          <a:solidFill>
                            <a:schemeClr val="tx1"/>
                          </a:solidFill>
                        </a:rPr>
                        <a:t>0.798</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b="1" dirty="0">
                          <a:solidFill>
                            <a:schemeClr val="accent1"/>
                          </a:solidFill>
                        </a:rPr>
                        <a:t>0.941</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600" b="1" dirty="0">
                          <a:solidFill>
                            <a:schemeClr val="accent1"/>
                          </a:solidFill>
                        </a:rPr>
                        <a:t>0.873</a:t>
                      </a:r>
                      <a:endParaRPr lang="en-US" sz="16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640080" y="3840480"/>
            <a:ext cx="10908792" cy="320040"/>
          </a:xfrm>
          <a:prstGeom prst="rect">
            <a:avLst/>
          </a:prstGeom>
          <a:noFill/>
          <a:ln/>
        </p:spPr>
        <p:txBody>
          <a:bodyPr wrap="square" lIns="0" tIns="0" rIns="0" bIns="0" rtlCol="0" anchor="ctr"/>
          <a:lstStyle/>
          <a:p>
            <a:pPr indent="0" marL="0">
              <a:buNone/>
            </a:pPr>
            <a:r>
              <a:rPr lang="en-US" sz="1200" dirty="0">
                <a:solidFill>
                  <a:schemeClr val="accent6"/>
                </a:solidFill>
              </a:rPr>
              <a:t>Blue = better of the two models. R2, MAE, MSE and RMSE are regression metrics and do not apply to this classification task.</a:t>
            </a:r>
            <a:endParaRPr lang="en-US" sz="1200" dirty="0"/>
          </a:p>
        </p:txBody>
      </p:sp>
      <p:sp>
        <p:nvSpPr>
          <p:cNvPr id="7" name="Text 3"/>
          <p:cNvSpPr txBox="1"/>
          <p:nvPr/>
        </p:nvSpPr>
        <p:spPr>
          <a:xfrm>
            <a:off x="640080" y="4297680"/>
            <a:ext cx="6400800" cy="292608"/>
          </a:xfrm>
          <a:prstGeom prst="rect">
            <a:avLst/>
          </a:prstGeom>
          <a:noFill/>
          <a:ln/>
        </p:spPr>
        <p:txBody>
          <a:bodyPr wrap="square" lIns="0" tIns="0" rIns="0" bIns="0" rtlCol="0" anchor="ctr"/>
          <a:lstStyle/>
          <a:p>
            <a:pPr indent="0" marL="0">
              <a:buNone/>
            </a:pPr>
            <a:r>
              <a:rPr lang="en-US" sz="1400" b="1" dirty="0">
                <a:solidFill>
                  <a:schemeClr val="tx2"/>
                </a:solidFill>
              </a:rPr>
              <a:t>Confusion matrix counts (test set)</a:t>
            </a:r>
            <a:endParaRPr lang="en-US" sz="14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40080" y="4645152"/>
          <a:ext cx="6949440" cy="914400"/>
        </p:xfrm>
        <a:graphic>
          <a:graphicData uri="http://schemas.openxmlformats.org/drawingml/2006/table">
            <a:tbl>
              <a:tblPr/>
              <a:tblGrid>
                <a:gridCol w="2011680"/>
                <a:gridCol w="1234440"/>
                <a:gridCol w="1234440"/>
                <a:gridCol w="1234440"/>
                <a:gridCol w="1234440"/>
              </a:tblGrid>
              <a:tr h="384048">
                <a:tc>
                  <a:txBody>
                    <a:bodyPr/>
                    <a:lstStyle/>
                    <a:p>
                      <a:pPr algn="l" indent="0" marL="0">
                        <a:buNone/>
                      </a:pPr>
                      <a:r>
                        <a:rPr lang="en-US" sz="1300" b="1" dirty="0">
                          <a:solidFill>
                            <a:schemeClr val="bg1"/>
                          </a:solidFill>
                        </a:rPr>
                        <a:t>Model</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True negative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False positive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False negative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True positive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r>
              <a:tr h="384048">
                <a:tc>
                  <a:txBody>
                    <a:bodyPr/>
                    <a:lstStyle/>
                    <a:p>
                      <a:pPr algn="l" indent="0" marL="0">
                        <a:buNone/>
                      </a:pPr>
                      <a:r>
                        <a:rPr lang="en-US" sz="1300" dirty="0">
                          <a:solidFill>
                            <a:schemeClr val="tx1"/>
                          </a:solidFill>
                        </a:rPr>
                        <a:t>Logistic Regression</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rPr>
                        <a:t>171,744</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rPr>
                        <a:t>11,538</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rPr>
                        <a:t>6,297</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r" indent="0" marL="0">
                        <a:buNone/>
                      </a:pPr>
                      <a:r>
                        <a:rPr lang="en-US" sz="1300" dirty="0">
                          <a:solidFill>
                            <a:schemeClr val="tx1"/>
                          </a:solidFill>
                        </a:rPr>
                        <a:t>38,019</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384048">
                <a:tc>
                  <a:txBody>
                    <a:bodyPr/>
                    <a:lstStyle/>
                    <a:p>
                      <a:pPr algn="l" indent="0" marL="0">
                        <a:buNone/>
                      </a:pPr>
                      <a:r>
                        <a:rPr lang="en-US" sz="1300" dirty="0">
                          <a:solidFill>
                            <a:schemeClr val="tx1"/>
                          </a:solidFill>
                        </a:rPr>
                        <a:t>Random Forest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1"/>
                          </a:solidFill>
                        </a:rPr>
                        <a:t>169,539</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1"/>
                          </a:solidFill>
                        </a:rPr>
                        <a:t>13,743</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1"/>
                          </a:solidFill>
                        </a:rPr>
                        <a:t>5,756</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r" indent="0" marL="0">
                        <a:buNone/>
                      </a:pPr>
                      <a:r>
                        <a:rPr lang="en-US" sz="1300" dirty="0">
                          <a:solidFill>
                            <a:schemeClr val="tx1"/>
                          </a:solidFill>
                        </a:rPr>
                        <a:t>38,560</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bl>
          </a:graphicData>
        </a:graphic>
      </p:graphicFrame>
      <p:sp>
        <p:nvSpPr>
          <p:cNvPr id="9" name="Text 4"/>
          <p:cNvSpPr txBox="1"/>
          <p:nvPr/>
        </p:nvSpPr>
        <p:spPr>
          <a:xfrm>
            <a:off x="7955280" y="4206240"/>
            <a:ext cx="356616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0.87 vs 0.195</a:t>
            </a:r>
            <a:endParaRPr lang="en-US" sz="3000" dirty="0"/>
          </a:p>
        </p:txBody>
      </p:sp>
      <p:sp>
        <p:nvSpPr>
          <p:cNvPr id="10" name="Text 5"/>
          <p:cNvSpPr txBox="1"/>
          <p:nvPr/>
        </p:nvSpPr>
        <p:spPr>
          <a:xfrm>
            <a:off x="7955280" y="4919472"/>
            <a:ext cx="3566160" cy="502920"/>
          </a:xfrm>
          <a:prstGeom prst="rect">
            <a:avLst/>
          </a:prstGeom>
          <a:noFill/>
          <a:ln/>
        </p:spPr>
        <p:txBody>
          <a:bodyPr wrap="square" lIns="0" tIns="0" rIns="0" bIns="0" rtlCol="0" anchor="t"/>
          <a:lstStyle/>
          <a:p>
            <a:pPr indent="0" marL="0">
              <a:buNone/>
            </a:pPr>
            <a:r>
              <a:rPr lang="en-US" sz="1200" dirty="0">
                <a:solidFill>
                  <a:schemeClr val="accent6"/>
                </a:solidFill>
              </a:rPr>
              <a:t>PR-AUC of the models against random guessing</a:t>
            </a:r>
            <a:endParaRPr lang="en-US" sz="1200" dirty="0"/>
          </a:p>
        </p:txBody>
      </p:sp>
      <p:sp>
        <p:nvSpPr>
          <p:cNvPr id="11" name="Text 6"/>
          <p:cNvSpPr txBox="1"/>
          <p:nvPr/>
        </p:nvSpPr>
        <p:spPr>
          <a:xfrm>
            <a:off x="7955280" y="5257800"/>
            <a:ext cx="3566160" cy="685800"/>
          </a:xfrm>
          <a:prstGeom prst="rect">
            <a:avLst/>
          </a:prstGeom>
          <a:noFill/>
          <a:ln/>
        </p:spPr>
        <p:txBody>
          <a:bodyPr wrap="square" lIns="0" tIns="0" rIns="0" bIns="0" rtlCol="0" anchor="b"/>
          <a:lstStyle/>
          <a:p>
            <a:pPr indent="0" marL="0">
              <a:buNone/>
            </a:pPr>
            <a:r>
              <a:rPr lang="en-US" sz="3000" b="1" dirty="0">
                <a:solidFill>
                  <a:schemeClr val="accent2"/>
                </a:solidFill>
                <a:latin typeface="Cambria" pitchFamily="34" charset="0"/>
                <a:ea typeface="Cambria" pitchFamily="34" charset="-122"/>
                <a:cs typeface="Cambria" pitchFamily="34" charset="-120"/>
              </a:rPr>
              <a:t>87% / 86%</a:t>
            </a:r>
            <a:endParaRPr lang="en-US" sz="3000" dirty="0"/>
          </a:p>
        </p:txBody>
      </p:sp>
      <p:sp>
        <p:nvSpPr>
          <p:cNvPr id="12" name="Text 7"/>
          <p:cNvSpPr txBox="1"/>
          <p:nvPr/>
        </p:nvSpPr>
        <p:spPr>
          <a:xfrm>
            <a:off x="7955280" y="5971032"/>
            <a:ext cx="3566160" cy="502920"/>
          </a:xfrm>
          <a:prstGeom prst="rect">
            <a:avLst/>
          </a:prstGeom>
          <a:noFill/>
          <a:ln/>
        </p:spPr>
        <p:txBody>
          <a:bodyPr wrap="square" lIns="0" tIns="0" rIns="0" bIns="0" rtlCol="0" anchor="t"/>
          <a:lstStyle/>
          <a:p>
            <a:pPr indent="0" marL="0">
              <a:buNone/>
            </a:pPr>
            <a:r>
              <a:rPr lang="en-US" sz="1200" dirty="0">
                <a:solidFill>
                  <a:schemeClr val="accent6"/>
                </a:solidFill>
              </a:rPr>
              <a:t>of complaints found (Random Forest / Logistic Regression)</a:t>
            </a:r>
            <a:endParaRPr lang="en-US" sz="12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7  |  MODEL EVALUATION AND RESULT INTERPRETATION (2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Model Evaluation: Precision-Recall and ROC Curves</a:t>
            </a:r>
            <a:endParaRPr lang="en-US" sz="2800" dirty="0"/>
          </a:p>
        </p:txBody>
      </p:sp>
      <p:pic>
        <p:nvPicPr>
          <p:cNvPr id="5" name="Precision-recall curves" descr="Precision-recall curves">    </p:cNvPr>
          <p:cNvPicPr>
            <a:picLocks noChangeAspect="1"/>
          </p:cNvPicPr>
          <p:nvPr/>
        </p:nvPicPr>
        <p:blipFill>
          <a:blip r:embed="rId1"/>
          <a:stretch>
            <a:fillRect/>
          </a:stretch>
        </p:blipFill>
        <p:spPr>
          <a:xfrm>
            <a:off x="655320" y="1371600"/>
            <a:ext cx="5364480" cy="4023360"/>
          </a:xfrm>
          <a:prstGeom prst="rect">
            <a:avLst/>
          </a:prstGeom>
        </p:spPr>
      </p:pic>
      <p:pic>
        <p:nvPicPr>
          <p:cNvPr id="6" name="ROC curves" descr="ROC curves">    </p:cNvPr>
          <p:cNvPicPr>
            <a:picLocks noChangeAspect="1"/>
          </p:cNvPicPr>
          <p:nvPr/>
        </p:nvPicPr>
        <p:blipFill>
          <a:blip r:embed="rId2"/>
          <a:stretch>
            <a:fillRect/>
          </a:stretch>
        </p:blipFill>
        <p:spPr>
          <a:xfrm>
            <a:off x="6169152" y="1371600"/>
            <a:ext cx="5364480" cy="4023360"/>
          </a:xfrm>
          <a:prstGeom prst="rect">
            <a:avLst/>
          </a:prstGeom>
        </p:spPr>
      </p:pic>
      <p:sp>
        <p:nvSpPr>
          <p:cNvPr id="7" name="Text 2"/>
          <p:cNvSpPr txBox="1"/>
          <p:nvPr/>
        </p:nvSpPr>
        <p:spPr>
          <a:xfrm>
            <a:off x="640080" y="5486400"/>
            <a:ext cx="10908792" cy="822960"/>
          </a:xfrm>
          <a:prstGeom prst="rect">
            <a:avLst/>
          </a:prstGeom>
          <a:noFill/>
          <a:ln/>
        </p:spPr>
        <p:txBody>
          <a:bodyPr wrap="square" lIns="0" tIns="0" rIns="0" bIns="0" rtlCol="0" anchor="t"/>
          <a:lstStyle/>
          <a:p>
            <a:pPr indent="0" marL="0">
              <a:buNone/>
            </a:pPr>
            <a:r>
              <a:rPr lang="en-US" sz="1400" dirty="0">
                <a:solidFill>
                  <a:schemeClr val="tx1"/>
                </a:solidFill>
              </a:rPr>
              <a:t>The curves almost overlap: the two models rank reviews alike, and the difference between them is mostly where the 0.5 threshold falls. At 80% recall precision is 0.85 (Random Forest) and 0.84 (Logistic Regression); at 90% recall both are 0.58, about three times the 0.195 base rate.</a:t>
            </a:r>
            <a:endParaRPr lang="en-US" sz="14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7  |  MODEL EVALUATION AND RESULT INTERPRETATION (3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Result Interpretation: Strengths and Limitations</a:t>
            </a:r>
            <a:endParaRPr lang="en-US" sz="2800" dirty="0"/>
          </a:p>
        </p:txBody>
      </p:sp>
      <p:sp>
        <p:nvSpPr>
          <p:cNvPr id="5" name="strengths card"/>
          <p:cNvSpPr/>
          <p:nvPr/>
        </p:nvSpPr>
        <p:spPr>
          <a:xfrm>
            <a:off x="640080" y="1417320"/>
            <a:ext cx="5349240" cy="4800600"/>
          </a:xfrm>
          <a:prstGeom prst="roundRect">
            <a:avLst>
              <a:gd name="adj" fmla="val 152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Text 3"/>
          <p:cNvSpPr txBox="1"/>
          <p:nvPr/>
        </p:nvSpPr>
        <p:spPr>
          <a:xfrm>
            <a:off x="868680" y="1554480"/>
            <a:ext cx="4937760" cy="365760"/>
          </a:xfrm>
          <a:prstGeom prst="rect">
            <a:avLst/>
          </a:prstGeom>
          <a:noFill/>
          <a:ln/>
        </p:spPr>
        <p:txBody>
          <a:bodyPr wrap="square" lIns="0" tIns="0" rIns="0" bIns="0" rtlCol="0" anchor="ctr"/>
          <a:lstStyle/>
          <a:p>
            <a:pPr indent="0" marL="0">
              <a:buNone/>
            </a:pPr>
            <a:r>
              <a:rPr lang="en-US" sz="1800" b="1" dirty="0">
                <a:solidFill>
                  <a:schemeClr val="accent3"/>
                </a:solidFill>
              </a:rPr>
              <a:t>Strengths</a:t>
            </a:r>
            <a:endParaRPr lang="en-US" sz="1800" dirty="0"/>
          </a:p>
        </p:txBody>
      </p:sp>
      <p:sp>
        <p:nvSpPr>
          <p:cNvPr id="7" name="Text 4"/>
          <p:cNvSpPr txBox="1"/>
          <p:nvPr/>
        </p:nvSpPr>
        <p:spPr>
          <a:xfrm>
            <a:off x="868680" y="2011680"/>
            <a:ext cx="4937760" cy="4114800"/>
          </a:xfrm>
          <a:prstGeom prst="rect">
            <a:avLst/>
          </a:prstGeom>
          <a:noFill/>
          <a:ln/>
        </p:spPr>
        <p:txBody>
          <a:bodyPr wrap="square" lIns="0" tIns="0" rIns="0" bIns="0" rtlCol="0" anchor="t"/>
          <a:lstStyle/>
          <a:p>
            <a:pPr marL="177800" indent="-177800">
              <a:spcAft>
                <a:spcPts val="1400"/>
              </a:spcAft>
              <a:buSzPct val="100000"/>
              <a:buChar char="•"/>
            </a:pPr>
            <a:r>
              <a:rPr lang="en-US" sz="1650" dirty="0">
                <a:solidFill>
                  <a:srgbClr val="000000"/>
                </a:solidFill>
              </a:rPr>
              <a:t>PR-AUC 0.87 is more than four times the 0.195 base rate; accuracy is above 91%.</a:t>
            </a:r>
            <a:endParaRPr lang="en-US" sz="1650" dirty="0"/>
          </a:p>
          <a:p>
            <a:pPr marL="177800" indent="-177800">
              <a:spcAft>
                <a:spcPts val="1400"/>
              </a:spcAft>
              <a:buSzPct val="100000"/>
              <a:buChar char="•"/>
            </a:pPr>
            <a:r>
              <a:rPr lang="en-US" sz="1650" dirty="0">
                <a:solidFill>
                  <a:srgbClr val="000000"/>
                </a:solidFill>
              </a:rPr>
              <a:t>A model that never flags anything scores 80.5% but finds no complaints; ours find 86 to 87%.</a:t>
            </a:r>
            <a:endParaRPr lang="en-US" sz="1650" dirty="0"/>
          </a:p>
          <a:p>
            <a:pPr marL="177800" indent="-177800">
              <a:spcAft>
                <a:spcPts val="1400"/>
              </a:spcAft>
              <a:buSzPct val="100000"/>
              <a:buChar char="•"/>
            </a:pPr>
            <a:r>
              <a:rPr lang="en-US" sz="1650" dirty="0">
                <a:solidFill>
                  <a:srgbClr val="000000"/>
                </a:solidFill>
              </a:rPr>
              <a:t>Holds on future weeks: train April to August, test 1-20 September, PR-AUC drops by less than 0.01.</a:t>
            </a:r>
            <a:endParaRPr lang="en-US" sz="1650" dirty="0"/>
          </a:p>
          <a:p>
            <a:pPr marL="177800" indent="-177800">
              <a:spcAft>
                <a:spcPts val="1400"/>
              </a:spcAft>
              <a:buSzPct val="100000"/>
              <a:buChar char="•"/>
            </a:pPr>
            <a:r>
              <a:rPr lang="en-US" sz="1650" dirty="0">
                <a:solidFill>
                  <a:srgbClr val="000000"/>
                </a:solidFill>
              </a:rPr>
              <a:t>Stable: 95% intervals of about +/-0.003; the chosen settings are best or within 0.005 of the best tried.</a:t>
            </a:r>
            <a:endParaRPr lang="en-US" sz="1650" dirty="0"/>
          </a:p>
        </p:txBody>
      </p:sp>
      <p:sp>
        <p:nvSpPr>
          <p:cNvPr id="8" name="limitations card"/>
          <p:cNvSpPr/>
          <p:nvPr/>
        </p:nvSpPr>
        <p:spPr>
          <a:xfrm>
            <a:off x="6199632" y="1417320"/>
            <a:ext cx="5349240" cy="4800600"/>
          </a:xfrm>
          <a:prstGeom prst="roundRect">
            <a:avLst>
              <a:gd name="adj" fmla="val 1524"/>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9" name="Text 6"/>
          <p:cNvSpPr txBox="1"/>
          <p:nvPr/>
        </p:nvSpPr>
        <p:spPr>
          <a:xfrm>
            <a:off x="6428232" y="1554480"/>
            <a:ext cx="4937760" cy="365760"/>
          </a:xfrm>
          <a:prstGeom prst="rect">
            <a:avLst/>
          </a:prstGeom>
          <a:noFill/>
          <a:ln/>
        </p:spPr>
        <p:txBody>
          <a:bodyPr wrap="square" lIns="0" tIns="0" rIns="0" bIns="0" rtlCol="0" anchor="ctr"/>
          <a:lstStyle/>
          <a:p>
            <a:pPr indent="0" marL="0">
              <a:buNone/>
            </a:pPr>
            <a:r>
              <a:rPr lang="en-US" sz="1800" b="1" dirty="0">
                <a:solidFill>
                  <a:schemeClr val="accent2"/>
                </a:solidFill>
              </a:rPr>
              <a:t>Limitations</a:t>
            </a:r>
            <a:endParaRPr lang="en-US" sz="1800" dirty="0"/>
          </a:p>
        </p:txBody>
      </p:sp>
      <p:sp>
        <p:nvSpPr>
          <p:cNvPr id="10" name="Text 7"/>
          <p:cNvSpPr txBox="1"/>
          <p:nvPr/>
        </p:nvSpPr>
        <p:spPr>
          <a:xfrm>
            <a:off x="6428232" y="2011680"/>
            <a:ext cx="4937760" cy="4114800"/>
          </a:xfrm>
          <a:prstGeom prst="rect">
            <a:avLst/>
          </a:prstGeom>
          <a:noFill/>
          <a:ln/>
        </p:spPr>
        <p:txBody>
          <a:bodyPr wrap="square" lIns="0" tIns="0" rIns="0" bIns="0" rtlCol="0" anchor="t"/>
          <a:lstStyle/>
          <a:p>
            <a:pPr marL="177800" indent="-177800">
              <a:spcAft>
                <a:spcPts val="1400"/>
              </a:spcAft>
              <a:buSzPct val="100000"/>
              <a:buChar char="•"/>
            </a:pPr>
            <a:r>
              <a:rPr lang="en-US" sz="1650" dirty="0">
                <a:solidFill>
                  <a:srgbClr val="000000"/>
                </a:solidFill>
              </a:rPr>
              <a:t>The target is the star rating: the model predicts a low rating, not a confirmed app failure.</a:t>
            </a:r>
            <a:endParaRPr lang="en-US" sz="1650" dirty="0"/>
          </a:p>
          <a:p>
            <a:pPr marL="177800" indent="-177800">
              <a:spcAft>
                <a:spcPts val="1400"/>
              </a:spcAft>
              <a:buSzPct val="100000"/>
              <a:buChar char="•"/>
            </a:pPr>
            <a:r>
              <a:rPr lang="en-US" sz="1650" dirty="0">
                <a:solidFill>
                  <a:srgbClr val="000000"/>
                </a:solidFill>
              </a:rPr>
              <a:t>Mis-ratings count as problems (a 1-star "nice product").</a:t>
            </a:r>
            <a:endParaRPr lang="en-US" sz="1650" dirty="0"/>
          </a:p>
          <a:p>
            <a:pPr marL="177800" indent="-177800">
              <a:spcAft>
                <a:spcPts val="1400"/>
              </a:spcAft>
              <a:buSzPct val="100000"/>
              <a:buChar char="•"/>
            </a:pPr>
            <a:r>
              <a:rPr lang="en-US" sz="1650" dirty="0">
                <a:solidFill>
                  <a:srgbClr val="000000"/>
                </a:solidFill>
              </a:rPr>
              <a:t>Most reviews are 1 to 3 words, so for them the model mostly reads sentiment.</a:t>
            </a:r>
            <a:endParaRPr lang="en-US" sz="1650" dirty="0"/>
          </a:p>
          <a:p>
            <a:pPr marL="177800" indent="-177800">
              <a:spcAft>
                <a:spcPts val="1400"/>
              </a:spcAft>
              <a:buSzPct val="100000"/>
              <a:buChar char="•"/>
            </a:pPr>
            <a:r>
              <a:rPr lang="en-US" sz="1650" dirty="0">
                <a:solidFill>
                  <a:srgbClr val="000000"/>
                </a:solidFill>
              </a:rPr>
              <a:t>Payment apps are hardest (PR-AUC 0.75): rarer, shorter complaints.</a:t>
            </a:r>
            <a:endParaRPr lang="en-US" sz="1650" dirty="0"/>
          </a:p>
          <a:p>
            <a:pPr marL="177800" indent="-177800">
              <a:spcAft>
                <a:spcPts val="1400"/>
              </a:spcAft>
              <a:buSzPct val="100000"/>
              <a:buChar char="•"/>
            </a:pPr>
            <a:r>
              <a:rPr lang="en-US" sz="1650" dirty="0">
                <a:solidFill>
                  <a:srgbClr val="000000"/>
                </a:solidFill>
              </a:rPr>
              <a:t>Issue tags are keyword rules; TF-IDF, SVD and the scaler were fitted before the split (they do not use the target).</a:t>
            </a:r>
            <a:endParaRPr lang="en-US" sz="165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7  |  MODEL EVALUATION AND RESULT INTERPRETATION (4 OF 4)</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Initial Business Findings and Recommendations</a:t>
            </a:r>
            <a:endParaRPr lang="en-US" sz="2800" dirty="0"/>
          </a:p>
        </p:txBody>
      </p:sp>
      <p:sp>
        <p:nvSpPr>
          <p:cNvPr id="5" name="finding 1"/>
          <p:cNvSpPr/>
          <p:nvPr/>
        </p:nvSpPr>
        <p:spPr>
          <a:xfrm>
            <a:off x="640080" y="1417320"/>
            <a:ext cx="5349240" cy="155448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6" name="Shape 3"/>
          <p:cNvSpPr/>
          <p:nvPr/>
        </p:nvSpPr>
        <p:spPr>
          <a:xfrm>
            <a:off x="822960" y="1600200"/>
            <a:ext cx="384048" cy="384048"/>
          </a:xfrm>
          <a:prstGeom prst="ellipse">
            <a:avLst/>
          </a:prstGeom>
          <a:solidFill>
            <a:schemeClr val="accent1"/>
          </a:solidFill>
          <a:ln w="12700">
            <a:solidFill>
              <a:schemeClr val="accent1"/>
            </a:solidFill>
            <a:prstDash val="solid"/>
          </a:ln>
        </p:spPr>
      </p:sp>
      <p:sp>
        <p:nvSpPr>
          <p:cNvPr id="7" name="Text 4"/>
          <p:cNvSpPr txBox="1"/>
          <p:nvPr/>
        </p:nvSpPr>
        <p:spPr>
          <a:xfrm>
            <a:off x="822960"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5"/>
          <p:cNvSpPr txBox="1"/>
          <p:nvPr/>
        </p:nvSpPr>
        <p:spPr>
          <a:xfrm>
            <a:off x="1371600" y="1581912"/>
            <a:ext cx="4434840" cy="420624"/>
          </a:xfrm>
          <a:prstGeom prst="rect">
            <a:avLst/>
          </a:prstGeom>
          <a:noFill/>
          <a:ln/>
        </p:spPr>
        <p:txBody>
          <a:bodyPr wrap="square" lIns="0" tIns="0" rIns="0" bIns="0" rtlCol="0" anchor="ctr"/>
          <a:lstStyle/>
          <a:p>
            <a:pPr indent="0" marL="0">
              <a:buNone/>
            </a:pPr>
            <a:r>
              <a:rPr lang="en-US" sz="1700" b="1" dirty="0">
                <a:solidFill>
                  <a:schemeClr val="tx2"/>
                </a:solidFill>
              </a:rPr>
              <a:t>Triage automatically</a:t>
            </a:r>
            <a:endParaRPr lang="en-US" sz="1700" dirty="0"/>
          </a:p>
        </p:txBody>
      </p:sp>
      <p:sp>
        <p:nvSpPr>
          <p:cNvPr id="9" name="Text 6"/>
          <p:cNvSpPr txBox="1"/>
          <p:nvPr/>
        </p:nvSpPr>
        <p:spPr>
          <a:xfrm>
            <a:off x="1371600" y="2057400"/>
            <a:ext cx="4434840" cy="868680"/>
          </a:xfrm>
          <a:prstGeom prst="rect">
            <a:avLst/>
          </a:prstGeom>
          <a:noFill/>
          <a:ln/>
        </p:spPr>
        <p:txBody>
          <a:bodyPr wrap="square" lIns="0" tIns="0" rIns="0" bIns="0" rtlCol="0" anchor="t"/>
          <a:lstStyle/>
          <a:p>
            <a:pPr indent="0" marL="0">
              <a:buNone/>
            </a:pPr>
            <a:r>
              <a:rPr lang="en-US" sz="1400" dirty="0">
                <a:solidFill>
                  <a:schemeClr val="tx1"/>
                </a:solidFill>
              </a:rPr>
              <a:t>Random Forest flags about 52,000 of 228,000 test reviews and catches 87% of complaints; about 3 in 4 flags are real.</a:t>
            </a:r>
            <a:endParaRPr lang="en-US" sz="1400" dirty="0"/>
          </a:p>
        </p:txBody>
      </p:sp>
      <p:sp>
        <p:nvSpPr>
          <p:cNvPr id="10" name="finding 2"/>
          <p:cNvSpPr/>
          <p:nvPr/>
        </p:nvSpPr>
        <p:spPr>
          <a:xfrm>
            <a:off x="6199632" y="1417320"/>
            <a:ext cx="5349240" cy="155448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1" name="Shape 8"/>
          <p:cNvSpPr/>
          <p:nvPr/>
        </p:nvSpPr>
        <p:spPr>
          <a:xfrm>
            <a:off x="6382512" y="1600200"/>
            <a:ext cx="384048" cy="384048"/>
          </a:xfrm>
          <a:prstGeom prst="ellipse">
            <a:avLst/>
          </a:prstGeom>
          <a:solidFill>
            <a:schemeClr val="accent2"/>
          </a:solidFill>
          <a:ln w="12700">
            <a:solidFill>
              <a:schemeClr val="accent2"/>
            </a:solidFill>
            <a:prstDash val="solid"/>
          </a:ln>
        </p:spPr>
      </p:sp>
      <p:sp>
        <p:nvSpPr>
          <p:cNvPr id="12" name="Text 9"/>
          <p:cNvSpPr txBox="1"/>
          <p:nvPr/>
        </p:nvSpPr>
        <p:spPr>
          <a:xfrm>
            <a:off x="6382512" y="16002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10"/>
          <p:cNvSpPr txBox="1"/>
          <p:nvPr/>
        </p:nvSpPr>
        <p:spPr>
          <a:xfrm>
            <a:off x="6931152" y="1581912"/>
            <a:ext cx="4434840" cy="420624"/>
          </a:xfrm>
          <a:prstGeom prst="rect">
            <a:avLst/>
          </a:prstGeom>
          <a:noFill/>
          <a:ln/>
        </p:spPr>
        <p:txBody>
          <a:bodyPr wrap="square" lIns="0" tIns="0" rIns="0" bIns="0" rtlCol="0" anchor="ctr"/>
          <a:lstStyle/>
          <a:p>
            <a:pPr indent="0" marL="0">
              <a:buNone/>
            </a:pPr>
            <a:r>
              <a:rPr lang="en-US" sz="1700" b="1" dirty="0">
                <a:solidFill>
                  <a:schemeClr val="tx2"/>
                </a:solidFill>
              </a:rPr>
              <a:t>Route by cause</a:t>
            </a:r>
            <a:endParaRPr lang="en-US" sz="1700" dirty="0"/>
          </a:p>
        </p:txBody>
      </p:sp>
      <p:sp>
        <p:nvSpPr>
          <p:cNvPr id="14" name="Text 11"/>
          <p:cNvSpPr txBox="1"/>
          <p:nvPr/>
        </p:nvSpPr>
        <p:spPr>
          <a:xfrm>
            <a:off x="6931152" y="2057400"/>
            <a:ext cx="4434840" cy="868680"/>
          </a:xfrm>
          <a:prstGeom prst="rect">
            <a:avLst/>
          </a:prstGeom>
          <a:noFill/>
          <a:ln/>
        </p:spPr>
        <p:txBody>
          <a:bodyPr wrap="square" lIns="0" tIns="0" rIns="0" bIns="0" rtlCol="0" anchor="t"/>
          <a:lstStyle/>
          <a:p>
            <a:pPr indent="0" marL="0">
              <a:buNone/>
            </a:pPr>
            <a:r>
              <a:rPr lang="en-US" sz="1400" dirty="0">
                <a:solidFill>
                  <a:schemeClr val="tx1"/>
                </a:solidFill>
              </a:rPr>
              <a:t>91% of tagged complaints are about service. Send app issues to engineering; delivery, returns, refunds and support to operations.</a:t>
            </a:r>
            <a:endParaRPr lang="en-US" sz="1400" dirty="0"/>
          </a:p>
        </p:txBody>
      </p:sp>
      <p:sp>
        <p:nvSpPr>
          <p:cNvPr id="15" name="finding 3"/>
          <p:cNvSpPr/>
          <p:nvPr/>
        </p:nvSpPr>
        <p:spPr>
          <a:xfrm>
            <a:off x="640080" y="3108960"/>
            <a:ext cx="5349240" cy="155448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6" name="Shape 13"/>
          <p:cNvSpPr/>
          <p:nvPr/>
        </p:nvSpPr>
        <p:spPr>
          <a:xfrm>
            <a:off x="822960" y="3291840"/>
            <a:ext cx="384048" cy="384048"/>
          </a:xfrm>
          <a:prstGeom prst="ellipse">
            <a:avLst/>
          </a:prstGeom>
          <a:solidFill>
            <a:schemeClr val="accent3"/>
          </a:solidFill>
          <a:ln w="12700">
            <a:solidFill>
              <a:schemeClr val="accent3"/>
            </a:solidFill>
            <a:prstDash val="solid"/>
          </a:ln>
        </p:spPr>
      </p:sp>
      <p:sp>
        <p:nvSpPr>
          <p:cNvPr id="17" name="Text 14"/>
          <p:cNvSpPr txBox="1"/>
          <p:nvPr/>
        </p:nvSpPr>
        <p:spPr>
          <a:xfrm>
            <a:off x="822960" y="3291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5"/>
          <p:cNvSpPr txBox="1"/>
          <p:nvPr/>
        </p:nvSpPr>
        <p:spPr>
          <a:xfrm>
            <a:off x="1371600" y="3273552"/>
            <a:ext cx="4434840" cy="420624"/>
          </a:xfrm>
          <a:prstGeom prst="rect">
            <a:avLst/>
          </a:prstGeom>
          <a:noFill/>
          <a:ln/>
        </p:spPr>
        <p:txBody>
          <a:bodyPr wrap="square" lIns="0" tIns="0" rIns="0" bIns="0" rtlCol="0" anchor="ctr"/>
          <a:lstStyle/>
          <a:p>
            <a:pPr indent="0" marL="0">
              <a:buNone/>
            </a:pPr>
            <a:r>
              <a:rPr lang="en-US" sz="1700" b="1" dirty="0">
                <a:solidFill>
                  <a:schemeClr val="tx2"/>
                </a:solidFill>
              </a:rPr>
              <a:t>Fix each app's own issue first</a:t>
            </a:r>
            <a:endParaRPr lang="en-US" sz="1700" dirty="0"/>
          </a:p>
        </p:txBody>
      </p:sp>
      <p:sp>
        <p:nvSpPr>
          <p:cNvPr id="19" name="Text 16"/>
          <p:cNvSpPr txBox="1"/>
          <p:nvPr/>
        </p:nvSpPr>
        <p:spPr>
          <a:xfrm>
            <a:off x="1371600" y="3749040"/>
            <a:ext cx="4434840" cy="868680"/>
          </a:xfrm>
          <a:prstGeom prst="rect">
            <a:avLst/>
          </a:prstGeom>
          <a:noFill/>
          <a:ln/>
        </p:spPr>
        <p:txBody>
          <a:bodyPr wrap="square" lIns="0" tIns="0" rIns="0" bIns="0" rtlCol="0" anchor="t"/>
          <a:lstStyle/>
          <a:p>
            <a:pPr indent="0" marL="0">
              <a:buNone/>
            </a:pPr>
            <a:r>
              <a:rPr lang="en-US" sz="1400" dirty="0">
                <a:solidFill>
                  <a:schemeClr val="tx1"/>
                </a:solidFill>
              </a:rPr>
              <a:t>Swiggy: support and delivery. Amazon: support and returns. Google Pay and Paytm: crashes and stability.</a:t>
            </a:r>
            <a:endParaRPr lang="en-US" sz="1400" dirty="0"/>
          </a:p>
        </p:txBody>
      </p:sp>
      <p:sp>
        <p:nvSpPr>
          <p:cNvPr id="20" name="finding 4"/>
          <p:cNvSpPr/>
          <p:nvPr/>
        </p:nvSpPr>
        <p:spPr>
          <a:xfrm>
            <a:off x="6199632" y="3108960"/>
            <a:ext cx="5349240" cy="155448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1" name="Shape 18"/>
          <p:cNvSpPr/>
          <p:nvPr/>
        </p:nvSpPr>
        <p:spPr>
          <a:xfrm>
            <a:off x="6382512" y="3291840"/>
            <a:ext cx="384048" cy="384048"/>
          </a:xfrm>
          <a:prstGeom prst="ellipse">
            <a:avLst/>
          </a:prstGeom>
          <a:solidFill>
            <a:schemeClr val="accent4"/>
          </a:solidFill>
          <a:ln w="12700">
            <a:solidFill>
              <a:schemeClr val="accent4"/>
            </a:solidFill>
            <a:prstDash val="solid"/>
          </a:ln>
        </p:spPr>
      </p:sp>
      <p:sp>
        <p:nvSpPr>
          <p:cNvPr id="22" name="Text 19"/>
          <p:cNvSpPr txBox="1"/>
          <p:nvPr/>
        </p:nvSpPr>
        <p:spPr>
          <a:xfrm>
            <a:off x="6382512" y="3291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3" name="Text 20"/>
          <p:cNvSpPr txBox="1"/>
          <p:nvPr/>
        </p:nvSpPr>
        <p:spPr>
          <a:xfrm>
            <a:off x="6931152" y="3273552"/>
            <a:ext cx="4434840" cy="420624"/>
          </a:xfrm>
          <a:prstGeom prst="rect">
            <a:avLst/>
          </a:prstGeom>
          <a:noFill/>
          <a:ln/>
        </p:spPr>
        <p:txBody>
          <a:bodyPr wrap="square" lIns="0" tIns="0" rIns="0" bIns="0" rtlCol="0" anchor="ctr"/>
          <a:lstStyle/>
          <a:p>
            <a:pPr indent="0" marL="0">
              <a:buNone/>
            </a:pPr>
            <a:r>
              <a:rPr lang="en-US" sz="1700" b="1" dirty="0">
                <a:solidFill>
                  <a:schemeClr val="tx2"/>
                </a:solidFill>
              </a:rPr>
              <a:t>Track counts, not percentages</a:t>
            </a:r>
            <a:endParaRPr lang="en-US" sz="1700" dirty="0"/>
          </a:p>
        </p:txBody>
      </p:sp>
      <p:sp>
        <p:nvSpPr>
          <p:cNvPr id="24" name="Text 21"/>
          <p:cNvSpPr txBox="1"/>
          <p:nvPr/>
        </p:nvSpPr>
        <p:spPr>
          <a:xfrm>
            <a:off x="6931152" y="3749040"/>
            <a:ext cx="4434840" cy="868680"/>
          </a:xfrm>
          <a:prstGeom prst="rect">
            <a:avLst/>
          </a:prstGeom>
          <a:noFill/>
          <a:ln/>
        </p:spPr>
        <p:txBody>
          <a:bodyPr wrap="square" lIns="0" tIns="0" rIns="0" bIns="0" rtlCol="0" anchor="t"/>
          <a:lstStyle/>
          <a:p>
            <a:pPr indent="0" marL="0">
              <a:buNone/>
            </a:pPr>
            <a:r>
              <a:rPr lang="en-US" sz="1400" dirty="0">
                <a:solidFill>
                  <a:schemeClr val="tx1"/>
                </a:solidFill>
              </a:rPr>
              <a:t>The late-April gap shows a "% negative" metric can raise a false alarm. Count negative reviews per day.</a:t>
            </a:r>
            <a:endParaRPr lang="en-US" sz="1400" dirty="0"/>
          </a:p>
        </p:txBody>
      </p:sp>
      <p:sp>
        <p:nvSpPr>
          <p:cNvPr id="25" name="finding 5"/>
          <p:cNvSpPr/>
          <p:nvPr/>
        </p:nvSpPr>
        <p:spPr>
          <a:xfrm>
            <a:off x="640080" y="4800600"/>
            <a:ext cx="10908792" cy="1554480"/>
          </a:xfrm>
          <a:prstGeom prst="roundRect">
            <a:avLst>
              <a:gd name="adj" fmla="val 4706"/>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26" name="Shape 23"/>
          <p:cNvSpPr/>
          <p:nvPr/>
        </p:nvSpPr>
        <p:spPr>
          <a:xfrm>
            <a:off x="822960" y="4983480"/>
            <a:ext cx="384048" cy="384048"/>
          </a:xfrm>
          <a:prstGeom prst="ellipse">
            <a:avLst/>
          </a:prstGeom>
          <a:solidFill>
            <a:schemeClr val="accent6"/>
          </a:solidFill>
          <a:ln w="12700">
            <a:solidFill>
              <a:schemeClr val="accent6"/>
            </a:solidFill>
            <a:prstDash val="solid"/>
          </a:ln>
        </p:spPr>
      </p:sp>
      <p:sp>
        <p:nvSpPr>
          <p:cNvPr id="27" name="Text 24"/>
          <p:cNvSpPr txBox="1"/>
          <p:nvPr/>
        </p:nvSpPr>
        <p:spPr>
          <a:xfrm>
            <a:off x="822960" y="49834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8" name="Text 25"/>
          <p:cNvSpPr txBox="1"/>
          <p:nvPr/>
        </p:nvSpPr>
        <p:spPr>
          <a:xfrm>
            <a:off x="1371600" y="4965192"/>
            <a:ext cx="9994392" cy="420624"/>
          </a:xfrm>
          <a:prstGeom prst="rect">
            <a:avLst/>
          </a:prstGeom>
          <a:noFill/>
          <a:ln/>
        </p:spPr>
        <p:txBody>
          <a:bodyPr wrap="square" lIns="0" tIns="0" rIns="0" bIns="0" rtlCol="0" anchor="ctr"/>
          <a:lstStyle/>
          <a:p>
            <a:pPr indent="0" marL="0">
              <a:buNone/>
            </a:pPr>
            <a:r>
              <a:rPr lang="en-US" sz="1700" b="1" dirty="0">
                <a:solidFill>
                  <a:schemeClr val="tx2"/>
                </a:solidFill>
              </a:rPr>
              <a:t>Choose the model by cost</a:t>
            </a:r>
            <a:endParaRPr lang="en-US" sz="1700" dirty="0"/>
          </a:p>
        </p:txBody>
      </p:sp>
      <p:sp>
        <p:nvSpPr>
          <p:cNvPr id="29" name="Text 26"/>
          <p:cNvSpPr txBox="1"/>
          <p:nvPr/>
        </p:nvSpPr>
        <p:spPr>
          <a:xfrm>
            <a:off x="1371600" y="5440680"/>
            <a:ext cx="9994392" cy="868680"/>
          </a:xfrm>
          <a:prstGeom prst="rect">
            <a:avLst/>
          </a:prstGeom>
          <a:noFill/>
          <a:ln/>
        </p:spPr>
        <p:txBody>
          <a:bodyPr wrap="square" lIns="0" tIns="0" rIns="0" bIns="0" rtlCol="0" anchor="t"/>
          <a:lstStyle/>
          <a:p>
            <a:pPr indent="0" marL="0">
              <a:buNone/>
            </a:pPr>
            <a:r>
              <a:rPr lang="en-US" sz="1400" dirty="0">
                <a:solidFill>
                  <a:schemeClr val="tx1"/>
                </a:solidFill>
              </a:rPr>
              <a:t>Random Forest when missing a complaint is costly; Logistic Regression when reviewer time is the limit. For payment apps, expect about 4 in 10 flags to be false alarms.</a:t>
            </a:r>
            <a:endParaRPr lang="en-US" sz="14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8  |  PROJECT TRACKING AND PROGRESS</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Project Tracking and Progress</a:t>
            </a:r>
            <a:endParaRPr lang="en-US" sz="2800" dirty="0"/>
          </a:p>
        </p:txBody>
      </p:sp>
      <p:sp>
        <p:nvSpPr>
          <p:cNvPr id="5" name="Text 2"/>
          <p:cNvSpPr txBox="1"/>
          <p:nvPr/>
        </p:nvSpPr>
        <p:spPr>
          <a:xfrm>
            <a:off x="640080" y="1325880"/>
            <a:ext cx="10908792" cy="411480"/>
          </a:xfrm>
          <a:prstGeom prst="rect">
            <a:avLst/>
          </a:prstGeom>
          <a:noFill/>
          <a:ln/>
        </p:spPr>
        <p:txBody>
          <a:bodyPr wrap="square" lIns="0" tIns="0" rIns="0" bIns="0" rtlCol="0" anchor="t"/>
          <a:lstStyle/>
          <a:p>
            <a:pPr indent="0" marL="0">
              <a:buNone/>
            </a:pPr>
            <a:r>
              <a:rPr lang="en-US" sz="1350" b="1" dirty="0">
                <a:solidFill>
                  <a:schemeClr val="tx1"/>
                </a:solidFill>
              </a:rPr>
              <a:t>Tool and board link: </a:t>
            </a:r>
            <a:pPr indent="0" marL="0">
              <a:buNone/>
            </a:pPr>
            <a:r>
              <a:rPr lang="en-US" sz="1350" dirty="0">
                <a:solidFill>
                  <a:schemeClr val="tx1"/>
                </a:solidFill>
              </a:rPr>
              <a:t>GitHub Projects, github.com/users/Adithya-Monish-Kumar-K/projects/4 (repository: github.com/Adithya-Monish-Kumar-K/ba-capstone-app-reviews). 15 of 15 tasks done.</a:t>
            </a:r>
            <a:endParaRPr lang="en-US" sz="1350" dirty="0"/>
          </a:p>
        </p:txBody>
      </p:sp>
      <p:sp>
        <p:nvSpPr>
          <p:cNvPr id="6" name="Shape 3"/>
          <p:cNvSpPr/>
          <p:nvPr/>
        </p:nvSpPr>
        <p:spPr>
          <a:xfrm>
            <a:off x="640080" y="1810512"/>
            <a:ext cx="2103120" cy="384048"/>
          </a:xfrm>
          <a:prstGeom prst="roundRect">
            <a:avLst>
              <a:gd name="adj" fmla="val 23810"/>
            </a:avLst>
          </a:prstGeom>
          <a:solidFill>
            <a:srgbClr val="E3E8EF"/>
          </a:solidFill>
          <a:ln w="12700">
            <a:solidFill>
              <a:srgbClr val="E3E8EF"/>
            </a:solidFill>
            <a:prstDash val="solid"/>
          </a:ln>
        </p:spPr>
      </p:sp>
      <p:sp>
        <p:nvSpPr>
          <p:cNvPr id="7" name="Text 4"/>
          <p:cNvSpPr txBox="1"/>
          <p:nvPr/>
        </p:nvSpPr>
        <p:spPr>
          <a:xfrm>
            <a:off x="640080" y="1810512"/>
            <a:ext cx="2103120" cy="384048"/>
          </a:xfrm>
          <a:prstGeom prst="rect">
            <a:avLst/>
          </a:prstGeom>
          <a:noFill/>
          <a:ln/>
        </p:spPr>
        <p:txBody>
          <a:bodyPr wrap="square" lIns="508" tIns="508" rIns="508" bIns="508" rtlCol="0" anchor="ctr"/>
          <a:lstStyle/>
          <a:p>
            <a:pPr algn="ctr" indent="0" marL="0">
              <a:buNone/>
            </a:pPr>
            <a:r>
              <a:rPr lang="en-US" sz="1300" b="1" dirty="0">
                <a:solidFill>
                  <a:schemeClr val="tx2"/>
                </a:solidFill>
              </a:rPr>
              <a:t>Backlog</a:t>
            </a:r>
            <a:endParaRPr lang="en-US" sz="1300" dirty="0"/>
          </a:p>
        </p:txBody>
      </p:sp>
      <p:sp>
        <p:nvSpPr>
          <p:cNvPr id="8" name="Shape 5"/>
          <p:cNvSpPr/>
          <p:nvPr/>
        </p:nvSpPr>
        <p:spPr>
          <a:xfrm>
            <a:off x="2834640" y="1810512"/>
            <a:ext cx="2103120" cy="384048"/>
          </a:xfrm>
          <a:prstGeom prst="roundRect">
            <a:avLst>
              <a:gd name="adj" fmla="val 23810"/>
            </a:avLst>
          </a:prstGeom>
          <a:solidFill>
            <a:srgbClr val="E3E8EF"/>
          </a:solidFill>
          <a:ln w="12700">
            <a:solidFill>
              <a:srgbClr val="E3E8EF"/>
            </a:solidFill>
            <a:prstDash val="solid"/>
          </a:ln>
        </p:spPr>
      </p:sp>
      <p:sp>
        <p:nvSpPr>
          <p:cNvPr id="9" name="Text 6"/>
          <p:cNvSpPr txBox="1"/>
          <p:nvPr/>
        </p:nvSpPr>
        <p:spPr>
          <a:xfrm>
            <a:off x="2834640" y="1810512"/>
            <a:ext cx="2103120" cy="384048"/>
          </a:xfrm>
          <a:prstGeom prst="rect">
            <a:avLst/>
          </a:prstGeom>
          <a:noFill/>
          <a:ln/>
        </p:spPr>
        <p:txBody>
          <a:bodyPr wrap="square" lIns="508" tIns="508" rIns="508" bIns="508" rtlCol="0" anchor="ctr"/>
          <a:lstStyle/>
          <a:p>
            <a:pPr algn="ctr" indent="0" marL="0">
              <a:buNone/>
            </a:pPr>
            <a:r>
              <a:rPr lang="en-US" sz="1300" b="1" dirty="0">
                <a:solidFill>
                  <a:schemeClr val="tx2"/>
                </a:solidFill>
              </a:rPr>
              <a:t>To Do</a:t>
            </a:r>
            <a:endParaRPr lang="en-US" sz="1300" dirty="0"/>
          </a:p>
        </p:txBody>
      </p:sp>
      <p:sp>
        <p:nvSpPr>
          <p:cNvPr id="10" name="Shape 7"/>
          <p:cNvSpPr/>
          <p:nvPr/>
        </p:nvSpPr>
        <p:spPr>
          <a:xfrm>
            <a:off x="5029200" y="1810512"/>
            <a:ext cx="2103120" cy="384048"/>
          </a:xfrm>
          <a:prstGeom prst="roundRect">
            <a:avLst>
              <a:gd name="adj" fmla="val 23810"/>
            </a:avLst>
          </a:prstGeom>
          <a:solidFill>
            <a:srgbClr val="E3E8EF"/>
          </a:solidFill>
          <a:ln w="12700">
            <a:solidFill>
              <a:srgbClr val="E3E8EF"/>
            </a:solidFill>
            <a:prstDash val="solid"/>
          </a:ln>
        </p:spPr>
      </p:sp>
      <p:sp>
        <p:nvSpPr>
          <p:cNvPr id="11" name="Text 8"/>
          <p:cNvSpPr txBox="1"/>
          <p:nvPr/>
        </p:nvSpPr>
        <p:spPr>
          <a:xfrm>
            <a:off x="5029200" y="1810512"/>
            <a:ext cx="2103120" cy="384048"/>
          </a:xfrm>
          <a:prstGeom prst="rect">
            <a:avLst/>
          </a:prstGeom>
          <a:noFill/>
          <a:ln/>
        </p:spPr>
        <p:txBody>
          <a:bodyPr wrap="square" lIns="508" tIns="508" rIns="508" bIns="508" rtlCol="0" anchor="ctr"/>
          <a:lstStyle/>
          <a:p>
            <a:pPr algn="ctr" indent="0" marL="0">
              <a:buNone/>
            </a:pPr>
            <a:r>
              <a:rPr lang="en-US" sz="1300" b="1" dirty="0">
                <a:solidFill>
                  <a:schemeClr val="tx2"/>
                </a:solidFill>
              </a:rPr>
              <a:t>In Progress</a:t>
            </a:r>
            <a:endParaRPr lang="en-US" sz="1300" dirty="0"/>
          </a:p>
        </p:txBody>
      </p:sp>
      <p:sp>
        <p:nvSpPr>
          <p:cNvPr id="12" name="Shape 9"/>
          <p:cNvSpPr/>
          <p:nvPr/>
        </p:nvSpPr>
        <p:spPr>
          <a:xfrm>
            <a:off x="7223760" y="1810512"/>
            <a:ext cx="2103120" cy="384048"/>
          </a:xfrm>
          <a:prstGeom prst="roundRect">
            <a:avLst>
              <a:gd name="adj" fmla="val 23810"/>
            </a:avLst>
          </a:prstGeom>
          <a:solidFill>
            <a:srgbClr val="E3E8EF"/>
          </a:solidFill>
          <a:ln w="12700">
            <a:solidFill>
              <a:srgbClr val="E3E8EF"/>
            </a:solidFill>
            <a:prstDash val="solid"/>
          </a:ln>
        </p:spPr>
      </p:sp>
      <p:sp>
        <p:nvSpPr>
          <p:cNvPr id="13" name="Text 10"/>
          <p:cNvSpPr txBox="1"/>
          <p:nvPr/>
        </p:nvSpPr>
        <p:spPr>
          <a:xfrm>
            <a:off x="7223760" y="1810512"/>
            <a:ext cx="2103120" cy="384048"/>
          </a:xfrm>
          <a:prstGeom prst="rect">
            <a:avLst/>
          </a:prstGeom>
          <a:noFill/>
          <a:ln/>
        </p:spPr>
        <p:txBody>
          <a:bodyPr wrap="square" lIns="508" tIns="508" rIns="508" bIns="508" rtlCol="0" anchor="ctr"/>
          <a:lstStyle/>
          <a:p>
            <a:pPr algn="ctr" indent="0" marL="0">
              <a:buNone/>
            </a:pPr>
            <a:r>
              <a:rPr lang="en-US" sz="1300" b="1" dirty="0">
                <a:solidFill>
                  <a:schemeClr val="tx2"/>
                </a:solidFill>
              </a:rPr>
              <a:t>Review/Testing</a:t>
            </a:r>
            <a:endParaRPr lang="en-US" sz="1300" dirty="0"/>
          </a:p>
        </p:txBody>
      </p:sp>
      <p:sp>
        <p:nvSpPr>
          <p:cNvPr id="14" name="Shape 11"/>
          <p:cNvSpPr/>
          <p:nvPr/>
        </p:nvSpPr>
        <p:spPr>
          <a:xfrm>
            <a:off x="9418320" y="1810512"/>
            <a:ext cx="2103120" cy="384048"/>
          </a:xfrm>
          <a:prstGeom prst="roundRect">
            <a:avLst>
              <a:gd name="adj" fmla="val 23810"/>
            </a:avLst>
          </a:prstGeom>
          <a:solidFill>
            <a:srgbClr val="132C43"/>
          </a:solidFill>
          <a:ln w="12700">
            <a:solidFill>
              <a:srgbClr val="132C43"/>
            </a:solidFill>
            <a:prstDash val="solid"/>
          </a:ln>
        </p:spPr>
      </p:sp>
      <p:sp>
        <p:nvSpPr>
          <p:cNvPr id="15" name="Text 12"/>
          <p:cNvSpPr txBox="1"/>
          <p:nvPr/>
        </p:nvSpPr>
        <p:spPr>
          <a:xfrm>
            <a:off x="9418320" y="1810512"/>
            <a:ext cx="2103120" cy="384048"/>
          </a:xfrm>
          <a:prstGeom prst="rect">
            <a:avLst/>
          </a:prstGeom>
          <a:noFill/>
          <a:ln/>
        </p:spPr>
        <p:txBody>
          <a:bodyPr wrap="square" lIns="508" tIns="508" rIns="508" bIns="508" rtlCol="0" anchor="ctr"/>
          <a:lstStyle/>
          <a:p>
            <a:pPr algn="ctr" indent="0" marL="0">
              <a:buNone/>
            </a:pPr>
            <a:r>
              <a:rPr lang="en-US" sz="1300" b="1" dirty="0">
                <a:solidFill>
                  <a:schemeClr val="bg1"/>
                </a:solidFill>
              </a:rPr>
              <a:t>Completed</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2359152"/>
          <a:ext cx="10908792" cy="914400"/>
        </p:xfrm>
        <a:graphic>
          <a:graphicData uri="http://schemas.openxmlformats.org/drawingml/2006/table">
            <a:tbl>
              <a:tblPr/>
              <a:tblGrid>
                <a:gridCol w="2103120"/>
                <a:gridCol w="4754880"/>
                <a:gridCol w="914400"/>
                <a:gridCol w="1280160"/>
                <a:gridCol w="1856232"/>
              </a:tblGrid>
              <a:tr h="420624">
                <a:tc>
                  <a:txBody>
                    <a:bodyPr/>
                    <a:lstStyle/>
                    <a:p>
                      <a:pPr algn="l" indent="0" marL="0">
                        <a:buNone/>
                      </a:pPr>
                      <a:r>
                        <a:rPr lang="en-US" sz="1300" b="1" dirty="0">
                          <a:solidFill>
                            <a:schemeClr val="bg1"/>
                          </a:solidFill>
                        </a:rPr>
                        <a:t>Assignees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Board tasks (issues)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Due</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Status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Evidence (merged PRs)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r>
              <a:tr h="420624">
                <a:tc>
                  <a:txBody>
                    <a:bodyPr/>
                    <a:lstStyle/>
                    <a:p>
                      <a:pPr algn="l" indent="0" marL="0">
                        <a:buNone/>
                      </a:pPr>
                      <a:r>
                        <a:rPr lang="en-US" sz="1300" dirty="0">
                          <a:solidFill>
                            <a:schemeClr val="tx1"/>
                          </a:solidFill>
                        </a:rPr>
                        <a:t>Aditya</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#53, #54, #56-#58 (5): scraper, collection, cleaning, tests</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29 Sep</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Completed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PR #52, #99</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420624">
                <a:tc>
                  <a:txBody>
                    <a:bodyPr/>
                    <a:lstStyle/>
                    <a:p>
                      <a:pPr algn="l" indent="0" marL="0">
                        <a:buNone/>
                      </a:pPr>
                      <a:r>
                        <a:rPr lang="en-US" sz="1300" dirty="0">
                          <a:solidFill>
                            <a:schemeClr val="tx1"/>
                          </a:solidFill>
                        </a:rPr>
                        <a:t>Akshay, Saketh</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#104-#106, #118-#120 (6): EDA charts, tests, write-up</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 Oct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Completed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PR #121</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420624">
                <a:tc>
                  <a:txBody>
                    <a:bodyPr/>
                    <a:lstStyle/>
                    <a:p>
                      <a:pPr algn="l" indent="0" marL="0">
                        <a:buNone/>
                      </a:pPr>
                      <a:r>
                        <a:rPr lang="en-US" sz="1300" dirty="0">
                          <a:solidFill>
                            <a:schemeClr val="tx1"/>
                          </a:solidFill>
                        </a:rPr>
                        <a:t>Harshini, Kanishka</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#107-#110 (4): features, classifiers, evaluation, write-up</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 Oct</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Completed</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PR #122-#125</a:t>
                      </a:r>
                      <a:endParaRPr lang="en-US" sz="13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bl>
          </a:graphicData>
        </a:graphic>
      </p:graphicFrame>
      <p:pic>
        <p:nvPicPr>
          <p:cNvPr id="17" name="GitHub Projects board screenshot" descr="GitHub Projects board screenshot">    </p:cNvPr>
          <p:cNvPicPr>
            <a:picLocks noChangeAspect="1"/>
          </p:cNvPicPr>
          <p:nvPr/>
        </p:nvPicPr>
        <p:blipFill>
          <a:blip r:embed="rId1"/>
          <a:stretch>
            <a:fillRect/>
          </a:stretch>
        </p:blipFill>
        <p:spPr>
          <a:xfrm>
            <a:off x="699035" y="4251960"/>
            <a:ext cx="5368491" cy="2103120"/>
          </a:xfrm>
          <a:prstGeom prst="rect">
            <a:avLst/>
          </a:prstGeom>
        </p:spPr>
      </p:pic>
      <p:sp>
        <p:nvSpPr>
          <p:cNvPr id="18" name="activity card"/>
          <p:cNvSpPr/>
          <p:nvPr/>
        </p:nvSpPr>
        <p:spPr>
          <a:xfrm>
            <a:off x="6400800" y="4251960"/>
            <a:ext cx="5148072" cy="2103120"/>
          </a:xfrm>
          <a:prstGeom prst="roundRect">
            <a:avLst>
              <a:gd name="adj" fmla="val 3478"/>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9" name="Text 14"/>
          <p:cNvSpPr txBox="1"/>
          <p:nvPr/>
        </p:nvSpPr>
        <p:spPr>
          <a:xfrm>
            <a:off x="6583680" y="4343400"/>
            <a:ext cx="4754880" cy="320040"/>
          </a:xfrm>
          <a:prstGeom prst="rect">
            <a:avLst/>
          </a:prstGeom>
          <a:noFill/>
          <a:ln/>
        </p:spPr>
        <p:txBody>
          <a:bodyPr wrap="square" lIns="0" tIns="0" rIns="0" bIns="0" rtlCol="0" anchor="ctr"/>
          <a:lstStyle/>
          <a:p>
            <a:pPr indent="0" marL="0">
              <a:buNone/>
            </a:pPr>
            <a:r>
              <a:rPr lang="en-US" sz="1400" b="1" dirty="0">
                <a:solidFill>
                  <a:schemeClr val="tx2"/>
                </a:solidFill>
              </a:rPr>
              <a:t>Activity history (pull-request merges)</a:t>
            </a:r>
            <a:endParaRPr lang="en-US" sz="1400" dirty="0"/>
          </a:p>
        </p:txBody>
      </p:sp>
      <p:sp>
        <p:nvSpPr>
          <p:cNvPr id="20" name="Text 15"/>
          <p:cNvSpPr txBox="1"/>
          <p:nvPr/>
        </p:nvSpPr>
        <p:spPr>
          <a:xfrm>
            <a:off x="6583680" y="4709160"/>
            <a:ext cx="4800600" cy="1600200"/>
          </a:xfrm>
          <a:prstGeom prst="rect">
            <a:avLst/>
          </a:prstGeom>
          <a:noFill/>
          <a:ln/>
        </p:spPr>
        <p:txBody>
          <a:bodyPr wrap="square" lIns="0" tIns="0" rIns="0" bIns="0" rtlCol="0" anchor="t"/>
          <a:lstStyle/>
          <a:p>
            <a:pPr indent="0" marL="0">
              <a:spcAft>
                <a:spcPts val="500"/>
              </a:spcAft>
              <a:buNone/>
            </a:pPr>
            <a:r>
              <a:rPr lang="en-US" sz="1300" b="1" dirty="0">
                <a:solidFill>
                  <a:srgbClr val="000000"/>
                </a:solidFill>
              </a:rPr>
              <a:t>28 Sep: </a:t>
            </a:r>
            <a:pPr indent="0" marL="0">
              <a:spcAft>
                <a:spcPts val="500"/>
              </a:spcAft>
              <a:buNone/>
            </a:pPr>
            <a:r>
              <a:rPr lang="en-US" sz="1300" dirty="0">
                <a:solidFill>
                  <a:srgbClr val="000000"/>
                </a:solidFill>
              </a:rPr>
              <a:t>12 issues created; data PRs merged (#52, #99).</a:t>
            </a:r>
            <a:endParaRPr lang="en-US" sz="1300" dirty="0"/>
          </a:p>
          <a:p>
            <a:pPr indent="0" marL="0">
              <a:spcAft>
                <a:spcPts val="500"/>
              </a:spcAft>
              <a:buNone/>
            </a:pPr>
            <a:r>
              <a:rPr lang="en-US" sz="1300" b="1" dirty="0">
                <a:solidFill>
                  <a:srgbClr val="000000"/>
                </a:solidFill>
              </a:rPr>
              <a:t>29 Sep: </a:t>
            </a:r>
            <a:pPr indent="0" marL="0">
              <a:spcAft>
                <a:spcPts val="500"/>
              </a:spcAft>
              <a:buNone/>
            </a:pPr>
            <a:r>
              <a:rPr lang="en-US" sz="1300" dirty="0">
                <a:solidFill>
                  <a:srgbClr val="000000"/>
                </a:solidFill>
              </a:rPr>
              <a:t>GitHub Projects board created.</a:t>
            </a:r>
            <a:endParaRPr lang="en-US" sz="1300" dirty="0"/>
          </a:p>
          <a:p>
            <a:pPr indent="0" marL="0">
              <a:spcAft>
                <a:spcPts val="500"/>
              </a:spcAft>
              <a:buNone/>
            </a:pPr>
            <a:r>
              <a:rPr lang="en-US" sz="1300" b="1" dirty="0">
                <a:solidFill>
                  <a:srgbClr val="000000"/>
                </a:solidFill>
              </a:rPr>
              <a:t>30 Sep: </a:t>
            </a:r>
            <a:pPr indent="0" marL="0">
              <a:spcAft>
                <a:spcPts val="500"/>
              </a:spcAft>
              <a:buNone/>
            </a:pPr>
            <a:r>
              <a:rPr lang="en-US" sz="1300" dirty="0">
                <a:solidFill>
                  <a:srgbClr val="000000"/>
                </a:solidFill>
              </a:rPr>
              <a:t>3 EDA issues added; EDA merged (#121); features, classifiers, evaluation and write-up merged (#122-#125).</a:t>
            </a:r>
            <a:endParaRPr lang="en-US" sz="13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292608"/>
            <a:ext cx="10881360" cy="274320"/>
          </a:xfrm>
          <a:prstGeom prst="rect">
            <a:avLst/>
          </a:prstGeom>
          <a:noFill/>
          <a:ln/>
        </p:spPr>
        <p:txBody>
          <a:bodyPr wrap="square" lIns="0" tIns="0" rIns="0" bIns="0" rtlCol="0" anchor="t"/>
          <a:lstStyle/>
          <a:p>
            <a:pPr algn="l" indent="0" marL="0">
              <a:buNone/>
            </a:pPr>
            <a:r>
              <a:rPr lang="en-US" sz="1100" b="1" spc="200" kern="0" dirty="0">
                <a:solidFill>
                  <a:schemeClr val="accent6"/>
                </a:solidFill>
              </a:rPr>
              <a:t>9  |  INDIVIDUAL CONTRIBUTIONS AND NEXT STEPS</a:t>
            </a:r>
            <a:endParaRPr lang="en-US" sz="1100" dirty="0"/>
          </a:p>
        </p:txBody>
      </p:sp>
      <p:sp>
        <p:nvSpPr>
          <p:cNvPr id="3" name="Text 1"/>
          <p:cNvSpPr/>
          <p:nvPr>
            <p:ph idx="102" type="title" hasCustomPrompt="1"/>
          </p:nvPr>
        </p:nvSpPr>
        <p:spPr>
          <a:xfrm>
            <a:off x="640080" y="566928"/>
            <a:ext cx="10881360" cy="685800"/>
          </a:xfrm>
          <a:prstGeom prst="rect">
            <a:avLst/>
          </a:prstGeom>
          <a:noFill/>
          <a:ln/>
        </p:spPr>
        <p:txBody>
          <a:bodyPr wrap="square" lIns="0" tIns="0" rIns="0" bIns="0" rtlCol="0" anchor="t"/>
          <a:lstStyle/>
          <a:p>
            <a:pPr algn="l" indent="0" marL="0">
              <a:buNone/>
            </a:pPr>
            <a:r>
              <a:rPr lang="en-US" sz="2800" b="1" dirty="0">
                <a:solidFill>
                  <a:schemeClr val="tx2"/>
                </a:solidFill>
              </a:rPr>
              <a:t>Individual Contributions and Next Steps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08792" cy="914400"/>
        </p:xfrm>
        <a:graphic>
          <a:graphicData uri="http://schemas.openxmlformats.org/drawingml/2006/table">
            <a:tbl>
              <a:tblPr/>
              <a:tblGrid>
                <a:gridCol w="2926080"/>
                <a:gridCol w="5029200"/>
                <a:gridCol w="2953512"/>
              </a:tblGrid>
              <a:tr h="512064">
                <a:tc>
                  <a:txBody>
                    <a:bodyPr/>
                    <a:lstStyle/>
                    <a:p>
                      <a:pPr algn="l" indent="0" marL="0">
                        <a:buNone/>
                      </a:pPr>
                      <a:r>
                        <a:rPr lang="en-US" sz="1200" b="1" dirty="0">
                          <a:solidFill>
                            <a:schemeClr val="bg1"/>
                          </a:solidFill>
                        </a:rPr>
                        <a:t>Member / Register number</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Completed tasks</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c>
                  <a:txBody>
                    <a:bodyPr/>
                    <a:lstStyle/>
                    <a:p>
                      <a:pPr algn="l" indent="0" marL="0">
                        <a:buNone/>
                      </a:pPr>
                      <a:r>
                        <a:rPr lang="en-US" sz="1200" b="1" dirty="0">
                          <a:solidFill>
                            <a:schemeClr val="bg1"/>
                          </a:solidFill>
                        </a:rPr>
                        <a:t>Evidence</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tx2"/>
                    </a:solidFill>
                  </a:tcPr>
                </a:tc>
              </a:tr>
              <a:tr h="512064">
                <a:tc>
                  <a:txBody>
                    <a:bodyPr/>
                    <a:lstStyle/>
                    <a:p>
                      <a:pPr algn="l" indent="0" marL="0">
                        <a:buNone/>
                      </a:pPr>
                      <a:r>
                        <a:rPr lang="en-US" sz="1200" dirty="0">
                          <a:solidFill>
                            <a:schemeClr val="tx1"/>
                          </a:solidFill>
                        </a:rPr>
                        <a:t>Aditya Monish Kumar K  CB.SC.U4CSE23103</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Play Store scraper; full NEWEST collection (1.20M reviews, 11 apps); cleaning; dataset documentation; project board</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scripts/01-02, apps.py, data_io.py, DATA_SOURCES.md</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512064">
                <a:tc>
                  <a:txBody>
                    <a:bodyPr/>
                    <a:lstStyle/>
                    <a:p>
                      <a:pPr algn="l" indent="0" marL="0">
                        <a:buNone/>
                      </a:pPr>
                      <a:r>
                        <a:rPr lang="en-US" sz="1200" dirty="0">
                          <a:solidFill>
                            <a:schemeClr val="tx1"/>
                          </a:solidFill>
                        </a:rPr>
                        <a:t>Regella Krishna Saketh  CB.SC.U4CSE23649</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200" dirty="0">
                          <a:solidFill>
                            <a:schemeClr val="tx1"/>
                          </a:solidFill>
                        </a:rPr>
                        <a:t>EDA script with Akshay: coverage and bias audit, issue analysis, statistical tests, version analysis</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200" dirty="0">
                          <a:solidFill>
                            <a:schemeClr val="tx1"/>
                          </a:solidFill>
                        </a:rPr>
                        <a:t>scripts/05_eda.py, EDA.md, data/charts/eda</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512064">
                <a:tc>
                  <a:txBody>
                    <a:bodyPr/>
                    <a:lstStyle/>
                    <a:p>
                      <a:pPr algn="l" indent="0" marL="0">
                        <a:buNone/>
                      </a:pPr>
                      <a:r>
                        <a:rPr lang="en-US" sz="1200" dirty="0">
                          <a:solidFill>
                            <a:schemeClr val="tx1"/>
                          </a:solidFill>
                        </a:rPr>
                        <a:t>Akshay KS  CB.SC.U4CSE23104</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EDA script with Saketh: coverage and bias audit, issue analysis, statistical tests, version analysis</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scripts/05_eda.py, EDA.md, data/charts/eda</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r h="512064">
                <a:tc>
                  <a:txBody>
                    <a:bodyPr/>
                    <a:lstStyle/>
                    <a:p>
                      <a:pPr algn="l" indent="0" marL="0">
                        <a:buNone/>
                      </a:pPr>
                      <a:r>
                        <a:rPr lang="en-US" sz="1200" dirty="0">
                          <a:solidFill>
                            <a:schemeClr val="tx1"/>
                          </a:solidFill>
                        </a:rPr>
                        <a:t>Harshini Vennela  CB.SC.U4CSE23455</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200" dirty="0">
                          <a:solidFill>
                            <a:schemeClr val="tx1"/>
                          </a:solidFill>
                        </a:rPr>
                        <a:t>With Kanishka: TF-IDF + SVD features; Logistic Regression and Random Forest; evaluation charts</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c>
                  <a:txBody>
                    <a:bodyPr/>
                    <a:lstStyle/>
                    <a:p>
                      <a:pPr algn="l" indent="0" marL="0">
                        <a:buNone/>
                      </a:pPr>
                      <a:r>
                        <a:rPr lang="en-US" sz="1200" dirty="0">
                          <a:solidFill>
                            <a:schemeClr val="tx1"/>
                          </a:solidFill>
                        </a:rPr>
                        <a:t>scripts/05_feature_engineering.py, 06-13, MODEL_EVALUATION.md</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2"/>
                    </a:solidFill>
                  </a:tcPr>
                </a:tc>
              </a:tr>
              <a:tr h="512064">
                <a:tc>
                  <a:txBody>
                    <a:bodyPr/>
                    <a:lstStyle/>
                    <a:p>
                      <a:pPr algn="l" indent="0" marL="0">
                        <a:buNone/>
                      </a:pPr>
                      <a:r>
                        <a:rPr lang="en-US" sz="1200" dirty="0">
                          <a:solidFill>
                            <a:schemeClr val="tx1"/>
                          </a:solidFill>
                        </a:rPr>
                        <a:t>Kanishka D  CB.SC.U4CSE23155</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With Harshini: TF-IDF + SVD features; Logistic Regression and Random Forest; evaluation charts</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c>
                  <a:txBody>
                    <a:bodyPr/>
                    <a:lstStyle/>
                    <a:p>
                      <a:pPr algn="l" indent="0" marL="0">
                        <a:buNone/>
                      </a:pPr>
                      <a:r>
                        <a:rPr lang="en-US" sz="1200" dirty="0">
                          <a:solidFill>
                            <a:schemeClr val="tx1"/>
                          </a:solidFill>
                        </a:rPr>
                        <a:t>scripts/05_feature_engineering.py, 06-13, MODEL_EVALUATION.md</a:t>
                      </a:r>
                      <a:endParaRPr lang="en-US" sz="1200" dirty="0"/>
                    </a:p>
                  </a:txBody>
                  <a:tcPr marL="73152" marR="73152" marT="27432" marB="27432" anchor="ctr">
                    <a:lnL w="0" cap="flat" cmpd="sng" algn="ctr">
                      <a:noFill/>
                    </a:lnL>
                    <a:lnR w="0" cap="flat" cmpd="sng" algn="ctr">
                      <a:noFill/>
                    </a:lnR>
                    <a:lnT w="0" cap="flat" cmpd="sng" algn="ctr">
                      <a:noFill/>
                    </a:lnT>
                    <a:lnB w="6350" cap="flat" cmpd="sng" algn="ctr">
                      <a:solidFill>
                        <a:srgbClr val="E3E8EF"/>
                      </a:solidFill>
                      <a:prstDash val="solid"/>
                      <a:round/>
                      <a:headEnd type="none" w="med" len="med"/>
                      <a:tailEnd type="none" w="med" len="med"/>
                    </a:lnB>
                    <a:solidFill>
                      <a:schemeClr val="bg1"/>
                    </a:solidFill>
                  </a:tcPr>
                </a:tc>
              </a:tr>
            </a:tbl>
          </a:graphicData>
        </a:graphic>
      </p:graphicFrame>
      <p:sp>
        <p:nvSpPr>
          <p:cNvPr id="6" name="plan card"/>
          <p:cNvSpPr/>
          <p:nvPr/>
        </p:nvSpPr>
        <p:spPr>
          <a:xfrm>
            <a:off x="640080" y="4709160"/>
            <a:ext cx="4754880" cy="1600200"/>
          </a:xfrm>
          <a:prstGeom prst="roundRect">
            <a:avLst>
              <a:gd name="adj" fmla="val 457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7" name="Text 3"/>
          <p:cNvSpPr txBox="1"/>
          <p:nvPr/>
        </p:nvSpPr>
        <p:spPr>
          <a:xfrm>
            <a:off x="822960" y="4773168"/>
            <a:ext cx="4389120" cy="274320"/>
          </a:xfrm>
          <a:prstGeom prst="rect">
            <a:avLst/>
          </a:prstGeom>
          <a:noFill/>
          <a:ln/>
        </p:spPr>
        <p:txBody>
          <a:bodyPr wrap="square" lIns="0" tIns="0" rIns="0" bIns="0" rtlCol="0" anchor="ctr"/>
          <a:lstStyle/>
          <a:p>
            <a:pPr indent="0" marL="0">
              <a:buNone/>
            </a:pPr>
            <a:r>
              <a:rPr lang="en-US" sz="1400" b="1" dirty="0">
                <a:solidFill>
                  <a:schemeClr val="tx2"/>
                </a:solidFill>
              </a:rPr>
              <a:t>Pending work and Review 2 plan</a:t>
            </a:r>
            <a:endParaRPr lang="en-US" sz="1400" dirty="0"/>
          </a:p>
        </p:txBody>
      </p:sp>
      <p:sp>
        <p:nvSpPr>
          <p:cNvPr id="8" name="Text 4"/>
          <p:cNvSpPr txBox="1"/>
          <p:nvPr/>
        </p:nvSpPr>
        <p:spPr>
          <a:xfrm>
            <a:off x="822960" y="5074920"/>
            <a:ext cx="4434840" cy="1188720"/>
          </a:xfrm>
          <a:prstGeom prst="rect">
            <a:avLst/>
          </a:prstGeom>
          <a:noFill/>
          <a:ln/>
        </p:spPr>
        <p:txBody>
          <a:bodyPr wrap="square" lIns="0" tIns="0" rIns="0" bIns="0" rtlCol="0" anchor="t"/>
          <a:lstStyle/>
          <a:p>
            <a:pPr indent="0" marL="0">
              <a:spcAft>
                <a:spcPts val="300"/>
              </a:spcAft>
              <a:buNone/>
            </a:pPr>
            <a:r>
              <a:rPr lang="en-US" sz="1300" b="1" dirty="0">
                <a:solidFill>
                  <a:srgbClr val="000000"/>
                </a:solidFill>
              </a:rPr>
              <a:t>Pending: </a:t>
            </a:r>
            <a:pPr indent="0" marL="0">
              <a:spcAft>
                <a:spcPts val="300"/>
              </a:spcAft>
              <a:buNone/>
            </a:pPr>
            <a:r>
              <a:rPr lang="en-US" sz="1300" dirty="0">
                <a:solidFill>
                  <a:srgbClr val="000000"/>
                </a:solidFill>
              </a:rPr>
              <a:t>none for Review 1.</a:t>
            </a:r>
            <a:endParaRPr lang="en-US" sz="1300" dirty="0"/>
          </a:p>
          <a:p>
            <a:pPr indent="0" marL="0">
              <a:spcAft>
                <a:spcPts val="300"/>
              </a:spcAft>
              <a:buNone/>
            </a:pPr>
            <a:r>
              <a:rPr lang="en-US" sz="1300" b="1" dirty="0">
                <a:solidFill>
                  <a:srgbClr val="000000"/>
                </a:solidFill>
              </a:rPr>
              <a:t>Review 2: </a:t>
            </a:r>
            <a:pPr indent="0" marL="0">
              <a:spcAft>
                <a:spcPts val="300"/>
              </a:spcAft>
              <a:buNone/>
            </a:pPr>
            <a:r>
              <a:rPr lang="en-US" sz="1300" dirty="0">
                <a:solidFill>
                  <a:srgbClr val="000000"/>
                </a:solidFill>
              </a:rPr>
              <a:t>text mining + time-series forecasting, interactive dashboard, combined recommendations and report, all on the 1.14M-review dataset.</a:t>
            </a:r>
            <a:endParaRPr lang="en-US" sz="1300" dirty="0"/>
          </a:p>
        </p:txBody>
      </p:sp>
      <p:sp>
        <p:nvSpPr>
          <p:cNvPr id="9" name="links card"/>
          <p:cNvSpPr/>
          <p:nvPr/>
        </p:nvSpPr>
        <p:spPr>
          <a:xfrm>
            <a:off x="5577840" y="4709160"/>
            <a:ext cx="5971032" cy="1600200"/>
          </a:xfrm>
          <a:prstGeom prst="roundRect">
            <a:avLst>
              <a:gd name="adj" fmla="val 4571"/>
            </a:avLst>
          </a:prstGeom>
          <a:solidFill>
            <a:schemeClr val="bg1"/>
          </a:solidFill>
          <a:ln w="12700">
            <a:solidFill>
              <a:schemeClr val="bg1"/>
            </a:solidFill>
            <a:prstDash val="solid"/>
          </a:ln>
          <a:effectLst>
            <a:outerShdw sx="100000" sy="100000" kx="0" ky="0" algn="bl" rotWithShape="0" blurRad="101600" dist="25400" dir="5400000">
              <a:srgbClr val="132C43">
                <a:alpha val="10000"/>
              </a:srgbClr>
            </a:outerShdw>
          </a:effectLst>
        </p:spPr>
      </p:sp>
      <p:sp>
        <p:nvSpPr>
          <p:cNvPr id="10" name="Text 6"/>
          <p:cNvSpPr txBox="1"/>
          <p:nvPr/>
        </p:nvSpPr>
        <p:spPr>
          <a:xfrm>
            <a:off x="5760720" y="4773168"/>
            <a:ext cx="5577840" cy="274320"/>
          </a:xfrm>
          <a:prstGeom prst="rect">
            <a:avLst/>
          </a:prstGeom>
          <a:noFill/>
          <a:ln/>
        </p:spPr>
        <p:txBody>
          <a:bodyPr wrap="square" lIns="0" tIns="0" rIns="0" bIns="0" rtlCol="0" anchor="ctr"/>
          <a:lstStyle/>
          <a:p>
            <a:pPr indent="0" marL="0">
              <a:buNone/>
            </a:pPr>
            <a:r>
              <a:rPr lang="en-US" sz="1400" b="1" dirty="0">
                <a:solidFill>
                  <a:schemeClr val="tx2"/>
                </a:solidFill>
              </a:rPr>
              <a:t>Submission links (github.com/Adithya-Monish-Kumar-K/...)</a:t>
            </a:r>
            <a:endParaRPr lang="en-US" sz="1400" dirty="0"/>
          </a:p>
        </p:txBody>
      </p:sp>
      <p:sp>
        <p:nvSpPr>
          <p:cNvPr id="11" name="Text 7"/>
          <p:cNvSpPr txBox="1"/>
          <p:nvPr/>
        </p:nvSpPr>
        <p:spPr>
          <a:xfrm>
            <a:off x="5760720" y="5074920"/>
            <a:ext cx="5669280" cy="1188720"/>
          </a:xfrm>
          <a:prstGeom prst="rect">
            <a:avLst/>
          </a:prstGeom>
          <a:noFill/>
          <a:ln/>
        </p:spPr>
        <p:txBody>
          <a:bodyPr wrap="square" lIns="0" tIns="0" rIns="0" bIns="0" rtlCol="0" anchor="t"/>
          <a:lstStyle/>
          <a:p>
            <a:pPr indent="0" marL="0">
              <a:spcAft>
                <a:spcPts val="100"/>
              </a:spcAft>
              <a:buNone/>
            </a:pPr>
            <a:r>
              <a:rPr lang="en-US" sz="1200" b="1" dirty="0">
                <a:solidFill>
                  <a:srgbClr val="000000"/>
                </a:solidFill>
              </a:rPr>
              <a:t>Notebook: </a:t>
            </a:r>
            <a:pPr indent="0" marL="0">
              <a:spcAft>
                <a:spcPts val="100"/>
              </a:spcAft>
              <a:buNone/>
            </a:pPr>
            <a:r>
              <a:rPr lang="en-US" sz="1200" dirty="0">
                <a:solidFill>
                  <a:srgbClr val="000000"/>
                </a:solidFill>
              </a:rPr>
              <a:t>ba-capstone-app-reviews/blob/master/notebooks/Review_1_Analysis.ipynb</a:t>
            </a:r>
            <a:endParaRPr lang="en-US" sz="1200" dirty="0"/>
          </a:p>
          <a:p>
            <a:pPr indent="0" marL="0">
              <a:spcAft>
                <a:spcPts val="100"/>
              </a:spcAft>
              <a:buNone/>
            </a:pPr>
            <a:r>
              <a:rPr lang="en-US" sz="1200" b="1" dirty="0">
                <a:solidFill>
                  <a:srgbClr val="000000"/>
                </a:solidFill>
              </a:rPr>
              <a:t>Dataset: </a:t>
            </a:r>
            <a:pPr indent="0" marL="0">
              <a:spcAft>
                <a:spcPts val="100"/>
              </a:spcAft>
              <a:buNone/>
            </a:pPr>
            <a:r>
              <a:rPr lang="en-US" sz="1200" dirty="0">
                <a:solidFill>
                  <a:srgbClr val="000000"/>
                </a:solidFill>
              </a:rPr>
              <a:t>ba-capstone-app-reviews/tree/master/data</a:t>
            </a:r>
            <a:endParaRPr lang="en-US" sz="1200" dirty="0"/>
          </a:p>
          <a:p>
            <a:pPr indent="0" marL="0">
              <a:spcAft>
                <a:spcPts val="100"/>
              </a:spcAft>
              <a:buNone/>
            </a:pPr>
            <a:r>
              <a:rPr lang="en-US" sz="1200" b="1" dirty="0">
                <a:solidFill>
                  <a:srgbClr val="000000"/>
                </a:solidFill>
              </a:rPr>
              <a:t>Data documentation: </a:t>
            </a:r>
            <a:pPr indent="0" marL="0">
              <a:spcAft>
                <a:spcPts val="100"/>
              </a:spcAft>
              <a:buNone/>
            </a:pPr>
            <a:r>
              <a:rPr lang="en-US" sz="1200" dirty="0">
                <a:solidFill>
                  <a:srgbClr val="000000"/>
                </a:solidFill>
              </a:rPr>
              <a:t>ba-capstone-app-reviews/blob/master/DATA_SOURCES.md</a:t>
            </a:r>
            <a:endParaRPr lang="en-US" sz="1200" dirty="0"/>
          </a:p>
          <a:p>
            <a:pPr indent="0" marL="0">
              <a:spcAft>
                <a:spcPts val="100"/>
              </a:spcAft>
              <a:buNone/>
            </a:pPr>
            <a:r>
              <a:rPr lang="en-US" sz="1200" b="1" dirty="0">
                <a:solidFill>
                  <a:srgbClr val="000000"/>
                </a:solidFill>
              </a:rPr>
              <a:t>Board: </a:t>
            </a:r>
            <a:pPr indent="0" marL="0">
              <a:spcAft>
                <a:spcPts val="100"/>
              </a:spcAft>
              <a:buNone/>
            </a:pPr>
            <a:r>
              <a:rPr lang="en-US" sz="1200" dirty="0">
                <a:solidFill>
                  <a:srgbClr val="000000"/>
                </a:solidFill>
              </a:rPr>
              <a:t>projects/4 (github.com/users/...)</a:t>
            </a:r>
            <a:endParaRPr lang="en-US" sz="1200" dirty="0"/>
          </a:p>
          <a:p>
            <a:pPr indent="0" marL="0">
              <a:spcAft>
                <a:spcPts val="100"/>
              </a:spcAft>
              <a:buNone/>
            </a:pPr>
            <a:r>
              <a:rPr lang="en-US" sz="1200" b="1" dirty="0">
                <a:solidFill>
                  <a:srgbClr val="000000"/>
                </a:solidFill>
              </a:rPr>
              <a:t>Summary: </a:t>
            </a:r>
            <a:pPr indent="0" marL="0">
              <a:spcAft>
                <a:spcPts val="100"/>
              </a:spcAft>
              <a:buNone/>
            </a:pPr>
            <a:r>
              <a:rPr lang="en-US" sz="1200" dirty="0">
                <a:solidFill>
                  <a:srgbClr val="000000"/>
                </a:solidFill>
              </a:rPr>
              <a:t>ba-capstone-app-reviews/blob/master/README.md</a:t>
            </a:r>
            <a:endParaRPr lang="en-US" sz="1200" dirty="0"/>
          </a:p>
        </p:txBody>
      </p:sp>
      <p:sp>
        <p:nvSpPr>
          <p:cNvPr id="25" name="Slide Number Placeholder 0"/>
          <p:cNvSpPr>
            <a:spLocks noGrp="1"/>
          </p:cNvSpPr>
          <p:nvPr>
            <p:ph type="sldNum" sz="quarter" idx="4294967295"/>
          </p:nvPr>
        </p:nvSpPr>
        <p:spPr>
          <a:xfrm>
            <a:off x="11018520" y="644652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Review1">
  <a:themeElements>
    <a:clrScheme name="Review1">
      <a:dk1>
        <a:srgbClr val="1F2D3D"/>
      </a:dk1>
      <a:lt1>
        <a:srgbClr val="FFFFFF"/>
      </a:lt1>
      <a:dk2>
        <a:srgbClr val="132C43"/>
      </a:dk2>
      <a:lt2>
        <a:srgbClr val="F7F9FC"/>
      </a:lt2>
      <a:accent1>
        <a:srgbClr val="2A78D6"/>
      </a:accent1>
      <a:accent2>
        <a:srgbClr val="EB6834"/>
      </a:accent2>
      <a:accent3>
        <a:srgbClr val="1BAF7A"/>
      </a:accent3>
      <a:accent4>
        <a:srgbClr val="EDA100"/>
      </a:accent4>
      <a:accent5>
        <a:srgbClr val="C93A39"/>
      </a:accent5>
      <a:accent6>
        <a:srgbClr val="48677E"/>
      </a:accent6>
      <a:hlink>
        <a:srgbClr val="2A78D6"/>
      </a:hlink>
      <a:folHlink>
        <a:srgbClr val="48677E"/>
      </a:folHlink>
    </a:clrScheme>
    <a:fontScheme name="Review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App Update Impact and Failure Detection - Review 1</dc:title>
  <dc:subject>PptxGenJS Presentation</dc:subject>
  <dc:creator>Team 10</dc:creator>
  <cp:lastModifiedBy>Team 10</cp:lastModifiedBy>
  <cp:revision>1</cp:revision>
  <dcterms:created xsi:type="dcterms:W3CDTF">2026-10-05T16:14:51Z</dcterms:created>
  <dcterms:modified xsi:type="dcterms:W3CDTF">2026-10-05T16:14:51Z</dcterms:modified>
</cp:coreProperties>
</file>