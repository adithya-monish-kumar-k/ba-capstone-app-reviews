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6" r:id="rId17"/>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i="0">
                <a:solidFill>
                  <a:srgbClr val="132C43"/>
                </a:solidFill>
                <a:latin typeface="Arial"/>
              </a:rPr>
              <a:t>% of reviews rated 1–2★, by app</a:t>
            </a:r>
          </a:p>
        </c:rich>
      </c:tx>
      <c:layout/>
      <c:overlay val="0"/>
    </c:title>
    <c:autoTitleDeleted val="0"/>
    <c:plotArea>
      <c:barChart>
        <c:barDir val="bar"/>
        <c:grouping val="clustered"/>
        <c:ser>
          <c:idx val="0"/>
          <c:order val="0"/>
          <c:tx>
            <c:strRef>
              <c:f>Sheet1!$B$1</c:f>
              <c:strCache>
                <c:ptCount val="1"/>
                <c:pt idx="0">
                  <c:v>value</c:v>
                </c:pt>
              </c:strCache>
            </c:strRef>
          </c:tx>
          <c:dPt>
            <c:idx val="0"/>
            <c:spPr>
              <a:solidFill>
                <a:srgbClr val="EB6834"/>
              </a:solidFill>
            </c:spPr>
          </c:dPt>
          <c:dPt>
            <c:idx val="1"/>
            <c:spPr>
              <a:solidFill>
                <a:srgbClr val="2A78D6"/>
              </a:solidFill>
            </c:spPr>
          </c:dPt>
          <c:dPt>
            <c:idx val="2"/>
            <c:spPr>
              <a:solidFill>
                <a:srgbClr val="2A78D6"/>
              </a:solidFill>
            </c:spPr>
          </c:dPt>
          <c:dPt>
            <c:idx val="3"/>
            <c:spPr>
              <a:solidFill>
                <a:srgbClr val="1BAF7A"/>
              </a:solidFill>
            </c:spPr>
          </c:dPt>
          <c:dPt>
            <c:idx val="4"/>
            <c:spPr>
              <a:solidFill>
                <a:srgbClr val="2A78D6"/>
              </a:solidFill>
            </c:spPr>
          </c:dPt>
          <c:dPt>
            <c:idx val="5"/>
            <c:spPr>
              <a:solidFill>
                <a:srgbClr val="2A78D6"/>
              </a:solidFill>
            </c:spPr>
          </c:dPt>
          <c:dPt>
            <c:idx val="6"/>
            <c:spPr>
              <a:solidFill>
                <a:srgbClr val="EB6834"/>
              </a:solidFill>
            </c:spPr>
          </c:dPt>
          <c:dPt>
            <c:idx val="7"/>
            <c:spPr>
              <a:solidFill>
                <a:srgbClr val="EB6834"/>
              </a:solidFill>
            </c:spPr>
          </c:dPt>
          <c:dPt>
            <c:idx val="8"/>
            <c:spPr>
              <a:solidFill>
                <a:srgbClr val="1BAF7A"/>
              </a:solidFill>
            </c:spPr>
          </c:dPt>
          <c:dPt>
            <c:idx val="9"/>
            <c:spPr>
              <a:solidFill>
                <a:srgbClr val="EB6834"/>
              </a:solidFill>
            </c:spPr>
          </c:dPt>
          <c:dPt>
            <c:idx val="10"/>
            <c:spPr>
              <a:solidFill>
                <a:srgbClr val="1BAF7A"/>
              </a:solidFill>
            </c:spPr>
          </c:dPt>
          <c:cat>
            <c:strRef>
              <c:f>Sheet1!$A$2:$A$12</c:f>
              <c:strCache>
                <c:ptCount val="11"/>
                <c:pt idx="0">
                  <c:v>Amazon</c:v>
                </c:pt>
                <c:pt idx="1">
                  <c:v>Swiggy</c:v>
                </c:pt>
                <c:pt idx="2">
                  <c:v>Domino's</c:v>
                </c:pt>
                <c:pt idx="3">
                  <c:v>Google Pay</c:v>
                </c:pt>
                <c:pt idx="4">
                  <c:v>Blinkit</c:v>
                </c:pt>
                <c:pt idx="5">
                  <c:v>Zomato</c:v>
                </c:pt>
                <c:pt idx="6">
                  <c:v>Flipkart</c:v>
                </c:pt>
                <c:pt idx="7">
                  <c:v>Meesho</c:v>
                </c:pt>
                <c:pt idx="8">
                  <c:v>Paytm</c:v>
                </c:pt>
                <c:pt idx="9">
                  <c:v>Myntra</c:v>
                </c:pt>
                <c:pt idx="10">
                  <c:v>PhonePe</c:v>
                </c:pt>
              </c:strCache>
            </c:strRef>
          </c:cat>
          <c:val>
            <c:numRef>
              <c:f>Sheet1!$B$2:$B$12</c:f>
              <c:numCache>
                <c:formatCode>General</c:formatCode>
                <c:ptCount val="11"/>
                <c:pt idx="0">
                  <c:v>54.4</c:v>
                </c:pt>
                <c:pt idx="1">
                  <c:v>35.0</c:v>
                </c:pt>
                <c:pt idx="2">
                  <c:v>23.6</c:v>
                </c:pt>
                <c:pt idx="3">
                  <c:v>23.2</c:v>
                </c:pt>
                <c:pt idx="4">
                  <c:v>19.0</c:v>
                </c:pt>
                <c:pt idx="5">
                  <c:v>18.8</c:v>
                </c:pt>
                <c:pt idx="6">
                  <c:v>18.3</c:v>
                </c:pt>
                <c:pt idx="7">
                  <c:v>17.6</c:v>
                </c:pt>
                <c:pt idx="8">
                  <c:v>14.6</c:v>
                </c:pt>
                <c:pt idx="9">
                  <c:v>10.3</c:v>
                </c:pt>
                <c:pt idx="10">
                  <c:v>9.8</c:v>
                </c:pt>
              </c:numCache>
            </c:numRef>
          </c:val>
        </c:ser>
        <c:dLbls>
          <c:numFmt formatCode="0&quot;%&quot;" sourceLinked="0"/>
          <c:txPr>
            <a:bodyPr/>
            <a:lstStyle/>
            <a:p>
              <a:pPr>
                <a:defRPr sz="1100">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AE2EB"/>
            </a:solidFill>
          </a:ln>
        </c:spPr>
        <c:txPr>
          <a:bodyPr/>
          <a:lstStyle/>
          <a:p>
            <a:pPr>
              <a:defRPr sz="1100"/>
            </a:pPr>
          </a:p>
        </c:txPr>
        <c:crossAx val="-2113994440"/>
        <c:crosses val="autoZero"/>
        <c:auto val="1"/>
        <c:lblAlgn val="ctr"/>
        <c:lblOffset val="100"/>
        <c:noMultiLvlLbl val="0"/>
      </c:catAx>
      <c:valAx>
        <c:axId val="-2113994440"/>
        <c:scaling>
          <c:max val="68.0"/>
          <c:min val="0.0"/>
        </c:scaling>
        <c:delete/>
        <c:axPos val="b"/>
        <c:majorTickMark val="out"/>
        <c:minorTickMark val="none"/>
        <c:tickLblPos val="nextTo"/>
        <c:crossAx val="-2068027336"/>
        <c:crosses val="autoZero"/>
      </c:valAx>
    </c:plotArea>
    <c:dispBlanksAs val="gap"/>
  </c:chart>
  <c:txPr>
    <a:bodyPr/>
    <a:lstStyle/>
    <a:p>
      <a:pPr>
        <a:defRPr sz="1100">
          <a:solidFill>
            <a:srgbClr val="263C5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i="0">
                <a:solidFill>
                  <a:srgbClr val="132C43"/>
                </a:solidFill>
                <a:latin typeface="Arial"/>
              </a:rPr>
              <a:t>Top issues by domain (% of reviews)</a:t>
            </a:r>
          </a:p>
        </c:rich>
      </c:tx>
      <c:layout/>
      <c:overlay val="0"/>
    </c:title>
    <c:autoTitleDeleted val="0"/>
    <c:plotArea>
      <c:barChart>
        <c:barDir val="col"/>
        <c:grouping val="clustered"/>
        <c:ser>
          <c:idx val="0"/>
          <c:order val="0"/>
          <c:tx>
            <c:strRef>
              <c:f>Sheet1!$B$1</c:f>
              <c:strCache>
                <c:ptCount val="1"/>
                <c:pt idx="0">
                  <c:v>Food &amp; Grocery</c:v>
                </c:pt>
              </c:strCache>
            </c:strRef>
          </c:tx>
          <c:spPr>
            <a:solidFill>
              <a:srgbClr val="2A78D6"/>
            </a:solidFill>
          </c:spPr>
          <c:cat>
            <c:strRef>
              <c:f>Sheet1!$A$2:$A$6</c:f>
              <c:strCache>
                <c:ptCount val="5"/>
                <c:pt idx="0">
                  <c:v>Customer Support</c:v>
                </c:pt>
                <c:pt idx="1">
                  <c:v>Cancellation &amp; Return</c:v>
                </c:pt>
                <c:pt idx="2">
                  <c:v>Delivery Delay</c:v>
                </c:pt>
                <c:pt idx="3">
                  <c:v>Payment &amp; Refund</c:v>
                </c:pt>
                <c:pt idx="4">
                  <c:v>Crash &amp; Stability</c:v>
                </c:pt>
              </c:strCache>
            </c:strRef>
          </c:cat>
          <c:val>
            <c:numRef>
              <c:f>Sheet1!$B$2:$B$6</c:f>
              <c:numCache>
                <c:formatCode>General</c:formatCode>
                <c:ptCount val="5"/>
                <c:pt idx="0">
                  <c:v>4.57</c:v>
                </c:pt>
                <c:pt idx="1">
                  <c:v>2.48</c:v>
                </c:pt>
                <c:pt idx="2">
                  <c:v>3.53</c:v>
                </c:pt>
                <c:pt idx="3">
                  <c:v>1.91</c:v>
                </c:pt>
                <c:pt idx="4">
                  <c:v>0.32</c:v>
                </c:pt>
              </c:numCache>
            </c:numRef>
          </c:val>
        </c:ser>
        <c:ser>
          <c:idx val="1"/>
          <c:order val="1"/>
          <c:tx>
            <c:strRef>
              <c:f>Sheet1!$C$1</c:f>
              <c:strCache>
                <c:ptCount val="1"/>
                <c:pt idx="0">
                  <c:v>Shopping</c:v>
                </c:pt>
              </c:strCache>
            </c:strRef>
          </c:tx>
          <c:spPr>
            <a:solidFill>
              <a:srgbClr val="EB6834"/>
            </a:solidFill>
          </c:spPr>
          <c:cat>
            <c:strRef>
              <c:f>Sheet1!$A$2:$A$6</c:f>
              <c:strCache>
                <c:ptCount val="5"/>
                <c:pt idx="0">
                  <c:v>Customer Support</c:v>
                </c:pt>
                <c:pt idx="1">
                  <c:v>Cancellation &amp; Return</c:v>
                </c:pt>
                <c:pt idx="2">
                  <c:v>Delivery Delay</c:v>
                </c:pt>
                <c:pt idx="3">
                  <c:v>Payment &amp; Refund</c:v>
                </c:pt>
                <c:pt idx="4">
                  <c:v>Crash &amp; Stability</c:v>
                </c:pt>
              </c:strCache>
            </c:strRef>
          </c:cat>
          <c:val>
            <c:numRef>
              <c:f>Sheet1!$C$2:$C$6</c:f>
              <c:numCache>
                <c:formatCode>General</c:formatCode>
                <c:ptCount val="5"/>
                <c:pt idx="0">
                  <c:v>4.44</c:v>
                </c:pt>
                <c:pt idx="1">
                  <c:v>4.6</c:v>
                </c:pt>
                <c:pt idx="2">
                  <c:v>2.95</c:v>
                </c:pt>
                <c:pt idx="3">
                  <c:v>1.72</c:v>
                </c:pt>
                <c:pt idx="4">
                  <c:v>0.5</c:v>
                </c:pt>
              </c:numCache>
            </c:numRef>
          </c:val>
        </c:ser>
        <c:ser>
          <c:idx val="2"/>
          <c:order val="2"/>
          <c:tx>
            <c:strRef>
              <c:f>Sheet1!$D$1</c:f>
              <c:strCache>
                <c:ptCount val="1"/>
                <c:pt idx="0">
                  <c:v>Payments</c:v>
                </c:pt>
              </c:strCache>
            </c:strRef>
          </c:tx>
          <c:spPr>
            <a:solidFill>
              <a:srgbClr val="1BAF7A"/>
            </a:solidFill>
          </c:spPr>
          <c:cat>
            <c:strRef>
              <c:f>Sheet1!$A$2:$A$6</c:f>
              <c:strCache>
                <c:ptCount val="5"/>
                <c:pt idx="0">
                  <c:v>Customer Support</c:v>
                </c:pt>
                <c:pt idx="1">
                  <c:v>Cancellation &amp; Return</c:v>
                </c:pt>
                <c:pt idx="2">
                  <c:v>Delivery Delay</c:v>
                </c:pt>
                <c:pt idx="3">
                  <c:v>Payment &amp; Refund</c:v>
                </c:pt>
                <c:pt idx="4">
                  <c:v>Crash &amp; Stability</c:v>
                </c:pt>
              </c:strCache>
            </c:strRef>
          </c:cat>
          <c:val>
            <c:numRef>
              <c:f>Sheet1!$D$2:$D$6</c:f>
              <c:numCache>
                <c:formatCode>General</c:formatCode>
                <c:ptCount val="5"/>
                <c:pt idx="0">
                  <c:v>1.29</c:v>
                </c:pt>
                <c:pt idx="1">
                  <c:v>0.22</c:v>
                </c:pt>
                <c:pt idx="2">
                  <c:v>0.07</c:v>
                </c:pt>
                <c:pt idx="3">
                  <c:v>0.56</c:v>
                </c:pt>
                <c:pt idx="4">
                  <c:v>1.3</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AE2EB"/>
            </a:solidFill>
          </a:ln>
        </c:spPr>
        <c:txPr>
          <a:bodyPr/>
          <a:lstStyle/>
          <a:p>
            <a:pPr>
              <a:defRPr sz="10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050"/>
          </a:pPr>
        </a:p>
      </c:txPr>
    </c:legend>
    <c:dispBlanksAs val="gap"/>
  </c:chart>
  <c:txPr>
    <a:bodyPr/>
    <a:lstStyle/>
    <a:p>
      <a:pPr>
        <a:defRPr sz="1050">
          <a:solidFill>
            <a:srgbClr val="263C5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i="0">
                <a:solidFill>
                  <a:srgbClr val="132C43"/>
                </a:solidFill>
                <a:latin typeface="Arial"/>
              </a:rPr>
              <a:t>Swiggy, Blinkit, Domino's, Flipkart and Amazon: reviews per day</a:t>
            </a:r>
          </a:p>
        </c:rich>
      </c:tx>
      <c:layout/>
      <c:overlay val="0"/>
    </c:title>
    <c:autoTitleDeleted val="0"/>
    <c:plotArea>
      <c:lineChart>
        <c:grouping val="standard"/>
        <c:varyColors val="0"/>
        <c:ser>
          <c:idx val="0"/>
          <c:order val="0"/>
          <c:tx>
            <c:strRef>
              <c:f>Sheet1!$B$1</c:f>
              <c:strCache>
                <c:ptCount val="1"/>
                <c:pt idx="0">
                  <c:v>Positive reviews (4–5★) per day</c:v>
                </c:pt>
              </c:strCache>
            </c:strRef>
          </c:tx>
          <c:spPr>
            <a:ln w="28575">
              <a:solidFill>
                <a:srgbClr val="2A78D6"/>
              </a:solidFill>
            </a:ln>
          </c:spPr>
          <c:marker>
            <c:symbol val="none"/>
          </c:marker>
          <c:cat>
            <c:strRef>
              <c:f>Sheet1!$A$2:$A$50</c:f>
              <c:strCache>
                <c:ptCount val="49"/>
                <c:pt idx="0">
                  <c:v>06 Apr</c:v>
                </c:pt>
                <c:pt idx="1">
                  <c:v>07 Apr</c:v>
                </c:pt>
                <c:pt idx="2">
                  <c:v>08 Apr</c:v>
                </c:pt>
                <c:pt idx="3">
                  <c:v>09 Apr</c:v>
                </c:pt>
                <c:pt idx="4">
                  <c:v>10 Apr</c:v>
                </c:pt>
                <c:pt idx="5">
                  <c:v>11 Apr</c:v>
                </c:pt>
                <c:pt idx="6">
                  <c:v>12 Apr</c:v>
                </c:pt>
                <c:pt idx="7">
                  <c:v>13 Apr</c:v>
                </c:pt>
                <c:pt idx="8">
                  <c:v>14 Apr</c:v>
                </c:pt>
                <c:pt idx="9">
                  <c:v>15 Apr</c:v>
                </c:pt>
                <c:pt idx="10">
                  <c:v>16 Apr</c:v>
                </c:pt>
                <c:pt idx="11">
                  <c:v>17 Apr</c:v>
                </c:pt>
                <c:pt idx="12">
                  <c:v>18 Apr</c:v>
                </c:pt>
                <c:pt idx="13">
                  <c:v>19 Apr</c:v>
                </c:pt>
                <c:pt idx="14">
                  <c:v>20 Apr</c:v>
                </c:pt>
                <c:pt idx="15">
                  <c:v>21 Apr</c:v>
                </c:pt>
                <c:pt idx="16">
                  <c:v>22 Apr</c:v>
                </c:pt>
                <c:pt idx="17">
                  <c:v>23 Apr</c:v>
                </c:pt>
                <c:pt idx="18">
                  <c:v>24 Apr</c:v>
                </c:pt>
                <c:pt idx="19">
                  <c:v>25 Apr</c:v>
                </c:pt>
                <c:pt idx="20">
                  <c:v>26 Apr</c:v>
                </c:pt>
                <c:pt idx="21">
                  <c:v>27 Apr</c:v>
                </c:pt>
                <c:pt idx="22">
                  <c:v>28 Apr</c:v>
                </c:pt>
                <c:pt idx="23">
                  <c:v>29 Apr</c:v>
                </c:pt>
                <c:pt idx="24">
                  <c:v>30 Apr</c:v>
                </c:pt>
                <c:pt idx="25">
                  <c:v>01 May</c:v>
                </c:pt>
                <c:pt idx="26">
                  <c:v>02 May</c:v>
                </c:pt>
                <c:pt idx="27">
                  <c:v>03 May</c:v>
                </c:pt>
                <c:pt idx="28">
                  <c:v>04 May</c:v>
                </c:pt>
                <c:pt idx="29">
                  <c:v>05 May</c:v>
                </c:pt>
                <c:pt idx="30">
                  <c:v>06 May</c:v>
                </c:pt>
                <c:pt idx="31">
                  <c:v>07 May</c:v>
                </c:pt>
                <c:pt idx="32">
                  <c:v>08 May</c:v>
                </c:pt>
                <c:pt idx="33">
                  <c:v>09 May</c:v>
                </c:pt>
                <c:pt idx="34">
                  <c:v>10 May</c:v>
                </c:pt>
                <c:pt idx="35">
                  <c:v>11 May</c:v>
                </c:pt>
                <c:pt idx="36">
                  <c:v>12 May</c:v>
                </c:pt>
                <c:pt idx="37">
                  <c:v>13 May</c:v>
                </c:pt>
                <c:pt idx="38">
                  <c:v>14 May</c:v>
                </c:pt>
                <c:pt idx="39">
                  <c:v>15 May</c:v>
                </c:pt>
                <c:pt idx="40">
                  <c:v>16 May</c:v>
                </c:pt>
                <c:pt idx="41">
                  <c:v>17 May</c:v>
                </c:pt>
                <c:pt idx="42">
                  <c:v>18 May</c:v>
                </c:pt>
                <c:pt idx="43">
                  <c:v>19 May</c:v>
                </c:pt>
                <c:pt idx="44">
                  <c:v>20 May</c:v>
                </c:pt>
                <c:pt idx="45">
                  <c:v>21 May</c:v>
                </c:pt>
                <c:pt idx="46">
                  <c:v>22 May</c:v>
                </c:pt>
                <c:pt idx="47">
                  <c:v>23 May</c:v>
                </c:pt>
                <c:pt idx="48">
                  <c:v>24 May</c:v>
                </c:pt>
              </c:strCache>
            </c:strRef>
          </c:cat>
          <c:val>
            <c:numRef>
              <c:f>Sheet1!$B$2:$B$50</c:f>
              <c:numCache>
                <c:formatCode>General</c:formatCode>
                <c:ptCount val="49"/>
                <c:pt idx="0">
                  <c:v>2593</c:v>
                </c:pt>
                <c:pt idx="1">
                  <c:v>2995</c:v>
                </c:pt>
                <c:pt idx="2">
                  <c:v>2829</c:v>
                </c:pt>
                <c:pt idx="3">
                  <c:v>2932</c:v>
                </c:pt>
                <c:pt idx="4">
                  <c:v>2826</c:v>
                </c:pt>
                <c:pt idx="5">
                  <c:v>2984</c:v>
                </c:pt>
                <c:pt idx="6">
                  <c:v>3351</c:v>
                </c:pt>
                <c:pt idx="7">
                  <c:v>2571</c:v>
                </c:pt>
                <c:pt idx="8">
                  <c:v>2938</c:v>
                </c:pt>
                <c:pt idx="9">
                  <c:v>2681</c:v>
                </c:pt>
                <c:pt idx="10">
                  <c:v>2654</c:v>
                </c:pt>
                <c:pt idx="11">
                  <c:v>2516</c:v>
                </c:pt>
                <c:pt idx="12">
                  <c:v>2637</c:v>
                </c:pt>
                <c:pt idx="13">
                  <c:v>3075</c:v>
                </c:pt>
                <c:pt idx="14">
                  <c:v>2405</c:v>
                </c:pt>
                <c:pt idx="15">
                  <c:v>1412</c:v>
                </c:pt>
                <c:pt idx="16">
                  <c:v>889</c:v>
                </c:pt>
                <c:pt idx="17">
                  <c:v>748</c:v>
                </c:pt>
                <c:pt idx="18">
                  <c:v>593</c:v>
                </c:pt>
                <c:pt idx="19">
                  <c:v>491</c:v>
                </c:pt>
                <c:pt idx="20">
                  <c:v>585</c:v>
                </c:pt>
                <c:pt idx="21">
                  <c:v>479</c:v>
                </c:pt>
                <c:pt idx="22">
                  <c:v>473</c:v>
                </c:pt>
                <c:pt idx="23">
                  <c:v>468</c:v>
                </c:pt>
                <c:pt idx="24">
                  <c:v>473</c:v>
                </c:pt>
                <c:pt idx="25">
                  <c:v>607</c:v>
                </c:pt>
                <c:pt idx="26">
                  <c:v>553</c:v>
                </c:pt>
                <c:pt idx="27">
                  <c:v>902</c:v>
                </c:pt>
                <c:pt idx="28">
                  <c:v>726</c:v>
                </c:pt>
                <c:pt idx="29">
                  <c:v>789</c:v>
                </c:pt>
                <c:pt idx="30">
                  <c:v>2216</c:v>
                </c:pt>
                <c:pt idx="31">
                  <c:v>2757</c:v>
                </c:pt>
                <c:pt idx="32">
                  <c:v>3334</c:v>
                </c:pt>
                <c:pt idx="33">
                  <c:v>3916</c:v>
                </c:pt>
                <c:pt idx="34">
                  <c:v>4473</c:v>
                </c:pt>
                <c:pt idx="35">
                  <c:v>3300</c:v>
                </c:pt>
                <c:pt idx="36">
                  <c:v>3275</c:v>
                </c:pt>
                <c:pt idx="37">
                  <c:v>3198</c:v>
                </c:pt>
                <c:pt idx="38">
                  <c:v>3250</c:v>
                </c:pt>
                <c:pt idx="39">
                  <c:v>3151</c:v>
                </c:pt>
                <c:pt idx="40">
                  <c:v>3412</c:v>
                </c:pt>
                <c:pt idx="41">
                  <c:v>4323</c:v>
                </c:pt>
                <c:pt idx="42">
                  <c:v>3511</c:v>
                </c:pt>
                <c:pt idx="43">
                  <c:v>3075</c:v>
                </c:pt>
                <c:pt idx="44">
                  <c:v>3013</c:v>
                </c:pt>
                <c:pt idx="45">
                  <c:v>3024</c:v>
                </c:pt>
                <c:pt idx="46">
                  <c:v>2878</c:v>
                </c:pt>
                <c:pt idx="47">
                  <c:v>2522</c:v>
                </c:pt>
                <c:pt idx="48">
                  <c:v>3456</c:v>
                </c:pt>
              </c:numCache>
            </c:numRef>
          </c:val>
          <c:smooth val="0"/>
        </c:ser>
        <c:ser>
          <c:idx val="1"/>
          <c:order val="1"/>
          <c:tx>
            <c:strRef>
              <c:f>Sheet1!$C$1</c:f>
              <c:strCache>
                <c:ptCount val="1"/>
                <c:pt idx="0">
                  <c:v>Negative reviews (1–2★) per day</c:v>
                </c:pt>
              </c:strCache>
            </c:strRef>
          </c:tx>
          <c:spPr>
            <a:ln w="28575">
              <a:solidFill>
                <a:srgbClr val="C93A39"/>
              </a:solidFill>
            </a:ln>
          </c:spPr>
          <c:marker>
            <c:symbol val="none"/>
          </c:marker>
          <c:cat>
            <c:strRef>
              <c:f>Sheet1!$A$2:$A$50</c:f>
              <c:strCache>
                <c:ptCount val="49"/>
                <c:pt idx="0">
                  <c:v>06 Apr</c:v>
                </c:pt>
                <c:pt idx="1">
                  <c:v>07 Apr</c:v>
                </c:pt>
                <c:pt idx="2">
                  <c:v>08 Apr</c:v>
                </c:pt>
                <c:pt idx="3">
                  <c:v>09 Apr</c:v>
                </c:pt>
                <c:pt idx="4">
                  <c:v>10 Apr</c:v>
                </c:pt>
                <c:pt idx="5">
                  <c:v>11 Apr</c:v>
                </c:pt>
                <c:pt idx="6">
                  <c:v>12 Apr</c:v>
                </c:pt>
                <c:pt idx="7">
                  <c:v>13 Apr</c:v>
                </c:pt>
                <c:pt idx="8">
                  <c:v>14 Apr</c:v>
                </c:pt>
                <c:pt idx="9">
                  <c:v>15 Apr</c:v>
                </c:pt>
                <c:pt idx="10">
                  <c:v>16 Apr</c:v>
                </c:pt>
                <c:pt idx="11">
                  <c:v>17 Apr</c:v>
                </c:pt>
                <c:pt idx="12">
                  <c:v>18 Apr</c:v>
                </c:pt>
                <c:pt idx="13">
                  <c:v>19 Apr</c:v>
                </c:pt>
                <c:pt idx="14">
                  <c:v>20 Apr</c:v>
                </c:pt>
                <c:pt idx="15">
                  <c:v>21 Apr</c:v>
                </c:pt>
                <c:pt idx="16">
                  <c:v>22 Apr</c:v>
                </c:pt>
                <c:pt idx="17">
                  <c:v>23 Apr</c:v>
                </c:pt>
                <c:pt idx="18">
                  <c:v>24 Apr</c:v>
                </c:pt>
                <c:pt idx="19">
                  <c:v>25 Apr</c:v>
                </c:pt>
                <c:pt idx="20">
                  <c:v>26 Apr</c:v>
                </c:pt>
                <c:pt idx="21">
                  <c:v>27 Apr</c:v>
                </c:pt>
                <c:pt idx="22">
                  <c:v>28 Apr</c:v>
                </c:pt>
                <c:pt idx="23">
                  <c:v>29 Apr</c:v>
                </c:pt>
                <c:pt idx="24">
                  <c:v>30 Apr</c:v>
                </c:pt>
                <c:pt idx="25">
                  <c:v>01 May</c:v>
                </c:pt>
                <c:pt idx="26">
                  <c:v>02 May</c:v>
                </c:pt>
                <c:pt idx="27">
                  <c:v>03 May</c:v>
                </c:pt>
                <c:pt idx="28">
                  <c:v>04 May</c:v>
                </c:pt>
                <c:pt idx="29">
                  <c:v>05 May</c:v>
                </c:pt>
                <c:pt idx="30">
                  <c:v>06 May</c:v>
                </c:pt>
                <c:pt idx="31">
                  <c:v>07 May</c:v>
                </c:pt>
                <c:pt idx="32">
                  <c:v>08 May</c:v>
                </c:pt>
                <c:pt idx="33">
                  <c:v>09 May</c:v>
                </c:pt>
                <c:pt idx="34">
                  <c:v>10 May</c:v>
                </c:pt>
                <c:pt idx="35">
                  <c:v>11 May</c:v>
                </c:pt>
                <c:pt idx="36">
                  <c:v>12 May</c:v>
                </c:pt>
                <c:pt idx="37">
                  <c:v>13 May</c:v>
                </c:pt>
                <c:pt idx="38">
                  <c:v>14 May</c:v>
                </c:pt>
                <c:pt idx="39">
                  <c:v>15 May</c:v>
                </c:pt>
                <c:pt idx="40">
                  <c:v>16 May</c:v>
                </c:pt>
                <c:pt idx="41">
                  <c:v>17 May</c:v>
                </c:pt>
                <c:pt idx="42">
                  <c:v>18 May</c:v>
                </c:pt>
                <c:pt idx="43">
                  <c:v>19 May</c:v>
                </c:pt>
                <c:pt idx="44">
                  <c:v>20 May</c:v>
                </c:pt>
                <c:pt idx="45">
                  <c:v>21 May</c:v>
                </c:pt>
                <c:pt idx="46">
                  <c:v>22 May</c:v>
                </c:pt>
                <c:pt idx="47">
                  <c:v>23 May</c:v>
                </c:pt>
                <c:pt idx="48">
                  <c:v>24 May</c:v>
                </c:pt>
              </c:strCache>
            </c:strRef>
          </c:cat>
          <c:val>
            <c:numRef>
              <c:f>Sheet1!$C$2:$C$50</c:f>
              <c:numCache>
                <c:formatCode>General</c:formatCode>
                <c:ptCount val="49"/>
                <c:pt idx="0">
                  <c:v>708</c:v>
                </c:pt>
                <c:pt idx="1">
                  <c:v>748</c:v>
                </c:pt>
                <c:pt idx="2">
                  <c:v>779</c:v>
                </c:pt>
                <c:pt idx="3">
                  <c:v>772</c:v>
                </c:pt>
                <c:pt idx="4">
                  <c:v>705</c:v>
                </c:pt>
                <c:pt idx="5">
                  <c:v>797</c:v>
                </c:pt>
                <c:pt idx="6">
                  <c:v>934</c:v>
                </c:pt>
                <c:pt idx="7">
                  <c:v>756</c:v>
                </c:pt>
                <c:pt idx="8">
                  <c:v>896</c:v>
                </c:pt>
                <c:pt idx="9">
                  <c:v>838</c:v>
                </c:pt>
                <c:pt idx="10">
                  <c:v>751</c:v>
                </c:pt>
                <c:pt idx="11">
                  <c:v>796</c:v>
                </c:pt>
                <c:pt idx="12">
                  <c:v>858</c:v>
                </c:pt>
                <c:pt idx="13">
                  <c:v>943</c:v>
                </c:pt>
                <c:pt idx="14">
                  <c:v>758</c:v>
                </c:pt>
                <c:pt idx="15">
                  <c:v>683</c:v>
                </c:pt>
                <c:pt idx="16">
                  <c:v>677</c:v>
                </c:pt>
                <c:pt idx="17">
                  <c:v>638</c:v>
                </c:pt>
                <c:pt idx="18">
                  <c:v>644</c:v>
                </c:pt>
                <c:pt idx="19">
                  <c:v>656</c:v>
                </c:pt>
                <c:pt idx="20">
                  <c:v>714</c:v>
                </c:pt>
                <c:pt idx="21">
                  <c:v>650</c:v>
                </c:pt>
                <c:pt idx="22">
                  <c:v>617</c:v>
                </c:pt>
                <c:pt idx="23">
                  <c:v>649</c:v>
                </c:pt>
                <c:pt idx="24">
                  <c:v>745</c:v>
                </c:pt>
                <c:pt idx="25">
                  <c:v>747</c:v>
                </c:pt>
                <c:pt idx="26">
                  <c:v>675</c:v>
                </c:pt>
                <c:pt idx="27">
                  <c:v>713</c:v>
                </c:pt>
                <c:pt idx="28">
                  <c:v>586</c:v>
                </c:pt>
                <c:pt idx="29">
                  <c:v>660</c:v>
                </c:pt>
                <c:pt idx="30">
                  <c:v>745</c:v>
                </c:pt>
                <c:pt idx="31">
                  <c:v>787</c:v>
                </c:pt>
                <c:pt idx="32">
                  <c:v>874</c:v>
                </c:pt>
                <c:pt idx="33">
                  <c:v>1003</c:v>
                </c:pt>
                <c:pt idx="34">
                  <c:v>1196</c:v>
                </c:pt>
                <c:pt idx="35">
                  <c:v>870</c:v>
                </c:pt>
                <c:pt idx="36">
                  <c:v>873</c:v>
                </c:pt>
                <c:pt idx="37">
                  <c:v>923</c:v>
                </c:pt>
                <c:pt idx="38">
                  <c:v>958</c:v>
                </c:pt>
                <c:pt idx="39">
                  <c:v>921</c:v>
                </c:pt>
                <c:pt idx="40">
                  <c:v>1003</c:v>
                </c:pt>
                <c:pt idx="41">
                  <c:v>1198</c:v>
                </c:pt>
                <c:pt idx="42">
                  <c:v>1079</c:v>
                </c:pt>
                <c:pt idx="43">
                  <c:v>963</c:v>
                </c:pt>
                <c:pt idx="44">
                  <c:v>943</c:v>
                </c:pt>
                <c:pt idx="45">
                  <c:v>953</c:v>
                </c:pt>
                <c:pt idx="46">
                  <c:v>896</c:v>
                </c:pt>
                <c:pt idx="47">
                  <c:v>840</c:v>
                </c:pt>
                <c:pt idx="48">
                  <c:v>1004</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AE2EB"/>
            </a:solidFill>
          </a:ln>
        </c:spPr>
        <c:txPr>
          <a:bodyPr/>
          <a:lstStyle/>
          <a:p>
            <a:pPr>
              <a:defRPr sz="1000"/>
            </a:pPr>
          </a:p>
        </c:txPr>
        <c:crossAx val="2140495176"/>
        <c:crosses val="autoZero"/>
        <c:auto val="1"/>
        <c:lblAlgn val="ctr"/>
        <c:lblOffset val="100"/>
        <c:noMultiLvlLbl val="0"/>
        <c:tickLblSkip val="7"/>
        <c:tickMarkSkip val="7"/>
      </c:catAx>
      <c:valAx>
        <c:axId val="2140495176"/>
        <c:scaling/>
        <c:delete val="0"/>
        <c:axPos val="l"/>
        <c:majorGridlines>
          <c:spPr>
            <a:ln>
              <a:solidFill>
                <a:srgbClr val="E6E5E1"/>
              </a:solidFill>
            </a:ln>
          </c:spPr>
        </c:majorGridlines>
        <c:numFmt formatCode="#,##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50"/>
          </a:pPr>
        </a:p>
      </c:txPr>
    </c:legend>
    <c:plotVisOnly val="1"/>
    <c:dispBlanksAs val="gap"/>
    <c:showDLblsOverMax val="0"/>
  </c:chart>
  <c:txPr>
    <a:bodyPr/>
    <a:lstStyle/>
    <a:p>
      <a:pPr>
        <a:defRPr sz="1050">
          <a:solidFill>
            <a:srgbClr val="263C5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i="0">
                <a:solidFill>
                  <a:srgbClr val="132C43"/>
                </a:solidFill>
                <a:latin typeface="Arial"/>
              </a:rPr>
              <a:t>Random Forest feature importance (top 8)</a:t>
            </a:r>
          </a:p>
        </c:rich>
      </c:tx>
      <c:layout/>
      <c:overlay val="0"/>
    </c:title>
    <c:autoTitleDeleted val="0"/>
    <c:plotArea>
      <c:barChart>
        <c:barDir val="bar"/>
        <c:grouping val="clustered"/>
        <c:ser>
          <c:idx val="0"/>
          <c:order val="0"/>
          <c:tx>
            <c:strRef>
              <c:f>Sheet1!$B$1</c:f>
              <c:strCache>
                <c:ptCount val="1"/>
                <c:pt idx="0">
                  <c:v>value</c:v>
                </c:pt>
              </c:strCache>
            </c:strRef>
          </c:tx>
          <c:dPt>
            <c:idx val="0"/>
            <c:spPr>
              <a:solidFill>
                <a:srgbClr val="2A78D6"/>
              </a:solidFill>
            </c:spPr>
          </c:dPt>
          <c:dPt>
            <c:idx val="1"/>
            <c:spPr>
              <a:solidFill>
                <a:srgbClr val="2A78D6"/>
              </a:solidFill>
            </c:spPr>
          </c:dPt>
          <c:dPt>
            <c:idx val="2"/>
            <c:spPr>
              <a:solidFill>
                <a:srgbClr val="2A78D6"/>
              </a:solidFill>
            </c:spPr>
          </c:dPt>
          <c:dPt>
            <c:idx val="3"/>
            <c:spPr>
              <a:solidFill>
                <a:srgbClr val="48677E"/>
              </a:solidFill>
            </c:spPr>
          </c:dPt>
          <c:dPt>
            <c:idx val="4"/>
            <c:spPr>
              <a:solidFill>
                <a:srgbClr val="48677E"/>
              </a:solidFill>
            </c:spPr>
          </c:dPt>
          <c:dPt>
            <c:idx val="5"/>
            <c:spPr>
              <a:solidFill>
                <a:srgbClr val="48677E"/>
              </a:solidFill>
            </c:spPr>
          </c:dPt>
          <c:dPt>
            <c:idx val="6"/>
            <c:spPr>
              <a:solidFill>
                <a:srgbClr val="2A78D6"/>
              </a:solidFill>
            </c:spPr>
          </c:dPt>
          <c:dPt>
            <c:idx val="7"/>
            <c:spPr>
              <a:solidFill>
                <a:srgbClr val="1BAF7A"/>
              </a:solidFill>
            </c:spPr>
          </c:dPt>
          <c:cat>
            <c:strRef>
              <c:f>Sheet1!$A$2:$A$9</c:f>
              <c:strCache>
                <c:ptCount val="8"/>
                <c:pt idx="0">
                  <c:v>sentiment_pos</c:v>
                </c:pt>
                <c:pt idx="1">
                  <c:v>sentiment_compound</c:v>
                </c:pt>
                <c:pt idx="2">
                  <c:v>sentiment_neg</c:v>
                </c:pt>
                <c:pt idx="3">
                  <c:v>SVD_12</c:v>
                </c:pt>
                <c:pt idx="4">
                  <c:v>SVD_11</c:v>
                </c:pt>
                <c:pt idx="5">
                  <c:v>SVD_7</c:v>
                </c:pt>
                <c:pt idx="6">
                  <c:v>sentiment_neu</c:v>
                </c:pt>
                <c:pt idx="7">
                  <c:v>review_length</c:v>
                </c:pt>
              </c:strCache>
            </c:strRef>
          </c:cat>
          <c:val>
            <c:numRef>
              <c:f>Sheet1!$B$2:$B$9</c:f>
              <c:numCache>
                <c:formatCode>General</c:formatCode>
                <c:ptCount val="8"/>
                <c:pt idx="0">
                  <c:v>0.155</c:v>
                </c:pt>
                <c:pt idx="1">
                  <c:v>0.136</c:v>
                </c:pt>
                <c:pt idx="2">
                  <c:v>0.094</c:v>
                </c:pt>
                <c:pt idx="3">
                  <c:v>0.059</c:v>
                </c:pt>
                <c:pt idx="4">
                  <c:v>0.042</c:v>
                </c:pt>
                <c:pt idx="5">
                  <c:v>0.039</c:v>
                </c:pt>
                <c:pt idx="6">
                  <c:v>0.039</c:v>
                </c:pt>
                <c:pt idx="7">
                  <c:v>0.035</c:v>
                </c:pt>
              </c:numCache>
            </c:numRef>
          </c:val>
        </c:ser>
        <c:dLbls>
          <c:numFmt formatCode="0.000" sourceLinked="0"/>
          <c:txPr>
            <a:bodyPr/>
            <a:lstStyle/>
            <a:p>
              <a:pPr>
                <a:defRPr sz="1000">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AE2EB"/>
            </a:solidFill>
          </a:ln>
        </c:spPr>
        <c:txPr>
          <a:bodyPr/>
          <a:lstStyle/>
          <a:p>
            <a:pPr>
              <a:defRPr sz="1000"/>
            </a:pPr>
          </a:p>
        </c:txPr>
        <c:crossAx val="-2113994440"/>
        <c:crosses val="autoZero"/>
        <c:auto val="1"/>
        <c:lblAlgn val="ctr"/>
        <c:lblOffset val="100"/>
        <c:noMultiLvlLbl val="0"/>
      </c:catAx>
      <c:valAx>
        <c:axId val="-2113994440"/>
        <c:scaling>
          <c:max val="0.19"/>
          <c:min val="0.0"/>
        </c:scaling>
        <c:delete/>
        <c:axPos val="b"/>
        <c:majorTickMark val="out"/>
        <c:minorTickMark val="none"/>
        <c:tickLblPos val="nextTo"/>
        <c:crossAx val="-2068027336"/>
        <c:crosses val="autoZero"/>
      </c:valAx>
    </c:plotArea>
    <c:dispBlanksAs val="gap"/>
  </c:chart>
  <c:txPr>
    <a:bodyPr/>
    <a:lstStyle/>
    <a:p>
      <a:pPr>
        <a:defRPr sz="1000">
          <a:solidFill>
            <a:srgbClr val="263C5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200" b="1" i="0">
                <a:solidFill>
                  <a:srgbClr val="132C43"/>
                </a:solidFill>
                <a:latin typeface="Arial"/>
              </a:rPr>
              <a:t>Target balance (1,137,987 reviews)</a:t>
            </a:r>
          </a:p>
        </c:rich>
      </c:tx>
      <c:layout/>
      <c:overlay val="0"/>
    </c:title>
    <c:autoTitleDeleted val="0"/>
    <c:plotArea>
      <c:layout/>
      <c:doughnutChart>
        <c:varyColors val="1"/>
        <c:ser>
          <c:idx val="0"/>
          <c:order val="0"/>
          <c:tx>
            <c:strRef>
              <c:f>Sheet1!$B$1</c:f>
              <c:strCache>
                <c:ptCount val="1"/>
                <c:pt idx="0">
                  <c:v>Reviews</c:v>
                </c:pt>
              </c:strCache>
            </c:strRef>
          </c:tx>
          <c:dPt>
            <c:idx val="0"/>
            <c:spPr>
              <a:solidFill>
                <a:srgbClr val="C93A39"/>
              </a:solidFill>
            </c:spPr>
          </c:dPt>
          <c:dPt>
            <c:idx val="1"/>
            <c:spPr>
              <a:solidFill>
                <a:srgbClr val="2A78D6"/>
              </a:solidFill>
            </c:spPr>
          </c:dPt>
          <c:cat>
            <c:strRef>
              <c:f>Sheet1!$A$2:$A$3</c:f>
              <c:strCache>
                <c:ptCount val="2"/>
                <c:pt idx="0">
                  <c:v>Problematic (1–2★)</c:v>
                </c:pt>
                <c:pt idx="1">
                  <c:v>Not problematic</c:v>
                </c:pt>
              </c:strCache>
            </c:strRef>
          </c:cat>
          <c:val>
            <c:numRef>
              <c:f>Sheet1!$B$2:$B$3</c:f>
              <c:numCache>
                <c:formatCode>General</c:formatCode>
                <c:ptCount val="2"/>
                <c:pt idx="0">
                  <c:v>221581</c:v>
                </c:pt>
                <c:pt idx="1">
                  <c:v>916406</c:v>
                </c:pt>
              </c:numCache>
            </c:numRef>
          </c:val>
        </c:ser>
        <c:dLbls>
          <c:numFmt formatCode="0.0%" sourceLinked="0"/>
          <c:txPr>
            <a:bodyPr/>
            <a:lstStyle/>
            <a:p>
              <a:pPr>
                <a:defRPr sz="1100" b="1">
                  <a:solidFill>
                    <a:srgbClr val="FFFFFF"/>
                  </a:solidFill>
                </a:defRPr>
              </a:pPr>
            </a:p>
          </c:txPr>
          <c:showLegendKey val="0"/>
          <c:showVal val="0"/>
          <c:showCatName val="0"/>
          <c:showSerName val="0"/>
          <c:showPercent val="1"/>
          <c:showBubbleSize val="0"/>
          <c:showLeaderLines val="1"/>
        </c:dLbls>
        <c:firstSliceAng val="0"/>
        <c:holeSize val="50"/>
      </c:doughnutChart>
    </c:plotArea>
    <c:legend>
      <c:legendPos/>
      <c:layout/>
      <c:overlay val="0"/>
      <c:txPr>
        <a:bodyPr/>
        <a:lstStyle/>
        <a:p>
          <a:pPr>
            <a:defRPr sz="1050"/>
          </a:pPr>
        </a:p>
      </c:txPr>
    </c:legend>
    <c:plotVisOnly val="1"/>
    <c:dispBlanksAs val="gap"/>
    <c:showDLblsOverMax val="0"/>
  </c:chart>
  <c:txPr>
    <a:bodyPr/>
    <a:lstStyle/>
    <a:p>
      <a:pPr>
        <a:defRPr sz="1050">
          <a:solidFill>
            <a:srgbClr val="263C50"/>
          </a:solidFill>
          <a:latin typeface="Arial"/>
        </a:defRPr>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topic: detecting problem reviews and failure patterns in Play Store reviews of 11 Indian consumer apps. All data was collected by us (no Kaggle/UCI). About 10 minutes, roughly 1 minute per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published review mining treats reviews as one fixed set with generic labels and rarely checks collection bias. Our pipeline is built for Indian delivery, shopping and payment apps and checks the data for collection artefacts. Definitions: a problem review is a 1-2 star review; the classifier finds dissatisfied users and the issue tags say what failed. Update impact: Review 1 compares each app version with its app's average (EDA charts 12-13); Review 2 compares ratings just before and after each new version appears, which the continuous daily data makes possible.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review from 1 April to 20 September, not a sample, so all apps share the same window. The last sample row is a real mis-rating: a complaint with 5 stars. Full documentation is in DATA_SOURCES.md.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is the executed notebook cell, running the cleaning on the raw files and matching the script output exactly. Most removals are very short reviews ('ok', a single emoji). The language check looks at letters only, so English reviews with emojis stay; the non-English removals are mostly Hindi (Devanagari), then Bengali and Telugu. An earlier version of the rule counted emojis as non-English and wrongly removed about 76,000 English reviews; we found and fixed it. No duplicates were found.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share of 1–2 star reviews per app. Right: the top issues per domain. Charts 02, 06 and 14 in data/charts/eda show the full detail. Only 10% of reviews carry an issue tag because most reviews are 1–3 words.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SVD components group the vocabulary: component 0 is 'good / very good / good service', component 1 'nice / very nice / nice app'. The structural features carry the strongest single signals; blue bars are sentiment, green is review length.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problem reviews are the minority (19.5%), both models use balanced class weights. The Random Forest is size-limited so the saved model fits in the repository. The out-of-time split checks that the model works on future weeks.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PR-AUC: 0.87 against 0.195 for random. The confusion matrix shows the Random Forest misses 5,756 of 44,316 complaints and raises 13,743 false alarms out of 183,282 non-problem reviews. Logistic Regression raises 11,538 false alarms but misses 6,297 complaints. The differences between the models are small but real: the 95% bootstrap interval for the PR-AUC difference (Random Forest minus Logistic Regression) is 0.001 to 0.004. Per-app results are in MODEL_EVALUATION.md.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task has one or two assignees and a due date on the GitHub Projects board, and every task is covered by a merged pull request. The screenshot is the board's table view: all 15 tasks with their assignees, status, linked pull request and due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member presents their own stage. Repository: github.com/Adithya-Monish-Kumar-K/ba-capstone-app-reviews.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users had become angrier, negative reviews would rise. Here negatives fell slightly (3-37%) while positives fell 59-90%, and a scraper error would remove all reviews alike. So this is a Play Store feed effect. Chart 15 in data/charts/eda has the per-app evidence. Chart 11 tests and rejects the July shift.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github.com/Adithya-Monish-Kumar-K/ba-capstone-app-reviews/blob/master/notebooks/Review_1_Analysis.ipynb" TargetMode="External"/><Relationship Id="rId4" Type="http://schemas.openxmlformats.org/officeDocument/2006/relationships/hyperlink" Target="https://github.com/Adithya-Monish-Kumar-K/ba-capstone-app-reviews/tree/master/data" TargetMode="External"/><Relationship Id="rId5" Type="http://schemas.openxmlformats.org/officeDocument/2006/relationships/hyperlink" Target="https://github.com/Adithya-Monish-Kumar-K/ba-capstone-app-reviews/blob/master/DATA_SOURCES.md" TargetMode="External"/><Relationship Id="rId6" Type="http://schemas.openxmlformats.org/officeDocument/2006/relationships/hyperlink" Target="https://github.com/users/Adithya-Monish-Kumar-K/projects/4" TargetMode="External"/><Relationship Id="rId7" Type="http://schemas.openxmlformats.org/officeDocument/2006/relationships/hyperlink" Target="https://github.com/Adithya-Monish-Kumar-K/ba-capstone-app-reviews/blob/master/README.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C4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8003F1-C4BB-4281-BAA1-BCC33BFC04FD}"/>
              </a:ext>
            </a:extLst>
          </p:cNvPr>
          <p:cNvSpPr>
            <a:spLocks noGrp="1"/>
          </p:cNvSpPr>
          <p:nvPr/>
        </p:nvSpPr>
        <p:spPr>
          <a:xfrm>
            <a:off x="685800" y="523875"/>
            <a:ext cx="10820400" cy="952500"/>
          </a:xfrm>
          <a:prstGeom prst="rect">
            <a:avLst/>
          </a:prstGeom>
          <a:noFill/>
          <a:ln w="0">
            <a:noFill/>
          </a:ln>
        </p:spPr>
        <p:txBody>
          <a:bodyPr>
            <a:noAutofit/>
          </a:bodyPr>
          <a:lstStyle/>
          <a:p>
            <a:pPr>
              <a:defRPr sz="4050" b="1">
                <a:solidFill>
                  <a:srgbClr val="FFFFFF"/>
                </a:solidFill>
                <a:latin typeface="Bitstream Charter"/>
                <a:ea typeface="Bitstream Charter"/>
                <a:cs typeface="Bitstream Charter"/>
              </a:defRPr>
            </a:pPr>
            <a:r>
              <a:rPr sz="3200" b="1">
                <a:solidFill>
                  <a:srgbClr val="FFFFFF"/>
                </a:solidFill>
                <a:latin typeface="Georgia"/>
                <a:ea typeface="Bitstream Charter"/>
                <a:cs typeface="Bitstream Charter"/>
              </a:rPr>
              <a:t>Mobile App Update Impact and Failure Detection</a:t>
            </a:r>
          </a:p>
        </p:txBody>
      </p:sp>
      <p:sp>
        <p:nvSpPr>
          <p:cNvPr id="4" name="Rectangle 3">
            <a:extLst>
              <a:ext uri="{FF2B5EF4-FFF2-40B4-BE49-F238E27FC236}">
                <a16:creationId xmlns:a16="http://schemas.microsoft.com/office/drawing/2014/main" id="{06E169F0-19CC-44B3-BAE4-004A1D644DC7}"/>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C9DCEB"/>
                </a:solidFill>
                <a:latin typeface="Bitstream Charter"/>
                <a:ea typeface="Bitstream Charter"/>
                <a:cs typeface="Bitstream Charter"/>
              </a:defRPr>
            </a:pPr>
            <a:r>
              <a:rPr sz="1500" b="0">
                <a:solidFill>
                  <a:srgbClr val="C9DCEB"/>
                </a:solidFill>
                <a:latin typeface="Arial"/>
                <a:ea typeface="Bitstream Charter"/>
                <a:cs typeface="Bitstream Charter"/>
              </a:rPr>
              <a:t>01</a:t>
            </a:r>
          </a:p>
        </p:txBody>
      </p:sp>
      <p:sp>
        <p:nvSpPr>
          <p:cNvPr id="6" name="TextBox 5"/>
          <p:cNvSpPr txBox="1"/>
          <p:nvPr/>
        </p:nvSpPr>
        <p:spPr>
          <a:xfrm>
            <a:off x="722376" y="1764792"/>
            <a:ext cx="10707624" cy="2194560"/>
          </a:xfrm>
          <a:prstGeom prst="rect">
            <a:avLst/>
          </a:prstGeom>
          <a:noFill/>
        </p:spPr>
        <p:txBody>
          <a:bodyPr wrap="square" anchor="t" lIns="0" rIns="0" tIns="0" bIns="0">
            <a:spAutoFit/>
          </a:bodyPr>
          <a:lstStyle/>
          <a:p>
            <a:pPr algn="l">
              <a:spcAft>
                <a:spcPts val="0"/>
              </a:spcAft>
            </a:pPr>
            <a:r>
              <a:rPr sz="2200" b="0" i="0">
                <a:solidFill>
                  <a:srgbClr val="DFEAF3"/>
                </a:solidFill>
                <a:latin typeface="Arial"/>
              </a:rPr>
              <a:t>Review 1</a:t>
            </a:r>
          </a:p>
          <a:p>
            <a:pPr algn="l">
              <a:spcAft>
                <a:spcPts val="0"/>
              </a:spcAft>
            </a:pPr>
            <a:r>
              <a:rPr sz="2200" b="0" i="0">
                <a:solidFill>
                  <a:srgbClr val="DFEAF3"/>
                </a:solidFill>
                <a:latin typeface="Arial"/>
              </a:rPr>
              <a:t>23CSE452 Business Analytics</a:t>
            </a:r>
          </a:p>
          <a:p>
            <a:pPr algn="l">
              <a:spcAft>
                <a:spcPts val="0"/>
              </a:spcAft>
            </a:pPr>
            <a:r>
              <a:rPr sz="2200" b="0" i="0">
                <a:solidFill>
                  <a:srgbClr val="DFEAF3"/>
                </a:solidFill>
                <a:latin typeface="Arial"/>
              </a:rPr>
              <a:t>Data Analysis and Predictive Modelling</a:t>
            </a:r>
          </a:p>
          <a:p>
            <a:pPr algn="l">
              <a:spcAft>
                <a:spcPts val="0"/>
              </a:spcAft>
            </a:pPr>
            <a:r>
              <a:rPr sz="2200" b="0" i="0">
                <a:solidFill>
                  <a:srgbClr val="DFEAF3"/>
                </a:solidFill>
                <a:latin typeface="Arial"/>
              </a:rPr>
              <a:t/>
            </a:r>
          </a:p>
          <a:p>
            <a:pPr algn="l">
              <a:spcAft>
                <a:spcPts val="0"/>
              </a:spcAft>
            </a:pPr>
            <a:r>
              <a:rPr sz="2200" b="0" i="0">
                <a:solidFill>
                  <a:srgbClr val="DFEAF3"/>
                </a:solidFill>
                <a:latin typeface="Arial"/>
              </a:rPr>
              <a:t>Team number: 10</a:t>
            </a:r>
          </a:p>
          <a:p>
            <a:pPr algn="l">
              <a:spcAft>
                <a:spcPts val="0"/>
              </a:spcAft>
            </a:pPr>
            <a:r>
              <a:rPr sz="2200" b="0" i="0">
                <a:solidFill>
                  <a:srgbClr val="DFEAF3"/>
                </a:solidFill>
                <a:latin typeface="Arial"/>
              </a:rPr>
              <a:t>Members:</a:t>
            </a:r>
          </a:p>
          <a:p>
            <a:pPr algn="l" marL="274320">
              <a:tabLst>
                <a:tab pos="3383280" algn="l"/>
              </a:tabLst>
              <a:spcAft>
                <a:spcPts val="0"/>
              </a:spcAft>
            </a:pPr>
            <a:r>
              <a:rPr sz="2000" b="0" i="0">
                <a:solidFill>
                  <a:srgbClr val="DFEAF3"/>
                </a:solidFill>
                <a:latin typeface="Arial"/>
              </a:rPr>
              <a:t>Aditya Monish Kumar K	-  CB.SC.U4CSE23103</a:t>
            </a:r>
          </a:p>
          <a:p>
            <a:pPr algn="l" marL="274320">
              <a:tabLst>
                <a:tab pos="3383280" algn="l"/>
              </a:tabLst>
              <a:spcAft>
                <a:spcPts val="0"/>
              </a:spcAft>
            </a:pPr>
            <a:r>
              <a:rPr sz="2000" b="0" i="0">
                <a:solidFill>
                  <a:srgbClr val="DFEAF3"/>
                </a:solidFill>
                <a:latin typeface="Arial"/>
              </a:rPr>
              <a:t>Regella Krishna Saketh	-  CB.SC.U4CSE23649</a:t>
            </a:r>
          </a:p>
          <a:p>
            <a:pPr algn="l" marL="274320">
              <a:tabLst>
                <a:tab pos="3383280" algn="l"/>
              </a:tabLst>
              <a:spcAft>
                <a:spcPts val="0"/>
              </a:spcAft>
            </a:pPr>
            <a:r>
              <a:rPr sz="2000" b="0" i="0">
                <a:solidFill>
                  <a:srgbClr val="DFEAF3"/>
                </a:solidFill>
                <a:latin typeface="Arial"/>
              </a:rPr>
              <a:t>Akshay KS	-  CB.SC.U4CSE23104</a:t>
            </a:r>
          </a:p>
          <a:p>
            <a:pPr algn="l" marL="274320">
              <a:tabLst>
                <a:tab pos="3383280" algn="l"/>
              </a:tabLst>
              <a:spcAft>
                <a:spcPts val="0"/>
              </a:spcAft>
            </a:pPr>
            <a:r>
              <a:rPr sz="2000" b="0" i="0">
                <a:solidFill>
                  <a:srgbClr val="DFEAF3"/>
                </a:solidFill>
                <a:latin typeface="Arial"/>
              </a:rPr>
              <a:t>Harshini Vennela	-  CB.SC.U4CSE23455</a:t>
            </a:r>
          </a:p>
          <a:p>
            <a:pPr algn="l" marL="274320">
              <a:tabLst>
                <a:tab pos="3383280" algn="l"/>
              </a:tabLst>
              <a:spcAft>
                <a:spcPts val="0"/>
              </a:spcAft>
            </a:pPr>
            <a:r>
              <a:rPr sz="2000" b="0" i="0">
                <a:solidFill>
                  <a:srgbClr val="DFEAF3"/>
                </a:solidFill>
                <a:latin typeface="Arial"/>
              </a:rPr>
              <a:t>Kanishka D	-  CB.SC.U4CSE23155</a:t>
            </a:r>
          </a:p>
        </p:txBody>
      </p:sp>
    </p:spTree>
    <p:extLst>
      <p:ext uri="{BB962C8B-B14F-4D97-AF65-F5344CB8AC3E}">
        <p14:creationId xmlns:p14="http://schemas.microsoft.com/office/powerpoint/2010/main" val="1023190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7979FDE-990F-4C15-B33C-B2975BF50CD9}"/>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Problem Statement and Research Gap</a:t>
            </a:r>
          </a:p>
        </p:txBody>
      </p:sp>
      <p:sp>
        <p:nvSpPr>
          <p:cNvPr id="4" name="Rectangle 3">
            <a:extLst>
              <a:ext uri="{FF2B5EF4-FFF2-40B4-BE49-F238E27FC236}">
                <a16:creationId xmlns:a16="http://schemas.microsoft.com/office/drawing/2014/main" id="{C795E4D0-3C0B-473C-BB65-A65A174FB43B}"/>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02</a:t>
            </a:r>
          </a:p>
        </p:txBody>
      </p:sp>
      <p:sp>
        <p:nvSpPr>
          <p:cNvPr id="6" name="TextBox 5"/>
          <p:cNvSpPr txBox="1"/>
          <p:nvPr/>
        </p:nvSpPr>
        <p:spPr>
          <a:xfrm>
            <a:off x="722376" y="1463040"/>
            <a:ext cx="6766560" cy="3520440"/>
          </a:xfrm>
          <a:prstGeom prst="rect">
            <a:avLst/>
          </a:prstGeom>
          <a:noFill/>
        </p:spPr>
        <p:txBody>
          <a:bodyPr wrap="square" anchor="t" lIns="0" rIns="0" tIns="0" bIns="0">
            <a:spAutoFit/>
          </a:bodyPr>
          <a:lstStyle/>
          <a:p>
            <a:pPr algn="l">
              <a:spcAft>
                <a:spcPts val="800"/>
              </a:spcAft>
            </a:pPr>
            <a:r>
              <a:rPr sz="1300" b="1" i="0">
                <a:solidFill>
                  <a:srgbClr val="132C43"/>
                </a:solidFill>
                <a:latin typeface="Arial"/>
              </a:rPr>
              <a:t>Problem statement: </a:t>
            </a:r>
            <a:r>
              <a:rPr sz="1300" b="0" i="0">
                <a:solidFill>
                  <a:srgbClr val="263C50"/>
                </a:solidFill>
                <a:latin typeface="Arial"/>
              </a:rPr>
              <a:t>Apps like Flipkart, Blinkit and Zomato get 870 to 1,540 Play Store reviews every day. Teams cannot read them all, so failed payments, late deliveries, refund problems and bad app updates are noticed late.</a:t>
            </a:r>
          </a:p>
          <a:p>
            <a:pPr algn="l">
              <a:spcAft>
                <a:spcPts val="800"/>
              </a:spcAft>
            </a:pPr>
            <a:r>
              <a:rPr sz="1300" b="1" i="0">
                <a:solidFill>
                  <a:srgbClr val="132C43"/>
                </a:solidFill>
                <a:latin typeface="Arial"/>
              </a:rPr>
              <a:t>Existing methods: </a:t>
            </a:r>
            <a:r>
              <a:rPr sz="1300" b="0" i="0">
                <a:solidFill>
                  <a:srgbClr val="263C50"/>
                </a:solidFill>
                <a:latin typeface="Arial"/>
              </a:rPr>
              <a:t>Bug / feature-request classifiers (Maalej &amp; Nabil, 2015), AR-Miner topic grouping (Chen et al., 2014), feature-level sentiment (Guzman &amp; Maalej, 2014), VADER sentiment (Hutto &amp; Gilbert, 2014).</a:t>
            </a:r>
          </a:p>
          <a:p>
            <a:pPr algn="l">
              <a:spcAft>
                <a:spcPts val="800"/>
              </a:spcAft>
            </a:pPr>
            <a:r>
              <a:rPr sz="1300" b="1" i="0">
                <a:solidFill>
                  <a:srgbClr val="132C43"/>
                </a:solidFill>
                <a:latin typeface="Arial"/>
              </a:rPr>
              <a:t>Research gap: </a:t>
            </a:r>
            <a:r>
              <a:rPr sz="1300" b="0" i="0">
                <a:solidFill>
                  <a:srgbClr val="263C50"/>
                </a:solidFill>
                <a:latin typeface="Arial"/>
              </a:rPr>
              <a:t>Reviews are studied as one fixed set with generic labels that do not fit delivery, shopping and payment apps, and the bias from how reviews are collected is rarely checked.</a:t>
            </a:r>
          </a:p>
          <a:p>
            <a:pPr algn="l">
              <a:spcAft>
                <a:spcPts val="800"/>
              </a:spcAft>
            </a:pPr>
            <a:r>
              <a:rPr sz="1300" b="1" i="0">
                <a:solidFill>
                  <a:srgbClr val="132C43"/>
                </a:solidFill>
                <a:latin typeface="Arial"/>
              </a:rPr>
              <a:t>Proposed approach: </a:t>
            </a:r>
            <a:r>
              <a:rPr sz="1300" b="0" i="0">
                <a:solidFill>
                  <a:srgbClr val="263C50"/>
                </a:solidFill>
                <a:latin typeface="Arial"/>
              </a:rPr>
              <a:t>Collect every review of 11 apps ourselves, tag 9 domain-specific issues, check the data for collection artefacts, compare app versions, and train a classifier that flags problem reviews.</a:t>
            </a:r>
          </a:p>
          <a:p>
            <a:pPr algn="l">
              <a:spcAft>
                <a:spcPts val="800"/>
              </a:spcAft>
            </a:pPr>
            <a:r>
              <a:rPr sz="1300" b="1" i="0">
                <a:solidFill>
                  <a:srgbClr val="132C43"/>
                </a:solidFill>
                <a:latin typeface="Arial"/>
              </a:rPr>
              <a:t>Business objective: </a:t>
            </a:r>
            <a:r>
              <a:rPr sz="1300" b="0" i="0">
                <a:solidFill>
                  <a:srgbClr val="263C50"/>
                </a:solidFill>
                <a:latin typeface="Arial"/>
              </a:rPr>
              <a:t>Show which problems hurt users most in each app, whether a new app version made things worse, and send the reviews that need attention to the support team first.</a:t>
            </a:r>
          </a:p>
        </p:txBody>
      </p:sp>
      <p:sp>
        <p:nvSpPr>
          <p:cNvPr id="7" name="Rounded Rectangle 6"/>
          <p:cNvSpPr/>
          <p:nvPr/>
        </p:nvSpPr>
        <p:spPr>
          <a:xfrm>
            <a:off x="722376" y="5029200"/>
            <a:ext cx="6766560" cy="960120"/>
          </a:xfrm>
          <a:prstGeom prst="roundRect">
            <a:avLst>
              <a:gd name="adj" fmla="val 6000"/>
            </a:avLst>
          </a:prstGeom>
          <a:solidFill>
            <a:srgbClr val="EAF0F6"/>
          </a:solidFill>
          <a:ln w="9525">
            <a:solidFill>
              <a:srgbClr val="EAF0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5084064"/>
            <a:ext cx="6492240" cy="868680"/>
          </a:xfrm>
          <a:prstGeom prst="rect">
            <a:avLst/>
          </a:prstGeom>
          <a:noFill/>
        </p:spPr>
        <p:txBody>
          <a:bodyPr wrap="square" anchor="t" lIns="0" rIns="0" tIns="0" bIns="0">
            <a:spAutoFit/>
          </a:bodyPr>
          <a:lstStyle/>
          <a:p>
            <a:pPr algn="l">
              <a:spcAft>
                <a:spcPts val="400"/>
              </a:spcAft>
            </a:pPr>
            <a:r>
              <a:rPr sz="1200" b="1" i="0">
                <a:solidFill>
                  <a:srgbClr val="132C43"/>
                </a:solidFill>
                <a:latin typeface="Arial"/>
              </a:rPr>
              <a:t>Problem review</a:t>
            </a:r>
            <a:r>
              <a:rPr sz="1200" b="0" i="0">
                <a:solidFill>
                  <a:srgbClr val="263C50"/>
                </a:solidFill>
                <a:latin typeface="Arial"/>
              </a:rPr>
              <a:t> = rated 1–2★ (the user's own judgement); the 9 issue tags name the failure when the text mentions one.</a:t>
            </a:r>
          </a:p>
          <a:p>
            <a:pPr algn="l">
              <a:spcAft>
                <a:spcPts val="400"/>
              </a:spcAft>
            </a:pPr>
            <a:r>
              <a:rPr sz="1200" b="1" i="0">
                <a:solidFill>
                  <a:srgbClr val="132C43"/>
                </a:solidFill>
                <a:latin typeface="Arial"/>
              </a:rPr>
              <a:t>Update impact</a:t>
            </a:r>
            <a:r>
              <a:rPr sz="1200" b="0" i="0">
                <a:solidFill>
                  <a:srgbClr val="263C50"/>
                </a:solidFill>
                <a:latin typeface="Arial"/>
              </a:rPr>
              <a:t> = ratings and complaints by app version: version-level comparison now, before/after each release in Review 2.</a:t>
            </a:r>
          </a:p>
        </p:txBody>
      </p:sp>
      <p:sp>
        <p:nvSpPr>
          <p:cNvPr id="9" name="TextBox 8"/>
          <p:cNvSpPr txBox="1"/>
          <p:nvPr/>
        </p:nvSpPr>
        <p:spPr>
          <a:xfrm>
            <a:off x="8001000" y="1508760"/>
            <a:ext cx="3474720" cy="320040"/>
          </a:xfrm>
          <a:prstGeom prst="rect">
            <a:avLst/>
          </a:prstGeom>
          <a:noFill/>
        </p:spPr>
        <p:txBody>
          <a:bodyPr wrap="square" anchor="t" lIns="0" rIns="0" tIns="0" bIns="0">
            <a:spAutoFit/>
          </a:bodyPr>
          <a:lstStyle/>
          <a:p>
            <a:pPr algn="l">
              <a:spcAft>
                <a:spcPts val="600"/>
              </a:spcAft>
            </a:pPr>
            <a:r>
              <a:rPr sz="1400" b="1" i="0">
                <a:solidFill>
                  <a:srgbClr val="132C43"/>
                </a:solidFill>
                <a:latin typeface="Arial"/>
              </a:rPr>
              <a:t>Our Review 1 pipeline</a:t>
            </a:r>
          </a:p>
        </p:txBody>
      </p:sp>
      <p:sp>
        <p:nvSpPr>
          <p:cNvPr id="10" name="Rounded Rectangle 9"/>
          <p:cNvSpPr/>
          <p:nvPr/>
        </p:nvSpPr>
        <p:spPr>
          <a:xfrm>
            <a:off x="8001000" y="1920240"/>
            <a:ext cx="3474720" cy="54864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19872" y="2011680"/>
            <a:ext cx="365760" cy="365760"/>
          </a:xfrm>
          <a:prstGeom prst="ellipse">
            <a:avLst/>
          </a:prstGeom>
          <a:solidFill>
            <a:srgbClr val="1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19872" y="2011680"/>
            <a:ext cx="365760" cy="365760"/>
          </a:xfrm>
          <a:prstGeom prst="rect">
            <a:avLst/>
          </a:prstGeom>
          <a:noFill/>
        </p:spPr>
        <p:txBody>
          <a:bodyPr wrap="square" anchor="ctr" lIns="0" rIns="0" tIns="0" bIns="0">
            <a:spAutoFit/>
          </a:bodyPr>
          <a:lstStyle/>
          <a:p>
            <a:pPr algn="ctr">
              <a:spcAft>
                <a:spcPts val="600"/>
              </a:spcAft>
            </a:pPr>
            <a:r>
              <a:rPr sz="1300" b="1" i="0">
                <a:solidFill>
                  <a:srgbClr val="FFFFFF"/>
                </a:solidFill>
                <a:latin typeface="Arial"/>
              </a:rPr>
              <a:t>1</a:t>
            </a:r>
          </a:p>
        </p:txBody>
      </p:sp>
      <p:sp>
        <p:nvSpPr>
          <p:cNvPr id="13" name="TextBox 12"/>
          <p:cNvSpPr txBox="1"/>
          <p:nvPr/>
        </p:nvSpPr>
        <p:spPr>
          <a:xfrm>
            <a:off x="8641080" y="1920240"/>
            <a:ext cx="2743200" cy="548640"/>
          </a:xfrm>
          <a:prstGeom prst="rect">
            <a:avLst/>
          </a:prstGeom>
          <a:noFill/>
        </p:spPr>
        <p:txBody>
          <a:bodyPr wrap="square" anchor="ctr" lIns="0" rIns="0" tIns="0" bIns="0">
            <a:spAutoFit/>
          </a:bodyPr>
          <a:lstStyle/>
          <a:p>
            <a:pPr algn="l">
              <a:spcAft>
                <a:spcPts val="600"/>
              </a:spcAft>
            </a:pPr>
            <a:r>
              <a:rPr sz="1400" b="1" i="0">
                <a:solidFill>
                  <a:srgbClr val="132C43"/>
                </a:solidFill>
                <a:latin typeface="Arial"/>
              </a:rPr>
              <a:t>Collect</a:t>
            </a:r>
            <a:r>
              <a:rPr sz="1200" b="0" i="0">
                <a:solidFill>
                  <a:srgbClr val="48677E"/>
                </a:solidFill>
                <a:latin typeface="Arial"/>
              </a:rPr>
              <a:t>  1.20M reviews, 11 apps</a:t>
            </a:r>
          </a:p>
        </p:txBody>
      </p:sp>
      <p:sp>
        <p:nvSpPr>
          <p:cNvPr id="14" name="Rounded Rectangle 13"/>
          <p:cNvSpPr/>
          <p:nvPr/>
        </p:nvSpPr>
        <p:spPr>
          <a:xfrm>
            <a:off x="8001000" y="2587752"/>
            <a:ext cx="3474720" cy="54864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119872" y="2679192"/>
            <a:ext cx="365760" cy="365760"/>
          </a:xfrm>
          <a:prstGeom prst="ellipse">
            <a:avLst/>
          </a:prstGeom>
          <a:solidFill>
            <a:srgbClr val="1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19872" y="2679192"/>
            <a:ext cx="365760" cy="365760"/>
          </a:xfrm>
          <a:prstGeom prst="rect">
            <a:avLst/>
          </a:prstGeom>
          <a:noFill/>
        </p:spPr>
        <p:txBody>
          <a:bodyPr wrap="square" anchor="ctr" lIns="0" rIns="0" tIns="0" bIns="0">
            <a:spAutoFit/>
          </a:bodyPr>
          <a:lstStyle/>
          <a:p>
            <a:pPr algn="ctr">
              <a:spcAft>
                <a:spcPts val="600"/>
              </a:spcAft>
            </a:pPr>
            <a:r>
              <a:rPr sz="1300" b="1" i="0">
                <a:solidFill>
                  <a:srgbClr val="FFFFFF"/>
                </a:solidFill>
                <a:latin typeface="Arial"/>
              </a:rPr>
              <a:t>2</a:t>
            </a:r>
          </a:p>
        </p:txBody>
      </p:sp>
      <p:sp>
        <p:nvSpPr>
          <p:cNvPr id="17" name="TextBox 16"/>
          <p:cNvSpPr txBox="1"/>
          <p:nvPr/>
        </p:nvSpPr>
        <p:spPr>
          <a:xfrm>
            <a:off x="8641080" y="2587752"/>
            <a:ext cx="2743200" cy="548640"/>
          </a:xfrm>
          <a:prstGeom prst="rect">
            <a:avLst/>
          </a:prstGeom>
          <a:noFill/>
        </p:spPr>
        <p:txBody>
          <a:bodyPr wrap="square" anchor="ctr" lIns="0" rIns="0" tIns="0" bIns="0">
            <a:spAutoFit/>
          </a:bodyPr>
          <a:lstStyle/>
          <a:p>
            <a:pPr algn="l">
              <a:spcAft>
                <a:spcPts val="600"/>
              </a:spcAft>
            </a:pPr>
            <a:r>
              <a:rPr sz="1400" b="1" i="0">
                <a:solidFill>
                  <a:srgbClr val="132C43"/>
                </a:solidFill>
                <a:latin typeface="Arial"/>
              </a:rPr>
              <a:t>Clean</a:t>
            </a:r>
            <a:r>
              <a:rPr sz="1200" b="0" i="0">
                <a:solidFill>
                  <a:srgbClr val="48677E"/>
                </a:solidFill>
                <a:latin typeface="Arial"/>
              </a:rPr>
              <a:t>  1.14M reviews kept</a:t>
            </a:r>
          </a:p>
        </p:txBody>
      </p:sp>
      <p:sp>
        <p:nvSpPr>
          <p:cNvPr id="18" name="Rounded Rectangle 17"/>
          <p:cNvSpPr/>
          <p:nvPr/>
        </p:nvSpPr>
        <p:spPr>
          <a:xfrm>
            <a:off x="8001000" y="3255264"/>
            <a:ext cx="3474720" cy="54864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119872" y="3346704"/>
            <a:ext cx="365760" cy="365760"/>
          </a:xfrm>
          <a:prstGeom prst="ellipse">
            <a:avLst/>
          </a:prstGeom>
          <a:solidFill>
            <a:srgbClr val="1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19872" y="3346704"/>
            <a:ext cx="365760" cy="365760"/>
          </a:xfrm>
          <a:prstGeom prst="rect">
            <a:avLst/>
          </a:prstGeom>
          <a:noFill/>
        </p:spPr>
        <p:txBody>
          <a:bodyPr wrap="square" anchor="ctr" lIns="0" rIns="0" tIns="0" bIns="0">
            <a:spAutoFit/>
          </a:bodyPr>
          <a:lstStyle/>
          <a:p>
            <a:pPr algn="ctr">
              <a:spcAft>
                <a:spcPts val="600"/>
              </a:spcAft>
            </a:pPr>
            <a:r>
              <a:rPr sz="1300" b="1" i="0">
                <a:solidFill>
                  <a:srgbClr val="FFFFFF"/>
                </a:solidFill>
                <a:latin typeface="Arial"/>
              </a:rPr>
              <a:t>3</a:t>
            </a:r>
          </a:p>
        </p:txBody>
      </p:sp>
      <p:sp>
        <p:nvSpPr>
          <p:cNvPr id="21" name="TextBox 20"/>
          <p:cNvSpPr txBox="1"/>
          <p:nvPr/>
        </p:nvSpPr>
        <p:spPr>
          <a:xfrm>
            <a:off x="8641080" y="3255264"/>
            <a:ext cx="2743200" cy="548640"/>
          </a:xfrm>
          <a:prstGeom prst="rect">
            <a:avLst/>
          </a:prstGeom>
          <a:noFill/>
        </p:spPr>
        <p:txBody>
          <a:bodyPr wrap="square" anchor="ctr" lIns="0" rIns="0" tIns="0" bIns="0">
            <a:spAutoFit/>
          </a:bodyPr>
          <a:lstStyle/>
          <a:p>
            <a:pPr algn="l">
              <a:spcAft>
                <a:spcPts val="600"/>
              </a:spcAft>
            </a:pPr>
            <a:r>
              <a:rPr sz="1400" b="1" i="0">
                <a:solidFill>
                  <a:srgbClr val="132C43"/>
                </a:solidFill>
                <a:latin typeface="Arial"/>
              </a:rPr>
              <a:t>Tag + sentiment</a:t>
            </a:r>
            <a:r>
              <a:rPr sz="1200" b="0" i="0">
                <a:solidFill>
                  <a:srgbClr val="48677E"/>
                </a:solidFill>
                <a:latin typeface="Arial"/>
              </a:rPr>
              <a:t>  9 issues, VADER</a:t>
            </a:r>
          </a:p>
        </p:txBody>
      </p:sp>
      <p:sp>
        <p:nvSpPr>
          <p:cNvPr id="22" name="Rounded Rectangle 21"/>
          <p:cNvSpPr/>
          <p:nvPr/>
        </p:nvSpPr>
        <p:spPr>
          <a:xfrm>
            <a:off x="8001000" y="3922776"/>
            <a:ext cx="3474720" cy="54864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119872" y="4014215"/>
            <a:ext cx="365760" cy="365760"/>
          </a:xfrm>
          <a:prstGeom prst="ellipse">
            <a:avLst/>
          </a:prstGeom>
          <a:solidFill>
            <a:srgbClr val="1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19872" y="4014215"/>
            <a:ext cx="365760" cy="365760"/>
          </a:xfrm>
          <a:prstGeom prst="rect">
            <a:avLst/>
          </a:prstGeom>
          <a:noFill/>
        </p:spPr>
        <p:txBody>
          <a:bodyPr wrap="square" anchor="ctr" lIns="0" rIns="0" tIns="0" bIns="0">
            <a:spAutoFit/>
          </a:bodyPr>
          <a:lstStyle/>
          <a:p>
            <a:pPr algn="ctr">
              <a:spcAft>
                <a:spcPts val="600"/>
              </a:spcAft>
            </a:pPr>
            <a:r>
              <a:rPr sz="1300" b="1" i="0">
                <a:solidFill>
                  <a:srgbClr val="FFFFFF"/>
                </a:solidFill>
                <a:latin typeface="Arial"/>
              </a:rPr>
              <a:t>4</a:t>
            </a:r>
          </a:p>
        </p:txBody>
      </p:sp>
      <p:sp>
        <p:nvSpPr>
          <p:cNvPr id="25" name="TextBox 24"/>
          <p:cNvSpPr txBox="1"/>
          <p:nvPr/>
        </p:nvSpPr>
        <p:spPr>
          <a:xfrm>
            <a:off x="8641080" y="3922776"/>
            <a:ext cx="2743200" cy="548640"/>
          </a:xfrm>
          <a:prstGeom prst="rect">
            <a:avLst/>
          </a:prstGeom>
          <a:noFill/>
        </p:spPr>
        <p:txBody>
          <a:bodyPr wrap="square" anchor="ctr" lIns="0" rIns="0" tIns="0" bIns="0">
            <a:spAutoFit/>
          </a:bodyPr>
          <a:lstStyle/>
          <a:p>
            <a:pPr algn="l">
              <a:spcAft>
                <a:spcPts val="600"/>
              </a:spcAft>
            </a:pPr>
            <a:r>
              <a:rPr sz="1400" b="1" i="0">
                <a:solidFill>
                  <a:srgbClr val="132C43"/>
                </a:solidFill>
                <a:latin typeface="Arial"/>
              </a:rPr>
              <a:t>Explore</a:t>
            </a:r>
            <a:r>
              <a:rPr sz="1200" b="0" i="0">
                <a:solidFill>
                  <a:srgbClr val="48677E"/>
                </a:solidFill>
                <a:latin typeface="Arial"/>
              </a:rPr>
              <a:t>  versions, bias checks</a:t>
            </a:r>
          </a:p>
        </p:txBody>
      </p:sp>
      <p:sp>
        <p:nvSpPr>
          <p:cNvPr id="26" name="Rounded Rectangle 25"/>
          <p:cNvSpPr/>
          <p:nvPr/>
        </p:nvSpPr>
        <p:spPr>
          <a:xfrm>
            <a:off x="8001000" y="4590288"/>
            <a:ext cx="3474720" cy="54864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119872" y="4681727"/>
            <a:ext cx="365760" cy="365760"/>
          </a:xfrm>
          <a:prstGeom prst="ellipse">
            <a:avLst/>
          </a:prstGeom>
          <a:solidFill>
            <a:srgbClr val="1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119872" y="4681727"/>
            <a:ext cx="365760" cy="365760"/>
          </a:xfrm>
          <a:prstGeom prst="rect">
            <a:avLst/>
          </a:prstGeom>
          <a:noFill/>
        </p:spPr>
        <p:txBody>
          <a:bodyPr wrap="square" anchor="ctr" lIns="0" rIns="0" tIns="0" bIns="0">
            <a:spAutoFit/>
          </a:bodyPr>
          <a:lstStyle/>
          <a:p>
            <a:pPr algn="ctr">
              <a:spcAft>
                <a:spcPts val="600"/>
              </a:spcAft>
            </a:pPr>
            <a:r>
              <a:rPr sz="1300" b="1" i="0">
                <a:solidFill>
                  <a:srgbClr val="FFFFFF"/>
                </a:solidFill>
                <a:latin typeface="Arial"/>
              </a:rPr>
              <a:t>5</a:t>
            </a:r>
          </a:p>
        </p:txBody>
      </p:sp>
      <p:sp>
        <p:nvSpPr>
          <p:cNvPr id="29" name="TextBox 28"/>
          <p:cNvSpPr txBox="1"/>
          <p:nvPr/>
        </p:nvSpPr>
        <p:spPr>
          <a:xfrm>
            <a:off x="8641080" y="4590288"/>
            <a:ext cx="2743200" cy="548640"/>
          </a:xfrm>
          <a:prstGeom prst="rect">
            <a:avLst/>
          </a:prstGeom>
          <a:noFill/>
        </p:spPr>
        <p:txBody>
          <a:bodyPr wrap="square" anchor="ctr" lIns="0" rIns="0" tIns="0" bIns="0">
            <a:spAutoFit/>
          </a:bodyPr>
          <a:lstStyle/>
          <a:p>
            <a:pPr algn="l">
              <a:spcAft>
                <a:spcPts val="600"/>
              </a:spcAft>
            </a:pPr>
            <a:r>
              <a:rPr sz="1400" b="1" i="0">
                <a:solidFill>
                  <a:srgbClr val="132C43"/>
                </a:solidFill>
                <a:latin typeface="Arial"/>
              </a:rPr>
              <a:t>Features</a:t>
            </a:r>
            <a:r>
              <a:rPr sz="1200" b="0" i="0">
                <a:solidFill>
                  <a:srgbClr val="48677E"/>
                </a:solidFill>
                <a:latin typeface="Arial"/>
              </a:rPr>
              <a:t>  TF-IDF → SVD + 15</a:t>
            </a:r>
          </a:p>
        </p:txBody>
      </p:sp>
      <p:sp>
        <p:nvSpPr>
          <p:cNvPr id="30" name="Rounded Rectangle 29"/>
          <p:cNvSpPr/>
          <p:nvPr/>
        </p:nvSpPr>
        <p:spPr>
          <a:xfrm>
            <a:off x="8001000" y="5257800"/>
            <a:ext cx="3474720" cy="54864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119872" y="5349240"/>
            <a:ext cx="365760" cy="365760"/>
          </a:xfrm>
          <a:prstGeom prst="ellipse">
            <a:avLst/>
          </a:prstGeom>
          <a:solidFill>
            <a:srgbClr val="1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19872" y="5349240"/>
            <a:ext cx="365760" cy="365760"/>
          </a:xfrm>
          <a:prstGeom prst="rect">
            <a:avLst/>
          </a:prstGeom>
          <a:noFill/>
        </p:spPr>
        <p:txBody>
          <a:bodyPr wrap="square" anchor="ctr" lIns="0" rIns="0" tIns="0" bIns="0">
            <a:spAutoFit/>
          </a:bodyPr>
          <a:lstStyle/>
          <a:p>
            <a:pPr algn="ctr">
              <a:spcAft>
                <a:spcPts val="600"/>
              </a:spcAft>
            </a:pPr>
            <a:r>
              <a:rPr sz="1300" b="1" i="0">
                <a:solidFill>
                  <a:srgbClr val="FFFFFF"/>
                </a:solidFill>
                <a:latin typeface="Arial"/>
              </a:rPr>
              <a:t>6</a:t>
            </a:r>
          </a:p>
        </p:txBody>
      </p:sp>
      <p:sp>
        <p:nvSpPr>
          <p:cNvPr id="33" name="TextBox 32"/>
          <p:cNvSpPr txBox="1"/>
          <p:nvPr/>
        </p:nvSpPr>
        <p:spPr>
          <a:xfrm>
            <a:off x="8641080" y="5257800"/>
            <a:ext cx="2743200" cy="548640"/>
          </a:xfrm>
          <a:prstGeom prst="rect">
            <a:avLst/>
          </a:prstGeom>
          <a:noFill/>
        </p:spPr>
        <p:txBody>
          <a:bodyPr wrap="square" anchor="ctr" lIns="0" rIns="0" tIns="0" bIns="0">
            <a:spAutoFit/>
          </a:bodyPr>
          <a:lstStyle/>
          <a:p>
            <a:pPr algn="l">
              <a:spcAft>
                <a:spcPts val="600"/>
              </a:spcAft>
            </a:pPr>
            <a:r>
              <a:rPr sz="1400" b="1" i="0">
                <a:solidFill>
                  <a:srgbClr val="132C43"/>
                </a:solidFill>
                <a:latin typeface="Arial"/>
              </a:rPr>
              <a:t>Classify</a:t>
            </a:r>
            <a:r>
              <a:rPr sz="1200" b="0" i="0">
                <a:solidFill>
                  <a:srgbClr val="48677E"/>
                </a:solidFill>
                <a:latin typeface="Arial"/>
              </a:rPr>
              <a:t>  LR and Random Forest</a:t>
            </a:r>
          </a:p>
        </p:txBody>
      </p:sp>
    </p:spTree>
    <p:extLst>
      <p:ext uri="{BB962C8B-B14F-4D97-AF65-F5344CB8AC3E}">
        <p14:creationId xmlns:p14="http://schemas.microsoft.com/office/powerpoint/2010/main" val="236373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8313BE7-85DE-47DB-B5C6-05CA44392E93}"/>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Dataset Description</a:t>
            </a:r>
          </a:p>
        </p:txBody>
      </p:sp>
      <p:sp>
        <p:nvSpPr>
          <p:cNvPr id="4" name="Rectangle 3">
            <a:extLst>
              <a:ext uri="{FF2B5EF4-FFF2-40B4-BE49-F238E27FC236}">
                <a16:creationId xmlns:a16="http://schemas.microsoft.com/office/drawing/2014/main" id="{56BAB243-233E-4B53-8209-DA8F100FAA2E}"/>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03</a:t>
            </a:r>
          </a:p>
        </p:txBody>
      </p:sp>
      <p:sp>
        <p:nvSpPr>
          <p:cNvPr id="6" name="TextBox 5"/>
          <p:cNvSpPr txBox="1"/>
          <p:nvPr/>
        </p:nvSpPr>
        <p:spPr>
          <a:xfrm>
            <a:off x="722376" y="1463040"/>
            <a:ext cx="5989320" cy="3017520"/>
          </a:xfrm>
          <a:prstGeom prst="rect">
            <a:avLst/>
          </a:prstGeom>
          <a:noFill/>
        </p:spPr>
        <p:txBody>
          <a:bodyPr wrap="square" anchor="t" lIns="0" rIns="0" tIns="0" bIns="0">
            <a:spAutoFit/>
          </a:bodyPr>
          <a:lstStyle/>
          <a:p>
            <a:pPr algn="l">
              <a:spcAft>
                <a:spcPts val="700"/>
              </a:spcAft>
            </a:pPr>
            <a:r>
              <a:rPr sz="1300" b="1" i="0">
                <a:solidFill>
                  <a:srgbClr val="132C43"/>
                </a:solidFill>
                <a:latin typeface="Arial"/>
              </a:rPr>
              <a:t>Source and method: </a:t>
            </a:r>
            <a:r>
              <a:rPr sz="1300" b="0" i="0">
                <a:solidFill>
                  <a:srgbClr val="263C50"/>
                </a:solidFill>
                <a:latin typeface="Arial"/>
              </a:rPr>
              <a:t>Google Play Store via google-play-scraper (our own collection, no Kaggle/UCI). Sort NEWEST: every English/India review from 1 Apr to 20 Sep 2026.</a:t>
            </a:r>
          </a:p>
          <a:p>
            <a:pPr algn="l">
              <a:spcAft>
                <a:spcPts val="700"/>
              </a:spcAft>
            </a:pPr>
            <a:r>
              <a:rPr sz="1300" b="1" i="0">
                <a:solidFill>
                  <a:srgbClr val="132C43"/>
                </a:solidFill>
                <a:latin typeface="Arial"/>
              </a:rPr>
              <a:t>Dataset size: </a:t>
            </a:r>
            <a:r>
              <a:rPr sz="1300" b="0" i="0">
                <a:solidFill>
                  <a:srgbClr val="263C50"/>
                </a:solidFill>
                <a:latin typeface="Arial"/>
              </a:rPr>
              <a:t>1,202,729 raw reviews; 1,137,987 after cleaning; 29 columns after tagging and sentiment.</a:t>
            </a:r>
          </a:p>
          <a:p>
            <a:pPr algn="l">
              <a:spcAft>
                <a:spcPts val="700"/>
              </a:spcAft>
            </a:pPr>
            <a:r>
              <a:rPr sz="1300" b="1" i="0">
                <a:solidFill>
                  <a:srgbClr val="132C43"/>
                </a:solidFill>
                <a:latin typeface="Arial"/>
              </a:rPr>
              <a:t>Key variables: </a:t>
            </a:r>
            <a:r>
              <a:rPr sz="1300" b="0" i="0">
                <a:solidFill>
                  <a:srgbClr val="263C50"/>
                </a:solidFill>
                <a:latin typeface="Arial"/>
              </a:rPr>
              <a:t>app_name, domain, score (1–5), content (text), thumbs_up, app_version, review_date, review_length, 9 issue flags, 4 VADER scores.</a:t>
            </a:r>
          </a:p>
          <a:p>
            <a:pPr algn="l">
              <a:spcAft>
                <a:spcPts val="700"/>
              </a:spcAft>
            </a:pPr>
            <a:r>
              <a:rPr sz="1300" b="1" i="0">
                <a:solidFill>
                  <a:srgbClr val="132C43"/>
                </a:solidFill>
                <a:latin typeface="Arial"/>
              </a:rPr>
              <a:t>Prediction target: </a:t>
            </a:r>
            <a:r>
              <a:rPr sz="1300" b="0" i="0">
                <a:solidFill>
                  <a:srgbClr val="263C50"/>
                </a:solidFill>
                <a:latin typeface="Arial"/>
              </a:rPr>
              <a:t>is_problematic = 1 if rating ≤ 2 stars (19.5% of reviews).</a:t>
            </a:r>
          </a:p>
          <a:p>
            <a:pPr algn="l">
              <a:spcAft>
                <a:spcPts val="700"/>
              </a:spcAft>
            </a:pPr>
            <a:r>
              <a:rPr sz="1300" b="1" i="0">
                <a:solidFill>
                  <a:srgbClr val="132C43"/>
                </a:solidFill>
                <a:latin typeface="Arial"/>
              </a:rPr>
              <a:t>Period and limitations: </a:t>
            </a:r>
            <a:r>
              <a:rPr sz="1300" b="0" i="0">
                <a:solidFill>
                  <a:srgbClr val="263C50"/>
                </a:solidFill>
                <a:latin typeface="Arial"/>
              </a:rPr>
              <a:t>1 Apr – 20 Sep 2026 for every app. Median review is 2 words; written reviews are harsher than public ratings; positive reviews drop sharply 21 Apr – 5 May for 5 apps.</a:t>
            </a:r>
          </a:p>
        </p:txBody>
      </p:sp>
      <p:graphicFrame>
        <p:nvGraphicFramePr>
          <p:cNvPr id="7" name="Table 6"/>
          <p:cNvGraphicFramePr>
            <a:graphicFrameLocks noGrp="1"/>
          </p:cNvGraphicFramePr>
          <p:nvPr/>
        </p:nvGraphicFramePr>
        <p:xfrm>
          <a:off x="6995160" y="1508760"/>
          <a:ext cx="4480560" cy="1828800"/>
        </p:xfrm>
        <a:graphic>
          <a:graphicData uri="http://schemas.openxmlformats.org/drawingml/2006/table">
            <a:tbl>
              <a:tblPr firstRow="0" bandRow="0">
                <a:tableStyleId>{5940675A-B579-460E-94D1-54222C63F5DA}</a:tableStyleId>
              </a:tblPr>
              <a:tblGrid>
                <a:gridCol w="1234440"/>
                <a:gridCol w="2286000"/>
                <a:gridCol w="960120"/>
              </a:tblGrid>
              <a:tr h="365760">
                <a:tc>
                  <a:txBody>
                    <a:bodyPr wrap="square"/>
                    <a:lstStyle/>
                    <a:p>
                      <a:pPr algn="l"/>
                      <a:r>
                        <a:rPr sz="1200" b="1" i="0">
                          <a:solidFill>
                            <a:srgbClr val="FFFFFF"/>
                          </a:solidFill>
                          <a:latin typeface="Arial"/>
                        </a:rPr>
                        <a:t>Domain</a:t>
                      </a:r>
                    </a:p>
                  </a:txBody>
                  <a:tcPr marL="64008" marR="64008" marT="27432" marB="27432" anchor="ctr">
                    <a:solidFill>
                      <a:srgbClr val="132C43"/>
                    </a:solidFill>
                  </a:tcPr>
                </a:tc>
                <a:tc>
                  <a:txBody>
                    <a:bodyPr wrap="square"/>
                    <a:lstStyle/>
                    <a:p>
                      <a:pPr algn="l"/>
                      <a:r>
                        <a:rPr sz="1200" b="1" i="0">
                          <a:solidFill>
                            <a:srgbClr val="FFFFFF"/>
                          </a:solidFill>
                          <a:latin typeface="Arial"/>
                        </a:rPr>
                        <a:t>Apps</a:t>
                      </a:r>
                    </a:p>
                  </a:txBody>
                  <a:tcPr marL="64008" marR="64008" marT="27432" marB="27432" anchor="ctr">
                    <a:solidFill>
                      <a:srgbClr val="132C43"/>
                    </a:solidFill>
                  </a:tcPr>
                </a:tc>
                <a:tc>
                  <a:txBody>
                    <a:bodyPr wrap="square"/>
                    <a:lstStyle/>
                    <a:p>
                      <a:pPr algn="l"/>
                      <a:r>
                        <a:rPr sz="1200" b="1" i="0">
                          <a:solidFill>
                            <a:srgbClr val="FFFFFF"/>
                          </a:solidFill>
                          <a:latin typeface="Arial"/>
                        </a:rPr>
                        <a:t>Reviews</a:t>
                      </a:r>
                    </a:p>
                  </a:txBody>
                  <a:tcPr marL="64008" marR="64008" marT="27432" marB="27432" anchor="ctr">
                    <a:solidFill>
                      <a:srgbClr val="132C43"/>
                    </a:solidFill>
                  </a:tcPr>
                </a:tc>
              </a:tr>
              <a:tr h="365760">
                <a:tc>
                  <a:txBody>
                    <a:bodyPr wrap="square"/>
                    <a:lstStyle/>
                    <a:p>
                      <a:pPr algn="l"/>
                      <a:r>
                        <a:rPr sz="1200" b="1" i="0">
                          <a:solidFill>
                            <a:srgbClr val="263C50"/>
                          </a:solidFill>
                          <a:latin typeface="Arial"/>
                        </a:rPr>
                        <a:t>Food &amp; Grocery</a:t>
                      </a:r>
                    </a:p>
                  </a:txBody>
                  <a:tcPr marL="64008" marR="64008" marT="27432" marB="27432" anchor="ctr">
                    <a:solidFill>
                      <a:srgbClr val="FFFFFF"/>
                    </a:solidFill>
                  </a:tcPr>
                </a:tc>
                <a:tc>
                  <a:txBody>
                    <a:bodyPr wrap="square"/>
                    <a:lstStyle/>
                    <a:p>
                      <a:pPr algn="l"/>
                      <a:r>
                        <a:rPr sz="1200" b="0" i="0">
                          <a:solidFill>
                            <a:srgbClr val="263C50"/>
                          </a:solidFill>
                          <a:latin typeface="Arial"/>
                        </a:rPr>
                        <a:t>Swiggy, Zomato, Blinkit, Domino's</a:t>
                      </a:r>
                    </a:p>
                  </a:txBody>
                  <a:tcPr marL="64008" marR="64008" marT="27432" marB="27432" anchor="ctr">
                    <a:solidFill>
                      <a:srgbClr val="FFFFFF"/>
                    </a:solidFill>
                  </a:tcPr>
                </a:tc>
                <a:tc>
                  <a:txBody>
                    <a:bodyPr wrap="square"/>
                    <a:lstStyle/>
                    <a:p>
                      <a:pPr algn="r"/>
                      <a:r>
                        <a:rPr sz="1200" b="0" i="0">
                          <a:solidFill>
                            <a:srgbClr val="263C50"/>
                          </a:solidFill>
                          <a:latin typeface="Arial"/>
                        </a:rPr>
                        <a:t>497,403</a:t>
                      </a:r>
                    </a:p>
                  </a:txBody>
                  <a:tcPr marL="64008" marR="64008" marT="27432" marB="27432" anchor="ctr">
                    <a:solidFill>
                      <a:srgbClr val="FFFFFF"/>
                    </a:solidFill>
                  </a:tcPr>
                </a:tc>
              </a:tr>
              <a:tr h="365760">
                <a:tc>
                  <a:txBody>
                    <a:bodyPr wrap="square"/>
                    <a:lstStyle/>
                    <a:p>
                      <a:pPr algn="l"/>
                      <a:r>
                        <a:rPr sz="1200" b="1" i="0">
                          <a:solidFill>
                            <a:srgbClr val="263C50"/>
                          </a:solidFill>
                          <a:latin typeface="Arial"/>
                        </a:rPr>
                        <a:t>Shopping</a:t>
                      </a:r>
                    </a:p>
                  </a:txBody>
                  <a:tcPr marL="64008" marR="64008" marT="27432" marB="27432" anchor="ctr">
                    <a:solidFill>
                      <a:srgbClr val="EAF0F6"/>
                    </a:solidFill>
                  </a:tcPr>
                </a:tc>
                <a:tc>
                  <a:txBody>
                    <a:bodyPr wrap="square"/>
                    <a:lstStyle/>
                    <a:p>
                      <a:pPr algn="l"/>
                      <a:r>
                        <a:rPr sz="1200" b="0" i="0">
                          <a:solidFill>
                            <a:srgbClr val="263C50"/>
                          </a:solidFill>
                          <a:latin typeface="Arial"/>
                        </a:rPr>
                        <a:t>Myntra, Flipkart, Amazon, Meesho</a:t>
                      </a:r>
                    </a:p>
                  </a:txBody>
                  <a:tcPr marL="64008" marR="64008" marT="27432" marB="27432" anchor="ctr">
                    <a:solidFill>
                      <a:srgbClr val="EAF0F6"/>
                    </a:solidFill>
                  </a:tcPr>
                </a:tc>
                <a:tc>
                  <a:txBody>
                    <a:bodyPr wrap="square"/>
                    <a:lstStyle/>
                    <a:p>
                      <a:pPr algn="r"/>
                      <a:r>
                        <a:rPr sz="1200" b="0" i="0">
                          <a:solidFill>
                            <a:srgbClr val="263C50"/>
                          </a:solidFill>
                          <a:latin typeface="Arial"/>
                        </a:rPr>
                        <a:t>487,071</a:t>
                      </a:r>
                    </a:p>
                  </a:txBody>
                  <a:tcPr marL="64008" marR="64008" marT="27432" marB="27432" anchor="ctr">
                    <a:solidFill>
                      <a:srgbClr val="EAF0F6"/>
                    </a:solidFill>
                  </a:tcPr>
                </a:tc>
              </a:tr>
              <a:tr h="365760">
                <a:tc>
                  <a:txBody>
                    <a:bodyPr wrap="square"/>
                    <a:lstStyle/>
                    <a:p>
                      <a:pPr algn="l"/>
                      <a:r>
                        <a:rPr sz="1200" b="1" i="0">
                          <a:solidFill>
                            <a:srgbClr val="263C50"/>
                          </a:solidFill>
                          <a:latin typeface="Arial"/>
                        </a:rPr>
                        <a:t>Payments</a:t>
                      </a:r>
                    </a:p>
                  </a:txBody>
                  <a:tcPr marL="64008" marR="64008" marT="27432" marB="27432" anchor="ctr">
                    <a:solidFill>
                      <a:srgbClr val="FFFFFF"/>
                    </a:solidFill>
                  </a:tcPr>
                </a:tc>
                <a:tc>
                  <a:txBody>
                    <a:bodyPr wrap="square"/>
                    <a:lstStyle/>
                    <a:p>
                      <a:pPr algn="l"/>
                      <a:r>
                        <a:rPr sz="1200" b="0" i="0">
                          <a:solidFill>
                            <a:srgbClr val="263C50"/>
                          </a:solidFill>
                          <a:latin typeface="Arial"/>
                        </a:rPr>
                        <a:t>Paytm, PhonePe, Google Pay</a:t>
                      </a:r>
                    </a:p>
                  </a:txBody>
                  <a:tcPr marL="64008" marR="64008" marT="27432" marB="27432" anchor="ctr">
                    <a:solidFill>
                      <a:srgbClr val="FFFFFF"/>
                    </a:solidFill>
                  </a:tcPr>
                </a:tc>
                <a:tc>
                  <a:txBody>
                    <a:bodyPr wrap="square"/>
                    <a:lstStyle/>
                    <a:p>
                      <a:pPr algn="r"/>
                      <a:r>
                        <a:rPr sz="1200" b="0" i="0">
                          <a:solidFill>
                            <a:srgbClr val="263C50"/>
                          </a:solidFill>
                          <a:latin typeface="Arial"/>
                        </a:rPr>
                        <a:t>153,513</a:t>
                      </a:r>
                    </a:p>
                  </a:txBody>
                  <a:tcPr marL="64008" marR="64008" marT="27432" marB="27432" anchor="ctr">
                    <a:solidFill>
                      <a:srgbClr val="FFFFFF"/>
                    </a:solidFill>
                  </a:tcPr>
                </a:tc>
              </a:tr>
              <a:tr h="365760">
                <a:tc>
                  <a:txBody>
                    <a:bodyPr wrap="square"/>
                    <a:lstStyle/>
                    <a:p>
                      <a:pPr algn="l"/>
                      <a:r>
                        <a:rPr sz="1200" b="1" i="0">
                          <a:solidFill>
                            <a:srgbClr val="263C50"/>
                          </a:solidFill>
                          <a:latin typeface="Arial"/>
                        </a:rPr>
                        <a:t>Total</a:t>
                      </a:r>
                    </a:p>
                  </a:txBody>
                  <a:tcPr marL="64008" marR="64008" marT="27432" marB="27432" anchor="ctr">
                    <a:solidFill>
                      <a:srgbClr val="EAF0F6"/>
                    </a:solidFill>
                  </a:tcPr>
                </a:tc>
                <a:tc>
                  <a:txBody>
                    <a:bodyPr wrap="square"/>
                    <a:lstStyle/>
                    <a:p>
                      <a:pPr algn="l"/>
                      <a:r>
                        <a:rPr sz="1200" b="0" i="0">
                          <a:solidFill>
                            <a:srgbClr val="263C50"/>
                          </a:solidFill>
                          <a:latin typeface="Arial"/>
                        </a:rPr>
                        <a:t>11 apps</a:t>
                      </a:r>
                    </a:p>
                  </a:txBody>
                  <a:tcPr marL="64008" marR="64008" marT="27432" marB="27432" anchor="ctr">
                    <a:solidFill>
                      <a:srgbClr val="EAF0F6"/>
                    </a:solidFill>
                  </a:tcPr>
                </a:tc>
                <a:tc>
                  <a:txBody>
                    <a:bodyPr wrap="square"/>
                    <a:lstStyle/>
                    <a:p>
                      <a:pPr algn="r"/>
                      <a:r>
                        <a:rPr sz="1200" b="0" i="0">
                          <a:solidFill>
                            <a:srgbClr val="263C50"/>
                          </a:solidFill>
                          <a:latin typeface="Arial"/>
                        </a:rPr>
                        <a:t>1,137,987</a:t>
                      </a:r>
                    </a:p>
                  </a:txBody>
                  <a:tcPr marL="64008" marR="64008" marT="27432" marB="27432" anchor="ctr">
                    <a:solidFill>
                      <a:srgbClr val="EAF0F6"/>
                    </a:solidFill>
                  </a:tcPr>
                </a:tc>
              </a:tr>
            </a:tbl>
          </a:graphicData>
        </a:graphic>
      </p:graphicFrame>
      <p:sp>
        <p:nvSpPr>
          <p:cNvPr id="8" name="TextBox 7"/>
          <p:cNvSpPr txBox="1"/>
          <p:nvPr/>
        </p:nvSpPr>
        <p:spPr>
          <a:xfrm>
            <a:off x="6995160" y="3749039"/>
            <a:ext cx="4480560" cy="731520"/>
          </a:xfrm>
          <a:prstGeom prst="rect">
            <a:avLst/>
          </a:prstGeom>
          <a:noFill/>
        </p:spPr>
        <p:txBody>
          <a:bodyPr wrap="square" anchor="t" lIns="0" rIns="0" tIns="0" bIns="0">
            <a:spAutoFit/>
          </a:bodyPr>
          <a:lstStyle/>
          <a:p>
            <a:pPr algn="l">
              <a:spcAft>
                <a:spcPts val="600"/>
              </a:spcAft>
            </a:pPr>
            <a:r>
              <a:rPr sz="1200" b="1" i="0">
                <a:solidFill>
                  <a:srgbClr val="132C43"/>
                </a:solidFill>
                <a:latin typeface="Arial"/>
              </a:rPr>
              <a:t>Documentation: </a:t>
            </a:r>
            <a:r>
              <a:rPr sz="1200" b="0" i="0">
                <a:solidFill>
                  <a:srgbClr val="263C50"/>
                </a:solidFill>
                <a:latin typeface="Arial"/>
              </a:rPr>
              <a:t>DATA_SOURCES.md (source, parameters, per-app counts, known issues). Files: data/raw, data/clean, data/tagged (one .csv.gz per app).</a:t>
            </a:r>
          </a:p>
        </p:txBody>
      </p:sp>
      <p:sp>
        <p:nvSpPr>
          <p:cNvPr id="9" name="TextBox 8"/>
          <p:cNvSpPr txBox="1"/>
          <p:nvPr/>
        </p:nvSpPr>
        <p:spPr>
          <a:xfrm>
            <a:off x="722376" y="4526280"/>
            <a:ext cx="7315200" cy="274320"/>
          </a:xfrm>
          <a:prstGeom prst="rect">
            <a:avLst/>
          </a:prstGeom>
          <a:noFill/>
        </p:spPr>
        <p:txBody>
          <a:bodyPr wrap="square" anchor="t" lIns="0" rIns="0" tIns="0" bIns="0">
            <a:spAutoFit/>
          </a:bodyPr>
          <a:lstStyle/>
          <a:p>
            <a:pPr algn="l">
              <a:spcAft>
                <a:spcPts val="600"/>
              </a:spcAft>
            </a:pPr>
            <a:r>
              <a:rPr sz="1200" b="1" i="0">
                <a:solidFill>
                  <a:srgbClr val="132C43"/>
                </a:solidFill>
                <a:latin typeface="Arial"/>
              </a:rPr>
              <a:t>Data sample (data/tagged)</a:t>
            </a:r>
          </a:p>
        </p:txBody>
      </p:sp>
      <p:graphicFrame>
        <p:nvGraphicFramePr>
          <p:cNvPr id="10" name="Table 9"/>
          <p:cNvGraphicFramePr>
            <a:graphicFrameLocks noGrp="1"/>
          </p:cNvGraphicFramePr>
          <p:nvPr/>
        </p:nvGraphicFramePr>
        <p:xfrm>
          <a:off x="722376" y="4828032"/>
          <a:ext cx="10753344" cy="1234440"/>
        </p:xfrm>
        <a:graphic>
          <a:graphicData uri="http://schemas.openxmlformats.org/drawingml/2006/table">
            <a:tbl>
              <a:tblPr firstRow="0" bandRow="0">
                <a:tableStyleId>{5940675A-B579-460E-94D1-54222C63F5DA}</a:tableStyleId>
              </a:tblPr>
              <a:tblGrid>
                <a:gridCol w="868680"/>
                <a:gridCol w="320040"/>
                <a:gridCol w="5989320"/>
                <a:gridCol w="1097280"/>
                <a:gridCol w="1371600"/>
                <a:gridCol w="1106424"/>
              </a:tblGrid>
              <a:tr h="246888">
                <a:tc>
                  <a:txBody>
                    <a:bodyPr wrap="square"/>
                    <a:lstStyle/>
                    <a:p>
                      <a:pPr algn="l"/>
                      <a:r>
                        <a:rPr sz="1050" b="1" i="0">
                          <a:solidFill>
                            <a:srgbClr val="FFFFFF"/>
                          </a:solidFill>
                          <a:latin typeface="Arial"/>
                        </a:rPr>
                        <a:t>App</a:t>
                      </a:r>
                    </a:p>
                  </a:txBody>
                  <a:tcPr marL="64008" marR="64008" marT="27432" marB="27432" anchor="ctr">
                    <a:solidFill>
                      <a:srgbClr val="132C43"/>
                    </a:solidFill>
                  </a:tcPr>
                </a:tc>
                <a:tc>
                  <a:txBody>
                    <a:bodyPr wrap="square"/>
                    <a:lstStyle/>
                    <a:p>
                      <a:pPr algn="l"/>
                      <a:r>
                        <a:rPr sz="1050" b="1" i="0">
                          <a:solidFill>
                            <a:srgbClr val="FFFFFF"/>
                          </a:solidFill>
                          <a:latin typeface="Arial"/>
                        </a:rPr>
                        <a:t>★</a:t>
                      </a:r>
                    </a:p>
                  </a:txBody>
                  <a:tcPr marL="64008" marR="64008" marT="27432" marB="27432" anchor="ctr">
                    <a:solidFill>
                      <a:srgbClr val="132C43"/>
                    </a:solidFill>
                  </a:tcPr>
                </a:tc>
                <a:tc>
                  <a:txBody>
                    <a:bodyPr wrap="square"/>
                    <a:lstStyle/>
                    <a:p>
                      <a:pPr algn="l"/>
                      <a:r>
                        <a:rPr sz="1050" b="1" i="0">
                          <a:solidFill>
                            <a:srgbClr val="FFFFFF"/>
                          </a:solidFill>
                          <a:latin typeface="Arial"/>
                        </a:rPr>
                        <a:t>Review text</a:t>
                      </a:r>
                    </a:p>
                  </a:txBody>
                  <a:tcPr marL="64008" marR="64008" marT="27432" marB="27432" anchor="ctr">
                    <a:solidFill>
                      <a:srgbClr val="132C43"/>
                    </a:solidFill>
                  </a:tcPr>
                </a:tc>
                <a:tc>
                  <a:txBody>
                    <a:bodyPr wrap="square"/>
                    <a:lstStyle/>
                    <a:p>
                      <a:pPr algn="l"/>
                      <a:r>
                        <a:rPr sz="1050" b="1" i="0">
                          <a:solidFill>
                            <a:srgbClr val="FFFFFF"/>
                          </a:solidFill>
                          <a:latin typeface="Arial"/>
                        </a:rPr>
                        <a:t>Date</a:t>
                      </a:r>
                    </a:p>
                  </a:txBody>
                  <a:tcPr marL="64008" marR="64008" marT="27432" marB="27432" anchor="ctr">
                    <a:solidFill>
                      <a:srgbClr val="132C43"/>
                    </a:solidFill>
                  </a:tcPr>
                </a:tc>
                <a:tc>
                  <a:txBody>
                    <a:bodyPr wrap="square"/>
                    <a:lstStyle/>
                    <a:p>
                      <a:pPr algn="l"/>
                      <a:r>
                        <a:rPr sz="1050" b="1" i="0">
                          <a:solidFill>
                            <a:srgbClr val="FFFFFF"/>
                          </a:solidFill>
                          <a:latin typeface="Arial"/>
                        </a:rPr>
                        <a:t>Issue tag</a:t>
                      </a:r>
                    </a:p>
                  </a:txBody>
                  <a:tcPr marL="64008" marR="64008" marT="27432" marB="27432" anchor="ctr">
                    <a:solidFill>
                      <a:srgbClr val="132C43"/>
                    </a:solidFill>
                  </a:tcPr>
                </a:tc>
                <a:tc>
                  <a:txBody>
                    <a:bodyPr wrap="square"/>
                    <a:lstStyle/>
                    <a:p>
                      <a:pPr algn="l"/>
                      <a:r>
                        <a:rPr sz="1050" b="1" i="0">
                          <a:solidFill>
                            <a:srgbClr val="FFFFFF"/>
                          </a:solidFill>
                          <a:latin typeface="Arial"/>
                        </a:rPr>
                        <a:t>Sentiment</a:t>
                      </a:r>
                    </a:p>
                  </a:txBody>
                  <a:tcPr marL="64008" marR="64008" marT="27432" marB="27432" anchor="ctr">
                    <a:solidFill>
                      <a:srgbClr val="132C43"/>
                    </a:solidFill>
                  </a:tcPr>
                </a:tc>
              </a:tr>
              <a:tr h="246888">
                <a:tc>
                  <a:txBody>
                    <a:bodyPr wrap="square"/>
                    <a:lstStyle/>
                    <a:p>
                      <a:pPr algn="l"/>
                      <a:r>
                        <a:rPr sz="1050" b="0" i="0">
                          <a:solidFill>
                            <a:srgbClr val="263C50"/>
                          </a:solidFill>
                          <a:latin typeface="Arial"/>
                        </a:rPr>
                        <a:t>Swiggy</a:t>
                      </a:r>
                    </a:p>
                  </a:txBody>
                  <a:tcPr marL="64008" marR="64008" marT="27432" marB="27432" anchor="ctr">
                    <a:solidFill>
                      <a:srgbClr val="FFFFFF"/>
                    </a:solidFill>
                  </a:tcPr>
                </a:tc>
                <a:tc>
                  <a:txBody>
                    <a:bodyPr wrap="square"/>
                    <a:lstStyle/>
                    <a:p>
                      <a:pPr algn="l"/>
                      <a:r>
                        <a:rPr sz="1050" b="0" i="0">
                          <a:solidFill>
                            <a:srgbClr val="263C50"/>
                          </a:solidFill>
                          <a:latin typeface="Arial"/>
                        </a:rPr>
                        <a:t>1</a:t>
                      </a:r>
                    </a:p>
                  </a:txBody>
                  <a:tcPr marL="64008" marR="64008" marT="27432" marB="27432" anchor="ctr">
                    <a:solidFill>
                      <a:srgbClr val="FFFFFF"/>
                    </a:solidFill>
                  </a:tcPr>
                </a:tc>
                <a:tc>
                  <a:txBody>
                    <a:bodyPr wrap="square"/>
                    <a:lstStyle/>
                    <a:p>
                      <a:pPr algn="l"/>
                      <a:r>
                        <a:rPr sz="1050" b="0" i="0">
                          <a:solidFill>
                            <a:srgbClr val="263C50"/>
                          </a:solidFill>
                          <a:latin typeface="Arial"/>
                        </a:rPr>
                        <a:t>assigning multiple orders for single delivery partner… all the orders are getting delayed</a:t>
                      </a:r>
                    </a:p>
                  </a:txBody>
                  <a:tcPr marL="64008" marR="64008" marT="27432" marB="27432" anchor="ctr">
                    <a:solidFill>
                      <a:srgbClr val="FFFFFF"/>
                    </a:solidFill>
                  </a:tcPr>
                </a:tc>
                <a:tc>
                  <a:txBody>
                    <a:bodyPr wrap="square"/>
                    <a:lstStyle/>
                    <a:p>
                      <a:pPr algn="l"/>
                      <a:r>
                        <a:rPr sz="1050" b="0" i="0">
                          <a:solidFill>
                            <a:srgbClr val="263C50"/>
                          </a:solidFill>
                          <a:latin typeface="Arial"/>
                        </a:rPr>
                        <a:t>2026-05-02</a:t>
                      </a:r>
                    </a:p>
                  </a:txBody>
                  <a:tcPr marL="64008" marR="64008" marT="27432" marB="27432" anchor="ctr">
                    <a:solidFill>
                      <a:srgbClr val="FFFFFF"/>
                    </a:solidFill>
                  </a:tcPr>
                </a:tc>
                <a:tc>
                  <a:txBody>
                    <a:bodyPr wrap="square"/>
                    <a:lstStyle/>
                    <a:p>
                      <a:pPr algn="l"/>
                      <a:r>
                        <a:rPr sz="1050" b="0" i="0">
                          <a:solidFill>
                            <a:srgbClr val="263C50"/>
                          </a:solidFill>
                          <a:latin typeface="Arial"/>
                        </a:rPr>
                        <a:t>delivery_delay</a:t>
                      </a:r>
                    </a:p>
                  </a:txBody>
                  <a:tcPr marL="64008" marR="64008" marT="27432" marB="27432" anchor="ctr">
                    <a:solidFill>
                      <a:srgbClr val="FFFFFF"/>
                    </a:solidFill>
                  </a:tcPr>
                </a:tc>
                <a:tc>
                  <a:txBody>
                    <a:bodyPr wrap="square"/>
                    <a:lstStyle/>
                    <a:p>
                      <a:pPr algn="l"/>
                      <a:r>
                        <a:rPr sz="1050" b="0" i="0">
                          <a:solidFill>
                            <a:srgbClr val="263C50"/>
                          </a:solidFill>
                          <a:latin typeface="Arial"/>
                        </a:rPr>
                        <a:t>Negative</a:t>
                      </a:r>
                    </a:p>
                  </a:txBody>
                  <a:tcPr marL="64008" marR="64008" marT="27432" marB="27432" anchor="ctr">
                    <a:solidFill>
                      <a:srgbClr val="FFFFFF"/>
                    </a:solidFill>
                  </a:tcPr>
                </a:tc>
              </a:tr>
              <a:tr h="246888">
                <a:tc>
                  <a:txBody>
                    <a:bodyPr wrap="square"/>
                    <a:lstStyle/>
                    <a:p>
                      <a:pPr algn="l"/>
                      <a:r>
                        <a:rPr sz="1050" b="0" i="0">
                          <a:solidFill>
                            <a:srgbClr val="263C50"/>
                          </a:solidFill>
                          <a:latin typeface="Arial"/>
                        </a:rPr>
                        <a:t>Amazon</a:t>
                      </a:r>
                    </a:p>
                  </a:txBody>
                  <a:tcPr marL="64008" marR="64008" marT="27432" marB="27432" anchor="ctr">
                    <a:solidFill>
                      <a:srgbClr val="EAF0F6"/>
                    </a:solidFill>
                  </a:tcPr>
                </a:tc>
                <a:tc>
                  <a:txBody>
                    <a:bodyPr wrap="square"/>
                    <a:lstStyle/>
                    <a:p>
                      <a:pPr algn="l"/>
                      <a:r>
                        <a:rPr sz="1050" b="0" i="0">
                          <a:solidFill>
                            <a:srgbClr val="263C50"/>
                          </a:solidFill>
                          <a:latin typeface="Arial"/>
                        </a:rPr>
                        <a:t>1</a:t>
                      </a:r>
                    </a:p>
                  </a:txBody>
                  <a:tcPr marL="64008" marR="64008" marT="27432" marB="27432" anchor="ctr">
                    <a:solidFill>
                      <a:srgbClr val="EAF0F6"/>
                    </a:solidFill>
                  </a:tcPr>
                </a:tc>
                <a:tc>
                  <a:txBody>
                    <a:bodyPr wrap="square"/>
                    <a:lstStyle/>
                    <a:p>
                      <a:pPr algn="l"/>
                      <a:r>
                        <a:rPr sz="1050" b="0" i="0">
                          <a:solidFill>
                            <a:srgbClr val="263C50"/>
                          </a:solidFill>
                          <a:latin typeface="Arial"/>
                        </a:rPr>
                        <a:t>i return my Order product... but didn't get any Refund even After waiting for 20 Days</a:t>
                      </a:r>
                    </a:p>
                  </a:txBody>
                  <a:tcPr marL="64008" marR="64008" marT="27432" marB="27432" anchor="ctr">
                    <a:solidFill>
                      <a:srgbClr val="EAF0F6"/>
                    </a:solidFill>
                  </a:tcPr>
                </a:tc>
                <a:tc>
                  <a:txBody>
                    <a:bodyPr wrap="square"/>
                    <a:lstStyle/>
                    <a:p>
                      <a:pPr algn="l"/>
                      <a:r>
                        <a:rPr sz="1050" b="0" i="0">
                          <a:solidFill>
                            <a:srgbClr val="263C50"/>
                          </a:solidFill>
                          <a:latin typeface="Arial"/>
                        </a:rPr>
                        <a:t>2026-07-14</a:t>
                      </a:r>
                    </a:p>
                  </a:txBody>
                  <a:tcPr marL="64008" marR="64008" marT="27432" marB="27432" anchor="ctr">
                    <a:solidFill>
                      <a:srgbClr val="EAF0F6"/>
                    </a:solidFill>
                  </a:tcPr>
                </a:tc>
                <a:tc>
                  <a:txBody>
                    <a:bodyPr wrap="square"/>
                    <a:lstStyle/>
                    <a:p>
                      <a:pPr algn="l"/>
                      <a:r>
                        <a:rPr sz="1050" b="0" i="0">
                          <a:solidFill>
                            <a:srgbClr val="263C50"/>
                          </a:solidFill>
                          <a:latin typeface="Arial"/>
                        </a:rPr>
                        <a:t>payment_refund</a:t>
                      </a:r>
                    </a:p>
                  </a:txBody>
                  <a:tcPr marL="64008" marR="64008" marT="27432" marB="27432" anchor="ctr">
                    <a:solidFill>
                      <a:srgbClr val="EAF0F6"/>
                    </a:solidFill>
                  </a:tcPr>
                </a:tc>
                <a:tc>
                  <a:txBody>
                    <a:bodyPr wrap="square"/>
                    <a:lstStyle/>
                    <a:p>
                      <a:pPr algn="l"/>
                      <a:r>
                        <a:rPr sz="1050" b="0" i="0">
                          <a:solidFill>
                            <a:srgbClr val="263C50"/>
                          </a:solidFill>
                          <a:latin typeface="Arial"/>
                        </a:rPr>
                        <a:t>Neutral</a:t>
                      </a:r>
                    </a:p>
                  </a:txBody>
                  <a:tcPr marL="64008" marR="64008" marT="27432" marB="27432" anchor="ctr">
                    <a:solidFill>
                      <a:srgbClr val="EAF0F6"/>
                    </a:solidFill>
                  </a:tcPr>
                </a:tc>
              </a:tr>
              <a:tr h="246888">
                <a:tc>
                  <a:txBody>
                    <a:bodyPr wrap="square"/>
                    <a:lstStyle/>
                    <a:p>
                      <a:pPr algn="l"/>
                      <a:r>
                        <a:rPr sz="1050" b="0" i="0">
                          <a:solidFill>
                            <a:srgbClr val="263C50"/>
                          </a:solidFill>
                          <a:latin typeface="Arial"/>
                        </a:rPr>
                        <a:t>Flipkart</a:t>
                      </a:r>
                    </a:p>
                  </a:txBody>
                  <a:tcPr marL="64008" marR="64008" marT="27432" marB="27432" anchor="ctr">
                    <a:solidFill>
                      <a:srgbClr val="FFFFFF"/>
                    </a:solidFill>
                  </a:tcPr>
                </a:tc>
                <a:tc>
                  <a:txBody>
                    <a:bodyPr wrap="square"/>
                    <a:lstStyle/>
                    <a:p>
                      <a:pPr algn="l"/>
                      <a:r>
                        <a:rPr sz="1050" b="0" i="0">
                          <a:solidFill>
                            <a:srgbClr val="263C50"/>
                          </a:solidFill>
                          <a:latin typeface="Arial"/>
                        </a:rPr>
                        <a:t>5</a:t>
                      </a:r>
                    </a:p>
                  </a:txBody>
                  <a:tcPr marL="64008" marR="64008" marT="27432" marB="27432" anchor="ctr">
                    <a:solidFill>
                      <a:srgbClr val="FFFFFF"/>
                    </a:solidFill>
                  </a:tcPr>
                </a:tc>
                <a:tc>
                  <a:txBody>
                    <a:bodyPr wrap="square"/>
                    <a:lstStyle/>
                    <a:p>
                      <a:pPr algn="l"/>
                      <a:r>
                        <a:rPr sz="1050" b="0" i="0">
                          <a:solidFill>
                            <a:srgbClr val="263C50"/>
                          </a:solidFill>
                          <a:latin typeface="Arial"/>
                        </a:rPr>
                        <a:t>nice app</a:t>
                      </a:r>
                    </a:p>
                  </a:txBody>
                  <a:tcPr marL="64008" marR="64008" marT="27432" marB="27432" anchor="ctr">
                    <a:solidFill>
                      <a:srgbClr val="FFFFFF"/>
                    </a:solidFill>
                  </a:tcPr>
                </a:tc>
                <a:tc>
                  <a:txBody>
                    <a:bodyPr wrap="square"/>
                    <a:lstStyle/>
                    <a:p>
                      <a:pPr algn="l"/>
                      <a:r>
                        <a:rPr sz="1050" b="0" i="0">
                          <a:solidFill>
                            <a:srgbClr val="263C50"/>
                          </a:solidFill>
                          <a:latin typeface="Arial"/>
                        </a:rPr>
                        <a:t>2026-08-20</a:t>
                      </a:r>
                    </a:p>
                  </a:txBody>
                  <a:tcPr marL="64008" marR="64008" marT="27432" marB="27432" anchor="ctr">
                    <a:solidFill>
                      <a:srgbClr val="FFFFFF"/>
                    </a:solidFill>
                  </a:tcPr>
                </a:tc>
                <a:tc>
                  <a:txBody>
                    <a:bodyPr wrap="square"/>
                    <a:lstStyle/>
                    <a:p>
                      <a:pPr algn="l"/>
                      <a:r>
                        <a:rPr sz="1050" b="0" i="0">
                          <a:solidFill>
                            <a:srgbClr val="263C50"/>
                          </a:solidFill>
                          <a:latin typeface="Arial"/>
                        </a:rPr>
                        <a:t>none</a:t>
                      </a:r>
                    </a:p>
                  </a:txBody>
                  <a:tcPr marL="64008" marR="64008" marT="27432" marB="27432" anchor="ctr">
                    <a:solidFill>
                      <a:srgbClr val="FFFFFF"/>
                    </a:solidFill>
                  </a:tcPr>
                </a:tc>
                <a:tc>
                  <a:txBody>
                    <a:bodyPr wrap="square"/>
                    <a:lstStyle/>
                    <a:p>
                      <a:pPr algn="l"/>
                      <a:r>
                        <a:rPr sz="1050" b="0" i="0">
                          <a:solidFill>
                            <a:srgbClr val="263C50"/>
                          </a:solidFill>
                          <a:latin typeface="Arial"/>
                        </a:rPr>
                        <a:t>Positive</a:t>
                      </a:r>
                    </a:p>
                  </a:txBody>
                  <a:tcPr marL="64008" marR="64008" marT="27432" marB="27432" anchor="ctr">
                    <a:solidFill>
                      <a:srgbClr val="FFFFFF"/>
                    </a:solidFill>
                  </a:tcPr>
                </a:tc>
              </a:tr>
              <a:tr h="246888">
                <a:tc>
                  <a:txBody>
                    <a:bodyPr wrap="square"/>
                    <a:lstStyle/>
                    <a:p>
                      <a:pPr algn="l"/>
                      <a:r>
                        <a:rPr sz="1050" b="0" i="0">
                          <a:solidFill>
                            <a:srgbClr val="263C50"/>
                          </a:solidFill>
                          <a:latin typeface="Arial"/>
                        </a:rPr>
                        <a:t>PhonePe</a:t>
                      </a:r>
                    </a:p>
                  </a:txBody>
                  <a:tcPr marL="64008" marR="64008" marT="27432" marB="27432" anchor="ctr">
                    <a:solidFill>
                      <a:srgbClr val="EAF0F6"/>
                    </a:solidFill>
                  </a:tcPr>
                </a:tc>
                <a:tc>
                  <a:txBody>
                    <a:bodyPr wrap="square"/>
                    <a:lstStyle/>
                    <a:p>
                      <a:pPr algn="l"/>
                      <a:r>
                        <a:rPr sz="1050" b="0" i="0">
                          <a:solidFill>
                            <a:srgbClr val="263C50"/>
                          </a:solidFill>
                          <a:latin typeface="Arial"/>
                        </a:rPr>
                        <a:t>5</a:t>
                      </a:r>
                    </a:p>
                  </a:txBody>
                  <a:tcPr marL="64008" marR="64008" marT="27432" marB="27432" anchor="ctr">
                    <a:solidFill>
                      <a:srgbClr val="EAF0F6"/>
                    </a:solidFill>
                  </a:tcPr>
                </a:tc>
                <a:tc>
                  <a:txBody>
                    <a:bodyPr wrap="square"/>
                    <a:lstStyle/>
                    <a:p>
                      <a:pPr algn="l"/>
                      <a:r>
                        <a:rPr sz="1050" b="0" i="0">
                          <a:solidFill>
                            <a:srgbClr val="263C50"/>
                          </a:solidFill>
                          <a:latin typeface="Arial"/>
                        </a:rPr>
                        <a:t>Yes my phone pe app not working</a:t>
                      </a:r>
                    </a:p>
                  </a:txBody>
                  <a:tcPr marL="64008" marR="64008" marT="27432" marB="27432" anchor="ctr">
                    <a:solidFill>
                      <a:srgbClr val="EAF0F6"/>
                    </a:solidFill>
                  </a:tcPr>
                </a:tc>
                <a:tc>
                  <a:txBody>
                    <a:bodyPr wrap="square"/>
                    <a:lstStyle/>
                    <a:p>
                      <a:pPr algn="l"/>
                      <a:r>
                        <a:rPr sz="1050" b="0" i="0">
                          <a:solidFill>
                            <a:srgbClr val="263C50"/>
                          </a:solidFill>
                          <a:latin typeface="Arial"/>
                        </a:rPr>
                        <a:t>2026-05-20</a:t>
                      </a:r>
                    </a:p>
                  </a:txBody>
                  <a:tcPr marL="64008" marR="64008" marT="27432" marB="27432" anchor="ctr">
                    <a:solidFill>
                      <a:srgbClr val="EAF0F6"/>
                    </a:solidFill>
                  </a:tcPr>
                </a:tc>
                <a:tc>
                  <a:txBody>
                    <a:bodyPr wrap="square"/>
                    <a:lstStyle/>
                    <a:p>
                      <a:pPr algn="l"/>
                      <a:r>
                        <a:rPr sz="1050" b="0" i="0">
                          <a:solidFill>
                            <a:srgbClr val="263C50"/>
                          </a:solidFill>
                          <a:latin typeface="Arial"/>
                        </a:rPr>
                        <a:t>none</a:t>
                      </a:r>
                    </a:p>
                  </a:txBody>
                  <a:tcPr marL="64008" marR="64008" marT="27432" marB="27432" anchor="ctr">
                    <a:solidFill>
                      <a:srgbClr val="EAF0F6"/>
                    </a:solidFill>
                  </a:tcPr>
                </a:tc>
                <a:tc>
                  <a:txBody>
                    <a:bodyPr wrap="square"/>
                    <a:lstStyle/>
                    <a:p>
                      <a:pPr algn="l"/>
                      <a:r>
                        <a:rPr sz="1050" b="0" i="0">
                          <a:solidFill>
                            <a:srgbClr val="263C50"/>
                          </a:solidFill>
                          <a:latin typeface="Arial"/>
                        </a:rPr>
                        <a:t>Positive</a:t>
                      </a:r>
                    </a:p>
                  </a:txBody>
                  <a:tcPr marL="64008" marR="64008" marT="27432" marB="27432" anchor="ctr">
                    <a:solidFill>
                      <a:srgbClr val="EAF0F6"/>
                    </a:solidFill>
                  </a:tcPr>
                </a:tc>
              </a:tr>
            </a:tbl>
          </a:graphicData>
        </a:graphic>
      </p:graphicFrame>
    </p:spTree>
    <p:extLst>
      <p:ext uri="{BB962C8B-B14F-4D97-AF65-F5344CB8AC3E}">
        <p14:creationId xmlns:p14="http://schemas.microsoft.com/office/powerpoint/2010/main" val="913027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6EB4B3-97C6-47CE-8D1D-858646C8DE65}"/>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Data Cleaning and Preprocessing</a:t>
            </a:r>
          </a:p>
        </p:txBody>
      </p:sp>
      <p:sp>
        <p:nvSpPr>
          <p:cNvPr id="4" name="Rectangle 3">
            <a:extLst>
              <a:ext uri="{FF2B5EF4-FFF2-40B4-BE49-F238E27FC236}">
                <a16:creationId xmlns:a16="http://schemas.microsoft.com/office/drawing/2014/main" id="{E59E5E98-3194-46C8-976A-E6A1C64D5960}"/>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04</a:t>
            </a:r>
          </a:p>
        </p:txBody>
      </p:sp>
      <p:sp>
        <p:nvSpPr>
          <p:cNvPr id="6" name="TextBox 5"/>
          <p:cNvSpPr txBox="1"/>
          <p:nvPr/>
        </p:nvSpPr>
        <p:spPr>
          <a:xfrm>
            <a:off x="722376" y="1463040"/>
            <a:ext cx="5440680" cy="4480560"/>
          </a:xfrm>
          <a:prstGeom prst="rect">
            <a:avLst/>
          </a:prstGeom>
          <a:noFill/>
        </p:spPr>
        <p:txBody>
          <a:bodyPr wrap="square" anchor="t" lIns="0" rIns="0" tIns="0" bIns="0">
            <a:spAutoFit/>
          </a:bodyPr>
          <a:lstStyle/>
          <a:p>
            <a:pPr algn="l">
              <a:spcAft>
                <a:spcPts val="1000"/>
              </a:spcAft>
            </a:pPr>
            <a:r>
              <a:rPr sz="1300" b="1" i="0">
                <a:solidFill>
                  <a:srgbClr val="132C43"/>
                </a:solidFill>
                <a:latin typeface="Arial"/>
              </a:rPr>
              <a:t>Missing values: </a:t>
            </a:r>
            <a:r>
              <a:rPr sz="1300" b="0" i="0">
                <a:solidFill>
                  <a:srgbClr val="263C50"/>
                </a:solidFill>
                <a:latin typeface="Arial"/>
              </a:rPr>
              <a:t>Only app_version is missing (152,017 rows, 13.4%); rows kept because version is not a model feature. Empty text set to "" and reviews under 3 characters removed (47,533).</a:t>
            </a:r>
          </a:p>
          <a:p>
            <a:pPr algn="l">
              <a:spcAft>
                <a:spcPts val="1000"/>
              </a:spcAft>
            </a:pPr>
            <a:r>
              <a:rPr sz="1300" b="1" i="0">
                <a:solidFill>
                  <a:srgbClr val="132C43"/>
                </a:solidFill>
                <a:latin typeface="Arial"/>
              </a:rPr>
              <a:t>Duplicates and outliers: </a:t>
            </a:r>
            <a:r>
              <a:rPr sz="1300" b="0" i="0">
                <a:solidFill>
                  <a:srgbClr val="263C50"/>
                </a:solidFill>
                <a:latin typeface="Arial"/>
              </a:rPr>
              <a:t>0 duplicate review IDs. Removed 7,420 reviews with no letters (emoji only) and 9,789 non-English reviews (&lt; 85% Latin letters; emojis ignored, so "good 👍" is kept). thumbs_up (93.6% zero, max 11,165) and long reviews kept, handled with medians, log scale and rank tests.</a:t>
            </a:r>
          </a:p>
          <a:p>
            <a:pPr algn="l">
              <a:spcAft>
                <a:spcPts val="1000"/>
              </a:spcAft>
            </a:pPr>
            <a:r>
              <a:rPr sz="1300" b="1" i="0">
                <a:solidFill>
                  <a:srgbClr val="132C43"/>
                </a:solidFill>
                <a:latin typeface="Arial"/>
              </a:rPr>
              <a:t>Encoding and scaling: </a:t>
            </a:r>
            <a:r>
              <a:rPr sz="1300" b="0" i="0">
                <a:solidFill>
                  <a:srgbClr val="263C50"/>
                </a:solidFill>
                <a:latin typeface="Arial"/>
              </a:rPr>
              <a:t>Text → TF-IDF; 9 issue categories as 0/1 columns; 15 structural features scaled with StandardScaler; month and review_length derived.</a:t>
            </a:r>
          </a:p>
          <a:p>
            <a:pPr algn="l">
              <a:spcAft>
                <a:spcPts val="1000"/>
              </a:spcAft>
            </a:pPr>
            <a:r>
              <a:rPr sz="1300" b="1" i="0">
                <a:solidFill>
                  <a:srgbClr val="132C43"/>
                </a:solidFill>
                <a:latin typeface="Arial"/>
              </a:rPr>
              <a:t>Before and after: </a:t>
            </a:r>
            <a:r>
              <a:rPr sz="1300" b="0" i="0">
                <a:solidFill>
                  <a:srgbClr val="263C50"/>
                </a:solidFill>
                <a:latin typeface="Arial"/>
              </a:rPr>
              <a:t>1,202,729 → 1,137,987 rows (64,742 removed, 5.4%). Columns: 9 raw → 11 after cleaning → 29 after tagging and sentiment.</a:t>
            </a:r>
          </a:p>
        </p:txBody>
      </p:sp>
      <p:pic>
        <p:nvPicPr>
          <p:cNvPr id="7" name="Picture 6" descr="nb_cleaning.png"/>
          <p:cNvPicPr>
            <a:picLocks noChangeAspect="1"/>
          </p:cNvPicPr>
          <p:nvPr/>
        </p:nvPicPr>
        <p:blipFill>
          <a:blip r:embed="rId3"/>
          <a:stretch>
            <a:fillRect/>
          </a:stretch>
        </p:blipFill>
        <p:spPr>
          <a:xfrm>
            <a:off x="6448253" y="1463040"/>
            <a:ext cx="5027467" cy="4480560"/>
          </a:xfrm>
          <a:prstGeom prst="rect">
            <a:avLst/>
          </a:prstGeom>
          <a:ln>
            <a:solidFill>
              <a:srgbClr val="DAE2EB"/>
            </a:solidFill>
          </a:ln>
        </p:spPr>
      </p:pic>
    </p:spTree>
    <p:extLst>
      <p:ext uri="{BB962C8B-B14F-4D97-AF65-F5344CB8AC3E}">
        <p14:creationId xmlns:p14="http://schemas.microsoft.com/office/powerpoint/2010/main" val="603824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D0AE25-D9BB-41D2-AA15-F048653EE973}"/>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Exploratory Analysis and Visualization (1/2)</a:t>
            </a:r>
          </a:p>
        </p:txBody>
      </p:sp>
      <p:sp>
        <p:nvSpPr>
          <p:cNvPr id="4" name="Rectangle 3">
            <a:extLst>
              <a:ext uri="{FF2B5EF4-FFF2-40B4-BE49-F238E27FC236}">
                <a16:creationId xmlns:a16="http://schemas.microsoft.com/office/drawing/2014/main" id="{417FFBD7-6979-4B58-B685-F3B1F3CCD35B}"/>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05</a:t>
            </a:r>
          </a:p>
        </p:txBody>
      </p:sp>
      <p:sp>
        <p:nvSpPr>
          <p:cNvPr id="6" name="Rounded Rectangle 5"/>
          <p:cNvSpPr/>
          <p:nvPr/>
        </p:nvSpPr>
        <p:spPr>
          <a:xfrm>
            <a:off x="722376" y="1463040"/>
            <a:ext cx="5257800" cy="324612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 name="Chart 6"/>
          <p:cNvGraphicFramePr>
            <a:graphicFrameLocks noGrp="1"/>
          </p:cNvGraphicFramePr>
          <p:nvPr/>
        </p:nvGraphicFramePr>
        <p:xfrm>
          <a:off x="822960" y="1536192"/>
          <a:ext cx="5074920" cy="2816352"/>
        </p:xfrm>
        <a:graphic>
          <a:graphicData uri="http://schemas.openxmlformats.org/drawingml/2006/chart">
            <c:chart xmlns:c="http://schemas.openxmlformats.org/drawingml/2006/chart" r:id="rId3"/>
          </a:graphicData>
        </a:graphic>
      </p:graphicFrame>
      <p:sp>
        <p:nvSpPr>
          <p:cNvPr id="8" name="TextBox 7"/>
          <p:cNvSpPr txBox="1"/>
          <p:nvPr/>
        </p:nvSpPr>
        <p:spPr>
          <a:xfrm>
            <a:off x="1463040" y="4389120"/>
            <a:ext cx="4389120" cy="274320"/>
          </a:xfrm>
          <a:prstGeom prst="rect">
            <a:avLst/>
          </a:prstGeom>
          <a:noFill/>
        </p:spPr>
        <p:txBody>
          <a:bodyPr wrap="square" anchor="t" lIns="0" rIns="0" tIns="0" bIns="0">
            <a:spAutoFit/>
          </a:bodyPr>
          <a:lstStyle/>
          <a:p>
            <a:pPr algn="l">
              <a:spcAft>
                <a:spcPts val="600"/>
              </a:spcAft>
            </a:pPr>
            <a:r>
              <a:rPr sz="1050" b="0" i="0">
                <a:solidFill>
                  <a:srgbClr val="2A78D6"/>
                </a:solidFill>
                <a:latin typeface="Arial"/>
              </a:rPr>
              <a:t>■ Food &amp; Grocery   </a:t>
            </a:r>
            <a:r>
              <a:rPr sz="1050" b="0" i="0">
                <a:solidFill>
                  <a:srgbClr val="EB6834"/>
                </a:solidFill>
                <a:latin typeface="Arial"/>
              </a:rPr>
              <a:t>■ Shopping   </a:t>
            </a:r>
            <a:r>
              <a:rPr sz="1050" b="0" i="0">
                <a:solidFill>
                  <a:srgbClr val="1BAF7A"/>
                </a:solidFill>
                <a:latin typeface="Arial"/>
              </a:rPr>
              <a:t>■ Payments</a:t>
            </a:r>
          </a:p>
        </p:txBody>
      </p:sp>
      <p:sp>
        <p:nvSpPr>
          <p:cNvPr id="9" name="Rounded Rectangle 8"/>
          <p:cNvSpPr/>
          <p:nvPr/>
        </p:nvSpPr>
        <p:spPr>
          <a:xfrm>
            <a:off x="6217920" y="1463040"/>
            <a:ext cx="5257800" cy="324612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0" name="Chart 9"/>
          <p:cNvGraphicFramePr>
            <a:graphicFrameLocks noGrp="1"/>
          </p:cNvGraphicFramePr>
          <p:nvPr/>
        </p:nvGraphicFramePr>
        <p:xfrm>
          <a:off x="6309360" y="1536192"/>
          <a:ext cx="5074920" cy="3108960"/>
        </p:xfrm>
        <a:graphic>
          <a:graphicData uri="http://schemas.openxmlformats.org/drawingml/2006/chart">
            <c:chart xmlns:c="http://schemas.openxmlformats.org/drawingml/2006/chart" r:id="rId4"/>
          </a:graphicData>
        </a:graphic>
      </p:graphicFrame>
      <p:sp>
        <p:nvSpPr>
          <p:cNvPr id="11" name="TextBox 10"/>
          <p:cNvSpPr txBox="1"/>
          <p:nvPr/>
        </p:nvSpPr>
        <p:spPr>
          <a:xfrm>
            <a:off x="722376" y="4846320"/>
            <a:ext cx="5257800" cy="1188720"/>
          </a:xfrm>
          <a:prstGeom prst="rect">
            <a:avLst/>
          </a:prstGeom>
          <a:noFill/>
        </p:spPr>
        <p:txBody>
          <a:bodyPr wrap="square" anchor="t" lIns="0" rIns="0" tIns="0" bIns="0">
            <a:spAutoFit/>
          </a:bodyPr>
          <a:lstStyle/>
          <a:p>
            <a:pPr algn="l">
              <a:spcAft>
                <a:spcPts val="0"/>
              </a:spcAft>
            </a:pPr>
            <a:r>
              <a:rPr sz="1250" b="1" i="0">
                <a:solidFill>
                  <a:srgbClr val="132C43"/>
                </a:solidFill>
                <a:latin typeface="Arial"/>
              </a:rPr>
              <a:t>Finding 1: </a:t>
            </a:r>
            <a:r>
              <a:rPr sz="1250" b="0" i="0">
                <a:solidFill>
                  <a:srgbClr val="263C50"/>
                </a:solidFill>
                <a:latin typeface="Arial"/>
              </a:rPr>
              <a:t>Amazon (54%) and Swiggy (35%) are far harsher than the other nine apps (10–24%), throughout April–September. Business significance: these two have a lasting service problem.</a:t>
            </a:r>
          </a:p>
        </p:txBody>
      </p:sp>
      <p:sp>
        <p:nvSpPr>
          <p:cNvPr id="12" name="TextBox 11"/>
          <p:cNvSpPr txBox="1"/>
          <p:nvPr/>
        </p:nvSpPr>
        <p:spPr>
          <a:xfrm>
            <a:off x="6217920" y="4846320"/>
            <a:ext cx="5257800" cy="1188720"/>
          </a:xfrm>
          <a:prstGeom prst="rect">
            <a:avLst/>
          </a:prstGeom>
          <a:noFill/>
        </p:spPr>
        <p:txBody>
          <a:bodyPr wrap="square" anchor="t" lIns="0" rIns="0" tIns="0" bIns="0">
            <a:spAutoFit/>
          </a:bodyPr>
          <a:lstStyle/>
          <a:p>
            <a:pPr algn="l">
              <a:spcAft>
                <a:spcPts val="0"/>
              </a:spcAft>
            </a:pPr>
            <a:r>
              <a:rPr sz="1250" b="1" i="0">
                <a:solidFill>
                  <a:srgbClr val="132C43"/>
                </a:solidFill>
                <a:latin typeface="Arial"/>
              </a:rPr>
              <a:t>Finding 2: </a:t>
            </a:r>
            <a:r>
              <a:rPr sz="1250" b="0" i="0">
                <a:solidFill>
                  <a:srgbClr val="263C50"/>
                </a:solidFill>
                <a:latin typeface="Arial"/>
              </a:rPr>
              <a:t>Customer Support is the most common (4.1%) and most damaging issue (1.23★). Shopping is led by returns; delivery is almost absent in Payments. Business significance: each app should fix its own top issue first.</a:t>
            </a:r>
          </a:p>
        </p:txBody>
      </p:sp>
    </p:spTree>
    <p:extLst>
      <p:ext uri="{BB962C8B-B14F-4D97-AF65-F5344CB8AC3E}">
        <p14:creationId xmlns:p14="http://schemas.microsoft.com/office/powerpoint/2010/main" val="1587483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D0AE25-D9BB-41D2-AA15-F048653EE973}"/>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Exploratory Analysis and Visualization (2/2)</a:t>
            </a:r>
          </a:p>
        </p:txBody>
      </p:sp>
      <p:sp>
        <p:nvSpPr>
          <p:cNvPr id="4" name="Rectangle 3">
            <a:extLst>
              <a:ext uri="{FF2B5EF4-FFF2-40B4-BE49-F238E27FC236}">
                <a16:creationId xmlns:a16="http://schemas.microsoft.com/office/drawing/2014/main" id="{417FFBD7-6979-4B58-B685-F3B1F3CCD35B}"/>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06</a:t>
            </a:r>
          </a:p>
        </p:txBody>
      </p:sp>
      <p:sp>
        <p:nvSpPr>
          <p:cNvPr id="6" name="Rounded Rectangle 5"/>
          <p:cNvSpPr/>
          <p:nvPr/>
        </p:nvSpPr>
        <p:spPr>
          <a:xfrm>
            <a:off x="722376" y="1463040"/>
            <a:ext cx="6675120" cy="452628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 name="Chart 6"/>
          <p:cNvGraphicFramePr>
            <a:graphicFrameLocks noGrp="1"/>
          </p:cNvGraphicFramePr>
          <p:nvPr/>
        </p:nvGraphicFramePr>
        <p:xfrm>
          <a:off x="822960" y="1536192"/>
          <a:ext cx="6492240" cy="4389120"/>
        </p:xfrm>
        <a:graphic>
          <a:graphicData uri="http://schemas.openxmlformats.org/drawingml/2006/chart">
            <c:chart xmlns:c="http://schemas.openxmlformats.org/drawingml/2006/chart" r:id="rId2"/>
          </a:graphicData>
        </a:graphic>
      </p:graphicFrame>
      <p:sp>
        <p:nvSpPr>
          <p:cNvPr id="8" name="Rectangle 7"/>
          <p:cNvSpPr/>
          <p:nvPr/>
        </p:nvSpPr>
        <p:spPr>
          <a:xfrm>
            <a:off x="3017520" y="2103120"/>
            <a:ext cx="1847088" cy="2944368"/>
          </a:xfrm>
          <a:prstGeom prst="rect">
            <a:avLst/>
          </a:prstGeom>
          <a:solidFill>
            <a:srgbClr val="132C43">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17520" y="2121408"/>
            <a:ext cx="1847088" cy="457200"/>
          </a:xfrm>
          <a:prstGeom prst="rect">
            <a:avLst/>
          </a:prstGeom>
          <a:noFill/>
        </p:spPr>
        <p:txBody>
          <a:bodyPr wrap="square" anchor="t" lIns="0" rIns="0" tIns="0" bIns="0">
            <a:spAutoFit/>
          </a:bodyPr>
          <a:lstStyle/>
          <a:p>
            <a:pPr algn="ctr">
              <a:spcAft>
                <a:spcPts val="0"/>
              </a:spcAft>
            </a:pPr>
            <a:r>
              <a:rPr sz="1100" b="1" i="0">
                <a:solidFill>
                  <a:srgbClr val="C93A39"/>
                </a:solidFill>
                <a:latin typeface="Arial"/>
              </a:rPr>
              <a:t>Feed gap</a:t>
            </a:r>
          </a:p>
          <a:p>
            <a:pPr algn="ctr">
              <a:spcAft>
                <a:spcPts val="0"/>
              </a:spcAft>
            </a:pPr>
            <a:r>
              <a:rPr sz="1050" b="0" i="0">
                <a:solidFill>
                  <a:srgbClr val="C93A39"/>
                </a:solidFill>
                <a:latin typeface="Arial"/>
              </a:rPr>
              <a:t>21 Apr – 5 May</a:t>
            </a:r>
          </a:p>
        </p:txBody>
      </p:sp>
      <p:sp>
        <p:nvSpPr>
          <p:cNvPr id="10" name="TextBox 9"/>
          <p:cNvSpPr txBox="1"/>
          <p:nvPr/>
        </p:nvSpPr>
        <p:spPr>
          <a:xfrm>
            <a:off x="7635240" y="1463040"/>
            <a:ext cx="3840480" cy="2651760"/>
          </a:xfrm>
          <a:prstGeom prst="rect">
            <a:avLst/>
          </a:prstGeom>
          <a:noFill/>
        </p:spPr>
        <p:txBody>
          <a:bodyPr wrap="square" anchor="t" lIns="0" rIns="0" tIns="0" bIns="0">
            <a:spAutoFit/>
          </a:bodyPr>
          <a:lstStyle/>
          <a:p>
            <a:pPr algn="l">
              <a:spcAft>
                <a:spcPts val="1000"/>
              </a:spcAft>
            </a:pPr>
            <a:r>
              <a:rPr sz="1300" b="1" i="0">
                <a:solidFill>
                  <a:srgbClr val="132C43"/>
                </a:solidFill>
                <a:latin typeface="Arial"/>
              </a:rPr>
              <a:t>Finding 3: </a:t>
            </a:r>
            <a:r>
              <a:rPr sz="1300" b="0" i="0">
                <a:solidFill>
                  <a:srgbClr val="263C50"/>
                </a:solidFill>
                <a:latin typeface="Arial"/>
              </a:rPr>
              <a:t>From 21 Apr to 5 May positive reviews drop 59–90% for these 5 apps while negative reviews drop only 3–37%: a Play Store feed gap, not a wave of complaints. Swiggy's weekly "% negative" jumps to 87%.</a:t>
            </a:r>
          </a:p>
          <a:p>
            <a:pPr algn="l">
              <a:spcAft>
                <a:spcPts val="1000"/>
              </a:spcAft>
            </a:pPr>
            <a:r>
              <a:rPr sz="1300" b="1" i="0">
                <a:solidFill>
                  <a:srgbClr val="132C43"/>
                </a:solidFill>
                <a:latin typeface="Arial"/>
              </a:rPr>
              <a:t>Business significance: </a:t>
            </a:r>
            <a:r>
              <a:rPr sz="1300" b="0" i="0">
                <a:solidFill>
                  <a:srgbClr val="263C50"/>
                </a:solidFill>
                <a:latin typeface="Arial"/>
              </a:rPr>
              <a:t>Monitor negative reviews per day, not "% negative". We keep and flag these rows and exclude them from trends.</a:t>
            </a:r>
          </a:p>
        </p:txBody>
      </p:sp>
      <p:sp>
        <p:nvSpPr>
          <p:cNvPr id="11" name="Rounded Rectangle 10"/>
          <p:cNvSpPr/>
          <p:nvPr/>
        </p:nvSpPr>
        <p:spPr>
          <a:xfrm>
            <a:off x="7635240" y="4206240"/>
            <a:ext cx="3840480" cy="1783080"/>
          </a:xfrm>
          <a:prstGeom prst="roundRect">
            <a:avLst>
              <a:gd name="adj" fmla="val 6000"/>
            </a:avLst>
          </a:prstGeom>
          <a:solidFill>
            <a:srgbClr val="EAF0F6"/>
          </a:solidFill>
          <a:ln w="9525">
            <a:solidFill>
              <a:srgbClr val="EAF0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0" y="4279392"/>
            <a:ext cx="3611880" cy="1645920"/>
          </a:xfrm>
          <a:prstGeom prst="rect">
            <a:avLst/>
          </a:prstGeom>
          <a:noFill/>
        </p:spPr>
        <p:txBody>
          <a:bodyPr wrap="square" anchor="t" lIns="0" rIns="0" tIns="0" bIns="0">
            <a:spAutoFit/>
          </a:bodyPr>
          <a:lstStyle/>
          <a:p>
            <a:pPr algn="l">
              <a:spcAft>
                <a:spcPts val="300"/>
              </a:spcAft>
            </a:pPr>
            <a:r>
              <a:rPr sz="1250" b="1" i="0">
                <a:solidFill>
                  <a:srgbClr val="132C43"/>
                </a:solidFill>
                <a:latin typeface="Arial"/>
              </a:rPr>
              <a:t>Other checks</a:t>
            </a:r>
          </a:p>
          <a:p>
            <a:pPr algn="l">
              <a:spcAft>
                <a:spcPts val="300"/>
              </a:spcAft>
            </a:pPr>
            <a:r>
              <a:rPr sz="1150" b="0" i="0">
                <a:solidFill>
                  <a:srgbClr val="263C50"/>
                </a:solidFill>
                <a:latin typeface="Arial"/>
              </a:rPr>
              <a:t>• No mid-year shift: no app's reviews per day rise after July, and median length is unchanged in 10 of 11 apps.</a:t>
            </a:r>
          </a:p>
          <a:p>
            <a:pPr algn="l">
              <a:spcAft>
                <a:spcPts val="300"/>
              </a:spcAft>
            </a:pPr>
            <a:r>
              <a:rPr sz="1150" b="0" i="0">
                <a:solidFill>
                  <a:srgbClr val="263C50"/>
                </a:solidFill>
                <a:latin typeface="Arial"/>
              </a:rPr>
              <a:t>• 1★ reviews: median 14 words; 5★: 2 words.</a:t>
            </a:r>
          </a:p>
          <a:p>
            <a:pPr algn="l">
              <a:spcAft>
                <a:spcPts val="300"/>
              </a:spcAft>
            </a:pPr>
            <a:r>
              <a:rPr sz="1150" b="0" i="0">
                <a:solidFill>
                  <a:srgbClr val="263C50"/>
                </a:solidFill>
                <a:latin typeface="Arial"/>
              </a:rPr>
              <a:t>• 1★ is 17% of reviews but 59% of upvotes.</a:t>
            </a:r>
          </a:p>
        </p:txBody>
      </p:sp>
    </p:spTree>
    <p:extLst>
      <p:ext uri="{BB962C8B-B14F-4D97-AF65-F5344CB8AC3E}">
        <p14:creationId xmlns:p14="http://schemas.microsoft.com/office/powerpoint/2010/main" val="1587483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E1B486-1F4D-4280-881D-BABE8F4DD991}"/>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Feature Engineering or Dimensionality Reduction</a:t>
            </a:r>
          </a:p>
        </p:txBody>
      </p:sp>
      <p:sp>
        <p:nvSpPr>
          <p:cNvPr id="4" name="Rectangle 3">
            <a:extLst>
              <a:ext uri="{FF2B5EF4-FFF2-40B4-BE49-F238E27FC236}">
                <a16:creationId xmlns:a16="http://schemas.microsoft.com/office/drawing/2014/main" id="{EF5A7507-3557-4516-A60D-A4636F9CBF66}"/>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07</a:t>
            </a:r>
          </a:p>
        </p:txBody>
      </p:sp>
      <p:sp>
        <p:nvSpPr>
          <p:cNvPr id="6" name="TextBox 5"/>
          <p:cNvSpPr txBox="1"/>
          <p:nvPr/>
        </p:nvSpPr>
        <p:spPr>
          <a:xfrm>
            <a:off x="722376" y="1463040"/>
            <a:ext cx="5760720" cy="4480560"/>
          </a:xfrm>
          <a:prstGeom prst="rect">
            <a:avLst/>
          </a:prstGeom>
          <a:noFill/>
        </p:spPr>
        <p:txBody>
          <a:bodyPr wrap="square" anchor="t" lIns="0" rIns="0" tIns="0" bIns="0">
            <a:spAutoFit/>
          </a:bodyPr>
          <a:lstStyle/>
          <a:p>
            <a:pPr algn="l">
              <a:spcAft>
                <a:spcPts val="1000"/>
              </a:spcAft>
            </a:pPr>
            <a:r>
              <a:rPr sz="1350" b="1" i="0">
                <a:solidFill>
                  <a:srgbClr val="132C43"/>
                </a:solidFill>
                <a:latin typeface="Arial"/>
              </a:rPr>
              <a:t>Method: </a:t>
            </a:r>
            <a:r>
              <a:rPr sz="1350" b="0" i="0">
                <a:solidFill>
                  <a:srgbClr val="263C50"/>
                </a:solidFill>
                <a:latin typeface="Arial"/>
              </a:rPr>
              <a:t>TF-IDF on review text (20,000 terms, single words and 2-word phrases, no stop-word list so "not good" is kept), reduced with Truncated SVD to 200 components and joined with 15 structural features.</a:t>
            </a:r>
          </a:p>
          <a:p>
            <a:pPr algn="l">
              <a:spcAft>
                <a:spcPts val="1000"/>
              </a:spcAft>
            </a:pPr>
            <a:r>
              <a:rPr sz="1350" b="1" i="0">
                <a:solidFill>
                  <a:srgbClr val="132C43"/>
                </a:solidFill>
                <a:latin typeface="Arial"/>
              </a:rPr>
              <a:t>Features used: </a:t>
            </a:r>
            <a:r>
              <a:rPr sz="1350" b="0" i="0">
                <a:solidFill>
                  <a:srgbClr val="263C50"/>
                </a:solidFill>
                <a:latin typeface="Arial"/>
              </a:rPr>
              <a:t>200 SVD text components + 9 issue flags + 4 VADER scores + review_length + thumbs_up = 215 features (structural features standardised).</a:t>
            </a:r>
          </a:p>
          <a:p>
            <a:pPr algn="l">
              <a:spcAft>
                <a:spcPts val="1000"/>
              </a:spcAft>
            </a:pPr>
            <a:r>
              <a:rPr sz="1350" b="1" i="0">
                <a:solidFill>
                  <a:srgbClr val="132C43"/>
                </a:solidFill>
                <a:latin typeface="Arial"/>
              </a:rPr>
              <a:t>Justification: </a:t>
            </a:r>
            <a:r>
              <a:rPr sz="1350" b="0" i="0">
                <a:solidFill>
                  <a:srgbClr val="263C50"/>
                </a:solidFill>
                <a:latin typeface="Arial"/>
              </a:rPr>
              <a:t>A 1.1M × 20,000 sparse matrix is slow and noisy for a Random Forest. Issue flags and sentiment add meaning single words miss. Complaints are much longer than praise (14 vs 2 words), so length is kept explicitly.</a:t>
            </a:r>
          </a:p>
          <a:p>
            <a:pPr algn="l">
              <a:spcAft>
                <a:spcPts val="1000"/>
              </a:spcAft>
            </a:pPr>
            <a:r>
              <a:rPr sz="1350" b="1" i="0">
                <a:solidFill>
                  <a:srgbClr val="132C43"/>
                </a:solidFill>
                <a:latin typeface="Arial"/>
              </a:rPr>
              <a:t>Effect: </a:t>
            </a:r>
            <a:r>
              <a:rPr sz="1350" b="0" i="0">
                <a:solidFill>
                  <a:srgbClr val="263C50"/>
                </a:solidFill>
                <a:latin typeface="Arial"/>
              </a:rPr>
              <a:t>Text columns 20,000 → 200 (100× smaller) while keeping 62.7% of the TF-IDF variance. Every group adds: text alone gives PR-AUC 0.85, sentiment alone 0.74–0.80, all 215 features 0.87. Sentiment scores are the top three Random Forest features.</a:t>
            </a:r>
          </a:p>
        </p:txBody>
      </p:sp>
      <p:graphicFrame>
        <p:nvGraphicFramePr>
          <p:cNvPr id="7" name="Table 6"/>
          <p:cNvGraphicFramePr>
            <a:graphicFrameLocks noGrp="1"/>
          </p:cNvGraphicFramePr>
          <p:nvPr/>
        </p:nvGraphicFramePr>
        <p:xfrm>
          <a:off x="6766560" y="1508760"/>
          <a:ext cx="4709160" cy="1865376"/>
        </p:xfrm>
        <a:graphic>
          <a:graphicData uri="http://schemas.openxmlformats.org/drawingml/2006/table">
            <a:tbl>
              <a:tblPr firstRow="0" bandRow="0">
                <a:tableStyleId>{5940675A-B579-460E-94D1-54222C63F5DA}</a:tableStyleId>
              </a:tblPr>
              <a:tblGrid>
                <a:gridCol w="3566160"/>
                <a:gridCol w="1143000"/>
              </a:tblGrid>
              <a:tr h="310896">
                <a:tc>
                  <a:txBody>
                    <a:bodyPr wrap="square"/>
                    <a:lstStyle/>
                    <a:p>
                      <a:pPr algn="l"/>
                      <a:r>
                        <a:rPr sz="1200" b="1" i="0">
                          <a:solidFill>
                            <a:srgbClr val="FFFFFF"/>
                          </a:solidFill>
                          <a:latin typeface="Arial"/>
                        </a:rPr>
                        <a:t>Feature group</a:t>
                      </a:r>
                    </a:p>
                  </a:txBody>
                  <a:tcPr marL="64008" marR="64008" marT="27432" marB="27432" anchor="ctr">
                    <a:solidFill>
                      <a:srgbClr val="132C43"/>
                    </a:solidFill>
                  </a:tcPr>
                </a:tc>
                <a:tc>
                  <a:txBody>
                    <a:bodyPr wrap="square"/>
                    <a:lstStyle/>
                    <a:p>
                      <a:pPr algn="l"/>
                      <a:r>
                        <a:rPr sz="1200" b="1" i="0">
                          <a:solidFill>
                            <a:srgbClr val="FFFFFF"/>
                          </a:solidFill>
                          <a:latin typeface="Arial"/>
                        </a:rPr>
                        <a:t>Count</a:t>
                      </a:r>
                    </a:p>
                  </a:txBody>
                  <a:tcPr marL="64008" marR="64008" marT="27432" marB="27432" anchor="ctr">
                    <a:solidFill>
                      <a:srgbClr val="132C43"/>
                    </a:solidFill>
                  </a:tcPr>
                </a:tc>
              </a:tr>
              <a:tr h="310896">
                <a:tc>
                  <a:txBody>
                    <a:bodyPr wrap="square"/>
                    <a:lstStyle/>
                    <a:p>
                      <a:pPr algn="l"/>
                      <a:r>
                        <a:rPr sz="1200" b="0" i="0">
                          <a:solidFill>
                            <a:srgbClr val="263C50"/>
                          </a:solidFill>
                          <a:latin typeface="Arial"/>
                        </a:rPr>
                        <a:t>Text components (SVD)</a:t>
                      </a:r>
                    </a:p>
                  </a:txBody>
                  <a:tcPr marL="64008" marR="64008" marT="27432" marB="27432" anchor="ctr">
                    <a:solidFill>
                      <a:srgbClr val="FFFFFF"/>
                    </a:solidFill>
                  </a:tcPr>
                </a:tc>
                <a:tc>
                  <a:txBody>
                    <a:bodyPr wrap="square"/>
                    <a:lstStyle/>
                    <a:p>
                      <a:pPr algn="r"/>
                      <a:r>
                        <a:rPr sz="1200" b="0" i="0">
                          <a:solidFill>
                            <a:srgbClr val="263C50"/>
                          </a:solidFill>
                          <a:latin typeface="Arial"/>
                        </a:rPr>
                        <a:t>200</a:t>
                      </a:r>
                    </a:p>
                  </a:txBody>
                  <a:tcPr marL="64008" marR="64008" marT="27432" marB="27432" anchor="ctr">
                    <a:solidFill>
                      <a:srgbClr val="FFFFFF"/>
                    </a:solidFill>
                  </a:tcPr>
                </a:tc>
              </a:tr>
              <a:tr h="310896">
                <a:tc>
                  <a:txBody>
                    <a:bodyPr wrap="square"/>
                    <a:lstStyle/>
                    <a:p>
                      <a:pPr algn="l"/>
                      <a:r>
                        <a:rPr sz="1200" b="0" i="0">
                          <a:solidFill>
                            <a:srgbClr val="263C50"/>
                          </a:solidFill>
                          <a:latin typeface="Arial"/>
                        </a:rPr>
                        <a:t>Issue flags</a:t>
                      </a:r>
                    </a:p>
                  </a:txBody>
                  <a:tcPr marL="64008" marR="64008" marT="27432" marB="27432" anchor="ctr">
                    <a:solidFill>
                      <a:srgbClr val="EAF0F6"/>
                    </a:solidFill>
                  </a:tcPr>
                </a:tc>
                <a:tc>
                  <a:txBody>
                    <a:bodyPr wrap="square"/>
                    <a:lstStyle/>
                    <a:p>
                      <a:pPr algn="r"/>
                      <a:r>
                        <a:rPr sz="1200" b="0" i="0">
                          <a:solidFill>
                            <a:srgbClr val="263C50"/>
                          </a:solidFill>
                          <a:latin typeface="Arial"/>
                        </a:rPr>
                        <a:t>9</a:t>
                      </a:r>
                    </a:p>
                  </a:txBody>
                  <a:tcPr marL="64008" marR="64008" marT="27432" marB="27432" anchor="ctr">
                    <a:solidFill>
                      <a:srgbClr val="EAF0F6"/>
                    </a:solidFill>
                  </a:tcPr>
                </a:tc>
              </a:tr>
              <a:tr h="310896">
                <a:tc>
                  <a:txBody>
                    <a:bodyPr wrap="square"/>
                    <a:lstStyle/>
                    <a:p>
                      <a:pPr algn="l"/>
                      <a:r>
                        <a:rPr sz="1200" b="0" i="0">
                          <a:solidFill>
                            <a:srgbClr val="263C50"/>
                          </a:solidFill>
                          <a:latin typeface="Arial"/>
                        </a:rPr>
                        <a:t>VADER sentiment scores</a:t>
                      </a:r>
                    </a:p>
                  </a:txBody>
                  <a:tcPr marL="64008" marR="64008" marT="27432" marB="27432" anchor="ctr">
                    <a:solidFill>
                      <a:srgbClr val="FFFFFF"/>
                    </a:solidFill>
                  </a:tcPr>
                </a:tc>
                <a:tc>
                  <a:txBody>
                    <a:bodyPr wrap="square"/>
                    <a:lstStyle/>
                    <a:p>
                      <a:pPr algn="r"/>
                      <a:r>
                        <a:rPr sz="1200" b="0" i="0">
                          <a:solidFill>
                            <a:srgbClr val="263C50"/>
                          </a:solidFill>
                          <a:latin typeface="Arial"/>
                        </a:rPr>
                        <a:t>4</a:t>
                      </a:r>
                    </a:p>
                  </a:txBody>
                  <a:tcPr marL="64008" marR="64008" marT="27432" marB="27432" anchor="ctr">
                    <a:solidFill>
                      <a:srgbClr val="FFFFFF"/>
                    </a:solidFill>
                  </a:tcPr>
                </a:tc>
              </a:tr>
              <a:tr h="310896">
                <a:tc>
                  <a:txBody>
                    <a:bodyPr wrap="square"/>
                    <a:lstStyle/>
                    <a:p>
                      <a:pPr algn="l"/>
                      <a:r>
                        <a:rPr sz="1200" b="0" i="0">
                          <a:solidFill>
                            <a:srgbClr val="263C50"/>
                          </a:solidFill>
                          <a:latin typeface="Arial"/>
                        </a:rPr>
                        <a:t>review_length, thumbs_up</a:t>
                      </a:r>
                    </a:p>
                  </a:txBody>
                  <a:tcPr marL="64008" marR="64008" marT="27432" marB="27432" anchor="ctr">
                    <a:solidFill>
                      <a:srgbClr val="EAF0F6"/>
                    </a:solidFill>
                  </a:tcPr>
                </a:tc>
                <a:tc>
                  <a:txBody>
                    <a:bodyPr wrap="square"/>
                    <a:lstStyle/>
                    <a:p>
                      <a:pPr algn="r"/>
                      <a:r>
                        <a:rPr sz="1200" b="0" i="0">
                          <a:solidFill>
                            <a:srgbClr val="263C50"/>
                          </a:solidFill>
                          <a:latin typeface="Arial"/>
                        </a:rPr>
                        <a:t>2</a:t>
                      </a:r>
                    </a:p>
                  </a:txBody>
                  <a:tcPr marL="64008" marR="64008" marT="27432" marB="27432" anchor="ctr">
                    <a:solidFill>
                      <a:srgbClr val="EAF0F6"/>
                    </a:solidFill>
                  </a:tcPr>
                </a:tc>
              </a:tr>
              <a:tr h="310896">
                <a:tc>
                  <a:txBody>
                    <a:bodyPr wrap="square"/>
                    <a:lstStyle/>
                    <a:p>
                      <a:pPr algn="l"/>
                      <a:r>
                        <a:rPr sz="1200" b="0" i="0">
                          <a:solidFill>
                            <a:srgbClr val="263C50"/>
                          </a:solidFill>
                          <a:latin typeface="Arial"/>
                        </a:rPr>
                        <a:t>Total</a:t>
                      </a:r>
                    </a:p>
                  </a:txBody>
                  <a:tcPr marL="64008" marR="64008" marT="27432" marB="27432" anchor="ctr">
                    <a:solidFill>
                      <a:srgbClr val="FFFFFF"/>
                    </a:solidFill>
                  </a:tcPr>
                </a:tc>
                <a:tc>
                  <a:txBody>
                    <a:bodyPr wrap="square"/>
                    <a:lstStyle/>
                    <a:p>
                      <a:pPr algn="r"/>
                      <a:r>
                        <a:rPr sz="1200" b="0" i="0">
                          <a:solidFill>
                            <a:srgbClr val="263C50"/>
                          </a:solidFill>
                          <a:latin typeface="Arial"/>
                        </a:rPr>
                        <a:t>215</a:t>
                      </a:r>
                    </a:p>
                  </a:txBody>
                  <a:tcPr marL="64008" marR="64008" marT="27432" marB="27432" anchor="ctr">
                    <a:solidFill>
                      <a:srgbClr val="FFFFFF"/>
                    </a:solidFill>
                  </a:tcPr>
                </a:tc>
              </a:tr>
            </a:tbl>
          </a:graphicData>
        </a:graphic>
      </p:graphicFrame>
      <p:sp>
        <p:nvSpPr>
          <p:cNvPr id="8" name="Rounded Rectangle 7"/>
          <p:cNvSpPr/>
          <p:nvPr/>
        </p:nvSpPr>
        <p:spPr>
          <a:xfrm>
            <a:off x="6766560" y="3520440"/>
            <a:ext cx="4709160" cy="246888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Chart 8"/>
          <p:cNvGraphicFramePr>
            <a:graphicFrameLocks noGrp="1"/>
          </p:cNvGraphicFramePr>
          <p:nvPr/>
        </p:nvGraphicFramePr>
        <p:xfrm>
          <a:off x="6858000" y="3566160"/>
          <a:ext cx="4526280" cy="2377440"/>
        </p:xfrm>
        <a:graphic>
          <a:graphicData uri="http://schemas.openxmlformats.org/drawingml/2006/chart">
            <c:chart xmlns:c="http://schemas.openxmlformats.org/drawingml/2006/chart" r:id="rId3"/>
          </a:graphicData>
        </a:graphic>
      </p:graphicFrame>
    </p:spTree>
    <p:extLst>
      <p:ext uri="{BB962C8B-B14F-4D97-AF65-F5344CB8AC3E}">
        <p14:creationId xmlns:p14="http://schemas.microsoft.com/office/powerpoint/2010/main" val="1584663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CBD94D-6D9D-42D1-A713-E89A508CC26D}"/>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Predictive Model Development</a:t>
            </a:r>
          </a:p>
        </p:txBody>
      </p:sp>
      <p:sp>
        <p:nvSpPr>
          <p:cNvPr id="4" name="Rectangle 3">
            <a:extLst>
              <a:ext uri="{FF2B5EF4-FFF2-40B4-BE49-F238E27FC236}">
                <a16:creationId xmlns:a16="http://schemas.microsoft.com/office/drawing/2014/main" id="{32988478-2A56-4326-9883-7D85FD0A7E38}"/>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08</a:t>
            </a:r>
          </a:p>
        </p:txBody>
      </p:sp>
      <p:sp>
        <p:nvSpPr>
          <p:cNvPr id="6" name="TextBox 5"/>
          <p:cNvSpPr txBox="1"/>
          <p:nvPr/>
        </p:nvSpPr>
        <p:spPr>
          <a:xfrm>
            <a:off x="722376" y="1463040"/>
            <a:ext cx="6217920" cy="4526280"/>
          </a:xfrm>
          <a:prstGeom prst="rect">
            <a:avLst/>
          </a:prstGeom>
          <a:noFill/>
        </p:spPr>
        <p:txBody>
          <a:bodyPr wrap="square" anchor="t" lIns="0" rIns="0" tIns="0" bIns="0">
            <a:spAutoFit/>
          </a:bodyPr>
          <a:lstStyle/>
          <a:p>
            <a:pPr algn="l">
              <a:spcAft>
                <a:spcPts val="1000"/>
              </a:spcAft>
            </a:pPr>
            <a:r>
              <a:rPr sz="1350" b="1" i="0">
                <a:solidFill>
                  <a:srgbClr val="132C43"/>
                </a:solidFill>
                <a:latin typeface="Arial"/>
              </a:rPr>
              <a:t>Prediction task: </a:t>
            </a:r>
            <a:r>
              <a:rPr sz="1350" b="0" i="0">
                <a:solidFill>
                  <a:srgbClr val="263C50"/>
                </a:solidFill>
                <a:latin typeface="Arial"/>
              </a:rPr>
              <a:t>Binary classification: is a review problematic (rated 1–2★) or not.</a:t>
            </a:r>
          </a:p>
          <a:p>
            <a:pPr algn="l">
              <a:spcAft>
                <a:spcPts val="1000"/>
              </a:spcAft>
            </a:pPr>
            <a:r>
              <a:rPr sz="1350" b="1" i="0">
                <a:solidFill>
                  <a:srgbClr val="132C43"/>
                </a:solidFill>
                <a:latin typeface="Arial"/>
              </a:rPr>
              <a:t>Model(s): </a:t>
            </a:r>
            <a:r>
              <a:rPr sz="1350" b="0" i="0">
                <a:solidFill>
                  <a:srgbClr val="263C50"/>
                </a:solidFill>
                <a:latin typeface="Arial"/>
              </a:rPr>
              <a:t>Logistic Regression and Random Forest, compared against a majority-class baseline.</a:t>
            </a:r>
          </a:p>
          <a:p>
            <a:pPr algn="l">
              <a:spcAft>
                <a:spcPts val="1000"/>
              </a:spcAft>
            </a:pPr>
            <a:r>
              <a:rPr sz="1350" b="1" i="0">
                <a:solidFill>
                  <a:srgbClr val="132C43"/>
                </a:solidFill>
                <a:latin typeface="Arial"/>
              </a:rPr>
              <a:t>Model selection: </a:t>
            </a:r>
            <a:r>
              <a:rPr sz="1350" b="0" i="0">
                <a:solidFill>
                  <a:srgbClr val="263C50"/>
                </a:solidFill>
                <a:latin typeface="Arial"/>
              </a:rPr>
              <a:t>Logistic Regression is a fast, interpretable linear baseline; Random Forest learns non-linear interactions and gives feature importance. One linear and one tree model show two kinds of error.</a:t>
            </a:r>
          </a:p>
          <a:p>
            <a:pPr algn="l">
              <a:spcAft>
                <a:spcPts val="1000"/>
              </a:spcAft>
            </a:pPr>
            <a:r>
              <a:rPr sz="1350" b="1" i="0">
                <a:solidFill>
                  <a:srgbClr val="132C43"/>
                </a:solidFill>
                <a:latin typeface="Arial"/>
              </a:rPr>
              <a:t>Data split: </a:t>
            </a:r>
            <a:r>
              <a:rPr sz="1350" b="0" i="0">
                <a:solidFill>
                  <a:srgbClr val="263C50"/>
                </a:solidFill>
                <a:latin typeface="Arial"/>
              </a:rPr>
              <a:t>Stratified 80/20 (910,389 train / 227,598 test, random state 42), plus an out-of-time test: train April–August, test 1–20 September.</a:t>
            </a:r>
          </a:p>
          <a:p>
            <a:pPr algn="l">
              <a:spcAft>
                <a:spcPts val="1000"/>
              </a:spcAft>
            </a:pPr>
            <a:r>
              <a:rPr sz="1350" b="1" i="0">
                <a:solidFill>
                  <a:srgbClr val="132C43"/>
                </a:solidFill>
                <a:latin typeface="Arial"/>
              </a:rPr>
              <a:t>Model settings: </a:t>
            </a:r>
            <a:r>
              <a:rPr sz="1350" b="0" i="0">
                <a:solidFill>
                  <a:srgbClr val="263C50"/>
                </a:solidFill>
                <a:latin typeface="Arial"/>
              </a:rPr>
              <a:t>Both use class_weight = balanced (only 19.5% positive). Logistic Regression: max_iter 1000. Random Forest: 150 trees, 30% bootstrap per tree, at least 100 reviews per leaf (model 9.8 MB). Checked on a validation split of the training data: C = 1 is best for Logistic Regression; 25 reviews per leaf adds only 0.004 PR-AUC to the Random Forest at 2.8× the size.</a:t>
            </a:r>
          </a:p>
        </p:txBody>
      </p:sp>
      <p:sp>
        <p:nvSpPr>
          <p:cNvPr id="7" name="Rounded Rectangle 6"/>
          <p:cNvSpPr/>
          <p:nvPr/>
        </p:nvSpPr>
        <p:spPr>
          <a:xfrm>
            <a:off x="7223760" y="1463040"/>
            <a:ext cx="4251960" cy="251460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8" name="Chart 7"/>
          <p:cNvGraphicFramePr>
            <a:graphicFrameLocks noGrp="1"/>
          </p:cNvGraphicFramePr>
          <p:nvPr/>
        </p:nvGraphicFramePr>
        <p:xfrm>
          <a:off x="7315200" y="1508760"/>
          <a:ext cx="4069080" cy="2423160"/>
        </p:xfrm>
        <a:graphic>
          <a:graphicData uri="http://schemas.openxmlformats.org/drawingml/2006/chart">
            <c:chart xmlns:c="http://schemas.openxmlformats.org/drawingml/2006/chart" r:id="rId3"/>
          </a:graphicData>
        </a:graphic>
      </p:graphicFrame>
      <p:sp>
        <p:nvSpPr>
          <p:cNvPr id="9" name="TextBox 8"/>
          <p:cNvSpPr txBox="1"/>
          <p:nvPr/>
        </p:nvSpPr>
        <p:spPr>
          <a:xfrm>
            <a:off x="7223760" y="4160520"/>
            <a:ext cx="4251960" cy="274320"/>
          </a:xfrm>
          <a:prstGeom prst="rect">
            <a:avLst/>
          </a:prstGeom>
          <a:noFill/>
        </p:spPr>
        <p:txBody>
          <a:bodyPr wrap="square" anchor="t" lIns="0" rIns="0" tIns="0" bIns="0">
            <a:spAutoFit/>
          </a:bodyPr>
          <a:lstStyle/>
          <a:p>
            <a:pPr algn="l">
              <a:spcAft>
                <a:spcPts val="600"/>
              </a:spcAft>
            </a:pPr>
            <a:r>
              <a:rPr sz="1200" b="1" i="0">
                <a:solidFill>
                  <a:srgbClr val="132C43"/>
                </a:solidFill>
                <a:latin typeface="Arial"/>
              </a:rPr>
              <a:t>Random split (stratified)</a:t>
            </a:r>
          </a:p>
        </p:txBody>
      </p:sp>
      <p:sp>
        <p:nvSpPr>
          <p:cNvPr id="10" name="Rectangle 9"/>
          <p:cNvSpPr/>
          <p:nvPr/>
        </p:nvSpPr>
        <p:spPr>
          <a:xfrm>
            <a:off x="7223760" y="4480560"/>
            <a:ext cx="3401568" cy="411480"/>
          </a:xfrm>
          <a:prstGeom prst="rect">
            <a:avLst/>
          </a:prstGeom>
          <a:solidFill>
            <a:srgbClr val="132C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23760" y="4480560"/>
            <a:ext cx="3401568" cy="411480"/>
          </a:xfrm>
          <a:prstGeom prst="rect">
            <a:avLst/>
          </a:prstGeom>
          <a:noFill/>
        </p:spPr>
        <p:txBody>
          <a:bodyPr wrap="square" anchor="ctr" lIns="0" rIns="0" tIns="0" bIns="0">
            <a:spAutoFit/>
          </a:bodyPr>
          <a:lstStyle/>
          <a:p>
            <a:pPr algn="ctr">
              <a:spcAft>
                <a:spcPts val="600"/>
              </a:spcAft>
            </a:pPr>
            <a:r>
              <a:rPr sz="1100" b="1" i="0">
                <a:solidFill>
                  <a:srgbClr val="FFFFFF"/>
                </a:solidFill>
                <a:latin typeface="Arial"/>
              </a:rPr>
              <a:t>Train 80% · 910,389</a:t>
            </a:r>
          </a:p>
        </p:txBody>
      </p:sp>
      <p:sp>
        <p:nvSpPr>
          <p:cNvPr id="12" name="Rectangle 11"/>
          <p:cNvSpPr/>
          <p:nvPr/>
        </p:nvSpPr>
        <p:spPr>
          <a:xfrm>
            <a:off x="10625328" y="4480560"/>
            <a:ext cx="850392" cy="4114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625328" y="4480560"/>
            <a:ext cx="850392" cy="411480"/>
          </a:xfrm>
          <a:prstGeom prst="rect">
            <a:avLst/>
          </a:prstGeom>
          <a:noFill/>
        </p:spPr>
        <p:txBody>
          <a:bodyPr wrap="square" anchor="ctr" lIns="0" rIns="0" tIns="0" bIns="0">
            <a:spAutoFit/>
          </a:bodyPr>
          <a:lstStyle/>
          <a:p>
            <a:pPr algn="ctr">
              <a:spcAft>
                <a:spcPts val="600"/>
              </a:spcAft>
            </a:pPr>
            <a:r>
              <a:rPr sz="1100" b="1" i="0">
                <a:solidFill>
                  <a:srgbClr val="FFFFFF"/>
                </a:solidFill>
                <a:latin typeface="Arial"/>
              </a:rPr>
              <a:t>Test 20%</a:t>
            </a:r>
          </a:p>
        </p:txBody>
      </p:sp>
      <p:sp>
        <p:nvSpPr>
          <p:cNvPr id="14" name="TextBox 13"/>
          <p:cNvSpPr txBox="1"/>
          <p:nvPr/>
        </p:nvSpPr>
        <p:spPr>
          <a:xfrm>
            <a:off x="7223760" y="4983480"/>
            <a:ext cx="4251960" cy="274320"/>
          </a:xfrm>
          <a:prstGeom prst="rect">
            <a:avLst/>
          </a:prstGeom>
          <a:noFill/>
        </p:spPr>
        <p:txBody>
          <a:bodyPr wrap="square" anchor="t" lIns="0" rIns="0" tIns="0" bIns="0">
            <a:spAutoFit/>
          </a:bodyPr>
          <a:lstStyle/>
          <a:p>
            <a:pPr algn="l">
              <a:spcAft>
                <a:spcPts val="600"/>
              </a:spcAft>
            </a:pPr>
            <a:r>
              <a:rPr sz="1200" b="1" i="0">
                <a:solidFill>
                  <a:srgbClr val="132C43"/>
                </a:solidFill>
                <a:latin typeface="Arial"/>
              </a:rPr>
              <a:t>Out-of-time test</a:t>
            </a:r>
          </a:p>
        </p:txBody>
      </p:sp>
      <p:sp>
        <p:nvSpPr>
          <p:cNvPr id="15" name="Rectangle 14"/>
          <p:cNvSpPr/>
          <p:nvPr/>
        </p:nvSpPr>
        <p:spPr>
          <a:xfrm>
            <a:off x="7223760" y="5303520"/>
            <a:ext cx="3767328" cy="411480"/>
          </a:xfrm>
          <a:prstGeom prst="rect">
            <a:avLst/>
          </a:prstGeom>
          <a:solidFill>
            <a:srgbClr val="486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23760" y="5303520"/>
            <a:ext cx="3767328" cy="411480"/>
          </a:xfrm>
          <a:prstGeom prst="rect">
            <a:avLst/>
          </a:prstGeom>
          <a:noFill/>
        </p:spPr>
        <p:txBody>
          <a:bodyPr wrap="square" anchor="ctr" lIns="0" rIns="0" tIns="0" bIns="0">
            <a:spAutoFit/>
          </a:bodyPr>
          <a:lstStyle/>
          <a:p>
            <a:pPr algn="ctr">
              <a:spcAft>
                <a:spcPts val="600"/>
              </a:spcAft>
            </a:pPr>
            <a:r>
              <a:rPr sz="1100" b="1" i="0">
                <a:solidFill>
                  <a:srgbClr val="FFFFFF"/>
                </a:solidFill>
                <a:latin typeface="Arial"/>
              </a:rPr>
              <a:t>Apr – Aug · 1,008,932</a:t>
            </a:r>
          </a:p>
        </p:txBody>
      </p:sp>
      <p:sp>
        <p:nvSpPr>
          <p:cNvPr id="17" name="Rectangle 16"/>
          <p:cNvSpPr/>
          <p:nvPr/>
        </p:nvSpPr>
        <p:spPr>
          <a:xfrm>
            <a:off x="10991088" y="5303520"/>
            <a:ext cx="484632" cy="4114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991088" y="5303520"/>
            <a:ext cx="484632" cy="411480"/>
          </a:xfrm>
          <a:prstGeom prst="rect">
            <a:avLst/>
          </a:prstGeom>
          <a:noFill/>
        </p:spPr>
        <p:txBody>
          <a:bodyPr wrap="square" anchor="ctr" lIns="0" rIns="0" tIns="0" bIns="0">
            <a:spAutoFit/>
          </a:bodyPr>
          <a:lstStyle/>
          <a:p>
            <a:pPr algn="ctr">
              <a:spcAft>
                <a:spcPts val="600"/>
              </a:spcAft>
            </a:pPr>
            <a:r>
              <a:rPr sz="850" b="1" i="0">
                <a:solidFill>
                  <a:srgbClr val="FFFFFF"/>
                </a:solidFill>
                <a:latin typeface="Arial"/>
              </a:rPr>
              <a:t>1–20 Sep</a:t>
            </a:r>
          </a:p>
        </p:txBody>
      </p:sp>
    </p:spTree>
    <p:extLst>
      <p:ext uri="{BB962C8B-B14F-4D97-AF65-F5344CB8AC3E}">
        <p14:creationId xmlns:p14="http://schemas.microsoft.com/office/powerpoint/2010/main" val="1562942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1907DA-B24F-4A5B-A3F9-04993771CEE6}"/>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Model Evaluation and Result Interpretation</a:t>
            </a:r>
          </a:p>
        </p:txBody>
      </p:sp>
      <p:sp>
        <p:nvSpPr>
          <p:cNvPr id="4" name="Rectangle 3">
            <a:extLst>
              <a:ext uri="{FF2B5EF4-FFF2-40B4-BE49-F238E27FC236}">
                <a16:creationId xmlns:a16="http://schemas.microsoft.com/office/drawing/2014/main" id="{F5EF6DBD-CE88-4890-B056-8911B34122A0}"/>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09</a:t>
            </a:r>
          </a:p>
        </p:txBody>
      </p:sp>
      <p:graphicFrame>
        <p:nvGraphicFramePr>
          <p:cNvPr id="6" name="Table 5"/>
          <p:cNvGraphicFramePr>
            <a:graphicFrameLocks noGrp="1"/>
          </p:cNvGraphicFramePr>
          <p:nvPr/>
        </p:nvGraphicFramePr>
        <p:xfrm>
          <a:off x="722376" y="1463040"/>
          <a:ext cx="7086600" cy="1389888"/>
        </p:xfrm>
        <a:graphic>
          <a:graphicData uri="http://schemas.openxmlformats.org/drawingml/2006/table">
            <a:tbl>
              <a:tblPr firstRow="0" bandRow="0">
                <a:tableStyleId>{5940675A-B579-460E-94D1-54222C63F5DA}</a:tableStyleId>
              </a:tblPr>
              <a:tblGrid>
                <a:gridCol w="2148840"/>
                <a:gridCol w="868680"/>
                <a:gridCol w="868680"/>
                <a:gridCol w="777240"/>
                <a:gridCol w="640080"/>
                <a:gridCol w="868680"/>
                <a:gridCol w="914400"/>
              </a:tblGrid>
              <a:tr h="347472">
                <a:tc>
                  <a:txBody>
                    <a:bodyPr wrap="square"/>
                    <a:lstStyle/>
                    <a:p>
                      <a:pPr algn="l"/>
                      <a:r>
                        <a:rPr sz="1150" b="1" i="0">
                          <a:solidFill>
                            <a:srgbClr val="FFFFFF"/>
                          </a:solidFill>
                          <a:latin typeface="Arial"/>
                        </a:rPr>
                        <a:t>Model (test set, 227,598 reviews)</a:t>
                      </a:r>
                    </a:p>
                  </a:txBody>
                  <a:tcPr marL="64008" marR="64008" marT="27432" marB="27432" anchor="ctr">
                    <a:solidFill>
                      <a:srgbClr val="132C43"/>
                    </a:solidFill>
                  </a:tcPr>
                </a:tc>
                <a:tc>
                  <a:txBody>
                    <a:bodyPr wrap="square"/>
                    <a:lstStyle/>
                    <a:p>
                      <a:pPr algn="l"/>
                      <a:r>
                        <a:rPr sz="1150" b="1" i="0">
                          <a:solidFill>
                            <a:srgbClr val="FFFFFF"/>
                          </a:solidFill>
                          <a:latin typeface="Arial"/>
                        </a:rPr>
                        <a:t>Accuracy</a:t>
                      </a:r>
                    </a:p>
                  </a:txBody>
                  <a:tcPr marL="64008" marR="64008" marT="27432" marB="27432" anchor="ctr">
                    <a:solidFill>
                      <a:srgbClr val="132C43"/>
                    </a:solidFill>
                  </a:tcPr>
                </a:tc>
                <a:tc>
                  <a:txBody>
                    <a:bodyPr wrap="square"/>
                    <a:lstStyle/>
                    <a:p>
                      <a:pPr algn="l"/>
                      <a:r>
                        <a:rPr sz="1150" b="1" i="0">
                          <a:solidFill>
                            <a:srgbClr val="FFFFFF"/>
                          </a:solidFill>
                          <a:latin typeface="Arial"/>
                        </a:rPr>
                        <a:t>Precision</a:t>
                      </a:r>
                    </a:p>
                  </a:txBody>
                  <a:tcPr marL="64008" marR="64008" marT="27432" marB="27432" anchor="ctr">
                    <a:solidFill>
                      <a:srgbClr val="132C43"/>
                    </a:solidFill>
                  </a:tcPr>
                </a:tc>
                <a:tc>
                  <a:txBody>
                    <a:bodyPr wrap="square"/>
                    <a:lstStyle/>
                    <a:p>
                      <a:pPr algn="l"/>
                      <a:r>
                        <a:rPr sz="1150" b="1" i="0">
                          <a:solidFill>
                            <a:srgbClr val="FFFFFF"/>
                          </a:solidFill>
                          <a:latin typeface="Arial"/>
                        </a:rPr>
                        <a:t>Recall</a:t>
                      </a:r>
                    </a:p>
                  </a:txBody>
                  <a:tcPr marL="64008" marR="64008" marT="27432" marB="27432" anchor="ctr">
                    <a:solidFill>
                      <a:srgbClr val="132C43"/>
                    </a:solidFill>
                  </a:tcPr>
                </a:tc>
                <a:tc>
                  <a:txBody>
                    <a:bodyPr wrap="square"/>
                    <a:lstStyle/>
                    <a:p>
                      <a:pPr algn="l"/>
                      <a:r>
                        <a:rPr sz="1150" b="1" i="0">
                          <a:solidFill>
                            <a:srgbClr val="FFFFFF"/>
                          </a:solidFill>
                          <a:latin typeface="Arial"/>
                        </a:rPr>
                        <a:t>F1</a:t>
                      </a:r>
                    </a:p>
                  </a:txBody>
                  <a:tcPr marL="64008" marR="64008" marT="27432" marB="27432" anchor="ctr">
                    <a:solidFill>
                      <a:srgbClr val="132C43"/>
                    </a:solidFill>
                  </a:tcPr>
                </a:tc>
                <a:tc>
                  <a:txBody>
                    <a:bodyPr wrap="square"/>
                    <a:lstStyle/>
                    <a:p>
                      <a:pPr algn="l"/>
                      <a:r>
                        <a:rPr sz="1150" b="1" i="0">
                          <a:solidFill>
                            <a:srgbClr val="FFFFFF"/>
                          </a:solidFill>
                          <a:latin typeface="Arial"/>
                        </a:rPr>
                        <a:t>ROC-AUC</a:t>
                      </a:r>
                    </a:p>
                  </a:txBody>
                  <a:tcPr marL="64008" marR="64008" marT="27432" marB="27432" anchor="ctr">
                    <a:solidFill>
                      <a:srgbClr val="132C43"/>
                    </a:solidFill>
                  </a:tcPr>
                </a:tc>
                <a:tc>
                  <a:txBody>
                    <a:bodyPr wrap="square"/>
                    <a:lstStyle/>
                    <a:p>
                      <a:pPr algn="l"/>
                      <a:r>
                        <a:rPr sz="1150" b="1" i="0">
                          <a:solidFill>
                            <a:srgbClr val="FFFFFF"/>
                          </a:solidFill>
                          <a:latin typeface="Arial"/>
                        </a:rPr>
                        <a:t>PR-AUC</a:t>
                      </a:r>
                    </a:p>
                  </a:txBody>
                  <a:tcPr marL="64008" marR="64008" marT="27432" marB="27432" anchor="ctr">
                    <a:solidFill>
                      <a:srgbClr val="132C43"/>
                    </a:solidFill>
                  </a:tcPr>
                </a:tc>
              </a:tr>
              <a:tr h="347472">
                <a:tc>
                  <a:txBody>
                    <a:bodyPr wrap="square"/>
                    <a:lstStyle/>
                    <a:p>
                      <a:pPr algn="l"/>
                      <a:r>
                        <a:rPr sz="1200" b="1" i="0">
                          <a:solidFill>
                            <a:srgbClr val="263C50"/>
                          </a:solidFill>
                          <a:latin typeface="Arial"/>
                        </a:rPr>
                        <a:t>Majority-class baseline</a:t>
                      </a:r>
                    </a:p>
                  </a:txBody>
                  <a:tcPr marL="64008" marR="64008" marT="27432" marB="27432" anchor="ctr">
                    <a:solidFill>
                      <a:srgbClr val="FFFFFF"/>
                    </a:solidFill>
                  </a:tcPr>
                </a:tc>
                <a:tc>
                  <a:txBody>
                    <a:bodyPr wrap="square"/>
                    <a:lstStyle/>
                    <a:p>
                      <a:pPr algn="r"/>
                      <a:r>
                        <a:rPr sz="1200" b="0" i="0">
                          <a:solidFill>
                            <a:srgbClr val="263C50"/>
                          </a:solidFill>
                          <a:latin typeface="Arial"/>
                        </a:rPr>
                        <a:t>0.805</a:t>
                      </a:r>
                    </a:p>
                  </a:txBody>
                  <a:tcPr marL="64008" marR="64008" marT="27432" marB="27432" anchor="ctr">
                    <a:solidFill>
                      <a:srgbClr val="FFFFFF"/>
                    </a:solidFill>
                  </a:tcPr>
                </a:tc>
                <a:tc>
                  <a:txBody>
                    <a:bodyPr wrap="square"/>
                    <a:lstStyle/>
                    <a:p>
                      <a:pPr algn="r"/>
                      <a:r>
                        <a:rPr sz="1200" b="0" i="0">
                          <a:solidFill>
                            <a:srgbClr val="263C50"/>
                          </a:solidFill>
                          <a:latin typeface="Arial"/>
                        </a:rPr>
                        <a:t>0.000</a:t>
                      </a:r>
                    </a:p>
                  </a:txBody>
                  <a:tcPr marL="64008" marR="64008" marT="27432" marB="27432" anchor="ctr">
                    <a:solidFill>
                      <a:srgbClr val="FFFFFF"/>
                    </a:solidFill>
                  </a:tcPr>
                </a:tc>
                <a:tc>
                  <a:txBody>
                    <a:bodyPr wrap="square"/>
                    <a:lstStyle/>
                    <a:p>
                      <a:pPr algn="r"/>
                      <a:r>
                        <a:rPr sz="1200" b="0" i="0">
                          <a:solidFill>
                            <a:srgbClr val="263C50"/>
                          </a:solidFill>
                          <a:latin typeface="Arial"/>
                        </a:rPr>
                        <a:t>0.000</a:t>
                      </a:r>
                    </a:p>
                  </a:txBody>
                  <a:tcPr marL="64008" marR="64008" marT="27432" marB="27432" anchor="ctr">
                    <a:solidFill>
                      <a:srgbClr val="FFFFFF"/>
                    </a:solidFill>
                  </a:tcPr>
                </a:tc>
                <a:tc>
                  <a:txBody>
                    <a:bodyPr wrap="square"/>
                    <a:lstStyle/>
                    <a:p>
                      <a:pPr algn="r"/>
                      <a:r>
                        <a:rPr sz="1200" b="0" i="0">
                          <a:solidFill>
                            <a:srgbClr val="263C50"/>
                          </a:solidFill>
                          <a:latin typeface="Arial"/>
                        </a:rPr>
                        <a:t>0.000</a:t>
                      </a:r>
                    </a:p>
                  </a:txBody>
                  <a:tcPr marL="64008" marR="64008" marT="27432" marB="27432" anchor="ctr">
                    <a:solidFill>
                      <a:srgbClr val="FFFFFF"/>
                    </a:solidFill>
                  </a:tcPr>
                </a:tc>
                <a:tc>
                  <a:txBody>
                    <a:bodyPr wrap="square"/>
                    <a:lstStyle/>
                    <a:p>
                      <a:pPr algn="r"/>
                      <a:r>
                        <a:rPr sz="1200" b="0" i="0">
                          <a:solidFill>
                            <a:srgbClr val="263C50"/>
                          </a:solidFill>
                          <a:latin typeface="Arial"/>
                        </a:rPr>
                        <a:t>0.500</a:t>
                      </a:r>
                    </a:p>
                  </a:txBody>
                  <a:tcPr marL="64008" marR="64008" marT="27432" marB="27432" anchor="ctr">
                    <a:solidFill>
                      <a:srgbClr val="FFFFFF"/>
                    </a:solidFill>
                  </a:tcPr>
                </a:tc>
                <a:tc>
                  <a:txBody>
                    <a:bodyPr wrap="square"/>
                    <a:lstStyle/>
                    <a:p>
                      <a:pPr algn="r"/>
                      <a:r>
                        <a:rPr sz="1200" b="0" i="0">
                          <a:solidFill>
                            <a:srgbClr val="263C50"/>
                          </a:solidFill>
                          <a:latin typeface="Arial"/>
                        </a:rPr>
                        <a:t>0.195</a:t>
                      </a:r>
                    </a:p>
                  </a:txBody>
                  <a:tcPr marL="64008" marR="64008" marT="27432" marB="27432" anchor="ctr">
                    <a:solidFill>
                      <a:srgbClr val="FFFFFF"/>
                    </a:solidFill>
                  </a:tcPr>
                </a:tc>
              </a:tr>
              <a:tr h="347472">
                <a:tc>
                  <a:txBody>
                    <a:bodyPr wrap="square"/>
                    <a:lstStyle/>
                    <a:p>
                      <a:pPr algn="l"/>
                      <a:r>
                        <a:rPr sz="1200" b="1" i="0">
                          <a:solidFill>
                            <a:srgbClr val="263C50"/>
                          </a:solidFill>
                          <a:latin typeface="Arial"/>
                        </a:rPr>
                        <a:t>Logistic Regression</a:t>
                      </a:r>
                    </a:p>
                  </a:txBody>
                  <a:tcPr marL="64008" marR="64008" marT="27432" marB="27432" anchor="ctr">
                    <a:solidFill>
                      <a:srgbClr val="EAF0F6"/>
                    </a:solidFill>
                  </a:tcPr>
                </a:tc>
                <a:tc>
                  <a:txBody>
                    <a:bodyPr wrap="square"/>
                    <a:lstStyle/>
                    <a:p>
                      <a:pPr algn="r"/>
                      <a:r>
                        <a:rPr sz="1200" b="0" i="0">
                          <a:solidFill>
                            <a:srgbClr val="263C50"/>
                          </a:solidFill>
                          <a:latin typeface="Arial"/>
                        </a:rPr>
                        <a:t>0.922</a:t>
                      </a:r>
                    </a:p>
                  </a:txBody>
                  <a:tcPr marL="64008" marR="64008" marT="27432" marB="27432" anchor="ctr">
                    <a:solidFill>
                      <a:srgbClr val="EAF0F6"/>
                    </a:solidFill>
                  </a:tcPr>
                </a:tc>
                <a:tc>
                  <a:txBody>
                    <a:bodyPr wrap="square"/>
                    <a:lstStyle/>
                    <a:p>
                      <a:pPr algn="r"/>
                      <a:r>
                        <a:rPr sz="1200" b="0" i="0">
                          <a:solidFill>
                            <a:srgbClr val="263C50"/>
                          </a:solidFill>
                          <a:latin typeface="Arial"/>
                        </a:rPr>
                        <a:t>0.767</a:t>
                      </a:r>
                    </a:p>
                  </a:txBody>
                  <a:tcPr marL="64008" marR="64008" marT="27432" marB="27432" anchor="ctr">
                    <a:solidFill>
                      <a:srgbClr val="EAF0F6"/>
                    </a:solidFill>
                  </a:tcPr>
                </a:tc>
                <a:tc>
                  <a:txBody>
                    <a:bodyPr wrap="square"/>
                    <a:lstStyle/>
                    <a:p>
                      <a:pPr algn="r"/>
                      <a:r>
                        <a:rPr sz="1200" b="0" i="0">
                          <a:solidFill>
                            <a:srgbClr val="263C50"/>
                          </a:solidFill>
                          <a:latin typeface="Arial"/>
                        </a:rPr>
                        <a:t>0.858</a:t>
                      </a:r>
                    </a:p>
                  </a:txBody>
                  <a:tcPr marL="64008" marR="64008" marT="27432" marB="27432" anchor="ctr">
                    <a:solidFill>
                      <a:srgbClr val="EAF0F6"/>
                    </a:solidFill>
                  </a:tcPr>
                </a:tc>
                <a:tc>
                  <a:txBody>
                    <a:bodyPr wrap="square"/>
                    <a:lstStyle/>
                    <a:p>
                      <a:pPr algn="r"/>
                      <a:r>
                        <a:rPr sz="1200" b="0" i="0">
                          <a:solidFill>
                            <a:srgbClr val="263C50"/>
                          </a:solidFill>
                          <a:latin typeface="Arial"/>
                        </a:rPr>
                        <a:t>0.810</a:t>
                      </a:r>
                    </a:p>
                  </a:txBody>
                  <a:tcPr marL="64008" marR="64008" marT="27432" marB="27432" anchor="ctr">
                    <a:solidFill>
                      <a:srgbClr val="EAF0F6"/>
                    </a:solidFill>
                  </a:tcPr>
                </a:tc>
                <a:tc>
                  <a:txBody>
                    <a:bodyPr wrap="square"/>
                    <a:lstStyle/>
                    <a:p>
                      <a:pPr algn="r"/>
                      <a:r>
                        <a:rPr sz="1200" b="0" i="0">
                          <a:solidFill>
                            <a:srgbClr val="263C50"/>
                          </a:solidFill>
                          <a:latin typeface="Arial"/>
                        </a:rPr>
                        <a:t>0.940</a:t>
                      </a:r>
                    </a:p>
                  </a:txBody>
                  <a:tcPr marL="64008" marR="64008" marT="27432" marB="27432" anchor="ctr">
                    <a:solidFill>
                      <a:srgbClr val="EAF0F6"/>
                    </a:solidFill>
                  </a:tcPr>
                </a:tc>
                <a:tc>
                  <a:txBody>
                    <a:bodyPr wrap="square"/>
                    <a:lstStyle/>
                    <a:p>
                      <a:pPr algn="r"/>
                      <a:r>
                        <a:rPr sz="1200" b="0" i="0">
                          <a:solidFill>
                            <a:srgbClr val="263C50"/>
                          </a:solidFill>
                          <a:latin typeface="Arial"/>
                        </a:rPr>
                        <a:t>0.871</a:t>
                      </a:r>
                    </a:p>
                  </a:txBody>
                  <a:tcPr marL="64008" marR="64008" marT="27432" marB="27432" anchor="ctr">
                    <a:solidFill>
                      <a:srgbClr val="EAF0F6"/>
                    </a:solidFill>
                  </a:tcPr>
                </a:tc>
              </a:tr>
              <a:tr h="347472">
                <a:tc>
                  <a:txBody>
                    <a:bodyPr wrap="square"/>
                    <a:lstStyle/>
                    <a:p>
                      <a:pPr algn="l"/>
                      <a:r>
                        <a:rPr sz="1200" b="1" i="0">
                          <a:solidFill>
                            <a:srgbClr val="263C50"/>
                          </a:solidFill>
                          <a:latin typeface="Arial"/>
                        </a:rPr>
                        <a:t>Random Forest</a:t>
                      </a:r>
                    </a:p>
                  </a:txBody>
                  <a:tcPr marL="64008" marR="64008" marT="27432" marB="27432" anchor="ctr">
                    <a:solidFill>
                      <a:srgbClr val="FFFFFF"/>
                    </a:solidFill>
                  </a:tcPr>
                </a:tc>
                <a:tc>
                  <a:txBody>
                    <a:bodyPr wrap="square"/>
                    <a:lstStyle/>
                    <a:p>
                      <a:pPr algn="r"/>
                      <a:r>
                        <a:rPr sz="1200" b="0" i="0">
                          <a:solidFill>
                            <a:srgbClr val="263C50"/>
                          </a:solidFill>
                          <a:latin typeface="Arial"/>
                        </a:rPr>
                        <a:t>0.914</a:t>
                      </a:r>
                    </a:p>
                  </a:txBody>
                  <a:tcPr marL="64008" marR="64008" marT="27432" marB="27432" anchor="ctr">
                    <a:solidFill>
                      <a:srgbClr val="FFFFFF"/>
                    </a:solidFill>
                  </a:tcPr>
                </a:tc>
                <a:tc>
                  <a:txBody>
                    <a:bodyPr wrap="square"/>
                    <a:lstStyle/>
                    <a:p>
                      <a:pPr algn="r"/>
                      <a:r>
                        <a:rPr sz="1200" b="0" i="0">
                          <a:solidFill>
                            <a:srgbClr val="263C50"/>
                          </a:solidFill>
                          <a:latin typeface="Arial"/>
                        </a:rPr>
                        <a:t>0.737</a:t>
                      </a:r>
                    </a:p>
                  </a:txBody>
                  <a:tcPr marL="64008" marR="64008" marT="27432" marB="27432" anchor="ctr">
                    <a:solidFill>
                      <a:srgbClr val="FFFFFF"/>
                    </a:solidFill>
                  </a:tcPr>
                </a:tc>
                <a:tc>
                  <a:txBody>
                    <a:bodyPr wrap="square"/>
                    <a:lstStyle/>
                    <a:p>
                      <a:pPr algn="r"/>
                      <a:r>
                        <a:rPr sz="1200" b="0" i="0">
                          <a:solidFill>
                            <a:srgbClr val="263C50"/>
                          </a:solidFill>
                          <a:latin typeface="Arial"/>
                        </a:rPr>
                        <a:t>0.870</a:t>
                      </a:r>
                    </a:p>
                  </a:txBody>
                  <a:tcPr marL="64008" marR="64008" marT="27432" marB="27432" anchor="ctr">
                    <a:solidFill>
                      <a:srgbClr val="FFFFFF"/>
                    </a:solidFill>
                  </a:tcPr>
                </a:tc>
                <a:tc>
                  <a:txBody>
                    <a:bodyPr wrap="square"/>
                    <a:lstStyle/>
                    <a:p>
                      <a:pPr algn="r"/>
                      <a:r>
                        <a:rPr sz="1200" b="0" i="0">
                          <a:solidFill>
                            <a:srgbClr val="263C50"/>
                          </a:solidFill>
                          <a:latin typeface="Arial"/>
                        </a:rPr>
                        <a:t>0.798</a:t>
                      </a:r>
                    </a:p>
                  </a:txBody>
                  <a:tcPr marL="64008" marR="64008" marT="27432" marB="27432" anchor="ctr">
                    <a:solidFill>
                      <a:srgbClr val="FFFFFF"/>
                    </a:solidFill>
                  </a:tcPr>
                </a:tc>
                <a:tc>
                  <a:txBody>
                    <a:bodyPr wrap="square"/>
                    <a:lstStyle/>
                    <a:p>
                      <a:pPr algn="r"/>
                      <a:r>
                        <a:rPr sz="1200" b="0" i="0">
                          <a:solidFill>
                            <a:srgbClr val="263C50"/>
                          </a:solidFill>
                          <a:latin typeface="Arial"/>
                        </a:rPr>
                        <a:t>0.941</a:t>
                      </a:r>
                    </a:p>
                  </a:txBody>
                  <a:tcPr marL="64008" marR="64008" marT="27432" marB="27432" anchor="ctr">
                    <a:solidFill>
                      <a:srgbClr val="FFFFFF"/>
                    </a:solidFill>
                  </a:tcPr>
                </a:tc>
                <a:tc>
                  <a:txBody>
                    <a:bodyPr wrap="square"/>
                    <a:lstStyle/>
                    <a:p>
                      <a:pPr algn="r"/>
                      <a:r>
                        <a:rPr sz="1200" b="0" i="0">
                          <a:solidFill>
                            <a:srgbClr val="263C50"/>
                          </a:solidFill>
                          <a:latin typeface="Arial"/>
                        </a:rPr>
                        <a:t>0.873</a:t>
                      </a:r>
                    </a:p>
                  </a:txBody>
                  <a:tcPr marL="64008" marR="64008" marT="27432" marB="27432" anchor="ctr">
                    <a:solidFill>
                      <a:srgbClr val="FFFFFF"/>
                    </a:solidFill>
                  </a:tcPr>
                </a:tc>
              </a:tr>
            </a:tbl>
          </a:graphicData>
        </a:graphic>
      </p:graphicFrame>
      <p:sp>
        <p:nvSpPr>
          <p:cNvPr id="7" name="TextBox 6"/>
          <p:cNvSpPr txBox="1"/>
          <p:nvPr/>
        </p:nvSpPr>
        <p:spPr>
          <a:xfrm>
            <a:off x="722376" y="2990088"/>
            <a:ext cx="7086600" cy="548640"/>
          </a:xfrm>
          <a:prstGeom prst="rect">
            <a:avLst/>
          </a:prstGeom>
          <a:noFill/>
        </p:spPr>
        <p:txBody>
          <a:bodyPr wrap="square" anchor="t" lIns="0" rIns="0" tIns="0" bIns="0">
            <a:spAutoFit/>
          </a:bodyPr>
          <a:lstStyle/>
          <a:p>
            <a:pPr algn="l">
              <a:spcAft>
                <a:spcPts val="600"/>
              </a:spcAft>
            </a:pPr>
            <a:r>
              <a:rPr sz="1150" b="0" i="1">
                <a:solidFill>
                  <a:srgbClr val="48677E"/>
                </a:solidFill>
                <a:latin typeface="Arial"/>
              </a:rPr>
              <a:t>R², MAE, MSE, RMSE do not apply (classification). Out-of-time test (Apr–Aug → 1–20 Sep): PR-AUC 0.866 (RF), 0.862 (LR). RF PR-AUC by domain: Food &amp; Grocery 0.895, Shopping 0.869, Payments 0.750. 95% bootstrap intervals: ±0.003 PR-AUC, ±0.001 accuracy.</a:t>
            </a:r>
          </a:p>
        </p:txBody>
      </p:sp>
      <p:sp>
        <p:nvSpPr>
          <p:cNvPr id="8" name="TextBox 7"/>
          <p:cNvSpPr txBox="1"/>
          <p:nvPr/>
        </p:nvSpPr>
        <p:spPr>
          <a:xfrm>
            <a:off x="8183879" y="1417320"/>
            <a:ext cx="3291840" cy="274320"/>
          </a:xfrm>
          <a:prstGeom prst="rect">
            <a:avLst/>
          </a:prstGeom>
          <a:noFill/>
        </p:spPr>
        <p:txBody>
          <a:bodyPr wrap="square" anchor="t" lIns="0" rIns="0" tIns="0" bIns="0">
            <a:spAutoFit/>
          </a:bodyPr>
          <a:lstStyle/>
          <a:p>
            <a:pPr algn="l">
              <a:spcAft>
                <a:spcPts val="600"/>
              </a:spcAft>
            </a:pPr>
            <a:r>
              <a:rPr sz="1200" b="1" i="0">
                <a:solidFill>
                  <a:srgbClr val="132C43"/>
                </a:solidFill>
                <a:latin typeface="Arial"/>
              </a:rPr>
              <a:t>Random Forest confusion matrix</a:t>
            </a:r>
          </a:p>
        </p:txBody>
      </p:sp>
      <p:sp>
        <p:nvSpPr>
          <p:cNvPr id="9" name="Rounded Rectangle 8"/>
          <p:cNvSpPr/>
          <p:nvPr/>
        </p:nvSpPr>
        <p:spPr>
          <a:xfrm>
            <a:off x="8915400" y="1965960"/>
            <a:ext cx="1207008" cy="704088"/>
          </a:xfrm>
          <a:prstGeom prst="roundRect">
            <a:avLst>
              <a:gd name="adj" fmla="val 6000"/>
            </a:avLst>
          </a:prstGeom>
          <a:solidFill>
            <a:srgbClr val="EAF0F6"/>
          </a:solidFill>
          <a:ln w="9525">
            <a:solidFill>
              <a:srgbClr val="EAF0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915400" y="2002536"/>
            <a:ext cx="1207008" cy="365760"/>
          </a:xfrm>
          <a:prstGeom prst="rect">
            <a:avLst/>
          </a:prstGeom>
          <a:noFill/>
        </p:spPr>
        <p:txBody>
          <a:bodyPr wrap="square" anchor="t" lIns="0" rIns="0" tIns="0" bIns="0">
            <a:spAutoFit/>
          </a:bodyPr>
          <a:lstStyle/>
          <a:p>
            <a:pPr algn="ctr">
              <a:spcAft>
                <a:spcPts val="600"/>
              </a:spcAft>
            </a:pPr>
            <a:r>
              <a:rPr sz="1500" b="1" i="0">
                <a:solidFill>
                  <a:srgbClr val="263C50"/>
                </a:solidFill>
                <a:latin typeface="Arial"/>
              </a:rPr>
              <a:t>169,539</a:t>
            </a:r>
          </a:p>
        </p:txBody>
      </p:sp>
      <p:sp>
        <p:nvSpPr>
          <p:cNvPr id="11" name="TextBox 10"/>
          <p:cNvSpPr txBox="1"/>
          <p:nvPr/>
        </p:nvSpPr>
        <p:spPr>
          <a:xfrm>
            <a:off x="8915400" y="2350008"/>
            <a:ext cx="1207008" cy="274320"/>
          </a:xfrm>
          <a:prstGeom prst="rect">
            <a:avLst/>
          </a:prstGeom>
          <a:noFill/>
        </p:spPr>
        <p:txBody>
          <a:bodyPr wrap="square" anchor="t" lIns="0" rIns="0" tIns="0" bIns="0">
            <a:spAutoFit/>
          </a:bodyPr>
          <a:lstStyle/>
          <a:p>
            <a:pPr algn="ctr">
              <a:spcAft>
                <a:spcPts val="600"/>
              </a:spcAft>
            </a:pPr>
            <a:r>
              <a:rPr sz="1000" b="0" i="0">
                <a:solidFill>
                  <a:srgbClr val="48677E"/>
                </a:solidFill>
                <a:latin typeface="Arial"/>
              </a:rPr>
              <a:t>true negative</a:t>
            </a:r>
          </a:p>
        </p:txBody>
      </p:sp>
      <p:sp>
        <p:nvSpPr>
          <p:cNvPr id="12" name="Rounded Rectangle 11"/>
          <p:cNvSpPr/>
          <p:nvPr/>
        </p:nvSpPr>
        <p:spPr>
          <a:xfrm>
            <a:off x="10195560" y="1965960"/>
            <a:ext cx="1207008" cy="704088"/>
          </a:xfrm>
          <a:prstGeom prst="roundRect">
            <a:avLst>
              <a:gd name="adj" fmla="val 6000"/>
            </a:avLst>
          </a:prstGeom>
          <a:solidFill>
            <a:srgbClr val="FBE3E1"/>
          </a:solidFill>
          <a:ln w="9525">
            <a:solidFill>
              <a:srgbClr val="FBE3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195560" y="2002536"/>
            <a:ext cx="1207008" cy="365760"/>
          </a:xfrm>
          <a:prstGeom prst="rect">
            <a:avLst/>
          </a:prstGeom>
          <a:noFill/>
        </p:spPr>
        <p:txBody>
          <a:bodyPr wrap="square" anchor="t" lIns="0" rIns="0" tIns="0" bIns="0">
            <a:spAutoFit/>
          </a:bodyPr>
          <a:lstStyle/>
          <a:p>
            <a:pPr algn="ctr">
              <a:spcAft>
                <a:spcPts val="600"/>
              </a:spcAft>
            </a:pPr>
            <a:r>
              <a:rPr sz="1500" b="1" i="0">
                <a:solidFill>
                  <a:srgbClr val="C93A39"/>
                </a:solidFill>
                <a:latin typeface="Arial"/>
              </a:rPr>
              <a:t>13,743</a:t>
            </a:r>
          </a:p>
        </p:txBody>
      </p:sp>
      <p:sp>
        <p:nvSpPr>
          <p:cNvPr id="14" name="TextBox 13"/>
          <p:cNvSpPr txBox="1"/>
          <p:nvPr/>
        </p:nvSpPr>
        <p:spPr>
          <a:xfrm>
            <a:off x="10195560" y="2350008"/>
            <a:ext cx="1207008" cy="274320"/>
          </a:xfrm>
          <a:prstGeom prst="rect">
            <a:avLst/>
          </a:prstGeom>
          <a:noFill/>
        </p:spPr>
        <p:txBody>
          <a:bodyPr wrap="square" anchor="t" lIns="0" rIns="0" tIns="0" bIns="0">
            <a:spAutoFit/>
          </a:bodyPr>
          <a:lstStyle/>
          <a:p>
            <a:pPr algn="ctr">
              <a:spcAft>
                <a:spcPts val="600"/>
              </a:spcAft>
            </a:pPr>
            <a:r>
              <a:rPr sz="1000" b="0" i="0">
                <a:solidFill>
                  <a:srgbClr val="48677E"/>
                </a:solidFill>
                <a:latin typeface="Arial"/>
              </a:rPr>
              <a:t>false positive</a:t>
            </a:r>
          </a:p>
        </p:txBody>
      </p:sp>
      <p:sp>
        <p:nvSpPr>
          <p:cNvPr id="15" name="Rounded Rectangle 14"/>
          <p:cNvSpPr/>
          <p:nvPr/>
        </p:nvSpPr>
        <p:spPr>
          <a:xfrm>
            <a:off x="8915400" y="2743200"/>
            <a:ext cx="1207008" cy="704088"/>
          </a:xfrm>
          <a:prstGeom prst="roundRect">
            <a:avLst>
              <a:gd name="adj" fmla="val 6000"/>
            </a:avLst>
          </a:prstGeom>
          <a:solidFill>
            <a:srgbClr val="FBE3E1"/>
          </a:solidFill>
          <a:ln w="9525">
            <a:solidFill>
              <a:srgbClr val="FBE3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15400" y="2779776"/>
            <a:ext cx="1207008" cy="365760"/>
          </a:xfrm>
          <a:prstGeom prst="rect">
            <a:avLst/>
          </a:prstGeom>
          <a:noFill/>
        </p:spPr>
        <p:txBody>
          <a:bodyPr wrap="square" anchor="t" lIns="0" rIns="0" tIns="0" bIns="0">
            <a:spAutoFit/>
          </a:bodyPr>
          <a:lstStyle/>
          <a:p>
            <a:pPr algn="ctr">
              <a:spcAft>
                <a:spcPts val="600"/>
              </a:spcAft>
            </a:pPr>
            <a:r>
              <a:rPr sz="1500" b="1" i="0">
                <a:solidFill>
                  <a:srgbClr val="C93A39"/>
                </a:solidFill>
                <a:latin typeface="Arial"/>
              </a:rPr>
              <a:t>5,756</a:t>
            </a:r>
          </a:p>
        </p:txBody>
      </p:sp>
      <p:sp>
        <p:nvSpPr>
          <p:cNvPr id="17" name="TextBox 16"/>
          <p:cNvSpPr txBox="1"/>
          <p:nvPr/>
        </p:nvSpPr>
        <p:spPr>
          <a:xfrm>
            <a:off x="8915400" y="3127248"/>
            <a:ext cx="1207008" cy="274320"/>
          </a:xfrm>
          <a:prstGeom prst="rect">
            <a:avLst/>
          </a:prstGeom>
          <a:noFill/>
        </p:spPr>
        <p:txBody>
          <a:bodyPr wrap="square" anchor="t" lIns="0" rIns="0" tIns="0" bIns="0">
            <a:spAutoFit/>
          </a:bodyPr>
          <a:lstStyle/>
          <a:p>
            <a:pPr algn="ctr">
              <a:spcAft>
                <a:spcPts val="600"/>
              </a:spcAft>
            </a:pPr>
            <a:r>
              <a:rPr sz="1000" b="0" i="0">
                <a:solidFill>
                  <a:srgbClr val="48677E"/>
                </a:solidFill>
                <a:latin typeface="Arial"/>
              </a:rPr>
              <a:t>false negative</a:t>
            </a:r>
          </a:p>
        </p:txBody>
      </p:sp>
      <p:sp>
        <p:nvSpPr>
          <p:cNvPr id="18" name="Rounded Rectangle 17"/>
          <p:cNvSpPr/>
          <p:nvPr/>
        </p:nvSpPr>
        <p:spPr>
          <a:xfrm>
            <a:off x="10195560" y="2743200"/>
            <a:ext cx="1207008" cy="704088"/>
          </a:xfrm>
          <a:prstGeom prst="roundRect">
            <a:avLst>
              <a:gd name="adj" fmla="val 6000"/>
            </a:avLst>
          </a:prstGeom>
          <a:solidFill>
            <a:srgbClr val="DCEAFA"/>
          </a:solidFill>
          <a:ln w="9525">
            <a:solidFill>
              <a:srgbClr val="DCEA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95560" y="2779776"/>
            <a:ext cx="1207008" cy="365760"/>
          </a:xfrm>
          <a:prstGeom prst="rect">
            <a:avLst/>
          </a:prstGeom>
          <a:noFill/>
        </p:spPr>
        <p:txBody>
          <a:bodyPr wrap="square" anchor="t" lIns="0" rIns="0" tIns="0" bIns="0">
            <a:spAutoFit/>
          </a:bodyPr>
          <a:lstStyle/>
          <a:p>
            <a:pPr algn="ctr">
              <a:spcAft>
                <a:spcPts val="600"/>
              </a:spcAft>
            </a:pPr>
            <a:r>
              <a:rPr sz="1500" b="1" i="0">
                <a:solidFill>
                  <a:srgbClr val="132C43"/>
                </a:solidFill>
                <a:latin typeface="Arial"/>
              </a:rPr>
              <a:t>38,560</a:t>
            </a:r>
          </a:p>
        </p:txBody>
      </p:sp>
      <p:sp>
        <p:nvSpPr>
          <p:cNvPr id="20" name="TextBox 19"/>
          <p:cNvSpPr txBox="1"/>
          <p:nvPr/>
        </p:nvSpPr>
        <p:spPr>
          <a:xfrm>
            <a:off x="10195560" y="3127248"/>
            <a:ext cx="1207008" cy="274320"/>
          </a:xfrm>
          <a:prstGeom prst="rect">
            <a:avLst/>
          </a:prstGeom>
          <a:noFill/>
        </p:spPr>
        <p:txBody>
          <a:bodyPr wrap="square" anchor="t" lIns="0" rIns="0" tIns="0" bIns="0">
            <a:spAutoFit/>
          </a:bodyPr>
          <a:lstStyle/>
          <a:p>
            <a:pPr algn="ctr">
              <a:spcAft>
                <a:spcPts val="600"/>
              </a:spcAft>
            </a:pPr>
            <a:r>
              <a:rPr sz="1000" b="0" i="0">
                <a:solidFill>
                  <a:srgbClr val="48677E"/>
                </a:solidFill>
                <a:latin typeface="Arial"/>
              </a:rPr>
              <a:t>true positive</a:t>
            </a:r>
          </a:p>
        </p:txBody>
      </p:sp>
      <p:sp>
        <p:nvSpPr>
          <p:cNvPr id="21" name="TextBox 20"/>
          <p:cNvSpPr txBox="1"/>
          <p:nvPr/>
        </p:nvSpPr>
        <p:spPr>
          <a:xfrm>
            <a:off x="8915400" y="1709928"/>
            <a:ext cx="2560320" cy="256032"/>
          </a:xfrm>
          <a:prstGeom prst="rect">
            <a:avLst/>
          </a:prstGeom>
          <a:noFill/>
        </p:spPr>
        <p:txBody>
          <a:bodyPr wrap="square" anchor="t" lIns="0" rIns="0" tIns="0" bIns="0">
            <a:spAutoFit/>
          </a:bodyPr>
          <a:lstStyle/>
          <a:p>
            <a:pPr algn="l">
              <a:spcAft>
                <a:spcPts val="600"/>
              </a:spcAft>
            </a:pPr>
            <a:r>
              <a:rPr sz="1000" b="0" i="0">
                <a:solidFill>
                  <a:srgbClr val="48677E"/>
                </a:solidFill>
                <a:latin typeface="Arial"/>
              </a:rPr>
              <a:t>pred. no</a:t>
            </a:r>
          </a:p>
        </p:txBody>
      </p:sp>
      <p:sp>
        <p:nvSpPr>
          <p:cNvPr id="22" name="TextBox 21"/>
          <p:cNvSpPr txBox="1"/>
          <p:nvPr/>
        </p:nvSpPr>
        <p:spPr>
          <a:xfrm>
            <a:off x="10195560" y="1709928"/>
            <a:ext cx="1280160" cy="256032"/>
          </a:xfrm>
          <a:prstGeom prst="rect">
            <a:avLst/>
          </a:prstGeom>
          <a:noFill/>
        </p:spPr>
        <p:txBody>
          <a:bodyPr wrap="square" anchor="t" lIns="0" rIns="0" tIns="0" bIns="0">
            <a:spAutoFit/>
          </a:bodyPr>
          <a:lstStyle/>
          <a:p>
            <a:pPr algn="l">
              <a:spcAft>
                <a:spcPts val="600"/>
              </a:spcAft>
            </a:pPr>
            <a:r>
              <a:rPr sz="1000" b="0" i="0">
                <a:solidFill>
                  <a:srgbClr val="48677E"/>
                </a:solidFill>
                <a:latin typeface="Arial"/>
              </a:rPr>
              <a:t>pred. yes</a:t>
            </a:r>
          </a:p>
        </p:txBody>
      </p:sp>
      <p:sp>
        <p:nvSpPr>
          <p:cNvPr id="23" name="TextBox 22"/>
          <p:cNvSpPr txBox="1"/>
          <p:nvPr/>
        </p:nvSpPr>
        <p:spPr>
          <a:xfrm>
            <a:off x="8183879" y="2148840"/>
            <a:ext cx="731520" cy="365760"/>
          </a:xfrm>
          <a:prstGeom prst="rect">
            <a:avLst/>
          </a:prstGeom>
          <a:noFill/>
        </p:spPr>
        <p:txBody>
          <a:bodyPr wrap="square" anchor="t" lIns="0" rIns="0" tIns="0" bIns="0">
            <a:spAutoFit/>
          </a:bodyPr>
          <a:lstStyle/>
          <a:p>
            <a:pPr algn="l">
              <a:spcAft>
                <a:spcPts val="600"/>
              </a:spcAft>
            </a:pPr>
            <a:r>
              <a:rPr sz="1000" b="0" i="0">
                <a:solidFill>
                  <a:srgbClr val="48677E"/>
                </a:solidFill>
                <a:latin typeface="Arial"/>
              </a:rPr>
              <a:t>actual no</a:t>
            </a:r>
          </a:p>
        </p:txBody>
      </p:sp>
      <p:sp>
        <p:nvSpPr>
          <p:cNvPr id="24" name="TextBox 23"/>
          <p:cNvSpPr txBox="1"/>
          <p:nvPr/>
        </p:nvSpPr>
        <p:spPr>
          <a:xfrm>
            <a:off x="8183879" y="2926080"/>
            <a:ext cx="731520" cy="365760"/>
          </a:xfrm>
          <a:prstGeom prst="rect">
            <a:avLst/>
          </a:prstGeom>
          <a:noFill/>
        </p:spPr>
        <p:txBody>
          <a:bodyPr wrap="square" anchor="t" lIns="0" rIns="0" tIns="0" bIns="0">
            <a:spAutoFit/>
          </a:bodyPr>
          <a:lstStyle/>
          <a:p>
            <a:pPr algn="l">
              <a:spcAft>
                <a:spcPts val="600"/>
              </a:spcAft>
            </a:pPr>
            <a:r>
              <a:rPr sz="1000" b="0" i="0">
                <a:solidFill>
                  <a:srgbClr val="48677E"/>
                </a:solidFill>
                <a:latin typeface="Arial"/>
              </a:rPr>
              <a:t>actual yes</a:t>
            </a:r>
          </a:p>
        </p:txBody>
      </p:sp>
      <p:sp>
        <p:nvSpPr>
          <p:cNvPr id="25" name="Rounded Rectangle 24"/>
          <p:cNvSpPr/>
          <p:nvPr/>
        </p:nvSpPr>
        <p:spPr>
          <a:xfrm>
            <a:off x="722376" y="3703320"/>
            <a:ext cx="3456432" cy="228600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9536" y="3794760"/>
            <a:ext cx="3182112" cy="2148840"/>
          </a:xfrm>
          <a:prstGeom prst="rect">
            <a:avLst/>
          </a:prstGeom>
          <a:noFill/>
        </p:spPr>
        <p:txBody>
          <a:bodyPr wrap="square" anchor="t" lIns="0" rIns="0" tIns="0" bIns="0">
            <a:spAutoFit/>
          </a:bodyPr>
          <a:lstStyle/>
          <a:p>
            <a:pPr algn="l">
              <a:spcAft>
                <a:spcPts val="500"/>
              </a:spcAft>
            </a:pPr>
            <a:r>
              <a:rPr sz="1400" b="1" i="0">
                <a:solidFill>
                  <a:srgbClr val="132C43"/>
                </a:solidFill>
                <a:latin typeface="Arial"/>
              </a:rPr>
              <a:t>Results</a:t>
            </a:r>
          </a:p>
          <a:p>
            <a:pPr algn="l">
              <a:spcAft>
                <a:spcPts val="500"/>
              </a:spcAft>
            </a:pPr>
            <a:r>
              <a:rPr sz="1300" b="0" i="0">
                <a:solidFill>
                  <a:srgbClr val="263C50"/>
                </a:solidFill>
                <a:latin typeface="Arial"/>
              </a:rPr>
              <a:t>Both models are over 91% accurate, with PR-AUC 0.87 vs 0.195 for random guessing. Random Forest finds 87% of complaints; Logistic Regression is more precise (77% vs 74%). Both hold on future weeks.</a:t>
            </a:r>
          </a:p>
        </p:txBody>
      </p:sp>
      <p:sp>
        <p:nvSpPr>
          <p:cNvPr id="27" name="Rounded Rectangle 26"/>
          <p:cNvSpPr/>
          <p:nvPr/>
        </p:nvSpPr>
        <p:spPr>
          <a:xfrm>
            <a:off x="4352544" y="3703320"/>
            <a:ext cx="3456432" cy="228600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489704" y="3794760"/>
            <a:ext cx="3182112" cy="2148840"/>
          </a:xfrm>
          <a:prstGeom prst="rect">
            <a:avLst/>
          </a:prstGeom>
          <a:noFill/>
        </p:spPr>
        <p:txBody>
          <a:bodyPr wrap="square" anchor="t" lIns="0" rIns="0" tIns="0" bIns="0">
            <a:spAutoFit/>
          </a:bodyPr>
          <a:lstStyle/>
          <a:p>
            <a:pPr algn="l">
              <a:spcAft>
                <a:spcPts val="500"/>
              </a:spcAft>
            </a:pPr>
            <a:r>
              <a:rPr sz="1400" b="1" i="0">
                <a:solidFill>
                  <a:srgbClr val="132C43"/>
                </a:solidFill>
                <a:latin typeface="Arial"/>
              </a:rPr>
              <a:t>Interpretation</a:t>
            </a:r>
          </a:p>
          <a:p>
            <a:pPr algn="l">
              <a:spcAft>
                <a:spcPts val="500"/>
              </a:spcAft>
            </a:pPr>
            <a:r>
              <a:rPr sz="1300" b="0" i="0">
                <a:solidFill>
                  <a:srgbClr val="263C50"/>
                </a:solidFill>
                <a:latin typeface="Arial"/>
              </a:rPr>
              <a:t>Accuracy alone misleads: never flagging anything scores 80.5%. Logistic Regression raises 16% fewer false alarms; Random Forest misses fewer complaints. Limits: the target is the star rating (some users mis-rate), most reviews are 1–3 words, payment apps are hardest.</a:t>
            </a:r>
          </a:p>
        </p:txBody>
      </p:sp>
      <p:sp>
        <p:nvSpPr>
          <p:cNvPr id="29" name="Rounded Rectangle 28"/>
          <p:cNvSpPr/>
          <p:nvPr/>
        </p:nvSpPr>
        <p:spPr>
          <a:xfrm>
            <a:off x="7982712" y="3703320"/>
            <a:ext cx="3456432" cy="228600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119872" y="3794760"/>
            <a:ext cx="3182112" cy="2148840"/>
          </a:xfrm>
          <a:prstGeom prst="rect">
            <a:avLst/>
          </a:prstGeom>
          <a:noFill/>
        </p:spPr>
        <p:txBody>
          <a:bodyPr wrap="square" anchor="t" lIns="0" rIns="0" tIns="0" bIns="0">
            <a:spAutoFit/>
          </a:bodyPr>
          <a:lstStyle/>
          <a:p>
            <a:pPr algn="l">
              <a:spcAft>
                <a:spcPts val="500"/>
              </a:spcAft>
            </a:pPr>
            <a:r>
              <a:rPr sz="1400" b="1" i="0">
                <a:solidFill>
                  <a:srgbClr val="132C43"/>
                </a:solidFill>
                <a:latin typeface="Arial"/>
              </a:rPr>
              <a:t>Business findings</a:t>
            </a:r>
          </a:p>
          <a:p>
            <a:pPr algn="l">
              <a:spcAft>
                <a:spcPts val="500"/>
              </a:spcAft>
            </a:pPr>
            <a:r>
              <a:rPr sz="1300" b="0" i="0">
                <a:solidFill>
                  <a:srgbClr val="263C50"/>
                </a:solidFill>
                <a:latin typeface="Arial"/>
              </a:rPr>
              <a:t>Triage reviews automatically: about 3 in 4 flagged reviews are real complaints. Each app should fix its own top issue first. Track negative reviews per day, not "% negative".</a:t>
            </a:r>
          </a:p>
        </p:txBody>
      </p:sp>
    </p:spTree>
    <p:extLst>
      <p:ext uri="{BB962C8B-B14F-4D97-AF65-F5344CB8AC3E}">
        <p14:creationId xmlns:p14="http://schemas.microsoft.com/office/powerpoint/2010/main" val="73781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3F0F2AA-D9AE-451E-88B3-50DA1CB9CA75}"/>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Project Tracking and Progress</a:t>
            </a:r>
          </a:p>
        </p:txBody>
      </p:sp>
      <p:sp>
        <p:nvSpPr>
          <p:cNvPr id="4" name="Rectangle 3">
            <a:extLst>
              <a:ext uri="{FF2B5EF4-FFF2-40B4-BE49-F238E27FC236}">
                <a16:creationId xmlns:a16="http://schemas.microsoft.com/office/drawing/2014/main" id="{ED890D8A-37F2-40A9-B076-E90BCFF434B6}"/>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10</a:t>
            </a:r>
          </a:p>
        </p:txBody>
      </p:sp>
      <p:sp>
        <p:nvSpPr>
          <p:cNvPr id="6" name="TextBox 5"/>
          <p:cNvSpPr txBox="1"/>
          <p:nvPr/>
        </p:nvSpPr>
        <p:spPr>
          <a:xfrm>
            <a:off x="722376" y="1417320"/>
            <a:ext cx="10753344" cy="685800"/>
          </a:xfrm>
          <a:prstGeom prst="rect">
            <a:avLst/>
          </a:prstGeom>
          <a:noFill/>
        </p:spPr>
        <p:txBody>
          <a:bodyPr wrap="square" anchor="t" lIns="0" rIns="0" tIns="0" bIns="0">
            <a:spAutoFit/>
          </a:bodyPr>
          <a:lstStyle/>
          <a:p>
            <a:pPr algn="l">
              <a:spcAft>
                <a:spcPts val="0"/>
              </a:spcAft>
            </a:pPr>
            <a:r>
              <a:rPr sz="1300" b="1" i="0">
                <a:solidFill>
                  <a:srgbClr val="132C43"/>
                </a:solidFill>
                <a:latin typeface="Arial"/>
              </a:rPr>
              <a:t>Tool and board link: </a:t>
            </a:r>
            <a:r>
              <a:rPr sz="1300" b="0" i="0">
                <a:solidFill>
                  <a:srgbClr val="263C50"/>
                </a:solidFill>
                <a:latin typeface="Arial"/>
              </a:rPr>
              <a:t>GitHub Projects — github.com/users/Adithya-Monish-Kumar-K/projects/4 (repository: github.com/Adithya-Monish-Kumar-K/ba-capstone-app-reviews)</a:t>
            </a:r>
          </a:p>
        </p:txBody>
      </p:sp>
      <p:sp>
        <p:nvSpPr>
          <p:cNvPr id="7" name="TextBox 6"/>
          <p:cNvSpPr txBox="1"/>
          <p:nvPr/>
        </p:nvSpPr>
        <p:spPr>
          <a:xfrm>
            <a:off x="722376" y="2011680"/>
            <a:ext cx="914400" cy="365760"/>
          </a:xfrm>
          <a:prstGeom prst="rect">
            <a:avLst/>
          </a:prstGeom>
          <a:noFill/>
        </p:spPr>
        <p:txBody>
          <a:bodyPr wrap="square" anchor="ctr" lIns="0" rIns="0" tIns="0" bIns="0">
            <a:spAutoFit/>
          </a:bodyPr>
          <a:lstStyle/>
          <a:p>
            <a:pPr algn="l">
              <a:spcAft>
                <a:spcPts val="600"/>
              </a:spcAft>
            </a:pPr>
            <a:r>
              <a:rPr sz="1300" b="1" i="0">
                <a:solidFill>
                  <a:srgbClr val="132C43"/>
                </a:solidFill>
                <a:latin typeface="Arial"/>
              </a:rPr>
              <a:t>Stages:</a:t>
            </a:r>
          </a:p>
        </p:txBody>
      </p:sp>
      <p:sp>
        <p:nvSpPr>
          <p:cNvPr id="8" name="Rounded Rectangle 7"/>
          <p:cNvSpPr/>
          <p:nvPr/>
        </p:nvSpPr>
        <p:spPr>
          <a:xfrm>
            <a:off x="1645920" y="2011680"/>
            <a:ext cx="1463040" cy="365760"/>
          </a:xfrm>
          <a:prstGeom prst="roundRect">
            <a:avLst>
              <a:gd name="adj" fmla="val 6000"/>
            </a:avLst>
          </a:prstGeom>
          <a:solidFill>
            <a:srgbClr val="EAF0F6"/>
          </a:solidFill>
          <a:ln w="9525">
            <a:solidFill>
              <a:srgbClr val="EAF0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45920" y="2011680"/>
            <a:ext cx="1463040" cy="365760"/>
          </a:xfrm>
          <a:prstGeom prst="rect">
            <a:avLst/>
          </a:prstGeom>
          <a:noFill/>
        </p:spPr>
        <p:txBody>
          <a:bodyPr wrap="square" anchor="ctr" lIns="0" rIns="0" tIns="0" bIns="0">
            <a:spAutoFit/>
          </a:bodyPr>
          <a:lstStyle/>
          <a:p>
            <a:pPr algn="ctr">
              <a:spcAft>
                <a:spcPts val="600"/>
              </a:spcAft>
            </a:pPr>
            <a:r>
              <a:rPr sz="1150" b="1" i="0">
                <a:solidFill>
                  <a:srgbClr val="132C43"/>
                </a:solidFill>
                <a:latin typeface="Arial"/>
              </a:rPr>
              <a:t>Backlog</a:t>
            </a:r>
          </a:p>
        </p:txBody>
      </p:sp>
      <p:sp>
        <p:nvSpPr>
          <p:cNvPr id="10" name="Rounded Rectangle 9"/>
          <p:cNvSpPr/>
          <p:nvPr/>
        </p:nvSpPr>
        <p:spPr>
          <a:xfrm>
            <a:off x="3246120" y="2011680"/>
            <a:ext cx="1463040" cy="365760"/>
          </a:xfrm>
          <a:prstGeom prst="roundRect">
            <a:avLst>
              <a:gd name="adj" fmla="val 6000"/>
            </a:avLst>
          </a:prstGeom>
          <a:solidFill>
            <a:srgbClr val="EAF0F6"/>
          </a:solidFill>
          <a:ln w="9525">
            <a:solidFill>
              <a:srgbClr val="EAF0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46120" y="2011680"/>
            <a:ext cx="1463040" cy="365760"/>
          </a:xfrm>
          <a:prstGeom prst="rect">
            <a:avLst/>
          </a:prstGeom>
          <a:noFill/>
        </p:spPr>
        <p:txBody>
          <a:bodyPr wrap="square" anchor="ctr" lIns="0" rIns="0" tIns="0" bIns="0">
            <a:spAutoFit/>
          </a:bodyPr>
          <a:lstStyle/>
          <a:p>
            <a:pPr algn="ctr">
              <a:spcAft>
                <a:spcPts val="600"/>
              </a:spcAft>
            </a:pPr>
            <a:r>
              <a:rPr sz="1150" b="1" i="0">
                <a:solidFill>
                  <a:srgbClr val="132C43"/>
                </a:solidFill>
                <a:latin typeface="Arial"/>
              </a:rPr>
              <a:t>To Do</a:t>
            </a:r>
          </a:p>
        </p:txBody>
      </p:sp>
      <p:sp>
        <p:nvSpPr>
          <p:cNvPr id="12" name="Rounded Rectangle 11"/>
          <p:cNvSpPr/>
          <p:nvPr/>
        </p:nvSpPr>
        <p:spPr>
          <a:xfrm>
            <a:off x="4846320" y="2011680"/>
            <a:ext cx="1463040" cy="365760"/>
          </a:xfrm>
          <a:prstGeom prst="roundRect">
            <a:avLst>
              <a:gd name="adj" fmla="val 6000"/>
            </a:avLst>
          </a:prstGeom>
          <a:solidFill>
            <a:srgbClr val="EAF0F6"/>
          </a:solidFill>
          <a:ln w="9525">
            <a:solidFill>
              <a:srgbClr val="EAF0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46320" y="2011680"/>
            <a:ext cx="1463040" cy="365760"/>
          </a:xfrm>
          <a:prstGeom prst="rect">
            <a:avLst/>
          </a:prstGeom>
          <a:noFill/>
        </p:spPr>
        <p:txBody>
          <a:bodyPr wrap="square" anchor="ctr" lIns="0" rIns="0" tIns="0" bIns="0">
            <a:spAutoFit/>
          </a:bodyPr>
          <a:lstStyle/>
          <a:p>
            <a:pPr algn="ctr">
              <a:spcAft>
                <a:spcPts val="600"/>
              </a:spcAft>
            </a:pPr>
            <a:r>
              <a:rPr sz="1150" b="1" i="0">
                <a:solidFill>
                  <a:srgbClr val="132C43"/>
                </a:solidFill>
                <a:latin typeface="Arial"/>
              </a:rPr>
              <a:t>In Progress</a:t>
            </a:r>
          </a:p>
        </p:txBody>
      </p:sp>
      <p:sp>
        <p:nvSpPr>
          <p:cNvPr id="14" name="Rounded Rectangle 13"/>
          <p:cNvSpPr/>
          <p:nvPr/>
        </p:nvSpPr>
        <p:spPr>
          <a:xfrm>
            <a:off x="6446520" y="2011680"/>
            <a:ext cx="1463040" cy="365760"/>
          </a:xfrm>
          <a:prstGeom prst="roundRect">
            <a:avLst>
              <a:gd name="adj" fmla="val 6000"/>
            </a:avLst>
          </a:prstGeom>
          <a:solidFill>
            <a:srgbClr val="EAF0F6"/>
          </a:solidFill>
          <a:ln w="9525">
            <a:solidFill>
              <a:srgbClr val="EAF0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46520" y="2011680"/>
            <a:ext cx="1463040" cy="365760"/>
          </a:xfrm>
          <a:prstGeom prst="rect">
            <a:avLst/>
          </a:prstGeom>
          <a:noFill/>
        </p:spPr>
        <p:txBody>
          <a:bodyPr wrap="square" anchor="ctr" lIns="0" rIns="0" tIns="0" bIns="0">
            <a:spAutoFit/>
          </a:bodyPr>
          <a:lstStyle/>
          <a:p>
            <a:pPr algn="ctr">
              <a:spcAft>
                <a:spcPts val="600"/>
              </a:spcAft>
            </a:pPr>
            <a:r>
              <a:rPr sz="1150" b="1" i="0">
                <a:solidFill>
                  <a:srgbClr val="132C43"/>
                </a:solidFill>
                <a:latin typeface="Arial"/>
              </a:rPr>
              <a:t>Review/Testing</a:t>
            </a:r>
          </a:p>
        </p:txBody>
      </p:sp>
      <p:sp>
        <p:nvSpPr>
          <p:cNvPr id="16" name="Rounded Rectangle 15"/>
          <p:cNvSpPr/>
          <p:nvPr/>
        </p:nvSpPr>
        <p:spPr>
          <a:xfrm>
            <a:off x="8046720" y="2011680"/>
            <a:ext cx="1463040" cy="365760"/>
          </a:xfrm>
          <a:prstGeom prst="roundRect">
            <a:avLst>
              <a:gd name="adj" fmla="val 6000"/>
            </a:avLst>
          </a:prstGeom>
          <a:solidFill>
            <a:srgbClr val="132C43"/>
          </a:solidFill>
          <a:ln w="9525">
            <a:solidFill>
              <a:srgbClr val="132C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0" y="2011680"/>
            <a:ext cx="1463040" cy="365760"/>
          </a:xfrm>
          <a:prstGeom prst="rect">
            <a:avLst/>
          </a:prstGeom>
          <a:noFill/>
        </p:spPr>
        <p:txBody>
          <a:bodyPr wrap="square" anchor="ctr" lIns="0" rIns="0" tIns="0" bIns="0">
            <a:spAutoFit/>
          </a:bodyPr>
          <a:lstStyle/>
          <a:p>
            <a:pPr algn="ctr">
              <a:spcAft>
                <a:spcPts val="600"/>
              </a:spcAft>
            </a:pPr>
            <a:r>
              <a:rPr sz="1150" b="1" i="0">
                <a:solidFill>
                  <a:srgbClr val="FFFFFF"/>
                </a:solidFill>
                <a:latin typeface="Arial"/>
              </a:rPr>
              <a:t>Completed</a:t>
            </a:r>
          </a:p>
        </p:txBody>
      </p:sp>
      <p:sp>
        <p:nvSpPr>
          <p:cNvPr id="18" name="TextBox 17"/>
          <p:cNvSpPr txBox="1"/>
          <p:nvPr/>
        </p:nvSpPr>
        <p:spPr>
          <a:xfrm>
            <a:off x="9738360" y="2011680"/>
            <a:ext cx="1737360" cy="365760"/>
          </a:xfrm>
          <a:prstGeom prst="rect">
            <a:avLst/>
          </a:prstGeom>
          <a:noFill/>
        </p:spPr>
        <p:txBody>
          <a:bodyPr wrap="square" anchor="ctr" lIns="0" rIns="0" tIns="0" bIns="0">
            <a:spAutoFit/>
          </a:bodyPr>
          <a:lstStyle/>
          <a:p>
            <a:pPr algn="l">
              <a:spcAft>
                <a:spcPts val="600"/>
              </a:spcAft>
            </a:pPr>
            <a:r>
              <a:rPr sz="1150" b="0" i="1">
                <a:solidFill>
                  <a:srgbClr val="48677E"/>
                </a:solidFill>
                <a:latin typeface="Arial"/>
              </a:rPr>
              <a:t>15 of 15 tasks done</a:t>
            </a:r>
          </a:p>
        </p:txBody>
      </p:sp>
      <p:sp>
        <p:nvSpPr>
          <p:cNvPr id="20" name="TextBox 19"/>
          <p:cNvSpPr txBox="1"/>
          <p:nvPr/>
        </p:nvSpPr>
        <p:spPr>
          <a:xfrm>
            <a:off x="722376" y="2606040"/>
            <a:ext cx="10753344" cy="320040"/>
          </a:xfrm>
          <a:prstGeom prst="rect">
            <a:avLst/>
          </a:prstGeom>
          <a:noFill/>
        </p:spPr>
        <p:txBody>
          <a:bodyPr wrap="square" anchor="t" lIns="0" rIns="0" tIns="0" bIns="0">
            <a:spAutoFit/>
          </a:bodyPr>
          <a:lstStyle/>
          <a:p>
            <a:pPr algn="l">
              <a:spcAft>
                <a:spcPts val="600"/>
              </a:spcAft>
            </a:pPr>
            <a:r>
              <a:rPr sz="1250" b="1" i="0">
                <a:solidFill>
                  <a:srgbClr val="132C43"/>
                </a:solidFill>
                <a:latin typeface="Arial"/>
              </a:rPr>
              <a:t>Evidence and activity history:</a:t>
            </a:r>
          </a:p>
        </p:txBody>
      </p:sp>
      <p:pic>
        <p:nvPicPr>
          <p:cNvPr id="21" name="Board screenshot" descr="board.png"/>
          <p:cNvPicPr>
            <a:picLocks noChangeAspect="1"/>
          </p:cNvPicPr>
          <p:nvPr/>
        </p:nvPicPr>
        <p:blipFill>
          <a:blip r:embed="rId3"/>
          <a:stretch>
            <a:fillRect/>
          </a:stretch>
        </p:blipFill>
        <p:spPr>
          <a:xfrm>
            <a:off x="722376" y="2971800"/>
            <a:ext cx="9219799" cy="3611880"/>
          </a:xfrm>
          <a:prstGeom prst="rect">
            <a:avLst/>
          </a:prstGeom>
          <a:ln w="9525">
            <a:solidFill>
              <a:srgbClr val="DAE2EB"/>
            </a:solidFill>
          </a:ln>
        </p:spPr>
      </p:pic>
    </p:spTree>
    <p:extLst>
      <p:ext uri="{BB962C8B-B14F-4D97-AF65-F5344CB8AC3E}">
        <p14:creationId xmlns:p14="http://schemas.microsoft.com/office/powerpoint/2010/main" val="382719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3ABBC82-584F-45E6-AAB2-5127018ABB61}"/>
              </a:ext>
            </a:extLst>
          </p:cNvPr>
          <p:cNvSpPr>
            <a:spLocks noGrp="1"/>
          </p:cNvSpPr>
          <p:nvPr/>
        </p:nvSpPr>
        <p:spPr>
          <a:xfrm>
            <a:off x="685800" y="523875"/>
            <a:ext cx="10820400" cy="952500"/>
          </a:xfrm>
          <a:prstGeom prst="rect">
            <a:avLst/>
          </a:prstGeom>
          <a:noFill/>
          <a:ln w="0">
            <a:noFill/>
          </a:ln>
        </p:spPr>
        <p:txBody>
          <a:bodyPr>
            <a:noAutofit/>
          </a:bodyPr>
          <a:lstStyle/>
          <a:p>
            <a:pPr>
              <a:defRPr sz="3300" b="1">
                <a:solidFill>
                  <a:srgbClr val="132C43"/>
                </a:solidFill>
                <a:latin typeface="Bitstream Charter"/>
                <a:ea typeface="Bitstream Charter"/>
                <a:cs typeface="Bitstream Charter"/>
              </a:defRPr>
            </a:pPr>
            <a:r>
              <a:rPr sz="2800" b="1">
                <a:solidFill>
                  <a:srgbClr val="132C43"/>
                </a:solidFill>
                <a:latin typeface="Georgia"/>
                <a:ea typeface="Bitstream Charter"/>
                <a:cs typeface="Bitstream Charter"/>
              </a:rPr>
              <a:t>Individual Contributions and Next Steps</a:t>
            </a:r>
          </a:p>
        </p:txBody>
      </p:sp>
      <p:sp>
        <p:nvSpPr>
          <p:cNvPr id="4" name="Rectangle 3">
            <a:extLst>
              <a:ext uri="{FF2B5EF4-FFF2-40B4-BE49-F238E27FC236}">
                <a16:creationId xmlns:a16="http://schemas.microsoft.com/office/drawing/2014/main" id="{169D0911-0185-448C-9EAD-CD711521C4E4}"/>
              </a:ext>
            </a:extLst>
          </p:cNvPr>
          <p:cNvSpPr>
            <a:spLocks noGrp="1"/>
          </p:cNvSpPr>
          <p:nvPr/>
        </p:nvSpPr>
        <p:spPr>
          <a:xfrm>
            <a:off x="11049000" y="6076950"/>
            <a:ext cx="476250" cy="381000"/>
          </a:xfrm>
          <a:prstGeom prst="rect">
            <a:avLst/>
          </a:prstGeom>
          <a:noFill/>
          <a:ln w="0">
            <a:noFill/>
          </a:ln>
        </p:spPr>
        <p:txBody>
          <a:bodyPr>
            <a:noAutofit/>
          </a:bodyPr>
          <a:lstStyle/>
          <a:p>
            <a:pPr>
              <a:defRPr sz="1500" b="0">
                <a:solidFill>
                  <a:srgbClr val="48677E"/>
                </a:solidFill>
                <a:latin typeface="Bitstream Charter"/>
                <a:ea typeface="Bitstream Charter"/>
                <a:cs typeface="Bitstream Charter"/>
              </a:defRPr>
            </a:pPr>
            <a:r>
              <a:rPr sz="1500" b="0">
                <a:solidFill>
                  <a:srgbClr val="48677E"/>
                </a:solidFill>
                <a:latin typeface="Arial"/>
                <a:ea typeface="Bitstream Charter"/>
                <a:cs typeface="Bitstream Charter"/>
              </a:rPr>
              <a:t>11</a:t>
            </a:r>
          </a:p>
        </p:txBody>
      </p:sp>
      <p:graphicFrame>
        <p:nvGraphicFramePr>
          <p:cNvPr id="6" name="Table 5"/>
          <p:cNvGraphicFramePr>
            <a:graphicFrameLocks noGrp="1"/>
          </p:cNvGraphicFramePr>
          <p:nvPr/>
        </p:nvGraphicFramePr>
        <p:xfrm>
          <a:off x="722376" y="1417320"/>
          <a:ext cx="10753344" cy="2743200"/>
        </p:xfrm>
        <a:graphic>
          <a:graphicData uri="http://schemas.openxmlformats.org/drawingml/2006/table">
            <a:tbl>
              <a:tblPr firstRow="0" bandRow="0">
                <a:tableStyleId>{5940675A-B579-460E-94D1-54222C63F5DA}</a:tableStyleId>
              </a:tblPr>
              <a:tblGrid>
                <a:gridCol w="2331720"/>
                <a:gridCol w="5440680"/>
                <a:gridCol w="2980944"/>
              </a:tblGrid>
              <a:tr h="457200">
                <a:tc>
                  <a:txBody>
                    <a:bodyPr wrap="square"/>
                    <a:lstStyle/>
                    <a:p>
                      <a:pPr algn="l"/>
                      <a:r>
                        <a:rPr sz="1100" b="1" i="0">
                          <a:solidFill>
                            <a:srgbClr val="FFFFFF"/>
                          </a:solidFill>
                          <a:latin typeface="Arial"/>
                        </a:rPr>
                        <a:t>Member / Register number</a:t>
                      </a:r>
                    </a:p>
                  </a:txBody>
                  <a:tcPr marL="64008" marR="64008" marT="27432" marB="27432" anchor="ctr">
                    <a:solidFill>
                      <a:srgbClr val="132C43"/>
                    </a:solidFill>
                  </a:tcPr>
                </a:tc>
                <a:tc>
                  <a:txBody>
                    <a:bodyPr wrap="square"/>
                    <a:lstStyle/>
                    <a:p>
                      <a:pPr algn="l"/>
                      <a:r>
                        <a:rPr sz="1100" b="1" i="0">
                          <a:solidFill>
                            <a:srgbClr val="FFFFFF"/>
                          </a:solidFill>
                          <a:latin typeface="Arial"/>
                        </a:rPr>
                        <a:t>Completed tasks</a:t>
                      </a:r>
                    </a:p>
                  </a:txBody>
                  <a:tcPr marL="64008" marR="64008" marT="27432" marB="27432" anchor="ctr">
                    <a:solidFill>
                      <a:srgbClr val="132C43"/>
                    </a:solidFill>
                  </a:tcPr>
                </a:tc>
                <a:tc>
                  <a:txBody>
                    <a:bodyPr wrap="square"/>
                    <a:lstStyle/>
                    <a:p>
                      <a:pPr algn="l"/>
                      <a:r>
                        <a:rPr sz="1100" b="1" i="0">
                          <a:solidFill>
                            <a:srgbClr val="FFFFFF"/>
                          </a:solidFill>
                          <a:latin typeface="Arial"/>
                        </a:rPr>
                        <a:t>Evidence</a:t>
                      </a:r>
                    </a:p>
                  </a:txBody>
                  <a:tcPr marL="64008" marR="64008" marT="27432" marB="27432" anchor="ctr">
                    <a:solidFill>
                      <a:srgbClr val="132C43"/>
                    </a:solidFill>
                  </a:tcPr>
                </a:tc>
              </a:tr>
              <a:tr h="457200">
                <a:tc>
                  <a:txBody>
                    <a:bodyPr wrap="square"/>
                    <a:lstStyle/>
                    <a:p>
                      <a:pPr algn="l"/>
                      <a:r>
                        <a:rPr sz="1100" b="1" i="0">
                          <a:solidFill>
                            <a:srgbClr val="263C50"/>
                          </a:solidFill>
                          <a:latin typeface="Arial"/>
                        </a:rPr>
                        <a:t>Aditya Monish Kumar K
CB.SC.U4CSE23103</a:t>
                      </a:r>
                    </a:p>
                  </a:txBody>
                  <a:tcPr marL="64008" marR="64008" marT="27432" marB="27432" anchor="ctr">
                    <a:solidFill>
                      <a:srgbClr val="FFFFFF"/>
                    </a:solidFill>
                  </a:tcPr>
                </a:tc>
                <a:tc>
                  <a:txBody>
                    <a:bodyPr wrap="square"/>
                    <a:lstStyle/>
                    <a:p>
                      <a:pPr algn="l"/>
                      <a:r>
                        <a:rPr sz="1100" b="0" i="0">
                          <a:solidFill>
                            <a:srgbClr val="263C50"/>
                          </a:solidFill>
                          <a:latin typeface="Arial"/>
                        </a:rPr>
                        <a:t>Play Store scraper; full NEWEST collection (1.20M reviews, 11 apps); cleaning; dataset documentation; project board</a:t>
                      </a:r>
                    </a:p>
                  </a:txBody>
                  <a:tcPr marL="64008" marR="64008" marT="27432" marB="27432" anchor="ctr">
                    <a:solidFill>
                      <a:srgbClr val="FFFFFF"/>
                    </a:solidFill>
                  </a:tcPr>
                </a:tc>
                <a:tc>
                  <a:txBody>
                    <a:bodyPr wrap="square"/>
                    <a:lstStyle/>
                    <a:p>
                      <a:pPr algn="l"/>
                      <a:r>
                        <a:rPr sz="1100" b="0" i="0">
                          <a:solidFill>
                            <a:srgbClr val="263C50"/>
                          </a:solidFill>
                          <a:latin typeface="Arial"/>
                        </a:rPr>
                        <a:t>scripts/01–02, apps.py, data_io.py, DATA_SOURCES.md</a:t>
                      </a:r>
                    </a:p>
                  </a:txBody>
                  <a:tcPr marL="64008" marR="64008" marT="27432" marB="27432" anchor="ctr">
                    <a:solidFill>
                      <a:srgbClr val="FFFFFF"/>
                    </a:solidFill>
                  </a:tcPr>
                </a:tc>
              </a:tr>
              <a:tr h="457200">
                <a:tc>
                  <a:txBody>
                    <a:bodyPr wrap="square"/>
                    <a:lstStyle/>
                    <a:p>
                      <a:pPr algn="l"/>
                      <a:r>
                        <a:rPr sz="1100" b="1" i="0">
                          <a:solidFill>
                            <a:srgbClr val="263C50"/>
                          </a:solidFill>
                          <a:latin typeface="Arial"/>
                        </a:rPr>
                        <a:t>Regella Krishna Saketh
CB.SC.U4CSE23649</a:t>
                      </a:r>
                    </a:p>
                  </a:txBody>
                  <a:tcPr marL="64008" marR="64008" marT="27432" marB="27432" anchor="ctr">
                    <a:solidFill>
                      <a:srgbClr val="EAF0F6"/>
                    </a:solidFill>
                  </a:tcPr>
                </a:tc>
                <a:tc>
                  <a:txBody>
                    <a:bodyPr wrap="square"/>
                    <a:lstStyle/>
                    <a:p>
                      <a:pPr algn="l"/>
                      <a:r>
                        <a:rPr sz="1100" b="0" i="0">
                          <a:solidFill>
                            <a:srgbClr val="263C50"/>
                          </a:solidFill>
                          <a:latin typeface="Arial"/>
                        </a:rPr>
                        <a:t>EDA script with Akshay: coverage and bias audit, issue analysis, statistical tests, version analysis</a:t>
                      </a:r>
                    </a:p>
                  </a:txBody>
                  <a:tcPr marL="64008" marR="64008" marT="27432" marB="27432" anchor="ctr">
                    <a:solidFill>
                      <a:srgbClr val="EAF0F6"/>
                    </a:solidFill>
                  </a:tcPr>
                </a:tc>
                <a:tc>
                  <a:txBody>
                    <a:bodyPr wrap="square"/>
                    <a:lstStyle/>
                    <a:p>
                      <a:pPr algn="l"/>
                      <a:r>
                        <a:rPr sz="1100" b="0" i="0">
                          <a:solidFill>
                            <a:srgbClr val="263C50"/>
                          </a:solidFill>
                          <a:latin typeface="Arial"/>
                        </a:rPr>
                        <a:t>scripts/05_eda.py, EDA.md, data/charts/eda</a:t>
                      </a:r>
                    </a:p>
                  </a:txBody>
                  <a:tcPr marL="64008" marR="64008" marT="27432" marB="27432" anchor="ctr">
                    <a:solidFill>
                      <a:srgbClr val="EAF0F6"/>
                    </a:solidFill>
                  </a:tcPr>
                </a:tc>
              </a:tr>
              <a:tr h="457200">
                <a:tc>
                  <a:txBody>
                    <a:bodyPr wrap="square"/>
                    <a:lstStyle/>
                    <a:p>
                      <a:pPr algn="l"/>
                      <a:r>
                        <a:rPr sz="1100" b="1" i="0">
                          <a:solidFill>
                            <a:srgbClr val="263C50"/>
                          </a:solidFill>
                          <a:latin typeface="Arial"/>
                        </a:rPr>
                        <a:t>Akshay KS
CB.SC.U4CSE23104</a:t>
                      </a:r>
                    </a:p>
                  </a:txBody>
                  <a:tcPr marL="64008" marR="64008" marT="27432" marB="27432" anchor="ctr">
                    <a:solidFill>
                      <a:srgbClr val="FFFFFF"/>
                    </a:solidFill>
                  </a:tcPr>
                </a:tc>
                <a:tc>
                  <a:txBody>
                    <a:bodyPr wrap="square"/>
                    <a:lstStyle/>
                    <a:p>
                      <a:pPr algn="l"/>
                      <a:r>
                        <a:rPr sz="1100" b="0" i="0">
                          <a:solidFill>
                            <a:srgbClr val="263C50"/>
                          </a:solidFill>
                          <a:latin typeface="Arial"/>
                        </a:rPr>
                        <a:t>EDA script with Saketh: coverage and bias audit, issue analysis, statistical tests, version analysis</a:t>
                      </a:r>
                    </a:p>
                  </a:txBody>
                  <a:tcPr marL="64008" marR="64008" marT="27432" marB="27432" anchor="ctr">
                    <a:solidFill>
                      <a:srgbClr val="FFFFFF"/>
                    </a:solidFill>
                  </a:tcPr>
                </a:tc>
                <a:tc>
                  <a:txBody>
                    <a:bodyPr wrap="square"/>
                    <a:lstStyle/>
                    <a:p>
                      <a:pPr algn="l"/>
                      <a:r>
                        <a:rPr sz="1100" b="0" i="0">
                          <a:solidFill>
                            <a:srgbClr val="263C50"/>
                          </a:solidFill>
                          <a:latin typeface="Arial"/>
                        </a:rPr>
                        <a:t>scripts/05_eda.py, EDA.md, data/charts/eda</a:t>
                      </a:r>
                    </a:p>
                  </a:txBody>
                  <a:tcPr marL="64008" marR="64008" marT="27432" marB="27432" anchor="ctr">
                    <a:solidFill>
                      <a:srgbClr val="FFFFFF"/>
                    </a:solidFill>
                  </a:tcPr>
                </a:tc>
              </a:tr>
              <a:tr h="457200">
                <a:tc>
                  <a:txBody>
                    <a:bodyPr wrap="square"/>
                    <a:lstStyle/>
                    <a:p>
                      <a:pPr algn="l"/>
                      <a:r>
                        <a:rPr sz="1100" b="1" i="0">
                          <a:solidFill>
                            <a:srgbClr val="263C50"/>
                          </a:solidFill>
                          <a:latin typeface="Arial"/>
                        </a:rPr>
                        <a:t>Harshini Vennela
CB.SC.U4CSE23455</a:t>
                      </a:r>
                    </a:p>
                  </a:txBody>
                  <a:tcPr marL="64008" marR="64008" marT="27432" marB="27432" anchor="ctr">
                    <a:solidFill>
                      <a:srgbClr val="EAF0F6"/>
                    </a:solidFill>
                  </a:tcPr>
                </a:tc>
                <a:tc>
                  <a:txBody>
                    <a:bodyPr wrap="square"/>
                    <a:lstStyle/>
                    <a:p>
                      <a:pPr algn="l"/>
                      <a:r>
                        <a:rPr sz="1100" b="0" i="0">
                          <a:solidFill>
                            <a:srgbClr val="263C50"/>
                          </a:solidFill>
                          <a:latin typeface="Arial"/>
                        </a:rPr>
                        <a:t>With Kanishka: TF-IDF + SVD features; Logistic Regression and Random Forest; evaluation and interpretation charts</a:t>
                      </a:r>
                    </a:p>
                  </a:txBody>
                  <a:tcPr marL="64008" marR="64008" marT="27432" marB="27432" anchor="ctr">
                    <a:solidFill>
                      <a:srgbClr val="EAF0F6"/>
                    </a:solidFill>
                  </a:tcPr>
                </a:tc>
                <a:tc>
                  <a:txBody>
                    <a:bodyPr wrap="square"/>
                    <a:lstStyle/>
                    <a:p>
                      <a:pPr algn="l"/>
                      <a:r>
                        <a:rPr sz="1100" b="0" i="0">
                          <a:solidFill>
                            <a:srgbClr val="263C50"/>
                          </a:solidFill>
                          <a:latin typeface="Arial"/>
                        </a:rPr>
                        <a:t>scripts/05_feature_engineering.py, 06–13, MODEL_EVALUATION.md</a:t>
                      </a:r>
                    </a:p>
                  </a:txBody>
                  <a:tcPr marL="64008" marR="64008" marT="27432" marB="27432" anchor="ctr">
                    <a:solidFill>
                      <a:srgbClr val="EAF0F6"/>
                    </a:solidFill>
                  </a:tcPr>
                </a:tc>
              </a:tr>
              <a:tr h="457200">
                <a:tc>
                  <a:txBody>
                    <a:bodyPr wrap="square"/>
                    <a:lstStyle/>
                    <a:p>
                      <a:pPr algn="l"/>
                      <a:r>
                        <a:rPr sz="1100" b="1" i="0">
                          <a:solidFill>
                            <a:srgbClr val="263C50"/>
                          </a:solidFill>
                          <a:latin typeface="Arial"/>
                        </a:rPr>
                        <a:t>Kanishka D
CB.SC.U4CSE23155</a:t>
                      </a:r>
                    </a:p>
                  </a:txBody>
                  <a:tcPr marL="64008" marR="64008" marT="27432" marB="27432" anchor="ctr">
                    <a:solidFill>
                      <a:srgbClr val="FFFFFF"/>
                    </a:solidFill>
                  </a:tcPr>
                </a:tc>
                <a:tc>
                  <a:txBody>
                    <a:bodyPr wrap="square"/>
                    <a:lstStyle/>
                    <a:p>
                      <a:pPr algn="l"/>
                      <a:r>
                        <a:rPr sz="1100" b="0" i="0">
                          <a:solidFill>
                            <a:srgbClr val="263C50"/>
                          </a:solidFill>
                          <a:latin typeface="Arial"/>
                        </a:rPr>
                        <a:t>With Harshini: TF-IDF + SVD features; Logistic Regression and Random Forest; evaluation and interpretation charts</a:t>
                      </a:r>
                    </a:p>
                  </a:txBody>
                  <a:tcPr marL="64008" marR="64008" marT="27432" marB="27432" anchor="ctr">
                    <a:solidFill>
                      <a:srgbClr val="FFFFFF"/>
                    </a:solidFill>
                  </a:tcPr>
                </a:tc>
                <a:tc>
                  <a:txBody>
                    <a:bodyPr wrap="square"/>
                    <a:lstStyle/>
                    <a:p>
                      <a:pPr algn="l"/>
                      <a:r>
                        <a:rPr sz="1100" b="0" i="0">
                          <a:solidFill>
                            <a:srgbClr val="263C50"/>
                          </a:solidFill>
                          <a:latin typeface="Arial"/>
                        </a:rPr>
                        <a:t>scripts/05_feature_engineering.py, 06–13, MODEL_EVALUATION.md</a:t>
                      </a:r>
                    </a:p>
                  </a:txBody>
                  <a:tcPr marL="64008" marR="64008" marT="27432" marB="27432" anchor="ctr">
                    <a:solidFill>
                      <a:srgbClr val="FFFFFF"/>
                    </a:solidFill>
                  </a:tcPr>
                </a:tc>
              </a:tr>
            </a:tbl>
          </a:graphicData>
        </a:graphic>
      </p:graphicFrame>
      <p:sp>
        <p:nvSpPr>
          <p:cNvPr id="7" name="Rounded Rectangle 6"/>
          <p:cNvSpPr/>
          <p:nvPr/>
        </p:nvSpPr>
        <p:spPr>
          <a:xfrm>
            <a:off x="722376" y="4315968"/>
            <a:ext cx="3840480" cy="64008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59536" y="4389120"/>
            <a:ext cx="3566160" cy="1508760"/>
          </a:xfrm>
          <a:prstGeom prst="rect">
            <a:avLst/>
          </a:prstGeom>
          <a:noFill/>
        </p:spPr>
        <p:txBody>
          <a:bodyPr wrap="square" anchor="t" lIns="0" rIns="0" tIns="0" bIns="0">
            <a:spAutoFit/>
          </a:bodyPr>
          <a:lstStyle/>
          <a:p>
            <a:pPr algn="l">
              <a:spcAft>
                <a:spcPts val="400"/>
              </a:spcAft>
            </a:pPr>
            <a:r>
              <a:rPr sz="1350" b="1" i="0">
                <a:solidFill>
                  <a:srgbClr val="132C43"/>
                </a:solidFill>
                <a:latin typeface="Arial"/>
              </a:rPr>
              <a:t>Pending work</a:t>
            </a:r>
          </a:p>
          <a:p>
            <a:pPr algn="l">
              <a:spcAft>
                <a:spcPts val="400"/>
              </a:spcAft>
            </a:pPr>
            <a:r>
              <a:rPr sz="1250" b="0" i="0">
                <a:solidFill>
                  <a:srgbClr val="263C50"/>
                </a:solidFill>
                <a:latin typeface="Arial"/>
              </a:rPr>
              <a:t>None</a:t>
            </a:r>
          </a:p>
        </p:txBody>
      </p:sp>
      <p:sp>
        <p:nvSpPr>
          <p:cNvPr id="9" name="Rounded Rectangle 8"/>
          <p:cNvSpPr/>
          <p:nvPr/>
        </p:nvSpPr>
        <p:spPr>
          <a:xfrm>
            <a:off x="722376" y="5074920"/>
            <a:ext cx="3840480" cy="1207008"/>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9536" y="5148072"/>
            <a:ext cx="3566160" cy="1508760"/>
          </a:xfrm>
          <a:prstGeom prst="rect">
            <a:avLst/>
          </a:prstGeom>
          <a:noFill/>
        </p:spPr>
        <p:txBody>
          <a:bodyPr wrap="square" anchor="t" lIns="0" rIns="0" tIns="0" bIns="0">
            <a:spAutoFit/>
          </a:bodyPr>
          <a:lstStyle/>
          <a:p>
            <a:pPr algn="l">
              <a:spcAft>
                <a:spcPts val="400"/>
              </a:spcAft>
            </a:pPr>
            <a:r>
              <a:rPr sz="1350" b="1" i="0">
                <a:solidFill>
                  <a:srgbClr val="132C43"/>
                </a:solidFill>
                <a:latin typeface="Arial"/>
              </a:rPr>
              <a:t>Review 2 plan</a:t>
            </a:r>
          </a:p>
          <a:p>
            <a:pPr algn="l">
              <a:spcAft>
                <a:spcPts val="400"/>
              </a:spcAft>
            </a:pPr>
            <a:r>
              <a:rPr sz="1250" b="0" i="0">
                <a:solidFill>
                  <a:srgbClr val="263C50"/>
                </a:solidFill>
                <a:latin typeface="Arial"/>
              </a:rPr>
              <a:t>Method 1: text mining. Method 2: time-series forecasting. Interactive dashboard and combined recommendations.</a:t>
            </a:r>
          </a:p>
        </p:txBody>
      </p:sp>
      <p:sp>
        <p:nvSpPr>
          <p:cNvPr id="11" name="Rounded Rectangle 10"/>
          <p:cNvSpPr/>
          <p:nvPr/>
        </p:nvSpPr>
        <p:spPr>
          <a:xfrm>
            <a:off x="4745736" y="4315968"/>
            <a:ext cx="6181344" cy="1965960"/>
          </a:xfrm>
          <a:prstGeom prst="roundRect">
            <a:avLst>
              <a:gd name="adj" fmla="val 6000"/>
            </a:avLst>
          </a:prstGeom>
          <a:solidFill>
            <a:srgbClr val="FFFFFF"/>
          </a:solidFill>
          <a:ln w="9525">
            <a:solidFill>
              <a:srgbClr val="DAE2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882896" y="4389120"/>
            <a:ext cx="5907024" cy="1508760"/>
          </a:xfrm>
          <a:prstGeom prst="rect">
            <a:avLst/>
          </a:prstGeom>
          <a:noFill/>
        </p:spPr>
        <p:txBody>
          <a:bodyPr wrap="square" anchor="t" lIns="0" rIns="0" tIns="0" bIns="0">
            <a:spAutoFit/>
          </a:bodyPr>
          <a:lstStyle/>
          <a:p>
            <a:pPr algn="l">
              <a:spcAft>
                <a:spcPts val="400"/>
              </a:spcAft>
            </a:pPr>
            <a:r>
              <a:rPr sz="1350" b="1" i="0">
                <a:solidFill>
                  <a:srgbClr val="132C43"/>
                </a:solidFill>
                <a:latin typeface="Arial"/>
              </a:rPr>
              <a:t>Submission links</a:t>
            </a:r>
          </a:p>
          <a:p>
            <a:pPr algn="l">
              <a:spcAft>
                <a:spcPts val="0"/>
              </a:spcAft>
            </a:pPr>
            <a:r>
              <a:rPr sz="1000" b="1" i="0">
                <a:solidFill>
                  <a:srgbClr val="263C50"/>
                </a:solidFill>
                <a:latin typeface="Arial"/>
              </a:rPr>
              <a:t>Notebook</a:t>
            </a:r>
          </a:p>
          <a:p>
            <a:pPr algn="l">
              <a:spcAft>
                <a:spcPts val="200"/>
              </a:spcAft>
            </a:pPr>
            <a:r>
              <a:rPr sz="900" b="0" i="0">
                <a:solidFill>
                  <a:srgbClr val="1F5A8C"/>
                </a:solidFill>
                <a:latin typeface="Arial"/>
                <a:hlinkClick r:id="rId3"/>
              </a:rPr>
              <a:t>github.com/Adithya-Monish-Kumar-K/ba-capstone-app-reviews/blob/master/notebooks/Review_1_Analysis.ipynb</a:t>
            </a:r>
          </a:p>
          <a:p>
            <a:pPr algn="l">
              <a:spcAft>
                <a:spcPts val="0"/>
              </a:spcAft>
            </a:pPr>
            <a:r>
              <a:rPr sz="1000" b="1" i="0">
                <a:solidFill>
                  <a:srgbClr val="263C50"/>
                </a:solidFill>
                <a:latin typeface="Arial"/>
              </a:rPr>
              <a:t>Dataset</a:t>
            </a:r>
          </a:p>
          <a:p>
            <a:pPr algn="l">
              <a:spcAft>
                <a:spcPts val="200"/>
              </a:spcAft>
            </a:pPr>
            <a:r>
              <a:rPr sz="900" b="0" i="0">
                <a:solidFill>
                  <a:srgbClr val="1F5A8C"/>
                </a:solidFill>
                <a:latin typeface="Arial"/>
                <a:hlinkClick r:id="rId4"/>
              </a:rPr>
              <a:t>github.com/Adithya-Monish-Kumar-K/ba-capstone-app-reviews/tree/master/data</a:t>
            </a:r>
          </a:p>
          <a:p>
            <a:pPr algn="l">
              <a:spcAft>
                <a:spcPts val="0"/>
              </a:spcAft>
            </a:pPr>
            <a:r>
              <a:rPr sz="1000" b="1" i="0">
                <a:solidFill>
                  <a:srgbClr val="263C50"/>
                </a:solidFill>
                <a:latin typeface="Arial"/>
              </a:rPr>
              <a:t>Data documentation</a:t>
            </a:r>
          </a:p>
          <a:p>
            <a:pPr algn="l">
              <a:spcAft>
                <a:spcPts val="200"/>
              </a:spcAft>
            </a:pPr>
            <a:r>
              <a:rPr sz="900" b="0" i="0">
                <a:solidFill>
                  <a:srgbClr val="1F5A8C"/>
                </a:solidFill>
                <a:latin typeface="Arial"/>
                <a:hlinkClick r:id="rId5"/>
              </a:rPr>
              <a:t>github.com/Adithya-Monish-Kumar-K/ba-capstone-app-reviews/blob/master/DATA_SOURCES.md</a:t>
            </a:r>
          </a:p>
          <a:p>
            <a:pPr algn="l">
              <a:spcAft>
                <a:spcPts val="0"/>
              </a:spcAft>
            </a:pPr>
            <a:r>
              <a:rPr sz="1000" b="1" i="0">
                <a:solidFill>
                  <a:srgbClr val="263C50"/>
                </a:solidFill>
                <a:latin typeface="Arial"/>
              </a:rPr>
              <a:t>Board</a:t>
            </a:r>
          </a:p>
          <a:p>
            <a:pPr algn="l">
              <a:spcAft>
                <a:spcPts val="200"/>
              </a:spcAft>
            </a:pPr>
            <a:r>
              <a:rPr sz="900" b="0" i="0">
                <a:solidFill>
                  <a:srgbClr val="1F5A8C"/>
                </a:solidFill>
                <a:latin typeface="Arial"/>
                <a:hlinkClick r:id="rId6"/>
              </a:rPr>
              <a:t>github.com/users/Adithya-Monish-Kumar-K/projects/4</a:t>
            </a:r>
          </a:p>
          <a:p>
            <a:pPr algn="l">
              <a:spcAft>
                <a:spcPts val="0"/>
              </a:spcAft>
            </a:pPr>
            <a:r>
              <a:rPr sz="1000" b="1" i="0">
                <a:solidFill>
                  <a:srgbClr val="263C50"/>
                </a:solidFill>
                <a:latin typeface="Arial"/>
              </a:rPr>
              <a:t>Summary (README)</a:t>
            </a:r>
          </a:p>
          <a:p>
            <a:pPr algn="l">
              <a:spcAft>
                <a:spcPts val="200"/>
              </a:spcAft>
            </a:pPr>
            <a:r>
              <a:rPr sz="900" b="0" i="0">
                <a:solidFill>
                  <a:srgbClr val="1F5A8C"/>
                </a:solidFill>
                <a:latin typeface="Arial"/>
                <a:hlinkClick r:id="rId7"/>
              </a:rPr>
              <a:t>github.com/Adithya-Monish-Kumar-K/ba-capstone-app-reviews/blob/master/README.md</a:t>
            </a:r>
          </a:p>
        </p:txBody>
      </p:sp>
    </p:spTree>
    <p:extLst>
      <p:ext uri="{BB962C8B-B14F-4D97-AF65-F5344CB8AC3E}">
        <p14:creationId xmlns:p14="http://schemas.microsoft.com/office/powerpoint/2010/main" val="10650992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526</Words>
  <Application>Microsoft Office PowerPoint</Application>
  <DocSecurity>0</DocSecurity>
  <PresentationFormat>Widescreen</PresentationFormat>
  <Paragraphs>74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Bitstream Charter</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ROHINI S</cp:lastModifiedBy>
  <cp:revision>3</cp:revision>
  <dcterms:created xsi:type="dcterms:W3CDTF">2026-10-01T14:42:32Z</dcterms:created>
  <dcterms:modified xsi:type="dcterms:W3CDTF">2026-10-01T15:01:32Z</dcterms:modified>
</cp:coreProperties>
</file>